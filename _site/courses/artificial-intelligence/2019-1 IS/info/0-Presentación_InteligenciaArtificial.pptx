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8" r:id="rId2"/>
    <p:sldId id="259" r:id="rId3"/>
    <p:sldId id="265" r:id="rId4"/>
    <p:sldId id="266" r:id="rId5"/>
    <p:sldId id="267" r:id="rId6"/>
    <p:sldId id="268" r:id="rId7"/>
    <p:sldId id="269" r:id="rId8"/>
    <p:sldId id="271" r:id="rId9"/>
    <p:sldId id="272" r:id="rId10"/>
    <p:sldId id="273" r:id="rId11"/>
    <p:sldId id="270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0" autoAdjust="0"/>
  </p:normalViewPr>
  <p:slideViewPr>
    <p:cSldViewPr snapToGrid="0">
      <p:cViewPr varScale="1">
        <p:scale>
          <a:sx n="106" d="100"/>
          <a:sy n="106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12/02/2019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jZBTDzGeGg&amp;list=PLUl4u3cNGP63gFHB6xb-kVBiQHYe_4hSi" TargetMode="External"/><Relationship Id="rId7" Type="http://schemas.openxmlformats.org/officeDocument/2006/relationships/hyperlink" Target="http://www.fast.ai/" TargetMode="External"/><Relationship Id="rId2" Type="http://schemas.openxmlformats.org/officeDocument/2006/relationships/hyperlink" Target="https://distill.pub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aima.cs.berkeley.edu/" TargetMode="External"/><Relationship Id="rId5" Type="http://schemas.openxmlformats.org/officeDocument/2006/relationships/hyperlink" Target="https://blog.acolyer.org/" TargetMode="External"/><Relationship Id="rId4" Type="http://schemas.openxmlformats.org/officeDocument/2006/relationships/hyperlink" Target="https://www.youtube.com/channel/UCcIXc5mJsHVYTZR1maL5l9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6" y="1928733"/>
            <a:ext cx="40043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 smtClean="0"/>
              <a:t>Inteligencia Artificial</a:t>
            </a:r>
          </a:p>
          <a:p>
            <a:r>
              <a:rPr lang="es-CO" sz="2400" dirty="0" smtClean="0"/>
              <a:t>2019-I</a:t>
            </a:r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422400" y="3265438"/>
            <a:ext cx="10287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dirty="0" smtClean="0"/>
              <a:t>Carlos </a:t>
            </a:r>
            <a:r>
              <a:rPr lang="es-CO" sz="2400" dirty="0"/>
              <a:t>Alejandro Trujillo Anaya – </a:t>
            </a:r>
            <a:r>
              <a:rPr lang="es-CO" sz="2400" b="1" dirty="0"/>
              <a:t>carlostrujillo@itm.edu.co</a:t>
            </a:r>
            <a:endParaRPr lang="es-CO" sz="2400" b="1" dirty="0">
              <a:solidFill>
                <a:schemeClr val="bg1"/>
              </a:solidFill>
            </a:endParaRPr>
          </a:p>
          <a:p>
            <a:r>
              <a:rPr lang="es-CO" sz="2400" dirty="0" smtClean="0"/>
              <a:t>Departamento de sistemas de Información</a:t>
            </a:r>
          </a:p>
          <a:p>
            <a:r>
              <a:rPr lang="es-CO" sz="2400" dirty="0"/>
              <a:t>Departamento de </a:t>
            </a:r>
            <a:r>
              <a:rPr lang="es-CO" sz="2400" dirty="0" smtClean="0"/>
              <a:t>electrónica y telecomunicaciones</a:t>
            </a:r>
            <a:endParaRPr lang="es-CO" sz="2400" dirty="0"/>
          </a:p>
          <a:p>
            <a:r>
              <a:rPr lang="es-CO" sz="2400" dirty="0" smtClean="0"/>
              <a:t>Asignatura perteneciente a Ingeniería de Sistemas</a:t>
            </a:r>
          </a:p>
          <a:p>
            <a:r>
              <a:rPr lang="es-CO" sz="2400" dirty="0" smtClean="0"/>
              <a:t>Lunes y Miércoles 20-22</a:t>
            </a:r>
          </a:p>
          <a:p>
            <a:r>
              <a:rPr lang="es-CO" sz="2400" dirty="0" smtClean="0"/>
              <a:t>N404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computational scienc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1" y="1648618"/>
            <a:ext cx="2963546" cy="261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443395" y="4266968"/>
            <a:ext cx="28494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/>
              <a:t>http://www.csci.psu.edu/background.html</a:t>
            </a:r>
          </a:p>
        </p:txBody>
      </p:sp>
      <p:sp>
        <p:nvSpPr>
          <p:cNvPr id="7" name="Rectángulo 6"/>
          <p:cNvSpPr/>
          <p:nvPr/>
        </p:nvSpPr>
        <p:spPr>
          <a:xfrm>
            <a:off x="3618379" y="3749826"/>
            <a:ext cx="2187388" cy="2634485"/>
          </a:xfrm>
          <a:prstGeom prst="rect">
            <a:avLst/>
          </a:pr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3869470" y="3839473"/>
            <a:ext cx="1685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Enfoque algorítmico</a:t>
            </a:r>
          </a:p>
          <a:p>
            <a:pPr algn="ctr"/>
            <a:r>
              <a:rPr lang="es-CO" sz="1400" b="1" dirty="0" smtClean="0"/>
              <a:t> tradicional</a:t>
            </a:r>
            <a:endParaRPr lang="es-CO" sz="1400" b="1" dirty="0"/>
          </a:p>
        </p:txBody>
      </p:sp>
      <p:sp>
        <p:nvSpPr>
          <p:cNvPr id="9" name="Elipse 8"/>
          <p:cNvSpPr/>
          <p:nvPr/>
        </p:nvSpPr>
        <p:spPr>
          <a:xfrm>
            <a:off x="4174190" y="4452340"/>
            <a:ext cx="1075764" cy="519953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/>
          <p:cNvSpPr/>
          <p:nvPr/>
        </p:nvSpPr>
        <p:spPr>
          <a:xfrm>
            <a:off x="4260153" y="4558427"/>
            <a:ext cx="9038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Problema</a:t>
            </a:r>
            <a:endParaRPr lang="es-CO" sz="1400" b="1" dirty="0"/>
          </a:p>
        </p:txBody>
      </p:sp>
      <p:sp>
        <p:nvSpPr>
          <p:cNvPr id="15" name="Elipse 14"/>
          <p:cNvSpPr/>
          <p:nvPr/>
        </p:nvSpPr>
        <p:spPr>
          <a:xfrm>
            <a:off x="4174190" y="5061940"/>
            <a:ext cx="1075764" cy="519953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/>
          <p:cNvSpPr/>
          <p:nvPr/>
        </p:nvSpPr>
        <p:spPr>
          <a:xfrm>
            <a:off x="4329597" y="5168027"/>
            <a:ext cx="7649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Modelo</a:t>
            </a:r>
            <a:endParaRPr lang="es-CO" sz="1400" b="1" dirty="0"/>
          </a:p>
        </p:txBody>
      </p:sp>
      <p:sp>
        <p:nvSpPr>
          <p:cNvPr id="17" name="Elipse 16"/>
          <p:cNvSpPr/>
          <p:nvPr/>
        </p:nvSpPr>
        <p:spPr>
          <a:xfrm>
            <a:off x="4174190" y="5723125"/>
            <a:ext cx="1075764" cy="519953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/>
          <p:cNvSpPr/>
          <p:nvPr/>
        </p:nvSpPr>
        <p:spPr>
          <a:xfrm>
            <a:off x="4246304" y="5829212"/>
            <a:ext cx="9315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Algoritmo</a:t>
            </a:r>
            <a:endParaRPr lang="es-CO" sz="1400" b="1" dirty="0"/>
          </a:p>
        </p:txBody>
      </p:sp>
      <p:pic>
        <p:nvPicPr>
          <p:cNvPr id="19" name="Picture 31">
            <a:extLst>
              <a:ext uri="{FF2B5EF4-FFF2-40B4-BE49-F238E27FC236}">
                <a16:creationId xmlns:a16="http://schemas.microsoft.com/office/drawing/2014/main" xmlns="" id="{C80DAB71-B4C6-4FCE-AF23-350E2AFF6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35" b="94253" l="6471" r="95882">
                        <a14:foregroundMark x1="91961" y1="10181" x2="91961" y2="10181"/>
                        <a14:foregroundMark x1="32745" y1="6897" x2="32745" y2="6897"/>
                        <a14:foregroundMark x1="6471" y1="76190" x2="6471" y2="76190"/>
                        <a14:foregroundMark x1="14706" y1="94417" x2="14706" y2="94417"/>
                        <a14:foregroundMark x1="33333" y1="2135" x2="33333" y2="2135"/>
                        <a14:foregroundMark x1="95882" y1="13136" x2="95882" y2="131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97651" y="4690175"/>
            <a:ext cx="1815419" cy="2167825"/>
          </a:xfrm>
          <a:prstGeom prst="rect">
            <a:avLst/>
          </a:prstGeom>
        </p:spPr>
      </p:pic>
      <p:pic>
        <p:nvPicPr>
          <p:cNvPr id="1028" name="Picture 4" descr="https://sophos.files.wordpress.com/2017/09/screen-shot-2017-09-11-at-9-37-03-am.png?w=64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735" y="1319146"/>
            <a:ext cx="5631591" cy="19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ángulo 12"/>
          <p:cNvSpPr/>
          <p:nvPr/>
        </p:nvSpPr>
        <p:spPr>
          <a:xfrm>
            <a:off x="6419850" y="3294894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200" dirty="0"/>
              <a:t>https://news.sophos.com/en-us/2017/09/21/man-vs-machine-comparing-artificial-and-biological-neural-networks/</a:t>
            </a:r>
          </a:p>
        </p:txBody>
      </p:sp>
    </p:spTree>
    <p:extLst>
      <p:ext uri="{BB962C8B-B14F-4D97-AF65-F5344CB8AC3E}">
        <p14:creationId xmlns:p14="http://schemas.microsoft.com/office/powerpoint/2010/main" val="29519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artificial neural networ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99" y="2158674"/>
            <a:ext cx="3166825" cy="250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685800" y="4906060"/>
            <a:ext cx="27908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/>
              <a:t>https://www.tutorialspoint.com/artificial_intelligence/artificial_intelligence_neural_networks.htm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1164934" y="1729955"/>
            <a:ext cx="18325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Red neuronal artificial</a:t>
            </a:r>
          </a:p>
        </p:txBody>
      </p:sp>
      <p:pic>
        <p:nvPicPr>
          <p:cNvPr id="2056" name="Picture 8" descr="Genetic algorith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087" y="1951037"/>
            <a:ext cx="338137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4474168" y="5229225"/>
            <a:ext cx="35852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200" dirty="0"/>
              <a:t>https://quantdare.com/ga-to-define-a-trading-system/</a:t>
            </a:r>
          </a:p>
        </p:txBody>
      </p:sp>
      <p:pic>
        <p:nvPicPr>
          <p:cNvPr id="2058" name="Picture 10" descr="Resultado de imagen para fuzzy logi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8925" y="2636836"/>
            <a:ext cx="274320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8658225" y="4360861"/>
            <a:ext cx="34099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200" dirty="0"/>
              <a:t>https://www.doc.ic.ac.uk/~nd/surprise_96/journal/vol2/jp6/article2.html</a:t>
            </a:r>
          </a:p>
        </p:txBody>
      </p:sp>
      <p:sp>
        <p:nvSpPr>
          <p:cNvPr id="24" name="Rectángulo 23"/>
          <p:cNvSpPr/>
          <p:nvPr/>
        </p:nvSpPr>
        <p:spPr>
          <a:xfrm>
            <a:off x="5463193" y="1551978"/>
            <a:ext cx="16071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Algoritmo genético</a:t>
            </a:r>
          </a:p>
        </p:txBody>
      </p:sp>
      <p:sp>
        <p:nvSpPr>
          <p:cNvPr id="25" name="Rectángulo 24"/>
          <p:cNvSpPr/>
          <p:nvPr/>
        </p:nvSpPr>
        <p:spPr>
          <a:xfrm>
            <a:off x="9653049" y="2329059"/>
            <a:ext cx="11598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1400" b="1" dirty="0" smtClean="0"/>
              <a:t>Lógica Difusa</a:t>
            </a:r>
          </a:p>
        </p:txBody>
      </p:sp>
    </p:spTree>
    <p:extLst>
      <p:ext uri="{BB962C8B-B14F-4D97-AF65-F5344CB8AC3E}">
        <p14:creationId xmlns:p14="http://schemas.microsoft.com/office/powerpoint/2010/main" val="311533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286986" y="1907556"/>
            <a:ext cx="97715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000" dirty="0"/>
              <a:t>Al finalizar el curso el </a:t>
            </a:r>
            <a:r>
              <a:rPr lang="es-CO" sz="2000" dirty="0" smtClean="0"/>
              <a:t>estudiante comprenderá los </a:t>
            </a:r>
            <a:r>
              <a:rPr lang="es-CO" sz="2000" dirty="0"/>
              <a:t>fundamentos teóricos suficientes de </a:t>
            </a:r>
            <a:r>
              <a:rPr lang="es-CO" sz="2000" dirty="0" smtClean="0"/>
              <a:t>inteligencia artificial para aplicarlos </a:t>
            </a:r>
            <a:r>
              <a:rPr lang="es-CO" sz="2000" dirty="0"/>
              <a:t>a la solución de problemas </a:t>
            </a:r>
            <a:r>
              <a:rPr lang="es-CO" sz="2000" dirty="0" smtClean="0"/>
              <a:t>que son difíciles de resolver a través de algoritmia </a:t>
            </a:r>
            <a:r>
              <a:rPr lang="es-CO" sz="2000" dirty="0"/>
              <a:t>tradicional.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858424" y="1476669"/>
            <a:ext cx="212173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Objetivo general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858424" y="3067344"/>
            <a:ext cx="264098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Objetivos específicos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1286985" y="3575175"/>
            <a:ext cx="977153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 smtClean="0"/>
              <a:t>Hacer </a:t>
            </a:r>
            <a:r>
              <a:rPr lang="es-CO" sz="2000" dirty="0"/>
              <a:t>computadoras más útiles y entender los principios que hacen posible la </a:t>
            </a:r>
            <a:r>
              <a:rPr lang="es-CO" sz="2000" dirty="0" smtClean="0"/>
              <a:t>inteligencia artificial.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Programar </a:t>
            </a:r>
            <a:r>
              <a:rPr lang="es-CO" sz="2000" dirty="0"/>
              <a:t>computadoras para que hagan tareas que actualmente son hechas mejor </a:t>
            </a:r>
            <a:r>
              <a:rPr lang="es-CO" sz="2000" dirty="0" smtClean="0"/>
              <a:t>por los </a:t>
            </a:r>
            <a:r>
              <a:rPr lang="es-CO" sz="2000" dirty="0"/>
              <a:t>seres </a:t>
            </a:r>
            <a:r>
              <a:rPr lang="es-CO" sz="2000" dirty="0" smtClean="0"/>
              <a:t>humanos.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Comprensión </a:t>
            </a:r>
            <a:r>
              <a:rPr lang="es-CO" sz="2000" dirty="0"/>
              <a:t>a través de la computadora de lo que comúnmente </a:t>
            </a:r>
            <a:r>
              <a:rPr lang="es-CO" sz="2000" dirty="0" smtClean="0"/>
              <a:t>llamamos comportamiento </a:t>
            </a:r>
            <a:r>
              <a:rPr lang="es-CO" sz="2000" dirty="0"/>
              <a:t>inteligente y de la creación de herramientas que exhiben </a:t>
            </a:r>
            <a:r>
              <a:rPr lang="es-CO" sz="2000" dirty="0" smtClean="0"/>
              <a:t>tal comportamiento.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Diseño </a:t>
            </a:r>
            <a:r>
              <a:rPr lang="es-CO" sz="2000" dirty="0"/>
              <a:t>de sistemas inteligentes, es decir, que exhiben características que asociamos </a:t>
            </a:r>
            <a:r>
              <a:rPr lang="es-CO" sz="2000" dirty="0" smtClean="0"/>
              <a:t>con la </a:t>
            </a:r>
            <a:r>
              <a:rPr lang="es-CO" sz="2000" dirty="0"/>
              <a:t>inteligencia humana - entender lenguaje natural, aprendizaje, razonamiento, etc.</a:t>
            </a:r>
          </a:p>
        </p:txBody>
      </p:sp>
    </p:spTree>
    <p:extLst>
      <p:ext uri="{BB962C8B-B14F-4D97-AF65-F5344CB8AC3E}">
        <p14:creationId xmlns:p14="http://schemas.microsoft.com/office/powerpoint/2010/main" val="36851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940687" y="1343319"/>
            <a:ext cx="289066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Cronograma de trabajo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844548"/>
              </p:ext>
            </p:extLst>
          </p:nvPr>
        </p:nvGraphicFramePr>
        <p:xfrm>
          <a:off x="1704975" y="2486023"/>
          <a:ext cx="7194550" cy="28289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47775"/>
                <a:gridCol w="5946775"/>
              </a:tblGrid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effectLst/>
                        </a:rPr>
                        <a:t>Semana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effectLst/>
                        </a:rPr>
                        <a:t>Tema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>
                          <a:effectLst/>
                        </a:rPr>
                        <a:t>1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>
                          <a:effectLst/>
                        </a:rPr>
                        <a:t>Introducción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>
                          <a:effectLst/>
                        </a:rPr>
                        <a:t>2-5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>
                          <a:effectLst/>
                        </a:rPr>
                        <a:t>Búsqueda: Aproximación clásica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>
                          <a:effectLst/>
                        </a:rPr>
                        <a:t>5-6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Algoritmos genéticos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>
                          <a:effectLst/>
                        </a:rPr>
                        <a:t>6-7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>
                          <a:effectLst/>
                        </a:rPr>
                        <a:t>Lógica difusa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>
                          <a:effectLst/>
                        </a:rPr>
                        <a:t>7-9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>
                          <a:effectLst/>
                        </a:rPr>
                        <a:t>Introducción al </a:t>
                      </a:r>
                      <a:r>
                        <a:rPr lang="es-CO" sz="2000" u="none" strike="noStrike" dirty="0" smtClean="0">
                          <a:effectLst/>
                        </a:rPr>
                        <a:t>aprendizaje </a:t>
                      </a:r>
                      <a:r>
                        <a:rPr lang="es-CO" sz="2000" u="none" strike="noStrike" dirty="0">
                          <a:effectLst/>
                        </a:rPr>
                        <a:t>de maquina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>
                          <a:effectLst/>
                        </a:rPr>
                        <a:t>9-11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>
                          <a:effectLst/>
                        </a:rPr>
                        <a:t>Técnicas básicas de clasificación</a:t>
                      </a:r>
                      <a:endParaRPr lang="es-C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57163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12-14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Regresión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57163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14-17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000" u="none" strike="noStrike" dirty="0" smtClean="0">
                          <a:effectLst/>
                        </a:rPr>
                        <a:t>Redes Neuronales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387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1057643" y="1638594"/>
            <a:ext cx="168520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Metodología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6985" y="2336925"/>
            <a:ext cx="9771539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CO" sz="2000" dirty="0" smtClean="0"/>
              <a:t>Por parte del profesor: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Sesiones magistrales.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Sesiones de taller con acompañamiento del profesor.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Planteamiento de talleres (evaluación de la asignatura) después de que cada tema es completamente presentado.</a:t>
            </a:r>
          </a:p>
          <a:p>
            <a:pPr marL="342900" indent="-342900">
              <a:buFontTx/>
              <a:buChar char="-"/>
            </a:pPr>
            <a:endParaRPr lang="es-CO" sz="2000" dirty="0" smtClean="0"/>
          </a:p>
          <a:p>
            <a:pPr>
              <a:spcAft>
                <a:spcPts val="600"/>
              </a:spcAft>
            </a:pPr>
            <a:r>
              <a:rPr lang="es-CO" sz="2000" dirty="0" smtClean="0"/>
              <a:t>Por parte del estudiante: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Lectura de la referencia de consulta para cada tema.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Entrega de los talleres planteados por el profesor en la fecha especificada.</a:t>
            </a:r>
          </a:p>
          <a:p>
            <a:pPr marL="342900" indent="-342900">
              <a:buFontTx/>
              <a:buChar char="-"/>
            </a:pPr>
            <a:endParaRPr lang="es-CO" sz="2000" dirty="0" smtClean="0"/>
          </a:p>
        </p:txBody>
      </p:sp>
    </p:spTree>
    <p:extLst>
      <p:ext uri="{BB962C8B-B14F-4D97-AF65-F5344CB8AC3E}">
        <p14:creationId xmlns:p14="http://schemas.microsoft.com/office/powerpoint/2010/main" val="375970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1183641" y="1638594"/>
            <a:ext cx="143321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Evaluación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014092"/>
              </p:ext>
            </p:extLst>
          </p:nvPr>
        </p:nvGraphicFramePr>
        <p:xfrm>
          <a:off x="1704975" y="2486023"/>
          <a:ext cx="7150290" cy="28575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81200"/>
                <a:gridCol w="5169090"/>
              </a:tblGrid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effectLst/>
                        </a:rPr>
                        <a:t>Porcentaje (%)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 smtClean="0">
                          <a:effectLst/>
                        </a:rPr>
                        <a:t>Actividad</a:t>
                      </a:r>
                      <a:r>
                        <a:rPr lang="es-CO" sz="2000" b="1" u="none" strike="noStrike" baseline="0" dirty="0" smtClean="0">
                          <a:effectLst/>
                        </a:rPr>
                        <a:t> evaluativa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5242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20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Taller técnicas de búsqueda (Individual)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10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Taller algoritmos genéticos (Grupos aleatorio)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10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Taller lógica difusa (Grupos aleatorio)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smtClean="0">
                          <a:effectLst/>
                        </a:rPr>
                        <a:t>10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Taller introducción </a:t>
                      </a:r>
                      <a:r>
                        <a:rPr lang="es-CO" sz="2000" u="none" strike="noStrike" dirty="0">
                          <a:effectLst/>
                        </a:rPr>
                        <a:t>al </a:t>
                      </a:r>
                      <a:r>
                        <a:rPr lang="es-CO" sz="2000" u="none" strike="noStrike" dirty="0" smtClean="0">
                          <a:effectLst/>
                        </a:rPr>
                        <a:t>aprendizaje </a:t>
                      </a:r>
                      <a:r>
                        <a:rPr lang="es-CO" sz="2000" u="none" strike="noStrike" dirty="0">
                          <a:effectLst/>
                        </a:rPr>
                        <a:t>de </a:t>
                      </a:r>
                      <a:r>
                        <a:rPr lang="es-CO" sz="2000" u="none" strike="noStrike" dirty="0" smtClean="0">
                          <a:effectLst/>
                        </a:rPr>
                        <a:t>maquina (Grupos aleatorio)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11944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10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Taller clasificación (Grupos)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57163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u="none" strike="noStrike" dirty="0" smtClean="0">
                          <a:effectLst/>
                        </a:rPr>
                        <a:t>20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Taller regresión (Grupos)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57163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000" u="none" strike="noStrike" dirty="0" smtClean="0">
                          <a:effectLst/>
                        </a:rPr>
                        <a:t>Taller redes neuronales (Grupos)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12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294509" y="1610019"/>
            <a:ext cx="58403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Condiciones para el desarrollo del </a:t>
            </a:r>
            <a:r>
              <a:rPr lang="es-CO" sz="2200" b="1" dirty="0" smtClean="0"/>
              <a:t>curso </a:t>
            </a:r>
            <a:r>
              <a:rPr lang="es-CO" sz="2200" b="1" dirty="0" smtClean="0">
                <a:solidFill>
                  <a:srgbClr val="FF0000"/>
                </a:solidFill>
              </a:rPr>
              <a:t>(Parte I)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6985" y="2336925"/>
            <a:ext cx="97715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/>
              <a:t>El registro de faltas de asistencia y el ingreso de notas se hará tal y como se especifica en el </a:t>
            </a:r>
            <a:r>
              <a:rPr lang="es-CO" sz="2000" dirty="0" smtClean="0"/>
              <a:t>reglamento estudiantil.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El </a:t>
            </a:r>
            <a:r>
              <a:rPr lang="es-CO" sz="2000" dirty="0"/>
              <a:t>material práctico del curso será elaborado en el lenguaje de programación </a:t>
            </a:r>
            <a:r>
              <a:rPr lang="es-CO" sz="2000" dirty="0" err="1"/>
              <a:t>Python</a:t>
            </a:r>
            <a:r>
              <a:rPr lang="es-CO" sz="2000" dirty="0"/>
              <a:t>, sin embargo, para </a:t>
            </a:r>
            <a:r>
              <a:rPr lang="es-CO" sz="2000" dirty="0" smtClean="0"/>
              <a:t>el desarrollo </a:t>
            </a:r>
            <a:r>
              <a:rPr lang="es-CO" sz="2000" dirty="0"/>
              <a:t>de trabajos puede utilizar la tecnología con la que esté </a:t>
            </a:r>
            <a:r>
              <a:rPr lang="es-CO" sz="2000" dirty="0" smtClean="0"/>
              <a:t>familiarizado.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Es </a:t>
            </a:r>
            <a:r>
              <a:rPr lang="es-CO" sz="2000" dirty="0"/>
              <a:t>responsabilidad del estudiante revisar periódicamente su correo institucional para estar al tanto </a:t>
            </a:r>
            <a:r>
              <a:rPr lang="es-CO" sz="2000" dirty="0" smtClean="0"/>
              <a:t>del cronograma </a:t>
            </a:r>
            <a:r>
              <a:rPr lang="es-CO" sz="2000" dirty="0"/>
              <a:t>y las informaciones enviadas por el profesor vía </a:t>
            </a:r>
            <a:r>
              <a:rPr lang="es-CO" sz="2000" dirty="0" smtClean="0"/>
              <a:t>e-mail.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La </a:t>
            </a:r>
            <a:r>
              <a:rPr lang="es-CO" sz="2000" dirty="0"/>
              <a:t>solución </a:t>
            </a:r>
            <a:r>
              <a:rPr lang="es-CO" sz="2000" dirty="0" smtClean="0"/>
              <a:t>de los talleres sólo </a:t>
            </a:r>
            <a:r>
              <a:rPr lang="es-CO" sz="2000" dirty="0"/>
              <a:t>se recibe en las fechas establecidas. Los </a:t>
            </a:r>
            <a:r>
              <a:rPr lang="es-CO" sz="2000" dirty="0" smtClean="0"/>
              <a:t>talleres que </a:t>
            </a:r>
            <a:r>
              <a:rPr lang="es-CO" sz="2000" dirty="0"/>
              <a:t>sean entregados fuera de esa fecha recibirán una nota de </a:t>
            </a:r>
            <a:r>
              <a:rPr lang="es-CO" sz="2000" dirty="0" smtClean="0"/>
              <a:t>0.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Para </a:t>
            </a:r>
            <a:r>
              <a:rPr lang="es-CO" sz="2000" dirty="0"/>
              <a:t>ser calificados, los programas o algoritmos desarrollados deben ser sustentados al docente durante </a:t>
            </a:r>
            <a:r>
              <a:rPr lang="es-CO" sz="2000" dirty="0" smtClean="0"/>
              <a:t>el </a:t>
            </a:r>
            <a:r>
              <a:rPr lang="es-CO" sz="2000" dirty="0"/>
              <a:t>tiempo de clase o en el momento de la entrega. Programas o algoritmos no </a:t>
            </a:r>
            <a:r>
              <a:rPr lang="es-CO" sz="2000" dirty="0" smtClean="0"/>
              <a:t>sustentados recibirán </a:t>
            </a:r>
            <a:r>
              <a:rPr lang="es-CO" sz="2000" dirty="0"/>
              <a:t>una nota de 0</a:t>
            </a:r>
            <a:r>
              <a:rPr lang="es-CO" sz="2000" dirty="0" smtClean="0"/>
              <a:t>.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368148" y="6122577"/>
            <a:ext cx="32562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Autor: Prof. Pedro </a:t>
            </a:r>
            <a:r>
              <a:rPr lang="es-CO" sz="2200" b="1" dirty="0" err="1" smtClean="0"/>
              <a:t>Atencio</a:t>
            </a:r>
            <a:endParaRPr lang="es-CO" sz="2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9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256839" y="1610019"/>
            <a:ext cx="591572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Condiciones para el desarrollo del </a:t>
            </a:r>
            <a:r>
              <a:rPr lang="es-CO" sz="2200" b="1" dirty="0" smtClean="0"/>
              <a:t>curso </a:t>
            </a:r>
            <a:r>
              <a:rPr lang="es-CO" sz="2200" b="1" dirty="0" smtClean="0">
                <a:solidFill>
                  <a:srgbClr val="FF0000"/>
                </a:solidFill>
              </a:rPr>
              <a:t>(Parte II)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6985" y="2336925"/>
            <a:ext cx="97715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 smtClean="0"/>
              <a:t>No </a:t>
            </a:r>
            <a:r>
              <a:rPr lang="es-CO" sz="2000" dirty="0"/>
              <a:t>se admite la copia de talleres </a:t>
            </a:r>
            <a:r>
              <a:rPr lang="es-CO" sz="2000" dirty="0" smtClean="0"/>
              <a:t>entre </a:t>
            </a:r>
            <a:r>
              <a:rPr lang="es-CO" sz="2000" dirty="0"/>
              <a:t>los </a:t>
            </a:r>
            <a:r>
              <a:rPr lang="es-CO" sz="2000" dirty="0" smtClean="0"/>
              <a:t>grupos de </a:t>
            </a:r>
            <a:r>
              <a:rPr lang="es-CO" sz="2000" dirty="0"/>
              <a:t>trabajo. Copias de trabajo tendrán una asignación de 0</a:t>
            </a:r>
            <a:r>
              <a:rPr lang="es-CO" sz="2000" dirty="0" smtClean="0"/>
              <a:t>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Los </a:t>
            </a:r>
            <a:r>
              <a:rPr lang="es-CO" sz="2000" dirty="0"/>
              <a:t>reclamos por notas serán admitidos durante los 5 días hábiles siguientes a la entrega de la misma</a:t>
            </a:r>
            <a:r>
              <a:rPr lang="es-CO" sz="2000" dirty="0" smtClean="0"/>
              <a:t>.</a:t>
            </a:r>
            <a:endParaRPr lang="es-CO" sz="2000" dirty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Es </a:t>
            </a:r>
            <a:r>
              <a:rPr lang="es-CO" sz="2000" dirty="0"/>
              <a:t>necesario que el estudiante retome en tiempo de estudio independiente conceptos previos de </a:t>
            </a:r>
            <a:r>
              <a:rPr lang="es-CO" sz="2000" dirty="0" smtClean="0"/>
              <a:t>cálculo, operaciones </a:t>
            </a:r>
            <a:r>
              <a:rPr lang="es-CO" sz="2000" dirty="0"/>
              <a:t>vectoriales y matriciales, conceptos básicos </a:t>
            </a:r>
            <a:r>
              <a:rPr lang="es-CO" sz="2000" dirty="0" smtClean="0"/>
              <a:t>de probabilidad</a:t>
            </a:r>
            <a:r>
              <a:rPr lang="es-CO" sz="2000" dirty="0"/>
              <a:t>, conceptos básicos </a:t>
            </a:r>
            <a:r>
              <a:rPr lang="es-CO" sz="2000" dirty="0" smtClean="0"/>
              <a:t>de programación </a:t>
            </a:r>
            <a:r>
              <a:rPr lang="es-CO" sz="2000" dirty="0"/>
              <a:t>y estructura de datos.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Las </a:t>
            </a:r>
            <a:r>
              <a:rPr lang="es-CO" sz="2000" dirty="0"/>
              <a:t>fechas pueden variar debido a las posibles modificaciones del programa durante el semestre. En </a:t>
            </a:r>
            <a:r>
              <a:rPr lang="es-CO" sz="2000" dirty="0" smtClean="0"/>
              <a:t>caso de </a:t>
            </a:r>
            <a:r>
              <a:rPr lang="es-CO" sz="2000" dirty="0"/>
              <a:t>una modificación, la nueva fecha de </a:t>
            </a:r>
            <a:r>
              <a:rPr lang="es-CO" sz="2000" dirty="0" smtClean="0"/>
              <a:t>entrega </a:t>
            </a:r>
            <a:r>
              <a:rPr lang="es-CO" sz="2000" dirty="0"/>
              <a:t>de un taller se asignará </a:t>
            </a:r>
            <a:r>
              <a:rPr lang="es-CO" sz="2000" dirty="0" smtClean="0"/>
              <a:t>como mínimo </a:t>
            </a:r>
            <a:r>
              <a:rPr lang="es-CO" sz="2000" dirty="0"/>
              <a:t>una semana antes de dicho evento.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El </a:t>
            </a:r>
            <a:r>
              <a:rPr lang="es-CO" sz="2000" dirty="0"/>
              <a:t>principal medio de comunicación entre estudiantes y docente será el correo electrónico institucional</a:t>
            </a:r>
            <a:r>
              <a:rPr lang="es-CO" sz="2000" dirty="0" smtClean="0"/>
              <a:t>.</a:t>
            </a:r>
            <a:endParaRPr lang="es-CO" sz="2000" dirty="0"/>
          </a:p>
        </p:txBody>
      </p:sp>
      <p:sp>
        <p:nvSpPr>
          <p:cNvPr id="5" name="Rectángulo 4"/>
          <p:cNvSpPr/>
          <p:nvPr/>
        </p:nvSpPr>
        <p:spPr>
          <a:xfrm>
            <a:off x="6368148" y="6122577"/>
            <a:ext cx="32562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Autor: Prof. Pedro </a:t>
            </a:r>
            <a:r>
              <a:rPr lang="es-CO" sz="2200" b="1" dirty="0" err="1" smtClean="0"/>
              <a:t>Atencio</a:t>
            </a:r>
            <a:endParaRPr lang="es-CO" sz="2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12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219168" y="1610019"/>
            <a:ext cx="599106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Condiciones para el desarrollo del </a:t>
            </a:r>
            <a:r>
              <a:rPr lang="es-CO" sz="2200" b="1" dirty="0" smtClean="0"/>
              <a:t>curso </a:t>
            </a:r>
            <a:r>
              <a:rPr lang="es-CO" sz="2200" b="1" dirty="0" smtClean="0">
                <a:solidFill>
                  <a:srgbClr val="FF0000"/>
                </a:solidFill>
              </a:rPr>
              <a:t>(Parte III)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6985" y="2336925"/>
            <a:ext cx="977153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 smtClean="0"/>
              <a:t>El </a:t>
            </a:r>
            <a:r>
              <a:rPr lang="es-CO" sz="2000" dirty="0"/>
              <a:t>uso de lenguaje indebido en clase es está estrictamente </a:t>
            </a:r>
            <a:r>
              <a:rPr lang="es-CO" sz="2000" dirty="0" smtClean="0"/>
              <a:t>prohibido.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Tratar </a:t>
            </a:r>
            <a:r>
              <a:rPr lang="es-CO" sz="2000" dirty="0"/>
              <a:t>con respeto y amabilidad a sus compañeros y </a:t>
            </a:r>
            <a:r>
              <a:rPr lang="es-CO" sz="2000" dirty="0" smtClean="0"/>
              <a:t>docente.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Evitar </a:t>
            </a:r>
            <a:r>
              <a:rPr lang="es-CO" sz="2000" dirty="0"/>
              <a:t>al máximo el uso de dispositivos móviles en el horario de clase y recordar utilizar el </a:t>
            </a:r>
            <a:r>
              <a:rPr lang="es-CO" sz="2000" dirty="0" smtClean="0"/>
              <a:t>modo silencio antes </a:t>
            </a:r>
            <a:r>
              <a:rPr lang="es-CO" sz="2000" dirty="0"/>
              <a:t>de comenzar la </a:t>
            </a:r>
            <a:r>
              <a:rPr lang="es-CO" sz="2000" dirty="0" smtClean="0"/>
              <a:t>clase.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En </a:t>
            </a:r>
            <a:r>
              <a:rPr lang="es-CO" sz="2000" dirty="0"/>
              <a:t>caso de ser necesario contestar una llamada o mensaje, por favor retirarse del salón para </a:t>
            </a:r>
            <a:r>
              <a:rPr lang="es-CO" sz="2000" dirty="0" smtClean="0"/>
              <a:t>ello.</a:t>
            </a:r>
          </a:p>
          <a:p>
            <a:pPr marL="342900" indent="-342900">
              <a:buFontTx/>
              <a:buChar char="-"/>
            </a:pPr>
            <a:r>
              <a:rPr lang="es-CO" sz="2000" dirty="0" smtClean="0"/>
              <a:t>El </a:t>
            </a:r>
            <a:r>
              <a:rPr lang="es-CO" sz="2000" dirty="0"/>
              <a:t>estudiante es responsable de hacer el uso adecuado de la bibliografía del curso para complementar </a:t>
            </a:r>
            <a:r>
              <a:rPr lang="es-CO" sz="2000" dirty="0" smtClean="0"/>
              <a:t>el contenido </a:t>
            </a:r>
            <a:r>
              <a:rPr lang="es-CO" sz="2000" dirty="0"/>
              <a:t>entregado en clase (se recomienda consultar la bibliografía en inglés).</a:t>
            </a:r>
            <a:endParaRPr lang="es-CO" sz="2000" dirty="0" smtClean="0"/>
          </a:p>
        </p:txBody>
      </p:sp>
      <p:sp>
        <p:nvSpPr>
          <p:cNvPr id="5" name="Rectángulo 4"/>
          <p:cNvSpPr/>
          <p:nvPr/>
        </p:nvSpPr>
        <p:spPr>
          <a:xfrm>
            <a:off x="6368148" y="6122577"/>
            <a:ext cx="32562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Autor: Prof. Pedro </a:t>
            </a:r>
            <a:r>
              <a:rPr lang="es-CO" sz="2200" b="1" dirty="0" err="1" smtClean="0"/>
              <a:t>Atencio</a:t>
            </a:r>
            <a:endParaRPr lang="es-CO" sz="2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04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/>
          <p:cNvSpPr/>
          <p:nvPr/>
        </p:nvSpPr>
        <p:spPr>
          <a:xfrm>
            <a:off x="1131352" y="1638594"/>
            <a:ext cx="153779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 smtClean="0"/>
              <a:t>Referencias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6985" y="2336925"/>
            <a:ext cx="977153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CO" sz="2000" dirty="0"/>
              <a:t>Revista </a:t>
            </a:r>
            <a:r>
              <a:rPr lang="es-CO" sz="2000" dirty="0" err="1"/>
              <a:t>Distill</a:t>
            </a:r>
            <a:r>
              <a:rPr lang="es-CO" sz="2000" dirty="0"/>
              <a:t> (openai.org) </a:t>
            </a:r>
            <a:r>
              <a:rPr lang="es-CO" sz="2000" dirty="0" smtClean="0">
                <a:hlinkClick r:id="rId2"/>
              </a:rPr>
              <a:t>https</a:t>
            </a:r>
            <a:r>
              <a:rPr lang="es-CO" sz="2000" dirty="0">
                <a:hlinkClick r:id="rId2"/>
              </a:rPr>
              <a:t>://</a:t>
            </a:r>
            <a:r>
              <a:rPr lang="es-CO" sz="2000" dirty="0" smtClean="0">
                <a:hlinkClick r:id="rId2"/>
              </a:rPr>
              <a:t>distill.pub/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Curso </a:t>
            </a:r>
            <a:r>
              <a:rPr lang="es-CO" sz="2000" dirty="0"/>
              <a:t>de inteligencia artificial del profesor Patrick </a:t>
            </a:r>
            <a:r>
              <a:rPr lang="es-CO" sz="2000" dirty="0" smtClean="0"/>
              <a:t>Winston: </a:t>
            </a:r>
            <a:r>
              <a:rPr lang="es-CO" sz="2000" dirty="0" smtClean="0">
                <a:hlinkClick r:id="rId3"/>
              </a:rPr>
              <a:t>https</a:t>
            </a:r>
            <a:r>
              <a:rPr lang="es-CO" sz="2000" dirty="0">
                <a:hlinkClick r:id="rId3"/>
              </a:rPr>
              <a:t>://</a:t>
            </a:r>
            <a:r>
              <a:rPr lang="es-CO" sz="2000" dirty="0" smtClean="0">
                <a:hlinkClick r:id="rId3"/>
              </a:rPr>
              <a:t>www.youtube.com/watch?v=TjZBTDzGeGg&amp;list=PLUl4u3cNGP63gFHB6xb-kVBiQHYe_4hSi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Curso </a:t>
            </a:r>
            <a:r>
              <a:rPr lang="es-CO" sz="2000" dirty="0"/>
              <a:t>de </a:t>
            </a:r>
            <a:r>
              <a:rPr lang="es-CO" sz="2000" dirty="0" err="1"/>
              <a:t>Deep</a:t>
            </a:r>
            <a:r>
              <a:rPr lang="es-CO" sz="2000" dirty="0"/>
              <a:t> </a:t>
            </a:r>
            <a:r>
              <a:rPr lang="es-CO" sz="2000" dirty="0" err="1"/>
              <a:t>Learning</a:t>
            </a:r>
            <a:r>
              <a:rPr lang="es-CO" sz="2000" dirty="0"/>
              <a:t> de Andrew </a:t>
            </a:r>
            <a:r>
              <a:rPr lang="es-CO" sz="2000" dirty="0" err="1" smtClean="0"/>
              <a:t>Ng</a:t>
            </a:r>
            <a:r>
              <a:rPr lang="es-CO" sz="2000" dirty="0" smtClean="0"/>
              <a:t>: </a:t>
            </a:r>
            <a:r>
              <a:rPr lang="es-CO" sz="2000" dirty="0" smtClean="0">
                <a:hlinkClick r:id="rId4"/>
              </a:rPr>
              <a:t>https</a:t>
            </a:r>
            <a:r>
              <a:rPr lang="es-CO" sz="2000" dirty="0">
                <a:hlinkClick r:id="rId4"/>
              </a:rPr>
              <a:t>://</a:t>
            </a:r>
            <a:r>
              <a:rPr lang="es-CO" sz="2000" dirty="0" smtClean="0">
                <a:hlinkClick r:id="rId4"/>
              </a:rPr>
              <a:t>www.youtube.com/channel/UCcIXc5mJsHVYTZR1maL5l9w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Revisión </a:t>
            </a:r>
            <a:r>
              <a:rPr lang="es-CO" sz="2000" dirty="0"/>
              <a:t>de artículos por </a:t>
            </a:r>
            <a:r>
              <a:rPr lang="es-CO" sz="2000" dirty="0" err="1"/>
              <a:t>Adrian</a:t>
            </a:r>
            <a:r>
              <a:rPr lang="es-CO" sz="2000" dirty="0"/>
              <a:t> </a:t>
            </a:r>
            <a:r>
              <a:rPr lang="es-CO" sz="2000" dirty="0" err="1"/>
              <a:t>Colyer</a:t>
            </a:r>
            <a:r>
              <a:rPr lang="es-CO" sz="2000" dirty="0"/>
              <a:t> (</a:t>
            </a:r>
            <a:r>
              <a:rPr lang="es-CO" sz="2000" dirty="0" err="1"/>
              <a:t>The</a:t>
            </a:r>
            <a:r>
              <a:rPr lang="es-CO" sz="2000" dirty="0"/>
              <a:t> </a:t>
            </a:r>
            <a:r>
              <a:rPr lang="es-CO" sz="2000" dirty="0" err="1"/>
              <a:t>Morning</a:t>
            </a:r>
            <a:r>
              <a:rPr lang="es-CO" sz="2000" dirty="0"/>
              <a:t> </a:t>
            </a:r>
            <a:r>
              <a:rPr lang="es-CO" sz="2000" dirty="0" err="1"/>
              <a:t>Paper</a:t>
            </a:r>
            <a:r>
              <a:rPr lang="es-CO" sz="2000" dirty="0" smtClean="0"/>
              <a:t>):         </a:t>
            </a:r>
            <a:r>
              <a:rPr lang="es-CO" sz="2000" dirty="0" smtClean="0">
                <a:hlinkClick r:id="rId5"/>
              </a:rPr>
              <a:t>https</a:t>
            </a:r>
            <a:r>
              <a:rPr lang="es-CO" sz="2000" dirty="0">
                <a:hlinkClick r:id="rId5"/>
              </a:rPr>
              <a:t>://blog.acolyer.org</a:t>
            </a:r>
            <a:r>
              <a:rPr lang="es-CO" sz="2000" dirty="0" smtClean="0">
                <a:hlinkClick r:id="rId5"/>
              </a:rPr>
              <a:t>/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Russell </a:t>
            </a:r>
            <a:r>
              <a:rPr lang="es-CO" sz="2000" dirty="0"/>
              <a:t>&amp; </a:t>
            </a:r>
            <a:r>
              <a:rPr lang="es-CO" sz="2000" dirty="0" err="1"/>
              <a:t>Norvig</a:t>
            </a:r>
            <a:r>
              <a:rPr lang="es-CO" sz="2000" dirty="0"/>
              <a:t>. Inteligencia Artificial: Un enfoque moderno (tercera </a:t>
            </a:r>
            <a:r>
              <a:rPr lang="es-CO" sz="2000" dirty="0" smtClean="0"/>
              <a:t>edición) </a:t>
            </a:r>
            <a:r>
              <a:rPr lang="es-CO" sz="2000" dirty="0" smtClean="0">
                <a:hlinkClick r:id="rId6"/>
              </a:rPr>
              <a:t>http</a:t>
            </a:r>
            <a:r>
              <a:rPr lang="es-CO" sz="2000" dirty="0">
                <a:hlinkClick r:id="rId6"/>
              </a:rPr>
              <a:t>://aima.cs.berkeley.edu</a:t>
            </a:r>
            <a:r>
              <a:rPr lang="es-CO" sz="2000" dirty="0" smtClean="0">
                <a:hlinkClick r:id="rId6"/>
              </a:rPr>
              <a:t>/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r>
              <a:rPr lang="es-CO" sz="2000" dirty="0" smtClean="0"/>
              <a:t>Curso </a:t>
            </a:r>
            <a:r>
              <a:rPr lang="es-CO" sz="2000" dirty="0"/>
              <a:t>de </a:t>
            </a:r>
            <a:r>
              <a:rPr lang="es-CO" sz="2000" dirty="0" err="1"/>
              <a:t>Deep</a:t>
            </a:r>
            <a:r>
              <a:rPr lang="es-CO" sz="2000" dirty="0"/>
              <a:t> </a:t>
            </a:r>
            <a:r>
              <a:rPr lang="es-CO" sz="2000" dirty="0" err="1"/>
              <a:t>Learning</a:t>
            </a:r>
            <a:r>
              <a:rPr lang="es-CO" sz="2000" dirty="0"/>
              <a:t> Aplicado. </a:t>
            </a:r>
            <a:br>
              <a:rPr lang="es-CO" sz="2000" dirty="0"/>
            </a:br>
            <a:r>
              <a:rPr lang="es-CO" sz="2000" dirty="0" smtClean="0">
                <a:hlinkClick r:id="rId7"/>
              </a:rPr>
              <a:t>www.fast.ai</a:t>
            </a:r>
            <a:endParaRPr lang="es-CO" sz="2000" dirty="0" smtClean="0"/>
          </a:p>
          <a:p>
            <a:pPr marL="342900" indent="-342900">
              <a:buFontTx/>
              <a:buChar char="-"/>
            </a:pPr>
            <a:endParaRPr lang="es-CO" sz="2000" dirty="0" smtClean="0"/>
          </a:p>
        </p:txBody>
      </p:sp>
    </p:spTree>
    <p:extLst>
      <p:ext uri="{BB962C8B-B14F-4D97-AF65-F5344CB8AC3E}">
        <p14:creationId xmlns:p14="http://schemas.microsoft.com/office/powerpoint/2010/main" val="1342174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832</Words>
  <Application>Microsoft Office PowerPoint</Application>
  <PresentationFormat>Panorámica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72</cp:revision>
  <dcterms:created xsi:type="dcterms:W3CDTF">2017-07-31T19:21:32Z</dcterms:created>
  <dcterms:modified xsi:type="dcterms:W3CDTF">2019-02-12T18:46:10Z</dcterms:modified>
</cp:coreProperties>
</file>
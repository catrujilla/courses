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59"/>
  </p:handout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9" r:id="rId15"/>
    <p:sldId id="288" r:id="rId16"/>
    <p:sldId id="290" r:id="rId17"/>
    <p:sldId id="291" r:id="rId18"/>
    <p:sldId id="292" r:id="rId19"/>
    <p:sldId id="293" r:id="rId20"/>
    <p:sldId id="294" r:id="rId21"/>
    <p:sldId id="296" r:id="rId22"/>
    <p:sldId id="295" r:id="rId23"/>
    <p:sldId id="297" r:id="rId24"/>
    <p:sldId id="299" r:id="rId25"/>
    <p:sldId id="298" r:id="rId26"/>
    <p:sldId id="300" r:id="rId27"/>
    <p:sldId id="301" r:id="rId28"/>
    <p:sldId id="302" r:id="rId29"/>
    <p:sldId id="303" r:id="rId30"/>
    <p:sldId id="304" r:id="rId31"/>
    <p:sldId id="305" r:id="rId32"/>
    <p:sldId id="307" r:id="rId33"/>
    <p:sldId id="308" r:id="rId34"/>
    <p:sldId id="309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06" r:id="rId43"/>
    <p:sldId id="318" r:id="rId44"/>
    <p:sldId id="320" r:id="rId45"/>
    <p:sldId id="321" r:id="rId46"/>
    <p:sldId id="322" r:id="rId47"/>
    <p:sldId id="323" r:id="rId48"/>
    <p:sldId id="324" r:id="rId49"/>
    <p:sldId id="325" r:id="rId50"/>
    <p:sldId id="326" r:id="rId51"/>
    <p:sldId id="327" r:id="rId52"/>
    <p:sldId id="328" r:id="rId53"/>
    <p:sldId id="329" r:id="rId54"/>
    <p:sldId id="330" r:id="rId55"/>
    <p:sldId id="331" r:id="rId56"/>
    <p:sldId id="332" r:id="rId57"/>
    <p:sldId id="319" r:id="rId5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10" autoAdjust="0"/>
  </p:normalViewPr>
  <p:slideViewPr>
    <p:cSldViewPr snapToGrid="0">
      <p:cViewPr varScale="1">
        <p:scale>
          <a:sx n="103" d="100"/>
          <a:sy n="103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20/02/2019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20/02/2019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20/02/2019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20/02/2019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20/02/2019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20/02/2019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20/02/2019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20/02/2019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20/02/2019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20/02/2019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20/02/2019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60535" y="1928733"/>
            <a:ext cx="107897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dirty="0"/>
              <a:t>Búsqueda: Aproximación clásica</a:t>
            </a:r>
          </a:p>
          <a:p>
            <a:r>
              <a:rPr lang="es-CO" sz="2400" dirty="0" smtClean="0"/>
              <a:t>Febrero 11 de 2019 – Febrero 13 de 2019 </a:t>
            </a:r>
            <a:r>
              <a:rPr lang="es-CO" sz="2400" dirty="0"/>
              <a:t>- Febrero </a:t>
            </a:r>
            <a:r>
              <a:rPr lang="es-CO" sz="2400" dirty="0" smtClean="0"/>
              <a:t>18 </a:t>
            </a:r>
            <a:r>
              <a:rPr lang="es-CO" sz="2400" dirty="0"/>
              <a:t>de 2019 </a:t>
            </a:r>
            <a:r>
              <a:rPr lang="es-CO" sz="2400" dirty="0" smtClean="0"/>
              <a:t>- Febrero 20 de </a:t>
            </a:r>
            <a:r>
              <a:rPr lang="es-CO" sz="2400" dirty="0"/>
              <a:t>2019</a:t>
            </a:r>
          </a:p>
          <a:p>
            <a:r>
              <a:rPr lang="es-CO" sz="2400" dirty="0" smtClean="0"/>
              <a:t> </a:t>
            </a:r>
            <a:endParaRPr lang="es-CO" sz="2400" dirty="0"/>
          </a:p>
          <a:p>
            <a:endParaRPr lang="es-CO" sz="3600" dirty="0">
              <a:solidFill>
                <a:srgbClr val="FF0000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422400" y="3265438"/>
            <a:ext cx="10287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dirty="0"/>
              <a:t>Problemas y su planteamiento</a:t>
            </a:r>
          </a:p>
          <a:p>
            <a:r>
              <a:rPr lang="es-CO" sz="2400" dirty="0"/>
              <a:t>Búsqueda de soluciones</a:t>
            </a:r>
          </a:p>
          <a:p>
            <a:r>
              <a:rPr lang="es-CO" sz="2400" dirty="0"/>
              <a:t>Estrategias de búsqueda no informada</a:t>
            </a:r>
          </a:p>
          <a:p>
            <a:r>
              <a:rPr lang="es-CO" sz="2400" dirty="0"/>
              <a:t>Estrategias de búsqueda informada</a:t>
            </a:r>
          </a:p>
          <a:p>
            <a:r>
              <a:rPr lang="es-CO" sz="2400" dirty="0"/>
              <a:t>Búsqueda con adversarios</a:t>
            </a:r>
          </a:p>
          <a:p>
            <a:endParaRPr lang="es-CO" sz="2400" dirty="0"/>
          </a:p>
        </p:txBody>
      </p:sp>
      <p:sp>
        <p:nvSpPr>
          <p:cNvPr id="4" name="Rectángulo 3"/>
          <p:cNvSpPr/>
          <p:nvPr/>
        </p:nvSpPr>
        <p:spPr>
          <a:xfrm>
            <a:off x="2288032" y="5342929"/>
            <a:ext cx="1028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Docente: Carlos Alejandro Trujillo Anaya – </a:t>
            </a:r>
            <a:r>
              <a:rPr lang="es-CO" b="1" dirty="0"/>
              <a:t>carlostrujillo@itm.edu.co</a:t>
            </a:r>
            <a:endParaRPr lang="es-CO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7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a sign&#10;&#10;Description generated with very high confidence">
            <a:extLst>
              <a:ext uri="{FF2B5EF4-FFF2-40B4-BE49-F238E27FC236}">
                <a16:creationId xmlns="" xmlns:a16="http://schemas.microsoft.com/office/drawing/2014/main" id="{C491296C-AEDB-484A-86A1-62E1F9ECE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335" y="2330958"/>
            <a:ext cx="2464525" cy="3955762"/>
          </a:xfrm>
        </p:spPr>
      </p:pic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650338" y="1475563"/>
            <a:ext cx="305519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Problema de navegación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6634064" y="2966867"/>
            <a:ext cx="243828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La complejidad consiste esencialmente en determinar cuál de los estados posibles es la mejor opción. </a:t>
            </a:r>
          </a:p>
        </p:txBody>
      </p:sp>
      <p:sp>
        <p:nvSpPr>
          <p:cNvPr id="8" name="Rectángulo 23">
            <a:extLst>
              <a:ext uri="{FF2B5EF4-FFF2-40B4-BE49-F238E27FC236}">
                <a16:creationId xmlns="" xmlns:a16="http://schemas.microsoft.com/office/drawing/2014/main" id="{95295EE0-F9F3-4149-A8CB-FA5E3A8F8C29}"/>
              </a:ext>
            </a:extLst>
          </p:cNvPr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</p:spTree>
    <p:extLst>
      <p:ext uri="{BB962C8B-B14F-4D97-AF65-F5344CB8AC3E}">
        <p14:creationId xmlns:p14="http://schemas.microsoft.com/office/powerpoint/2010/main" val="400878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749527" y="1680837"/>
            <a:ext cx="427508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Problema parcialmente observable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6830007" y="2831840"/>
            <a:ext cx="243828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La complejidad consiste en </a:t>
            </a:r>
          </a:p>
          <a:p>
            <a:pPr marL="400050" indent="-400050" algn="ctr">
              <a:buAutoNum type="romanLcParenR"/>
            </a:pPr>
            <a:r>
              <a:rPr lang="es-CO" dirty="0"/>
              <a:t>No podemos observar todos los posibles estados del sistema.</a:t>
            </a:r>
          </a:p>
          <a:p>
            <a:pPr marL="400050" indent="-400050" algn="ctr">
              <a:buAutoNum type="romanLcParenR"/>
            </a:pPr>
            <a:r>
              <a:rPr lang="es-CO" dirty="0"/>
              <a:t>No sabemos cuáles van a ser los resultados de las acciones que ejecutemos. </a:t>
            </a:r>
          </a:p>
        </p:txBody>
      </p:sp>
      <p:pic>
        <p:nvPicPr>
          <p:cNvPr id="8" name="Content Placeholder 7" descr="A tree in a forest&#10;&#10;Description generated with very high confidence">
            <a:extLst>
              <a:ext uri="{FF2B5EF4-FFF2-40B4-BE49-F238E27FC236}">
                <a16:creationId xmlns="" xmlns:a16="http://schemas.microsoft.com/office/drawing/2014/main" id="{B80C65AF-8642-4390-8435-9628571AAA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491" y="2604116"/>
            <a:ext cx="4667817" cy="3106220"/>
          </a:xfrm>
        </p:spPr>
      </p:pic>
      <p:sp>
        <p:nvSpPr>
          <p:cNvPr id="9" name="Rectángulo 23">
            <a:extLst>
              <a:ext uri="{FF2B5EF4-FFF2-40B4-BE49-F238E27FC236}">
                <a16:creationId xmlns="" xmlns:a16="http://schemas.microsoft.com/office/drawing/2014/main" id="{479913AC-9278-45D4-9F85-D264FFA931E5}"/>
              </a:ext>
            </a:extLst>
          </p:cNvPr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</p:spTree>
    <p:extLst>
      <p:ext uri="{BB962C8B-B14F-4D97-AF65-F5344CB8AC3E}">
        <p14:creationId xmlns:p14="http://schemas.microsoft.com/office/powerpoint/2010/main" val="128026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621730" y="1624853"/>
            <a:ext cx="64341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Problema de determinación de la mejor ruta (viajero)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5936191" y="2561252"/>
            <a:ext cx="243828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Ejemplo básico: El problema consiste en encontrar la ruta entre dos ciudades.</a:t>
            </a:r>
          </a:p>
          <a:p>
            <a:pPr algn="ctr"/>
            <a:endParaRPr lang="es-CO" dirty="0"/>
          </a:p>
          <a:p>
            <a:pPr algn="ctr"/>
            <a:r>
              <a:rPr lang="es-CO" dirty="0"/>
              <a:t>Desde la ciudad inicial (</a:t>
            </a:r>
            <a:r>
              <a:rPr lang="es-CO" b="1" i="1" dirty="0">
                <a:solidFill>
                  <a:srgbClr val="FF0000"/>
                </a:solidFill>
              </a:rPr>
              <a:t>estado inicial</a:t>
            </a:r>
            <a:r>
              <a:rPr lang="es-CO" dirty="0"/>
              <a:t>) hasta la ciudad objetivo (</a:t>
            </a:r>
            <a:r>
              <a:rPr lang="es-CO" b="1" i="1" dirty="0">
                <a:solidFill>
                  <a:srgbClr val="FF0000"/>
                </a:solidFill>
              </a:rPr>
              <a:t>estado objetivo</a:t>
            </a:r>
            <a:r>
              <a:rPr lang="es-CO" dirty="0"/>
              <a:t>).</a:t>
            </a:r>
          </a:p>
        </p:txBody>
      </p:sp>
      <p:pic>
        <p:nvPicPr>
          <p:cNvPr id="5" name="Content Placeholder 4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9092FC97-5296-43BD-B664-BD0F5105E2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359" y="2274126"/>
            <a:ext cx="2599817" cy="3757155"/>
          </a:xfrm>
        </p:spPr>
      </p:pic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F0BB9506-9A03-4CC9-BD00-2FE493613C31}"/>
              </a:ext>
            </a:extLst>
          </p:cNvPr>
          <p:cNvSpPr/>
          <p:nvPr/>
        </p:nvSpPr>
        <p:spPr>
          <a:xfrm>
            <a:off x="2845838" y="6031281"/>
            <a:ext cx="7270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Si la ciudad de destino es Bucarest (Capital de Rumania), podríamos resolver el problema con la información que tenemos?</a:t>
            </a:r>
          </a:p>
        </p:txBody>
      </p:sp>
    </p:spTree>
    <p:extLst>
      <p:ext uri="{BB962C8B-B14F-4D97-AF65-F5344CB8AC3E}">
        <p14:creationId xmlns:p14="http://schemas.microsoft.com/office/powerpoint/2010/main" val="280607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621730" y="1624853"/>
            <a:ext cx="64341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Problema de determinación de la mejor ruta (viajero)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6831930" y="2055740"/>
            <a:ext cx="24382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s-CO" b="1" i="1" dirty="0">
              <a:solidFill>
                <a:srgbClr val="FF0000"/>
              </a:solidFill>
            </a:endParaRPr>
          </a:p>
          <a:p>
            <a:pPr algn="ctr"/>
            <a:endParaRPr lang="es-CO" b="1" i="1" dirty="0">
              <a:solidFill>
                <a:srgbClr val="FF0000"/>
              </a:solidFill>
            </a:endParaRPr>
          </a:p>
          <a:p>
            <a:pPr algn="ctr"/>
            <a:r>
              <a:rPr lang="es-CO" b="1" i="1" dirty="0">
                <a:solidFill>
                  <a:srgbClr val="FF0000"/>
                </a:solidFill>
              </a:rPr>
              <a:t>Ahora si podemos resolver el problema!</a:t>
            </a:r>
          </a:p>
        </p:txBody>
      </p:sp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F0BB9506-9A03-4CC9-BD00-2FE493613C31}"/>
              </a:ext>
            </a:extLst>
          </p:cNvPr>
          <p:cNvSpPr/>
          <p:nvPr/>
        </p:nvSpPr>
        <p:spPr>
          <a:xfrm>
            <a:off x="2845838" y="6031281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8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8D3A4601-BA4D-46A6-A60A-C77D34E2F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430" y="2506714"/>
            <a:ext cx="5001642" cy="3266378"/>
          </a:xfrm>
        </p:spPr>
      </p:pic>
      <p:sp>
        <p:nvSpPr>
          <p:cNvPr id="10" name="Rectángulo 11">
            <a:extLst>
              <a:ext uri="{FF2B5EF4-FFF2-40B4-BE49-F238E27FC236}">
                <a16:creationId xmlns="" xmlns:a16="http://schemas.microsoft.com/office/drawing/2014/main" id="{C1E3B4A3-F5F6-41D3-939B-E903B10E234E}"/>
              </a:ext>
            </a:extLst>
          </p:cNvPr>
          <p:cNvSpPr/>
          <p:nvPr/>
        </p:nvSpPr>
        <p:spPr>
          <a:xfrm>
            <a:off x="1343607" y="325606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11" name="Rectángulo 11">
            <a:extLst>
              <a:ext uri="{FF2B5EF4-FFF2-40B4-BE49-F238E27FC236}">
                <a16:creationId xmlns="" xmlns:a16="http://schemas.microsoft.com/office/drawing/2014/main" id="{3B076F34-16EF-44D5-9681-4F45010D99FE}"/>
              </a:ext>
            </a:extLst>
          </p:cNvPr>
          <p:cNvSpPr/>
          <p:nvPr/>
        </p:nvSpPr>
        <p:spPr>
          <a:xfrm>
            <a:off x="1551991" y="272088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="" xmlns:a16="http://schemas.microsoft.com/office/drawing/2014/main" id="{93A0419D-8122-447C-8144-57818C730A6B}"/>
              </a:ext>
            </a:extLst>
          </p:cNvPr>
          <p:cNvSpPr/>
          <p:nvPr/>
        </p:nvSpPr>
        <p:spPr>
          <a:xfrm>
            <a:off x="1789667" y="370239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140</a:t>
            </a:r>
          </a:p>
        </p:txBody>
      </p:sp>
      <p:sp>
        <p:nvSpPr>
          <p:cNvPr id="13" name="Rectángulo 11">
            <a:extLst>
              <a:ext uri="{FF2B5EF4-FFF2-40B4-BE49-F238E27FC236}">
                <a16:creationId xmlns="" xmlns:a16="http://schemas.microsoft.com/office/drawing/2014/main" id="{4E7F8091-0F42-4B67-886D-CC274F65FD64}"/>
              </a:ext>
            </a:extLst>
          </p:cNvPr>
          <p:cNvSpPr/>
          <p:nvPr/>
        </p:nvSpPr>
        <p:spPr>
          <a:xfrm>
            <a:off x="2164459" y="317839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151</a:t>
            </a:r>
          </a:p>
        </p:txBody>
      </p:sp>
      <p:sp>
        <p:nvSpPr>
          <p:cNvPr id="14" name="Rectángulo 11">
            <a:extLst>
              <a:ext uri="{FF2B5EF4-FFF2-40B4-BE49-F238E27FC236}">
                <a16:creationId xmlns="" xmlns:a16="http://schemas.microsoft.com/office/drawing/2014/main" id="{C7C594EF-AEA0-4314-8EBB-B3E768A4FF01}"/>
              </a:ext>
            </a:extLst>
          </p:cNvPr>
          <p:cNvSpPr/>
          <p:nvPr/>
        </p:nvSpPr>
        <p:spPr>
          <a:xfrm>
            <a:off x="1251761" y="378006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118</a:t>
            </a:r>
          </a:p>
        </p:txBody>
      </p:sp>
      <p:sp>
        <p:nvSpPr>
          <p:cNvPr id="15" name="Rectángulo 11">
            <a:extLst>
              <a:ext uri="{FF2B5EF4-FFF2-40B4-BE49-F238E27FC236}">
                <a16:creationId xmlns="" xmlns:a16="http://schemas.microsoft.com/office/drawing/2014/main" id="{45C5EB7E-562D-4734-8E55-94A7B52DE302}"/>
              </a:ext>
            </a:extLst>
          </p:cNvPr>
          <p:cNvSpPr/>
          <p:nvPr/>
        </p:nvSpPr>
        <p:spPr>
          <a:xfrm>
            <a:off x="2164458" y="550439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120</a:t>
            </a:r>
          </a:p>
        </p:txBody>
      </p:sp>
      <p:sp>
        <p:nvSpPr>
          <p:cNvPr id="16" name="Rectángulo 11">
            <a:extLst>
              <a:ext uri="{FF2B5EF4-FFF2-40B4-BE49-F238E27FC236}">
                <a16:creationId xmlns="" xmlns:a16="http://schemas.microsoft.com/office/drawing/2014/main" id="{50D89A1D-5271-439B-B923-CF18BF172410}"/>
              </a:ext>
            </a:extLst>
          </p:cNvPr>
          <p:cNvSpPr/>
          <p:nvPr/>
        </p:nvSpPr>
        <p:spPr>
          <a:xfrm>
            <a:off x="1461369" y="433724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111</a:t>
            </a:r>
          </a:p>
        </p:txBody>
      </p:sp>
      <p:sp>
        <p:nvSpPr>
          <p:cNvPr id="17" name="Rectángulo 11">
            <a:extLst>
              <a:ext uri="{FF2B5EF4-FFF2-40B4-BE49-F238E27FC236}">
                <a16:creationId xmlns="" xmlns:a16="http://schemas.microsoft.com/office/drawing/2014/main" id="{548D024C-397E-4054-BC84-C0143E99FCDE}"/>
              </a:ext>
            </a:extLst>
          </p:cNvPr>
          <p:cNvSpPr/>
          <p:nvPr/>
        </p:nvSpPr>
        <p:spPr>
          <a:xfrm>
            <a:off x="1694464" y="465572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70</a:t>
            </a:r>
          </a:p>
        </p:txBody>
      </p:sp>
      <p:sp>
        <p:nvSpPr>
          <p:cNvPr id="18" name="Rectángulo 11">
            <a:extLst>
              <a:ext uri="{FF2B5EF4-FFF2-40B4-BE49-F238E27FC236}">
                <a16:creationId xmlns="" xmlns:a16="http://schemas.microsoft.com/office/drawing/2014/main" id="{C0AF30B4-A6EE-43A6-B355-36D075932FA0}"/>
              </a:ext>
            </a:extLst>
          </p:cNvPr>
          <p:cNvSpPr/>
          <p:nvPr/>
        </p:nvSpPr>
        <p:spPr>
          <a:xfrm>
            <a:off x="1783679" y="504122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19" name="Rectángulo 11">
            <a:extLst>
              <a:ext uri="{FF2B5EF4-FFF2-40B4-BE49-F238E27FC236}">
                <a16:creationId xmlns="" xmlns:a16="http://schemas.microsoft.com/office/drawing/2014/main" id="{41D4D90D-9071-46D1-B61C-F1DA2AA2B001}"/>
              </a:ext>
            </a:extLst>
          </p:cNvPr>
          <p:cNvSpPr/>
          <p:nvPr/>
        </p:nvSpPr>
        <p:spPr>
          <a:xfrm>
            <a:off x="4245399" y="4491080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85</a:t>
            </a:r>
          </a:p>
        </p:txBody>
      </p:sp>
      <p:sp>
        <p:nvSpPr>
          <p:cNvPr id="20" name="Rectángulo 11">
            <a:extLst>
              <a:ext uri="{FF2B5EF4-FFF2-40B4-BE49-F238E27FC236}">
                <a16:creationId xmlns="" xmlns:a16="http://schemas.microsoft.com/office/drawing/2014/main" id="{2222B0B6-52A9-476F-812E-C170095585EC}"/>
              </a:ext>
            </a:extLst>
          </p:cNvPr>
          <p:cNvSpPr/>
          <p:nvPr/>
        </p:nvSpPr>
        <p:spPr>
          <a:xfrm>
            <a:off x="3489365" y="480685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101</a:t>
            </a:r>
          </a:p>
        </p:txBody>
      </p:sp>
      <p:sp>
        <p:nvSpPr>
          <p:cNvPr id="21" name="Rectángulo 11">
            <a:extLst>
              <a:ext uri="{FF2B5EF4-FFF2-40B4-BE49-F238E27FC236}">
                <a16:creationId xmlns="" xmlns:a16="http://schemas.microsoft.com/office/drawing/2014/main" id="{E3502042-E4BE-49B1-ACDC-A3B6645D6829}"/>
              </a:ext>
            </a:extLst>
          </p:cNvPr>
          <p:cNvSpPr/>
          <p:nvPr/>
        </p:nvSpPr>
        <p:spPr>
          <a:xfrm>
            <a:off x="2723668" y="352025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99</a:t>
            </a:r>
          </a:p>
        </p:txBody>
      </p:sp>
      <p:sp>
        <p:nvSpPr>
          <p:cNvPr id="22" name="Rectángulo 11">
            <a:extLst>
              <a:ext uri="{FF2B5EF4-FFF2-40B4-BE49-F238E27FC236}">
                <a16:creationId xmlns="" xmlns:a16="http://schemas.microsoft.com/office/drawing/2014/main" id="{09B99B00-3CEF-44D1-9A3D-4FACD83561DF}"/>
              </a:ext>
            </a:extLst>
          </p:cNvPr>
          <p:cNvSpPr/>
          <p:nvPr/>
        </p:nvSpPr>
        <p:spPr>
          <a:xfrm>
            <a:off x="3658501" y="5139790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90</a:t>
            </a:r>
          </a:p>
        </p:txBody>
      </p:sp>
      <p:sp>
        <p:nvSpPr>
          <p:cNvPr id="23" name="Rectángulo 11">
            <a:extLst>
              <a:ext uri="{FF2B5EF4-FFF2-40B4-BE49-F238E27FC236}">
                <a16:creationId xmlns="" xmlns:a16="http://schemas.microsoft.com/office/drawing/2014/main" id="{2B45F82F-39FD-4A1E-A344-9E1DD0722964}"/>
              </a:ext>
            </a:extLst>
          </p:cNvPr>
          <p:cNvSpPr/>
          <p:nvPr/>
        </p:nvSpPr>
        <p:spPr>
          <a:xfrm>
            <a:off x="3838797" y="399169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211</a:t>
            </a:r>
          </a:p>
        </p:txBody>
      </p:sp>
      <p:sp>
        <p:nvSpPr>
          <p:cNvPr id="24" name="Rectángulo 11">
            <a:extLst>
              <a:ext uri="{FF2B5EF4-FFF2-40B4-BE49-F238E27FC236}">
                <a16:creationId xmlns="" xmlns:a16="http://schemas.microsoft.com/office/drawing/2014/main" id="{AD41E528-D1FD-41F9-8D8D-6A74357CB561}"/>
              </a:ext>
            </a:extLst>
          </p:cNvPr>
          <p:cNvSpPr/>
          <p:nvPr/>
        </p:nvSpPr>
        <p:spPr>
          <a:xfrm>
            <a:off x="3013077" y="501712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138</a:t>
            </a:r>
          </a:p>
        </p:txBody>
      </p:sp>
      <p:sp>
        <p:nvSpPr>
          <p:cNvPr id="25" name="Rectángulo 11">
            <a:extLst>
              <a:ext uri="{FF2B5EF4-FFF2-40B4-BE49-F238E27FC236}">
                <a16:creationId xmlns="" xmlns:a16="http://schemas.microsoft.com/office/drawing/2014/main" id="{B95EE4DC-68CD-420F-ADD4-30B966E6D5FA}"/>
              </a:ext>
            </a:extLst>
          </p:cNvPr>
          <p:cNvSpPr/>
          <p:nvPr/>
        </p:nvSpPr>
        <p:spPr>
          <a:xfrm>
            <a:off x="2557922" y="490272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146</a:t>
            </a:r>
          </a:p>
        </p:txBody>
      </p:sp>
      <p:sp>
        <p:nvSpPr>
          <p:cNvPr id="26" name="Rectángulo 11">
            <a:extLst>
              <a:ext uri="{FF2B5EF4-FFF2-40B4-BE49-F238E27FC236}">
                <a16:creationId xmlns="" xmlns:a16="http://schemas.microsoft.com/office/drawing/2014/main" id="{C136CC42-DBF3-4A28-B32C-E423D7524398}"/>
              </a:ext>
            </a:extLst>
          </p:cNvPr>
          <p:cNvSpPr/>
          <p:nvPr/>
        </p:nvSpPr>
        <p:spPr>
          <a:xfrm>
            <a:off x="2723668" y="445230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97</a:t>
            </a:r>
          </a:p>
        </p:txBody>
      </p:sp>
      <p:sp>
        <p:nvSpPr>
          <p:cNvPr id="27" name="Rectángulo 11">
            <a:extLst>
              <a:ext uri="{FF2B5EF4-FFF2-40B4-BE49-F238E27FC236}">
                <a16:creationId xmlns="" xmlns:a16="http://schemas.microsoft.com/office/drawing/2014/main" id="{11043D4F-5B1A-42F2-8D08-D0404F9DD70E}"/>
              </a:ext>
            </a:extLst>
          </p:cNvPr>
          <p:cNvSpPr/>
          <p:nvPr/>
        </p:nvSpPr>
        <p:spPr>
          <a:xfrm>
            <a:off x="2245047" y="383344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80</a:t>
            </a:r>
          </a:p>
        </p:txBody>
      </p:sp>
      <p:sp>
        <p:nvSpPr>
          <p:cNvPr id="28" name="Rectángulo 11">
            <a:extLst>
              <a:ext uri="{FF2B5EF4-FFF2-40B4-BE49-F238E27FC236}">
                <a16:creationId xmlns="" xmlns:a16="http://schemas.microsoft.com/office/drawing/2014/main" id="{1C3CAC27-7C50-4CF9-8108-8C0EBAA69333}"/>
              </a:ext>
            </a:extLst>
          </p:cNvPr>
          <p:cNvSpPr/>
          <p:nvPr/>
        </p:nvSpPr>
        <p:spPr>
          <a:xfrm>
            <a:off x="5626005" y="397939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142</a:t>
            </a:r>
          </a:p>
        </p:txBody>
      </p:sp>
      <p:sp>
        <p:nvSpPr>
          <p:cNvPr id="29" name="Rectángulo 11">
            <a:extLst>
              <a:ext uri="{FF2B5EF4-FFF2-40B4-BE49-F238E27FC236}">
                <a16:creationId xmlns="" xmlns:a16="http://schemas.microsoft.com/office/drawing/2014/main" id="{12FB98E2-BE51-490B-AF1E-6ACEA2D83ECC}"/>
              </a:ext>
            </a:extLst>
          </p:cNvPr>
          <p:cNvSpPr/>
          <p:nvPr/>
        </p:nvSpPr>
        <p:spPr>
          <a:xfrm>
            <a:off x="5559144" y="473695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86</a:t>
            </a:r>
          </a:p>
        </p:txBody>
      </p:sp>
      <p:sp>
        <p:nvSpPr>
          <p:cNvPr id="30" name="Rectángulo 11">
            <a:extLst>
              <a:ext uri="{FF2B5EF4-FFF2-40B4-BE49-F238E27FC236}">
                <a16:creationId xmlns="" xmlns:a16="http://schemas.microsoft.com/office/drawing/2014/main" id="{333F2CF9-1FD1-4A50-A23C-F081962622CD}"/>
              </a:ext>
            </a:extLst>
          </p:cNvPr>
          <p:cNvSpPr/>
          <p:nvPr/>
        </p:nvSpPr>
        <p:spPr>
          <a:xfrm>
            <a:off x="5442828" y="308175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92</a:t>
            </a:r>
          </a:p>
        </p:txBody>
      </p:sp>
      <p:sp>
        <p:nvSpPr>
          <p:cNvPr id="31" name="Rectángulo 11">
            <a:extLst>
              <a:ext uri="{FF2B5EF4-FFF2-40B4-BE49-F238E27FC236}">
                <a16:creationId xmlns="" xmlns:a16="http://schemas.microsoft.com/office/drawing/2014/main" id="{1EAE47EE-82A9-43BF-8B40-59D4754C54B5}"/>
              </a:ext>
            </a:extLst>
          </p:cNvPr>
          <p:cNvSpPr/>
          <p:nvPr/>
        </p:nvSpPr>
        <p:spPr>
          <a:xfrm>
            <a:off x="4598490" y="287906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87</a:t>
            </a:r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106DA0E9-023A-4066-9AC3-480F312CE3DD}"/>
              </a:ext>
            </a:extLst>
          </p:cNvPr>
          <p:cNvSpPr/>
          <p:nvPr/>
        </p:nvSpPr>
        <p:spPr>
          <a:xfrm>
            <a:off x="4995748" y="450517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98</a:t>
            </a:r>
          </a:p>
        </p:txBody>
      </p:sp>
      <p:sp>
        <p:nvSpPr>
          <p:cNvPr id="33" name="Rectángulo 23">
            <a:extLst>
              <a:ext uri="{FF2B5EF4-FFF2-40B4-BE49-F238E27FC236}">
                <a16:creationId xmlns="" xmlns:a16="http://schemas.microsoft.com/office/drawing/2014/main" id="{B29F5CFD-4A4D-468E-9651-1FD65B027809}"/>
              </a:ext>
            </a:extLst>
          </p:cNvPr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</p:spTree>
    <p:extLst>
      <p:ext uri="{BB962C8B-B14F-4D97-AF65-F5344CB8AC3E}">
        <p14:creationId xmlns:p14="http://schemas.microsoft.com/office/powerpoint/2010/main" val="200437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621730" y="1624853"/>
            <a:ext cx="64341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Problema de determinación de la mejor ruta (viajero)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7055864" y="2951479"/>
            <a:ext cx="243828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Cuántas rutas puede haber entre Arad y Bucarest? </a:t>
            </a:r>
          </a:p>
          <a:p>
            <a:pPr algn="ctr"/>
            <a:endParaRPr lang="es-CO" i="1" dirty="0"/>
          </a:p>
          <a:p>
            <a:pPr algn="ctr"/>
            <a:r>
              <a:rPr lang="es-CO" i="1" dirty="0"/>
              <a:t>Cuál es la mejor?</a:t>
            </a:r>
          </a:p>
        </p:txBody>
      </p:sp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F0BB9506-9A03-4CC9-BD00-2FE493613C31}"/>
              </a:ext>
            </a:extLst>
          </p:cNvPr>
          <p:cNvSpPr/>
          <p:nvPr/>
        </p:nvSpPr>
        <p:spPr>
          <a:xfrm>
            <a:off x="2845838" y="6031281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8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8D3A4601-BA4D-46A6-A60A-C77D34E2F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430" y="2410321"/>
            <a:ext cx="5001642" cy="3266378"/>
          </a:xfrm>
        </p:spPr>
      </p:pic>
      <p:sp>
        <p:nvSpPr>
          <p:cNvPr id="3" name="Freeform: Shape 2">
            <a:extLst>
              <a:ext uri="{FF2B5EF4-FFF2-40B4-BE49-F238E27FC236}">
                <a16:creationId xmlns="" xmlns:a16="http://schemas.microsoft.com/office/drawing/2014/main" id="{F9607673-27AD-4465-87D2-68452C846659}"/>
              </a:ext>
            </a:extLst>
          </p:cNvPr>
          <p:cNvSpPr/>
          <p:nvPr/>
        </p:nvSpPr>
        <p:spPr>
          <a:xfrm>
            <a:off x="1978090" y="2606154"/>
            <a:ext cx="2454026" cy="2133797"/>
          </a:xfrm>
          <a:custGeom>
            <a:avLst/>
            <a:gdLst>
              <a:gd name="connsiteX0" fmla="*/ 65314 w 2454026"/>
              <a:gd name="connsiteY0" fmla="*/ 939479 h 2133797"/>
              <a:gd name="connsiteX1" fmla="*/ 55983 w 2454026"/>
              <a:gd name="connsiteY1" fmla="*/ 584915 h 2133797"/>
              <a:gd name="connsiteX2" fmla="*/ 46653 w 2454026"/>
              <a:gd name="connsiteY2" fmla="*/ 547593 h 2133797"/>
              <a:gd name="connsiteX3" fmla="*/ 9330 w 2454026"/>
              <a:gd name="connsiteY3" fmla="*/ 491609 h 2133797"/>
              <a:gd name="connsiteX4" fmla="*/ 0 w 2454026"/>
              <a:gd name="connsiteY4" fmla="*/ 463617 h 2133797"/>
              <a:gd name="connsiteX5" fmla="*/ 9330 w 2454026"/>
              <a:gd name="connsiteY5" fmla="*/ 332989 h 2133797"/>
              <a:gd name="connsiteX6" fmla="*/ 27992 w 2454026"/>
              <a:gd name="connsiteY6" fmla="*/ 267675 h 2133797"/>
              <a:gd name="connsiteX7" fmla="*/ 46653 w 2454026"/>
              <a:gd name="connsiteY7" fmla="*/ 249013 h 2133797"/>
              <a:gd name="connsiteX8" fmla="*/ 74645 w 2454026"/>
              <a:gd name="connsiteY8" fmla="*/ 230352 h 2133797"/>
              <a:gd name="connsiteX9" fmla="*/ 139959 w 2454026"/>
              <a:gd name="connsiteY9" fmla="*/ 221022 h 2133797"/>
              <a:gd name="connsiteX10" fmla="*/ 195943 w 2454026"/>
              <a:gd name="connsiteY10" fmla="*/ 202360 h 2133797"/>
              <a:gd name="connsiteX11" fmla="*/ 233265 w 2454026"/>
              <a:gd name="connsiteY11" fmla="*/ 146377 h 2133797"/>
              <a:gd name="connsiteX12" fmla="*/ 261257 w 2454026"/>
              <a:gd name="connsiteY12" fmla="*/ 90393 h 2133797"/>
              <a:gd name="connsiteX13" fmla="*/ 270588 w 2454026"/>
              <a:gd name="connsiteY13" fmla="*/ 34409 h 2133797"/>
              <a:gd name="connsiteX14" fmla="*/ 401216 w 2454026"/>
              <a:gd name="connsiteY14" fmla="*/ 15748 h 2133797"/>
              <a:gd name="connsiteX15" fmla="*/ 419877 w 2454026"/>
              <a:gd name="connsiteY15" fmla="*/ 43740 h 2133797"/>
              <a:gd name="connsiteX16" fmla="*/ 447869 w 2454026"/>
              <a:gd name="connsiteY16" fmla="*/ 137046 h 2133797"/>
              <a:gd name="connsiteX17" fmla="*/ 457200 w 2454026"/>
              <a:gd name="connsiteY17" fmla="*/ 622238 h 2133797"/>
              <a:gd name="connsiteX18" fmla="*/ 466530 w 2454026"/>
              <a:gd name="connsiteY18" fmla="*/ 668891 h 2133797"/>
              <a:gd name="connsiteX19" fmla="*/ 503853 w 2454026"/>
              <a:gd name="connsiteY19" fmla="*/ 752866 h 2133797"/>
              <a:gd name="connsiteX20" fmla="*/ 522514 w 2454026"/>
              <a:gd name="connsiteY20" fmla="*/ 836842 h 2133797"/>
              <a:gd name="connsiteX21" fmla="*/ 531845 w 2454026"/>
              <a:gd name="connsiteY21" fmla="*/ 864834 h 2133797"/>
              <a:gd name="connsiteX22" fmla="*/ 550506 w 2454026"/>
              <a:gd name="connsiteY22" fmla="*/ 958140 h 2133797"/>
              <a:gd name="connsiteX23" fmla="*/ 569167 w 2454026"/>
              <a:gd name="connsiteY23" fmla="*/ 986132 h 2133797"/>
              <a:gd name="connsiteX24" fmla="*/ 578498 w 2454026"/>
              <a:gd name="connsiteY24" fmla="*/ 1014124 h 2133797"/>
              <a:gd name="connsiteX25" fmla="*/ 597159 w 2454026"/>
              <a:gd name="connsiteY25" fmla="*/ 1042115 h 2133797"/>
              <a:gd name="connsiteX26" fmla="*/ 606490 w 2454026"/>
              <a:gd name="connsiteY26" fmla="*/ 1070107 h 2133797"/>
              <a:gd name="connsiteX27" fmla="*/ 662473 w 2454026"/>
              <a:gd name="connsiteY27" fmla="*/ 1107430 h 2133797"/>
              <a:gd name="connsiteX28" fmla="*/ 718457 w 2454026"/>
              <a:gd name="connsiteY28" fmla="*/ 1126091 h 2133797"/>
              <a:gd name="connsiteX29" fmla="*/ 970383 w 2454026"/>
              <a:gd name="connsiteY29" fmla="*/ 1116760 h 2133797"/>
              <a:gd name="connsiteX30" fmla="*/ 998375 w 2454026"/>
              <a:gd name="connsiteY30" fmla="*/ 1107430 h 2133797"/>
              <a:gd name="connsiteX31" fmla="*/ 1810139 w 2454026"/>
              <a:gd name="connsiteY31" fmla="*/ 1088768 h 2133797"/>
              <a:gd name="connsiteX32" fmla="*/ 1950098 w 2454026"/>
              <a:gd name="connsiteY32" fmla="*/ 1079438 h 2133797"/>
              <a:gd name="connsiteX33" fmla="*/ 2052734 w 2454026"/>
              <a:gd name="connsiteY33" fmla="*/ 1088768 h 2133797"/>
              <a:gd name="connsiteX34" fmla="*/ 2090057 w 2454026"/>
              <a:gd name="connsiteY34" fmla="*/ 1135422 h 2133797"/>
              <a:gd name="connsiteX35" fmla="*/ 2146041 w 2454026"/>
              <a:gd name="connsiteY35" fmla="*/ 1228728 h 2133797"/>
              <a:gd name="connsiteX36" fmla="*/ 2174032 w 2454026"/>
              <a:gd name="connsiteY36" fmla="*/ 1489985 h 2133797"/>
              <a:gd name="connsiteX37" fmla="*/ 2183363 w 2454026"/>
              <a:gd name="connsiteY37" fmla="*/ 1555299 h 2133797"/>
              <a:gd name="connsiteX38" fmla="*/ 2202024 w 2454026"/>
              <a:gd name="connsiteY38" fmla="*/ 1583291 h 2133797"/>
              <a:gd name="connsiteX39" fmla="*/ 2230016 w 2454026"/>
              <a:gd name="connsiteY39" fmla="*/ 1639275 h 2133797"/>
              <a:gd name="connsiteX40" fmla="*/ 2248677 w 2454026"/>
              <a:gd name="connsiteY40" fmla="*/ 1853879 h 2133797"/>
              <a:gd name="connsiteX41" fmla="*/ 2267339 w 2454026"/>
              <a:gd name="connsiteY41" fmla="*/ 1881870 h 2133797"/>
              <a:gd name="connsiteX42" fmla="*/ 2313992 w 2454026"/>
              <a:gd name="connsiteY42" fmla="*/ 1965846 h 2133797"/>
              <a:gd name="connsiteX43" fmla="*/ 2332653 w 2454026"/>
              <a:gd name="connsiteY43" fmla="*/ 1993838 h 2133797"/>
              <a:gd name="connsiteX44" fmla="*/ 2369975 w 2454026"/>
              <a:gd name="connsiteY44" fmla="*/ 2031160 h 2133797"/>
              <a:gd name="connsiteX45" fmla="*/ 2388637 w 2454026"/>
              <a:gd name="connsiteY45" fmla="*/ 2059152 h 2133797"/>
              <a:gd name="connsiteX46" fmla="*/ 2416628 w 2454026"/>
              <a:gd name="connsiteY46" fmla="*/ 2087144 h 2133797"/>
              <a:gd name="connsiteX47" fmla="*/ 2425959 w 2454026"/>
              <a:gd name="connsiteY47" fmla="*/ 2115136 h 2133797"/>
              <a:gd name="connsiteX48" fmla="*/ 2453951 w 2454026"/>
              <a:gd name="connsiteY48" fmla="*/ 2133797 h 2133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2454026" h="2133797">
                <a:moveTo>
                  <a:pt x="65314" y="939479"/>
                </a:moveTo>
                <a:cubicBezTo>
                  <a:pt x="62204" y="821291"/>
                  <a:pt x="61607" y="703010"/>
                  <a:pt x="55983" y="584915"/>
                </a:cubicBezTo>
                <a:cubicBezTo>
                  <a:pt x="55373" y="572106"/>
                  <a:pt x="52388" y="559063"/>
                  <a:pt x="46653" y="547593"/>
                </a:cubicBezTo>
                <a:cubicBezTo>
                  <a:pt x="36623" y="527533"/>
                  <a:pt x="9330" y="491609"/>
                  <a:pt x="9330" y="491609"/>
                </a:cubicBezTo>
                <a:cubicBezTo>
                  <a:pt x="6220" y="482278"/>
                  <a:pt x="0" y="473452"/>
                  <a:pt x="0" y="463617"/>
                </a:cubicBezTo>
                <a:cubicBezTo>
                  <a:pt x="0" y="419963"/>
                  <a:pt x="4509" y="376376"/>
                  <a:pt x="9330" y="332989"/>
                </a:cubicBezTo>
                <a:cubicBezTo>
                  <a:pt x="9885" y="327997"/>
                  <a:pt x="23166" y="275719"/>
                  <a:pt x="27992" y="267675"/>
                </a:cubicBezTo>
                <a:cubicBezTo>
                  <a:pt x="32518" y="260132"/>
                  <a:pt x="39784" y="254509"/>
                  <a:pt x="46653" y="249013"/>
                </a:cubicBezTo>
                <a:cubicBezTo>
                  <a:pt x="55410" y="242008"/>
                  <a:pt x="63904" y="233574"/>
                  <a:pt x="74645" y="230352"/>
                </a:cubicBezTo>
                <a:cubicBezTo>
                  <a:pt x="95710" y="224033"/>
                  <a:pt x="118188" y="224132"/>
                  <a:pt x="139959" y="221022"/>
                </a:cubicBezTo>
                <a:cubicBezTo>
                  <a:pt x="158620" y="214801"/>
                  <a:pt x="185032" y="218727"/>
                  <a:pt x="195943" y="202360"/>
                </a:cubicBezTo>
                <a:cubicBezTo>
                  <a:pt x="208384" y="183699"/>
                  <a:pt x="226173" y="167654"/>
                  <a:pt x="233265" y="146377"/>
                </a:cubicBezTo>
                <a:cubicBezTo>
                  <a:pt x="246142" y="107746"/>
                  <a:pt x="237140" y="126569"/>
                  <a:pt x="261257" y="90393"/>
                </a:cubicBezTo>
                <a:cubicBezTo>
                  <a:pt x="264367" y="71732"/>
                  <a:pt x="264605" y="52357"/>
                  <a:pt x="270588" y="34409"/>
                </a:cubicBezTo>
                <a:cubicBezTo>
                  <a:pt x="290839" y="-26344"/>
                  <a:pt x="342144" y="10825"/>
                  <a:pt x="401216" y="15748"/>
                </a:cubicBezTo>
                <a:cubicBezTo>
                  <a:pt x="407436" y="25079"/>
                  <a:pt x="415323" y="33493"/>
                  <a:pt x="419877" y="43740"/>
                </a:cubicBezTo>
                <a:cubicBezTo>
                  <a:pt x="432861" y="72953"/>
                  <a:pt x="440114" y="106023"/>
                  <a:pt x="447869" y="137046"/>
                </a:cubicBezTo>
                <a:cubicBezTo>
                  <a:pt x="450979" y="298777"/>
                  <a:pt x="451528" y="460577"/>
                  <a:pt x="457200" y="622238"/>
                </a:cubicBezTo>
                <a:cubicBezTo>
                  <a:pt x="457756" y="638087"/>
                  <a:pt x="462357" y="653591"/>
                  <a:pt x="466530" y="668891"/>
                </a:cubicBezTo>
                <a:cubicBezTo>
                  <a:pt x="481904" y="725262"/>
                  <a:pt x="478176" y="714352"/>
                  <a:pt x="503853" y="752866"/>
                </a:cubicBezTo>
                <a:cubicBezTo>
                  <a:pt x="524858" y="815886"/>
                  <a:pt x="500616" y="738303"/>
                  <a:pt x="522514" y="836842"/>
                </a:cubicBezTo>
                <a:cubicBezTo>
                  <a:pt x="524648" y="846443"/>
                  <a:pt x="528735" y="855503"/>
                  <a:pt x="531845" y="864834"/>
                </a:cubicBezTo>
                <a:cubicBezTo>
                  <a:pt x="533951" y="877469"/>
                  <a:pt x="542913" y="940422"/>
                  <a:pt x="550506" y="958140"/>
                </a:cubicBezTo>
                <a:cubicBezTo>
                  <a:pt x="554923" y="968447"/>
                  <a:pt x="564152" y="976102"/>
                  <a:pt x="569167" y="986132"/>
                </a:cubicBezTo>
                <a:cubicBezTo>
                  <a:pt x="573566" y="994929"/>
                  <a:pt x="574099" y="1005327"/>
                  <a:pt x="578498" y="1014124"/>
                </a:cubicBezTo>
                <a:cubicBezTo>
                  <a:pt x="583513" y="1024154"/>
                  <a:pt x="592144" y="1032085"/>
                  <a:pt x="597159" y="1042115"/>
                </a:cubicBezTo>
                <a:cubicBezTo>
                  <a:pt x="601558" y="1050912"/>
                  <a:pt x="599535" y="1063152"/>
                  <a:pt x="606490" y="1070107"/>
                </a:cubicBezTo>
                <a:cubicBezTo>
                  <a:pt x="622349" y="1085966"/>
                  <a:pt x="641196" y="1100338"/>
                  <a:pt x="662473" y="1107430"/>
                </a:cubicBezTo>
                <a:lnTo>
                  <a:pt x="718457" y="1126091"/>
                </a:lnTo>
                <a:cubicBezTo>
                  <a:pt x="802432" y="1122981"/>
                  <a:pt x="886536" y="1122350"/>
                  <a:pt x="970383" y="1116760"/>
                </a:cubicBezTo>
                <a:cubicBezTo>
                  <a:pt x="980197" y="1116106"/>
                  <a:pt x="988561" y="1108084"/>
                  <a:pt x="998375" y="1107430"/>
                </a:cubicBezTo>
                <a:cubicBezTo>
                  <a:pt x="1177010" y="1095521"/>
                  <a:pt x="1743302" y="1089882"/>
                  <a:pt x="1810139" y="1088768"/>
                </a:cubicBezTo>
                <a:cubicBezTo>
                  <a:pt x="1856792" y="1085658"/>
                  <a:pt x="1903341" y="1079438"/>
                  <a:pt x="1950098" y="1079438"/>
                </a:cubicBezTo>
                <a:cubicBezTo>
                  <a:pt x="1984451" y="1079438"/>
                  <a:pt x="2019261" y="1081043"/>
                  <a:pt x="2052734" y="1088768"/>
                </a:cubicBezTo>
                <a:cubicBezTo>
                  <a:pt x="2062721" y="1091073"/>
                  <a:pt x="2087682" y="1131069"/>
                  <a:pt x="2090057" y="1135422"/>
                </a:cubicBezTo>
                <a:cubicBezTo>
                  <a:pt x="2139564" y="1226185"/>
                  <a:pt x="2105099" y="1187786"/>
                  <a:pt x="2146041" y="1228728"/>
                </a:cubicBezTo>
                <a:cubicBezTo>
                  <a:pt x="2165486" y="1471797"/>
                  <a:pt x="2140037" y="1387992"/>
                  <a:pt x="2174032" y="1489985"/>
                </a:cubicBezTo>
                <a:cubicBezTo>
                  <a:pt x="2177142" y="1511756"/>
                  <a:pt x="2177043" y="1534234"/>
                  <a:pt x="2183363" y="1555299"/>
                </a:cubicBezTo>
                <a:cubicBezTo>
                  <a:pt x="2186585" y="1566040"/>
                  <a:pt x="2197009" y="1573261"/>
                  <a:pt x="2202024" y="1583291"/>
                </a:cubicBezTo>
                <a:cubicBezTo>
                  <a:pt x="2240655" y="1660552"/>
                  <a:pt x="2176536" y="1559054"/>
                  <a:pt x="2230016" y="1639275"/>
                </a:cubicBezTo>
                <a:cubicBezTo>
                  <a:pt x="2230385" y="1644444"/>
                  <a:pt x="2241603" y="1825584"/>
                  <a:pt x="2248677" y="1853879"/>
                </a:cubicBezTo>
                <a:cubicBezTo>
                  <a:pt x="2251397" y="1864758"/>
                  <a:pt x="2261118" y="1872540"/>
                  <a:pt x="2267339" y="1881870"/>
                </a:cubicBezTo>
                <a:cubicBezTo>
                  <a:pt x="2283761" y="1931140"/>
                  <a:pt x="2271213" y="1901677"/>
                  <a:pt x="2313992" y="1965846"/>
                </a:cubicBezTo>
                <a:lnTo>
                  <a:pt x="2332653" y="1993838"/>
                </a:lnTo>
                <a:cubicBezTo>
                  <a:pt x="2353009" y="2054910"/>
                  <a:pt x="2324736" y="1994970"/>
                  <a:pt x="2369975" y="2031160"/>
                </a:cubicBezTo>
                <a:cubicBezTo>
                  <a:pt x="2378732" y="2038165"/>
                  <a:pt x="2381458" y="2050537"/>
                  <a:pt x="2388637" y="2059152"/>
                </a:cubicBezTo>
                <a:cubicBezTo>
                  <a:pt x="2397084" y="2069289"/>
                  <a:pt x="2407298" y="2077813"/>
                  <a:pt x="2416628" y="2087144"/>
                </a:cubicBezTo>
                <a:cubicBezTo>
                  <a:pt x="2419738" y="2096475"/>
                  <a:pt x="2419004" y="2108181"/>
                  <a:pt x="2425959" y="2115136"/>
                </a:cubicBezTo>
                <a:cubicBezTo>
                  <a:pt x="2456902" y="2146078"/>
                  <a:pt x="2453951" y="2108107"/>
                  <a:pt x="2453951" y="2133797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3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621730" y="1624853"/>
            <a:ext cx="64341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Problema de determinación de la mejor ruta (viajero)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7055864" y="2951479"/>
            <a:ext cx="243828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Cuántas rutas puede haber entre Arad y Bucarest? </a:t>
            </a:r>
          </a:p>
          <a:p>
            <a:pPr algn="ctr"/>
            <a:endParaRPr lang="es-CO" i="1" dirty="0"/>
          </a:p>
          <a:p>
            <a:pPr algn="ctr"/>
            <a:r>
              <a:rPr lang="es-CO" i="1" dirty="0"/>
              <a:t>Cuál es la mejor?</a:t>
            </a:r>
          </a:p>
        </p:txBody>
      </p:sp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F0BB9506-9A03-4CC9-BD00-2FE493613C31}"/>
              </a:ext>
            </a:extLst>
          </p:cNvPr>
          <p:cNvSpPr/>
          <p:nvPr/>
        </p:nvSpPr>
        <p:spPr>
          <a:xfrm>
            <a:off x="2845838" y="6031281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8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8D3A4601-BA4D-46A6-A60A-C77D34E2F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430" y="2410321"/>
            <a:ext cx="5001642" cy="3266378"/>
          </a:xfrm>
        </p:spPr>
      </p:pic>
      <p:sp>
        <p:nvSpPr>
          <p:cNvPr id="2" name="Freeform: Shape 1">
            <a:extLst>
              <a:ext uri="{FF2B5EF4-FFF2-40B4-BE49-F238E27FC236}">
                <a16:creationId xmlns="" xmlns:a16="http://schemas.microsoft.com/office/drawing/2014/main" id="{BC88F902-8871-4645-9C64-32E45944BC32}"/>
              </a:ext>
            </a:extLst>
          </p:cNvPr>
          <p:cNvSpPr/>
          <p:nvPr/>
        </p:nvSpPr>
        <p:spPr>
          <a:xfrm>
            <a:off x="2024743" y="3582955"/>
            <a:ext cx="2435290" cy="1167985"/>
          </a:xfrm>
          <a:custGeom>
            <a:avLst/>
            <a:gdLst>
              <a:gd name="connsiteX0" fmla="*/ 0 w 2435290"/>
              <a:gd name="connsiteY0" fmla="*/ 0 h 1167985"/>
              <a:gd name="connsiteX1" fmla="*/ 317241 w 2435290"/>
              <a:gd name="connsiteY1" fmla="*/ 9331 h 1167985"/>
              <a:gd name="connsiteX2" fmla="*/ 345233 w 2435290"/>
              <a:gd name="connsiteY2" fmla="*/ 18661 h 1167985"/>
              <a:gd name="connsiteX3" fmla="*/ 429208 w 2435290"/>
              <a:gd name="connsiteY3" fmla="*/ 27992 h 1167985"/>
              <a:gd name="connsiteX4" fmla="*/ 466530 w 2435290"/>
              <a:gd name="connsiteY4" fmla="*/ 37323 h 1167985"/>
              <a:gd name="connsiteX5" fmla="*/ 522514 w 2435290"/>
              <a:gd name="connsiteY5" fmla="*/ 55984 h 1167985"/>
              <a:gd name="connsiteX6" fmla="*/ 550506 w 2435290"/>
              <a:gd name="connsiteY6" fmla="*/ 65314 h 1167985"/>
              <a:gd name="connsiteX7" fmla="*/ 615820 w 2435290"/>
              <a:gd name="connsiteY7" fmla="*/ 83976 h 1167985"/>
              <a:gd name="connsiteX8" fmla="*/ 643812 w 2435290"/>
              <a:gd name="connsiteY8" fmla="*/ 111967 h 1167985"/>
              <a:gd name="connsiteX9" fmla="*/ 653143 w 2435290"/>
              <a:gd name="connsiteY9" fmla="*/ 139959 h 1167985"/>
              <a:gd name="connsiteX10" fmla="*/ 662473 w 2435290"/>
              <a:gd name="connsiteY10" fmla="*/ 522514 h 1167985"/>
              <a:gd name="connsiteX11" fmla="*/ 699796 w 2435290"/>
              <a:gd name="connsiteY11" fmla="*/ 531845 h 1167985"/>
              <a:gd name="connsiteX12" fmla="*/ 811763 w 2435290"/>
              <a:gd name="connsiteY12" fmla="*/ 541176 h 1167985"/>
              <a:gd name="connsiteX13" fmla="*/ 849086 w 2435290"/>
              <a:gd name="connsiteY13" fmla="*/ 550506 h 1167985"/>
              <a:gd name="connsiteX14" fmla="*/ 905069 w 2435290"/>
              <a:gd name="connsiteY14" fmla="*/ 569167 h 1167985"/>
              <a:gd name="connsiteX15" fmla="*/ 970384 w 2435290"/>
              <a:gd name="connsiteY15" fmla="*/ 597159 h 1167985"/>
              <a:gd name="connsiteX16" fmla="*/ 989045 w 2435290"/>
              <a:gd name="connsiteY16" fmla="*/ 615821 h 1167985"/>
              <a:gd name="connsiteX17" fmla="*/ 1045028 w 2435290"/>
              <a:gd name="connsiteY17" fmla="*/ 653143 h 1167985"/>
              <a:gd name="connsiteX18" fmla="*/ 1063690 w 2435290"/>
              <a:gd name="connsiteY18" fmla="*/ 671804 h 1167985"/>
              <a:gd name="connsiteX19" fmla="*/ 1082351 w 2435290"/>
              <a:gd name="connsiteY19" fmla="*/ 699796 h 1167985"/>
              <a:gd name="connsiteX20" fmla="*/ 1119673 w 2435290"/>
              <a:gd name="connsiteY20" fmla="*/ 709127 h 1167985"/>
              <a:gd name="connsiteX21" fmla="*/ 1166326 w 2435290"/>
              <a:gd name="connsiteY21" fmla="*/ 737118 h 1167985"/>
              <a:gd name="connsiteX22" fmla="*/ 1212979 w 2435290"/>
              <a:gd name="connsiteY22" fmla="*/ 774441 h 1167985"/>
              <a:gd name="connsiteX23" fmla="*/ 1268963 w 2435290"/>
              <a:gd name="connsiteY23" fmla="*/ 793102 h 1167985"/>
              <a:gd name="connsiteX24" fmla="*/ 1324947 w 2435290"/>
              <a:gd name="connsiteY24" fmla="*/ 839755 h 1167985"/>
              <a:gd name="connsiteX25" fmla="*/ 1352939 w 2435290"/>
              <a:gd name="connsiteY25" fmla="*/ 849086 h 1167985"/>
              <a:gd name="connsiteX26" fmla="*/ 1408922 w 2435290"/>
              <a:gd name="connsiteY26" fmla="*/ 886408 h 1167985"/>
              <a:gd name="connsiteX27" fmla="*/ 1436914 w 2435290"/>
              <a:gd name="connsiteY27" fmla="*/ 895739 h 1167985"/>
              <a:gd name="connsiteX28" fmla="*/ 1492898 w 2435290"/>
              <a:gd name="connsiteY28" fmla="*/ 942392 h 1167985"/>
              <a:gd name="connsiteX29" fmla="*/ 1520890 w 2435290"/>
              <a:gd name="connsiteY29" fmla="*/ 951723 h 1167985"/>
              <a:gd name="connsiteX30" fmla="*/ 1539551 w 2435290"/>
              <a:gd name="connsiteY30" fmla="*/ 979714 h 1167985"/>
              <a:gd name="connsiteX31" fmla="*/ 1576873 w 2435290"/>
              <a:gd name="connsiteY31" fmla="*/ 989045 h 1167985"/>
              <a:gd name="connsiteX32" fmla="*/ 1632857 w 2435290"/>
              <a:gd name="connsiteY32" fmla="*/ 1007706 h 1167985"/>
              <a:gd name="connsiteX33" fmla="*/ 1660849 w 2435290"/>
              <a:gd name="connsiteY33" fmla="*/ 1017037 h 1167985"/>
              <a:gd name="connsiteX34" fmla="*/ 1912775 w 2435290"/>
              <a:gd name="connsiteY34" fmla="*/ 1035698 h 1167985"/>
              <a:gd name="connsiteX35" fmla="*/ 2043404 w 2435290"/>
              <a:gd name="connsiteY35" fmla="*/ 1045029 h 1167985"/>
              <a:gd name="connsiteX36" fmla="*/ 2239347 w 2435290"/>
              <a:gd name="connsiteY36" fmla="*/ 1054359 h 1167985"/>
              <a:gd name="connsiteX37" fmla="*/ 2341984 w 2435290"/>
              <a:gd name="connsiteY37" fmla="*/ 1082351 h 1167985"/>
              <a:gd name="connsiteX38" fmla="*/ 2369975 w 2435290"/>
              <a:gd name="connsiteY38" fmla="*/ 1091682 h 1167985"/>
              <a:gd name="connsiteX39" fmla="*/ 2388637 w 2435290"/>
              <a:gd name="connsiteY39" fmla="*/ 1110343 h 1167985"/>
              <a:gd name="connsiteX40" fmla="*/ 2416628 w 2435290"/>
              <a:gd name="connsiteY40" fmla="*/ 1166327 h 1167985"/>
              <a:gd name="connsiteX41" fmla="*/ 2435290 w 2435290"/>
              <a:gd name="connsiteY41" fmla="*/ 1166327 h 116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435290" h="1167985">
                <a:moveTo>
                  <a:pt x="0" y="0"/>
                </a:moveTo>
                <a:cubicBezTo>
                  <a:pt x="105747" y="3110"/>
                  <a:pt x="211602" y="3621"/>
                  <a:pt x="317241" y="9331"/>
                </a:cubicBezTo>
                <a:cubicBezTo>
                  <a:pt x="327062" y="9862"/>
                  <a:pt x="335532" y="17044"/>
                  <a:pt x="345233" y="18661"/>
                </a:cubicBezTo>
                <a:cubicBezTo>
                  <a:pt x="373014" y="23291"/>
                  <a:pt x="401216" y="24882"/>
                  <a:pt x="429208" y="27992"/>
                </a:cubicBezTo>
                <a:cubicBezTo>
                  <a:pt x="441649" y="31102"/>
                  <a:pt x="454247" y="33638"/>
                  <a:pt x="466530" y="37323"/>
                </a:cubicBezTo>
                <a:cubicBezTo>
                  <a:pt x="485371" y="42975"/>
                  <a:pt x="503853" y="49764"/>
                  <a:pt x="522514" y="55984"/>
                </a:cubicBezTo>
                <a:cubicBezTo>
                  <a:pt x="531845" y="59094"/>
                  <a:pt x="540964" y="62928"/>
                  <a:pt x="550506" y="65314"/>
                </a:cubicBezTo>
                <a:cubicBezTo>
                  <a:pt x="597370" y="77031"/>
                  <a:pt x="575663" y="70590"/>
                  <a:pt x="615820" y="83976"/>
                </a:cubicBezTo>
                <a:cubicBezTo>
                  <a:pt x="625151" y="93306"/>
                  <a:pt x="636492" y="100988"/>
                  <a:pt x="643812" y="111967"/>
                </a:cubicBezTo>
                <a:cubicBezTo>
                  <a:pt x="649268" y="120150"/>
                  <a:pt x="652696" y="130134"/>
                  <a:pt x="653143" y="139959"/>
                </a:cubicBezTo>
                <a:cubicBezTo>
                  <a:pt x="658935" y="267384"/>
                  <a:pt x="647394" y="395852"/>
                  <a:pt x="662473" y="522514"/>
                </a:cubicBezTo>
                <a:cubicBezTo>
                  <a:pt x="663989" y="535248"/>
                  <a:pt x="687071" y="530254"/>
                  <a:pt x="699796" y="531845"/>
                </a:cubicBezTo>
                <a:cubicBezTo>
                  <a:pt x="736958" y="536490"/>
                  <a:pt x="774441" y="538066"/>
                  <a:pt x="811763" y="541176"/>
                </a:cubicBezTo>
                <a:cubicBezTo>
                  <a:pt x="824204" y="544286"/>
                  <a:pt x="836803" y="546821"/>
                  <a:pt x="849086" y="550506"/>
                </a:cubicBezTo>
                <a:cubicBezTo>
                  <a:pt x="867927" y="556158"/>
                  <a:pt x="905069" y="569167"/>
                  <a:pt x="905069" y="569167"/>
                </a:cubicBezTo>
                <a:cubicBezTo>
                  <a:pt x="947209" y="611309"/>
                  <a:pt x="892992" y="563991"/>
                  <a:pt x="970384" y="597159"/>
                </a:cubicBezTo>
                <a:cubicBezTo>
                  <a:pt x="978470" y="600624"/>
                  <a:pt x="982007" y="610543"/>
                  <a:pt x="989045" y="615821"/>
                </a:cubicBezTo>
                <a:cubicBezTo>
                  <a:pt x="1006987" y="629278"/>
                  <a:pt x="1029169" y="637285"/>
                  <a:pt x="1045028" y="653143"/>
                </a:cubicBezTo>
                <a:cubicBezTo>
                  <a:pt x="1051249" y="659363"/>
                  <a:pt x="1058194" y="664935"/>
                  <a:pt x="1063690" y="671804"/>
                </a:cubicBezTo>
                <a:cubicBezTo>
                  <a:pt x="1070695" y="680561"/>
                  <a:pt x="1073020" y="693575"/>
                  <a:pt x="1082351" y="699796"/>
                </a:cubicBezTo>
                <a:cubicBezTo>
                  <a:pt x="1093021" y="706909"/>
                  <a:pt x="1107232" y="706017"/>
                  <a:pt x="1119673" y="709127"/>
                </a:cubicBezTo>
                <a:cubicBezTo>
                  <a:pt x="1166962" y="756414"/>
                  <a:pt x="1105760" y="700778"/>
                  <a:pt x="1166326" y="737118"/>
                </a:cubicBezTo>
                <a:cubicBezTo>
                  <a:pt x="1221716" y="770352"/>
                  <a:pt x="1140959" y="742432"/>
                  <a:pt x="1212979" y="774441"/>
                </a:cubicBezTo>
                <a:cubicBezTo>
                  <a:pt x="1230954" y="782430"/>
                  <a:pt x="1268963" y="793102"/>
                  <a:pt x="1268963" y="793102"/>
                </a:cubicBezTo>
                <a:cubicBezTo>
                  <a:pt x="1289600" y="813739"/>
                  <a:pt x="1298965" y="826764"/>
                  <a:pt x="1324947" y="839755"/>
                </a:cubicBezTo>
                <a:cubicBezTo>
                  <a:pt x="1333744" y="844154"/>
                  <a:pt x="1344341" y="844309"/>
                  <a:pt x="1352939" y="849086"/>
                </a:cubicBezTo>
                <a:cubicBezTo>
                  <a:pt x="1372544" y="859978"/>
                  <a:pt x="1387645" y="879316"/>
                  <a:pt x="1408922" y="886408"/>
                </a:cubicBezTo>
                <a:cubicBezTo>
                  <a:pt x="1418253" y="889518"/>
                  <a:pt x="1428117" y="891340"/>
                  <a:pt x="1436914" y="895739"/>
                </a:cubicBezTo>
                <a:cubicBezTo>
                  <a:pt x="1497969" y="926267"/>
                  <a:pt x="1430990" y="901120"/>
                  <a:pt x="1492898" y="942392"/>
                </a:cubicBezTo>
                <a:cubicBezTo>
                  <a:pt x="1501082" y="947848"/>
                  <a:pt x="1511559" y="948613"/>
                  <a:pt x="1520890" y="951723"/>
                </a:cubicBezTo>
                <a:cubicBezTo>
                  <a:pt x="1527110" y="961053"/>
                  <a:pt x="1530221" y="973494"/>
                  <a:pt x="1539551" y="979714"/>
                </a:cubicBezTo>
                <a:cubicBezTo>
                  <a:pt x="1550221" y="986827"/>
                  <a:pt x="1564590" y="985360"/>
                  <a:pt x="1576873" y="989045"/>
                </a:cubicBezTo>
                <a:cubicBezTo>
                  <a:pt x="1595714" y="994697"/>
                  <a:pt x="1614196" y="1001486"/>
                  <a:pt x="1632857" y="1007706"/>
                </a:cubicBezTo>
                <a:cubicBezTo>
                  <a:pt x="1642188" y="1010816"/>
                  <a:pt x="1651040" y="1016310"/>
                  <a:pt x="1660849" y="1017037"/>
                </a:cubicBezTo>
                <a:lnTo>
                  <a:pt x="1912775" y="1035698"/>
                </a:lnTo>
                <a:cubicBezTo>
                  <a:pt x="1956313" y="1038884"/>
                  <a:pt x="1999799" y="1042953"/>
                  <a:pt x="2043404" y="1045029"/>
                </a:cubicBezTo>
                <a:lnTo>
                  <a:pt x="2239347" y="1054359"/>
                </a:lnTo>
                <a:cubicBezTo>
                  <a:pt x="2305284" y="1067547"/>
                  <a:pt x="2270960" y="1058676"/>
                  <a:pt x="2341984" y="1082351"/>
                </a:cubicBezTo>
                <a:lnTo>
                  <a:pt x="2369975" y="1091682"/>
                </a:lnTo>
                <a:cubicBezTo>
                  <a:pt x="2376196" y="1097902"/>
                  <a:pt x="2384111" y="1102800"/>
                  <a:pt x="2388637" y="1110343"/>
                </a:cubicBezTo>
                <a:cubicBezTo>
                  <a:pt x="2402938" y="1134178"/>
                  <a:pt x="2390886" y="1147021"/>
                  <a:pt x="2416628" y="1166327"/>
                </a:cubicBezTo>
                <a:cubicBezTo>
                  <a:pt x="2421605" y="1170059"/>
                  <a:pt x="2429069" y="1166327"/>
                  <a:pt x="2435290" y="1166327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91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621730" y="1624853"/>
            <a:ext cx="64341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Problema de determinación de la mejor ruta (viajero)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7055864" y="2951479"/>
            <a:ext cx="243828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Cuántas rutas puede haber entre Arad y Bucarest? </a:t>
            </a:r>
          </a:p>
          <a:p>
            <a:pPr algn="ctr"/>
            <a:endParaRPr lang="es-CO" i="1" dirty="0"/>
          </a:p>
          <a:p>
            <a:pPr algn="ctr"/>
            <a:r>
              <a:rPr lang="es-CO" i="1" dirty="0"/>
              <a:t>Cuál es la mejor?</a:t>
            </a:r>
          </a:p>
        </p:txBody>
      </p:sp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F0BB9506-9A03-4CC9-BD00-2FE493613C31}"/>
              </a:ext>
            </a:extLst>
          </p:cNvPr>
          <p:cNvSpPr/>
          <p:nvPr/>
        </p:nvSpPr>
        <p:spPr>
          <a:xfrm>
            <a:off x="2845838" y="6031281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8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8D3A4601-BA4D-46A6-A60A-C77D34E2F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430" y="2410321"/>
            <a:ext cx="5001642" cy="3266378"/>
          </a:xfrm>
        </p:spPr>
      </p:pic>
      <p:sp>
        <p:nvSpPr>
          <p:cNvPr id="4" name="Freeform: Shape 3">
            <a:extLst>
              <a:ext uri="{FF2B5EF4-FFF2-40B4-BE49-F238E27FC236}">
                <a16:creationId xmlns="" xmlns:a16="http://schemas.microsoft.com/office/drawing/2014/main" id="{261525DE-6692-405A-B498-DF96F896CB66}"/>
              </a:ext>
            </a:extLst>
          </p:cNvPr>
          <p:cNvSpPr/>
          <p:nvPr/>
        </p:nvSpPr>
        <p:spPr>
          <a:xfrm>
            <a:off x="1875364" y="3592286"/>
            <a:ext cx="2556677" cy="1847461"/>
          </a:xfrm>
          <a:custGeom>
            <a:avLst/>
            <a:gdLst>
              <a:gd name="connsiteX0" fmla="*/ 177371 w 2556677"/>
              <a:gd name="connsiteY0" fmla="*/ 0 h 1847461"/>
              <a:gd name="connsiteX1" fmla="*/ 168040 w 2556677"/>
              <a:gd name="connsiteY1" fmla="*/ 149290 h 1847461"/>
              <a:gd name="connsiteX2" fmla="*/ 158709 w 2556677"/>
              <a:gd name="connsiteY2" fmla="*/ 242596 h 1847461"/>
              <a:gd name="connsiteX3" fmla="*/ 149379 w 2556677"/>
              <a:gd name="connsiteY3" fmla="*/ 289249 h 1847461"/>
              <a:gd name="connsiteX4" fmla="*/ 112056 w 2556677"/>
              <a:gd name="connsiteY4" fmla="*/ 345232 h 1847461"/>
              <a:gd name="connsiteX5" fmla="*/ 93395 w 2556677"/>
              <a:gd name="connsiteY5" fmla="*/ 363894 h 1847461"/>
              <a:gd name="connsiteX6" fmla="*/ 65403 w 2556677"/>
              <a:gd name="connsiteY6" fmla="*/ 373224 h 1847461"/>
              <a:gd name="connsiteX7" fmla="*/ 37412 w 2556677"/>
              <a:gd name="connsiteY7" fmla="*/ 401216 h 1847461"/>
              <a:gd name="connsiteX8" fmla="*/ 28081 w 2556677"/>
              <a:gd name="connsiteY8" fmla="*/ 447869 h 1847461"/>
              <a:gd name="connsiteX9" fmla="*/ 9420 w 2556677"/>
              <a:gd name="connsiteY9" fmla="*/ 475861 h 1847461"/>
              <a:gd name="connsiteX10" fmla="*/ 89 w 2556677"/>
              <a:gd name="connsiteY10" fmla="*/ 531845 h 1847461"/>
              <a:gd name="connsiteX11" fmla="*/ 9420 w 2556677"/>
              <a:gd name="connsiteY11" fmla="*/ 699796 h 1847461"/>
              <a:gd name="connsiteX12" fmla="*/ 37412 w 2556677"/>
              <a:gd name="connsiteY12" fmla="*/ 718457 h 1847461"/>
              <a:gd name="connsiteX13" fmla="*/ 65403 w 2556677"/>
              <a:gd name="connsiteY13" fmla="*/ 746449 h 1847461"/>
              <a:gd name="connsiteX14" fmla="*/ 289338 w 2556677"/>
              <a:gd name="connsiteY14" fmla="*/ 755779 h 1847461"/>
              <a:gd name="connsiteX15" fmla="*/ 307999 w 2556677"/>
              <a:gd name="connsiteY15" fmla="*/ 774441 h 1847461"/>
              <a:gd name="connsiteX16" fmla="*/ 363983 w 2556677"/>
              <a:gd name="connsiteY16" fmla="*/ 811763 h 1847461"/>
              <a:gd name="connsiteX17" fmla="*/ 382644 w 2556677"/>
              <a:gd name="connsiteY17" fmla="*/ 839755 h 1847461"/>
              <a:gd name="connsiteX18" fmla="*/ 438628 w 2556677"/>
              <a:gd name="connsiteY18" fmla="*/ 858416 h 1847461"/>
              <a:gd name="connsiteX19" fmla="*/ 447958 w 2556677"/>
              <a:gd name="connsiteY19" fmla="*/ 886408 h 1847461"/>
              <a:gd name="connsiteX20" fmla="*/ 485281 w 2556677"/>
              <a:gd name="connsiteY20" fmla="*/ 933061 h 1847461"/>
              <a:gd name="connsiteX21" fmla="*/ 503942 w 2556677"/>
              <a:gd name="connsiteY21" fmla="*/ 989045 h 1847461"/>
              <a:gd name="connsiteX22" fmla="*/ 531934 w 2556677"/>
              <a:gd name="connsiteY22" fmla="*/ 1045028 h 1847461"/>
              <a:gd name="connsiteX23" fmla="*/ 550595 w 2556677"/>
              <a:gd name="connsiteY23" fmla="*/ 1119673 h 1847461"/>
              <a:gd name="connsiteX24" fmla="*/ 569256 w 2556677"/>
              <a:gd name="connsiteY24" fmla="*/ 1716832 h 1847461"/>
              <a:gd name="connsiteX25" fmla="*/ 597248 w 2556677"/>
              <a:gd name="connsiteY25" fmla="*/ 1810138 h 1847461"/>
              <a:gd name="connsiteX26" fmla="*/ 615909 w 2556677"/>
              <a:gd name="connsiteY26" fmla="*/ 1828800 h 1847461"/>
              <a:gd name="connsiteX27" fmla="*/ 1129093 w 2556677"/>
              <a:gd name="connsiteY27" fmla="*/ 1838130 h 1847461"/>
              <a:gd name="connsiteX28" fmla="*/ 1157085 w 2556677"/>
              <a:gd name="connsiteY28" fmla="*/ 1847461 h 1847461"/>
              <a:gd name="connsiteX29" fmla="*/ 1259722 w 2556677"/>
              <a:gd name="connsiteY29" fmla="*/ 1828800 h 1847461"/>
              <a:gd name="connsiteX30" fmla="*/ 1306375 w 2556677"/>
              <a:gd name="connsiteY30" fmla="*/ 1791477 h 1847461"/>
              <a:gd name="connsiteX31" fmla="*/ 1334367 w 2556677"/>
              <a:gd name="connsiteY31" fmla="*/ 1782147 h 1847461"/>
              <a:gd name="connsiteX32" fmla="*/ 1362358 w 2556677"/>
              <a:gd name="connsiteY32" fmla="*/ 1763485 h 1847461"/>
              <a:gd name="connsiteX33" fmla="*/ 1371689 w 2556677"/>
              <a:gd name="connsiteY33" fmla="*/ 1735494 h 1847461"/>
              <a:gd name="connsiteX34" fmla="*/ 1390350 w 2556677"/>
              <a:gd name="connsiteY34" fmla="*/ 1716832 h 1847461"/>
              <a:gd name="connsiteX35" fmla="*/ 1427673 w 2556677"/>
              <a:gd name="connsiteY35" fmla="*/ 1632857 h 1847461"/>
              <a:gd name="connsiteX36" fmla="*/ 1455665 w 2556677"/>
              <a:gd name="connsiteY36" fmla="*/ 1474236 h 1847461"/>
              <a:gd name="connsiteX37" fmla="*/ 1474326 w 2556677"/>
              <a:gd name="connsiteY37" fmla="*/ 1418253 h 1847461"/>
              <a:gd name="connsiteX38" fmla="*/ 1539640 w 2556677"/>
              <a:gd name="connsiteY38" fmla="*/ 1334277 h 1847461"/>
              <a:gd name="connsiteX39" fmla="*/ 1558301 w 2556677"/>
              <a:gd name="connsiteY39" fmla="*/ 1306285 h 1847461"/>
              <a:gd name="connsiteX40" fmla="*/ 1567632 w 2556677"/>
              <a:gd name="connsiteY40" fmla="*/ 1278294 h 1847461"/>
              <a:gd name="connsiteX41" fmla="*/ 1586293 w 2556677"/>
              <a:gd name="connsiteY41" fmla="*/ 1259632 h 1847461"/>
              <a:gd name="connsiteX42" fmla="*/ 1604954 w 2556677"/>
              <a:gd name="connsiteY42" fmla="*/ 1231641 h 1847461"/>
              <a:gd name="connsiteX43" fmla="*/ 1623616 w 2556677"/>
              <a:gd name="connsiteY43" fmla="*/ 1212979 h 1847461"/>
              <a:gd name="connsiteX44" fmla="*/ 1660938 w 2556677"/>
              <a:gd name="connsiteY44" fmla="*/ 1156996 h 1847461"/>
              <a:gd name="connsiteX45" fmla="*/ 1679599 w 2556677"/>
              <a:gd name="connsiteY45" fmla="*/ 1138334 h 1847461"/>
              <a:gd name="connsiteX46" fmla="*/ 1698260 w 2556677"/>
              <a:gd name="connsiteY46" fmla="*/ 1110343 h 1847461"/>
              <a:gd name="connsiteX47" fmla="*/ 1726252 w 2556677"/>
              <a:gd name="connsiteY47" fmla="*/ 1101012 h 1847461"/>
              <a:gd name="connsiteX48" fmla="*/ 1772905 w 2556677"/>
              <a:gd name="connsiteY48" fmla="*/ 1054359 h 1847461"/>
              <a:gd name="connsiteX49" fmla="*/ 1856881 w 2556677"/>
              <a:gd name="connsiteY49" fmla="*/ 1063690 h 1847461"/>
              <a:gd name="connsiteX50" fmla="*/ 1950187 w 2556677"/>
              <a:gd name="connsiteY50" fmla="*/ 1073020 h 1847461"/>
              <a:gd name="connsiteX51" fmla="*/ 2360734 w 2556677"/>
              <a:gd name="connsiteY51" fmla="*/ 1091681 h 1847461"/>
              <a:gd name="connsiteX52" fmla="*/ 2482032 w 2556677"/>
              <a:gd name="connsiteY52" fmla="*/ 1119673 h 1847461"/>
              <a:gd name="connsiteX53" fmla="*/ 2510024 w 2556677"/>
              <a:gd name="connsiteY53" fmla="*/ 1138334 h 1847461"/>
              <a:gd name="connsiteX54" fmla="*/ 2538016 w 2556677"/>
              <a:gd name="connsiteY54" fmla="*/ 1147665 h 1847461"/>
              <a:gd name="connsiteX55" fmla="*/ 2556677 w 2556677"/>
              <a:gd name="connsiteY55" fmla="*/ 1156996 h 1847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56677" h="1847461">
                <a:moveTo>
                  <a:pt x="177371" y="0"/>
                </a:moveTo>
                <a:cubicBezTo>
                  <a:pt x="174261" y="49763"/>
                  <a:pt x="171864" y="99576"/>
                  <a:pt x="168040" y="149290"/>
                </a:cubicBezTo>
                <a:cubicBezTo>
                  <a:pt x="165643" y="180455"/>
                  <a:pt x="162840" y="211613"/>
                  <a:pt x="158709" y="242596"/>
                </a:cubicBezTo>
                <a:cubicBezTo>
                  <a:pt x="156613" y="258316"/>
                  <a:pt x="155942" y="274812"/>
                  <a:pt x="149379" y="289249"/>
                </a:cubicBezTo>
                <a:cubicBezTo>
                  <a:pt x="140098" y="309667"/>
                  <a:pt x="127915" y="329373"/>
                  <a:pt x="112056" y="345232"/>
                </a:cubicBezTo>
                <a:cubicBezTo>
                  <a:pt x="105836" y="351453"/>
                  <a:pt x="100938" y="359368"/>
                  <a:pt x="93395" y="363894"/>
                </a:cubicBezTo>
                <a:cubicBezTo>
                  <a:pt x="84961" y="368954"/>
                  <a:pt x="74734" y="370114"/>
                  <a:pt x="65403" y="373224"/>
                </a:cubicBezTo>
                <a:cubicBezTo>
                  <a:pt x="56073" y="382555"/>
                  <a:pt x="43313" y="389414"/>
                  <a:pt x="37412" y="401216"/>
                </a:cubicBezTo>
                <a:cubicBezTo>
                  <a:pt x="30320" y="415401"/>
                  <a:pt x="33649" y="433020"/>
                  <a:pt x="28081" y="447869"/>
                </a:cubicBezTo>
                <a:cubicBezTo>
                  <a:pt x="24143" y="458369"/>
                  <a:pt x="15640" y="466530"/>
                  <a:pt x="9420" y="475861"/>
                </a:cubicBezTo>
                <a:cubicBezTo>
                  <a:pt x="6310" y="494522"/>
                  <a:pt x="89" y="512926"/>
                  <a:pt x="89" y="531845"/>
                </a:cubicBezTo>
                <a:cubicBezTo>
                  <a:pt x="89" y="587915"/>
                  <a:pt x="-1576" y="644815"/>
                  <a:pt x="9420" y="699796"/>
                </a:cubicBezTo>
                <a:cubicBezTo>
                  <a:pt x="11619" y="710792"/>
                  <a:pt x="28797" y="711278"/>
                  <a:pt x="37412" y="718457"/>
                </a:cubicBezTo>
                <a:cubicBezTo>
                  <a:pt x="47549" y="726904"/>
                  <a:pt x="52350" y="744515"/>
                  <a:pt x="65403" y="746449"/>
                </a:cubicBezTo>
                <a:cubicBezTo>
                  <a:pt x="139306" y="757398"/>
                  <a:pt x="214693" y="752669"/>
                  <a:pt x="289338" y="755779"/>
                </a:cubicBezTo>
                <a:cubicBezTo>
                  <a:pt x="295558" y="762000"/>
                  <a:pt x="300961" y="769163"/>
                  <a:pt x="307999" y="774441"/>
                </a:cubicBezTo>
                <a:cubicBezTo>
                  <a:pt x="325941" y="787898"/>
                  <a:pt x="363983" y="811763"/>
                  <a:pt x="363983" y="811763"/>
                </a:cubicBezTo>
                <a:cubicBezTo>
                  <a:pt x="370203" y="821094"/>
                  <a:pt x="373135" y="833812"/>
                  <a:pt x="382644" y="839755"/>
                </a:cubicBezTo>
                <a:cubicBezTo>
                  <a:pt x="399325" y="850180"/>
                  <a:pt x="438628" y="858416"/>
                  <a:pt x="438628" y="858416"/>
                </a:cubicBezTo>
                <a:cubicBezTo>
                  <a:pt x="441738" y="867747"/>
                  <a:pt x="442898" y="877974"/>
                  <a:pt x="447958" y="886408"/>
                </a:cubicBezTo>
                <a:cubicBezTo>
                  <a:pt x="481198" y="941807"/>
                  <a:pt x="453266" y="861026"/>
                  <a:pt x="485281" y="933061"/>
                </a:cubicBezTo>
                <a:cubicBezTo>
                  <a:pt x="493270" y="951036"/>
                  <a:pt x="493031" y="972678"/>
                  <a:pt x="503942" y="989045"/>
                </a:cubicBezTo>
                <a:cubicBezTo>
                  <a:pt x="522186" y="1016411"/>
                  <a:pt x="524208" y="1014124"/>
                  <a:pt x="531934" y="1045028"/>
                </a:cubicBezTo>
                <a:lnTo>
                  <a:pt x="550595" y="1119673"/>
                </a:lnTo>
                <a:cubicBezTo>
                  <a:pt x="556815" y="1318726"/>
                  <a:pt x="541091" y="1519684"/>
                  <a:pt x="569256" y="1716832"/>
                </a:cubicBezTo>
                <a:cubicBezTo>
                  <a:pt x="577542" y="1774830"/>
                  <a:pt x="567729" y="1773239"/>
                  <a:pt x="597248" y="1810138"/>
                </a:cubicBezTo>
                <a:cubicBezTo>
                  <a:pt x="602743" y="1817007"/>
                  <a:pt x="607124" y="1828338"/>
                  <a:pt x="615909" y="1828800"/>
                </a:cubicBezTo>
                <a:cubicBezTo>
                  <a:pt x="786762" y="1837792"/>
                  <a:pt x="958032" y="1835020"/>
                  <a:pt x="1129093" y="1838130"/>
                </a:cubicBezTo>
                <a:cubicBezTo>
                  <a:pt x="1138424" y="1841240"/>
                  <a:pt x="1147250" y="1847461"/>
                  <a:pt x="1157085" y="1847461"/>
                </a:cubicBezTo>
                <a:cubicBezTo>
                  <a:pt x="1209834" y="1847461"/>
                  <a:pt x="1220357" y="1841921"/>
                  <a:pt x="1259722" y="1828800"/>
                </a:cubicBezTo>
                <a:cubicBezTo>
                  <a:pt x="1277080" y="1811442"/>
                  <a:pt x="1282833" y="1803248"/>
                  <a:pt x="1306375" y="1791477"/>
                </a:cubicBezTo>
                <a:cubicBezTo>
                  <a:pt x="1315172" y="1787079"/>
                  <a:pt x="1325036" y="1785257"/>
                  <a:pt x="1334367" y="1782147"/>
                </a:cubicBezTo>
                <a:cubicBezTo>
                  <a:pt x="1343697" y="1775926"/>
                  <a:pt x="1355353" y="1772242"/>
                  <a:pt x="1362358" y="1763485"/>
                </a:cubicBezTo>
                <a:cubicBezTo>
                  <a:pt x="1368502" y="1755805"/>
                  <a:pt x="1366629" y="1743928"/>
                  <a:pt x="1371689" y="1735494"/>
                </a:cubicBezTo>
                <a:cubicBezTo>
                  <a:pt x="1376215" y="1727951"/>
                  <a:pt x="1384130" y="1723053"/>
                  <a:pt x="1390350" y="1716832"/>
                </a:cubicBezTo>
                <a:cubicBezTo>
                  <a:pt x="1412558" y="1650211"/>
                  <a:pt x="1398101" y="1677216"/>
                  <a:pt x="1427673" y="1632857"/>
                </a:cubicBezTo>
                <a:cubicBezTo>
                  <a:pt x="1438784" y="1510625"/>
                  <a:pt x="1426139" y="1562813"/>
                  <a:pt x="1455665" y="1474236"/>
                </a:cubicBezTo>
                <a:cubicBezTo>
                  <a:pt x="1455666" y="1474234"/>
                  <a:pt x="1474325" y="1418254"/>
                  <a:pt x="1474326" y="1418253"/>
                </a:cubicBezTo>
                <a:cubicBezTo>
                  <a:pt x="1518177" y="1374402"/>
                  <a:pt x="1494999" y="1401240"/>
                  <a:pt x="1539640" y="1334277"/>
                </a:cubicBezTo>
                <a:cubicBezTo>
                  <a:pt x="1545860" y="1324946"/>
                  <a:pt x="1554755" y="1316923"/>
                  <a:pt x="1558301" y="1306285"/>
                </a:cubicBezTo>
                <a:cubicBezTo>
                  <a:pt x="1561411" y="1296955"/>
                  <a:pt x="1562572" y="1286728"/>
                  <a:pt x="1567632" y="1278294"/>
                </a:cubicBezTo>
                <a:cubicBezTo>
                  <a:pt x="1572158" y="1270751"/>
                  <a:pt x="1580798" y="1266501"/>
                  <a:pt x="1586293" y="1259632"/>
                </a:cubicBezTo>
                <a:cubicBezTo>
                  <a:pt x="1593298" y="1250876"/>
                  <a:pt x="1597949" y="1240397"/>
                  <a:pt x="1604954" y="1231641"/>
                </a:cubicBezTo>
                <a:cubicBezTo>
                  <a:pt x="1610450" y="1224771"/>
                  <a:pt x="1618338" y="1220017"/>
                  <a:pt x="1623616" y="1212979"/>
                </a:cubicBezTo>
                <a:cubicBezTo>
                  <a:pt x="1637073" y="1195037"/>
                  <a:pt x="1645080" y="1172855"/>
                  <a:pt x="1660938" y="1156996"/>
                </a:cubicBezTo>
                <a:cubicBezTo>
                  <a:pt x="1667158" y="1150775"/>
                  <a:pt x="1674104" y="1145203"/>
                  <a:pt x="1679599" y="1138334"/>
                </a:cubicBezTo>
                <a:cubicBezTo>
                  <a:pt x="1686604" y="1129578"/>
                  <a:pt x="1689504" y="1117348"/>
                  <a:pt x="1698260" y="1110343"/>
                </a:cubicBezTo>
                <a:cubicBezTo>
                  <a:pt x="1705940" y="1104199"/>
                  <a:pt x="1716921" y="1104122"/>
                  <a:pt x="1726252" y="1101012"/>
                </a:cubicBezTo>
                <a:cubicBezTo>
                  <a:pt x="1735765" y="1086743"/>
                  <a:pt x="1750952" y="1056188"/>
                  <a:pt x="1772905" y="1054359"/>
                </a:cubicBezTo>
                <a:cubicBezTo>
                  <a:pt x="1800972" y="1052020"/>
                  <a:pt x="1828871" y="1060742"/>
                  <a:pt x="1856881" y="1063690"/>
                </a:cubicBezTo>
                <a:lnTo>
                  <a:pt x="1950187" y="1073020"/>
                </a:lnTo>
                <a:cubicBezTo>
                  <a:pt x="2102984" y="1123954"/>
                  <a:pt x="1919126" y="1065704"/>
                  <a:pt x="2360734" y="1091681"/>
                </a:cubicBezTo>
                <a:cubicBezTo>
                  <a:pt x="2410731" y="1094622"/>
                  <a:pt x="2440370" y="1105787"/>
                  <a:pt x="2482032" y="1119673"/>
                </a:cubicBezTo>
                <a:cubicBezTo>
                  <a:pt x="2491363" y="1125893"/>
                  <a:pt x="2499994" y="1133319"/>
                  <a:pt x="2510024" y="1138334"/>
                </a:cubicBezTo>
                <a:cubicBezTo>
                  <a:pt x="2518821" y="1142733"/>
                  <a:pt x="2528884" y="1144012"/>
                  <a:pt x="2538016" y="1147665"/>
                </a:cubicBezTo>
                <a:cubicBezTo>
                  <a:pt x="2544473" y="1150248"/>
                  <a:pt x="2550457" y="1153886"/>
                  <a:pt x="2556677" y="1156996"/>
                </a:cubicBez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1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621730" y="1624853"/>
            <a:ext cx="64341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Problema de determinación de la mejor ruta (viajero)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7055864" y="2951479"/>
            <a:ext cx="243828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Cuántas rutas puede haber entre Arad y Bucarest? </a:t>
            </a:r>
          </a:p>
          <a:p>
            <a:pPr algn="ctr"/>
            <a:endParaRPr lang="es-CO" i="1" dirty="0"/>
          </a:p>
          <a:p>
            <a:pPr algn="ctr"/>
            <a:r>
              <a:rPr lang="es-CO" i="1" dirty="0"/>
              <a:t>Cuál es la mejor?</a:t>
            </a:r>
          </a:p>
        </p:txBody>
      </p:sp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F0BB9506-9A03-4CC9-BD00-2FE493613C31}"/>
              </a:ext>
            </a:extLst>
          </p:cNvPr>
          <p:cNvSpPr/>
          <p:nvPr/>
        </p:nvSpPr>
        <p:spPr>
          <a:xfrm>
            <a:off x="2845838" y="6031281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8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8D3A4601-BA4D-46A6-A60A-C77D34E2F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430" y="2410321"/>
            <a:ext cx="5001642" cy="3266378"/>
          </a:xfrm>
        </p:spPr>
      </p:pic>
      <p:sp>
        <p:nvSpPr>
          <p:cNvPr id="2" name="Freeform: Shape 1">
            <a:extLst>
              <a:ext uri="{FF2B5EF4-FFF2-40B4-BE49-F238E27FC236}">
                <a16:creationId xmlns="" xmlns:a16="http://schemas.microsoft.com/office/drawing/2014/main" id="{BC88F902-8871-4645-9C64-32E45944BC32}"/>
              </a:ext>
            </a:extLst>
          </p:cNvPr>
          <p:cNvSpPr/>
          <p:nvPr/>
        </p:nvSpPr>
        <p:spPr>
          <a:xfrm>
            <a:off x="2024743" y="3582955"/>
            <a:ext cx="2435290" cy="1167985"/>
          </a:xfrm>
          <a:custGeom>
            <a:avLst/>
            <a:gdLst>
              <a:gd name="connsiteX0" fmla="*/ 0 w 2435290"/>
              <a:gd name="connsiteY0" fmla="*/ 0 h 1167985"/>
              <a:gd name="connsiteX1" fmla="*/ 317241 w 2435290"/>
              <a:gd name="connsiteY1" fmla="*/ 9331 h 1167985"/>
              <a:gd name="connsiteX2" fmla="*/ 345233 w 2435290"/>
              <a:gd name="connsiteY2" fmla="*/ 18661 h 1167985"/>
              <a:gd name="connsiteX3" fmla="*/ 429208 w 2435290"/>
              <a:gd name="connsiteY3" fmla="*/ 27992 h 1167985"/>
              <a:gd name="connsiteX4" fmla="*/ 466530 w 2435290"/>
              <a:gd name="connsiteY4" fmla="*/ 37323 h 1167985"/>
              <a:gd name="connsiteX5" fmla="*/ 522514 w 2435290"/>
              <a:gd name="connsiteY5" fmla="*/ 55984 h 1167985"/>
              <a:gd name="connsiteX6" fmla="*/ 550506 w 2435290"/>
              <a:gd name="connsiteY6" fmla="*/ 65314 h 1167985"/>
              <a:gd name="connsiteX7" fmla="*/ 615820 w 2435290"/>
              <a:gd name="connsiteY7" fmla="*/ 83976 h 1167985"/>
              <a:gd name="connsiteX8" fmla="*/ 643812 w 2435290"/>
              <a:gd name="connsiteY8" fmla="*/ 111967 h 1167985"/>
              <a:gd name="connsiteX9" fmla="*/ 653143 w 2435290"/>
              <a:gd name="connsiteY9" fmla="*/ 139959 h 1167985"/>
              <a:gd name="connsiteX10" fmla="*/ 662473 w 2435290"/>
              <a:gd name="connsiteY10" fmla="*/ 522514 h 1167985"/>
              <a:gd name="connsiteX11" fmla="*/ 699796 w 2435290"/>
              <a:gd name="connsiteY11" fmla="*/ 531845 h 1167985"/>
              <a:gd name="connsiteX12" fmla="*/ 811763 w 2435290"/>
              <a:gd name="connsiteY12" fmla="*/ 541176 h 1167985"/>
              <a:gd name="connsiteX13" fmla="*/ 849086 w 2435290"/>
              <a:gd name="connsiteY13" fmla="*/ 550506 h 1167985"/>
              <a:gd name="connsiteX14" fmla="*/ 905069 w 2435290"/>
              <a:gd name="connsiteY14" fmla="*/ 569167 h 1167985"/>
              <a:gd name="connsiteX15" fmla="*/ 970384 w 2435290"/>
              <a:gd name="connsiteY15" fmla="*/ 597159 h 1167985"/>
              <a:gd name="connsiteX16" fmla="*/ 989045 w 2435290"/>
              <a:gd name="connsiteY16" fmla="*/ 615821 h 1167985"/>
              <a:gd name="connsiteX17" fmla="*/ 1045028 w 2435290"/>
              <a:gd name="connsiteY17" fmla="*/ 653143 h 1167985"/>
              <a:gd name="connsiteX18" fmla="*/ 1063690 w 2435290"/>
              <a:gd name="connsiteY18" fmla="*/ 671804 h 1167985"/>
              <a:gd name="connsiteX19" fmla="*/ 1082351 w 2435290"/>
              <a:gd name="connsiteY19" fmla="*/ 699796 h 1167985"/>
              <a:gd name="connsiteX20" fmla="*/ 1119673 w 2435290"/>
              <a:gd name="connsiteY20" fmla="*/ 709127 h 1167985"/>
              <a:gd name="connsiteX21" fmla="*/ 1166326 w 2435290"/>
              <a:gd name="connsiteY21" fmla="*/ 737118 h 1167985"/>
              <a:gd name="connsiteX22" fmla="*/ 1212979 w 2435290"/>
              <a:gd name="connsiteY22" fmla="*/ 774441 h 1167985"/>
              <a:gd name="connsiteX23" fmla="*/ 1268963 w 2435290"/>
              <a:gd name="connsiteY23" fmla="*/ 793102 h 1167985"/>
              <a:gd name="connsiteX24" fmla="*/ 1324947 w 2435290"/>
              <a:gd name="connsiteY24" fmla="*/ 839755 h 1167985"/>
              <a:gd name="connsiteX25" fmla="*/ 1352939 w 2435290"/>
              <a:gd name="connsiteY25" fmla="*/ 849086 h 1167985"/>
              <a:gd name="connsiteX26" fmla="*/ 1408922 w 2435290"/>
              <a:gd name="connsiteY26" fmla="*/ 886408 h 1167985"/>
              <a:gd name="connsiteX27" fmla="*/ 1436914 w 2435290"/>
              <a:gd name="connsiteY27" fmla="*/ 895739 h 1167985"/>
              <a:gd name="connsiteX28" fmla="*/ 1492898 w 2435290"/>
              <a:gd name="connsiteY28" fmla="*/ 942392 h 1167985"/>
              <a:gd name="connsiteX29" fmla="*/ 1520890 w 2435290"/>
              <a:gd name="connsiteY29" fmla="*/ 951723 h 1167985"/>
              <a:gd name="connsiteX30" fmla="*/ 1539551 w 2435290"/>
              <a:gd name="connsiteY30" fmla="*/ 979714 h 1167985"/>
              <a:gd name="connsiteX31" fmla="*/ 1576873 w 2435290"/>
              <a:gd name="connsiteY31" fmla="*/ 989045 h 1167985"/>
              <a:gd name="connsiteX32" fmla="*/ 1632857 w 2435290"/>
              <a:gd name="connsiteY32" fmla="*/ 1007706 h 1167985"/>
              <a:gd name="connsiteX33" fmla="*/ 1660849 w 2435290"/>
              <a:gd name="connsiteY33" fmla="*/ 1017037 h 1167985"/>
              <a:gd name="connsiteX34" fmla="*/ 1912775 w 2435290"/>
              <a:gd name="connsiteY34" fmla="*/ 1035698 h 1167985"/>
              <a:gd name="connsiteX35" fmla="*/ 2043404 w 2435290"/>
              <a:gd name="connsiteY35" fmla="*/ 1045029 h 1167985"/>
              <a:gd name="connsiteX36" fmla="*/ 2239347 w 2435290"/>
              <a:gd name="connsiteY36" fmla="*/ 1054359 h 1167985"/>
              <a:gd name="connsiteX37" fmla="*/ 2341984 w 2435290"/>
              <a:gd name="connsiteY37" fmla="*/ 1082351 h 1167985"/>
              <a:gd name="connsiteX38" fmla="*/ 2369975 w 2435290"/>
              <a:gd name="connsiteY38" fmla="*/ 1091682 h 1167985"/>
              <a:gd name="connsiteX39" fmla="*/ 2388637 w 2435290"/>
              <a:gd name="connsiteY39" fmla="*/ 1110343 h 1167985"/>
              <a:gd name="connsiteX40" fmla="*/ 2416628 w 2435290"/>
              <a:gd name="connsiteY40" fmla="*/ 1166327 h 1167985"/>
              <a:gd name="connsiteX41" fmla="*/ 2435290 w 2435290"/>
              <a:gd name="connsiteY41" fmla="*/ 1166327 h 116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435290" h="1167985">
                <a:moveTo>
                  <a:pt x="0" y="0"/>
                </a:moveTo>
                <a:cubicBezTo>
                  <a:pt x="105747" y="3110"/>
                  <a:pt x="211602" y="3621"/>
                  <a:pt x="317241" y="9331"/>
                </a:cubicBezTo>
                <a:cubicBezTo>
                  <a:pt x="327062" y="9862"/>
                  <a:pt x="335532" y="17044"/>
                  <a:pt x="345233" y="18661"/>
                </a:cubicBezTo>
                <a:cubicBezTo>
                  <a:pt x="373014" y="23291"/>
                  <a:pt x="401216" y="24882"/>
                  <a:pt x="429208" y="27992"/>
                </a:cubicBezTo>
                <a:cubicBezTo>
                  <a:pt x="441649" y="31102"/>
                  <a:pt x="454247" y="33638"/>
                  <a:pt x="466530" y="37323"/>
                </a:cubicBezTo>
                <a:cubicBezTo>
                  <a:pt x="485371" y="42975"/>
                  <a:pt x="503853" y="49764"/>
                  <a:pt x="522514" y="55984"/>
                </a:cubicBezTo>
                <a:cubicBezTo>
                  <a:pt x="531845" y="59094"/>
                  <a:pt x="540964" y="62928"/>
                  <a:pt x="550506" y="65314"/>
                </a:cubicBezTo>
                <a:cubicBezTo>
                  <a:pt x="597370" y="77031"/>
                  <a:pt x="575663" y="70590"/>
                  <a:pt x="615820" y="83976"/>
                </a:cubicBezTo>
                <a:cubicBezTo>
                  <a:pt x="625151" y="93306"/>
                  <a:pt x="636492" y="100988"/>
                  <a:pt x="643812" y="111967"/>
                </a:cubicBezTo>
                <a:cubicBezTo>
                  <a:pt x="649268" y="120150"/>
                  <a:pt x="652696" y="130134"/>
                  <a:pt x="653143" y="139959"/>
                </a:cubicBezTo>
                <a:cubicBezTo>
                  <a:pt x="658935" y="267384"/>
                  <a:pt x="647394" y="395852"/>
                  <a:pt x="662473" y="522514"/>
                </a:cubicBezTo>
                <a:cubicBezTo>
                  <a:pt x="663989" y="535248"/>
                  <a:pt x="687071" y="530254"/>
                  <a:pt x="699796" y="531845"/>
                </a:cubicBezTo>
                <a:cubicBezTo>
                  <a:pt x="736958" y="536490"/>
                  <a:pt x="774441" y="538066"/>
                  <a:pt x="811763" y="541176"/>
                </a:cubicBezTo>
                <a:cubicBezTo>
                  <a:pt x="824204" y="544286"/>
                  <a:pt x="836803" y="546821"/>
                  <a:pt x="849086" y="550506"/>
                </a:cubicBezTo>
                <a:cubicBezTo>
                  <a:pt x="867927" y="556158"/>
                  <a:pt x="905069" y="569167"/>
                  <a:pt x="905069" y="569167"/>
                </a:cubicBezTo>
                <a:cubicBezTo>
                  <a:pt x="947209" y="611309"/>
                  <a:pt x="892992" y="563991"/>
                  <a:pt x="970384" y="597159"/>
                </a:cubicBezTo>
                <a:cubicBezTo>
                  <a:pt x="978470" y="600624"/>
                  <a:pt x="982007" y="610543"/>
                  <a:pt x="989045" y="615821"/>
                </a:cubicBezTo>
                <a:cubicBezTo>
                  <a:pt x="1006987" y="629278"/>
                  <a:pt x="1029169" y="637285"/>
                  <a:pt x="1045028" y="653143"/>
                </a:cubicBezTo>
                <a:cubicBezTo>
                  <a:pt x="1051249" y="659363"/>
                  <a:pt x="1058194" y="664935"/>
                  <a:pt x="1063690" y="671804"/>
                </a:cubicBezTo>
                <a:cubicBezTo>
                  <a:pt x="1070695" y="680561"/>
                  <a:pt x="1073020" y="693575"/>
                  <a:pt x="1082351" y="699796"/>
                </a:cubicBezTo>
                <a:cubicBezTo>
                  <a:pt x="1093021" y="706909"/>
                  <a:pt x="1107232" y="706017"/>
                  <a:pt x="1119673" y="709127"/>
                </a:cubicBezTo>
                <a:cubicBezTo>
                  <a:pt x="1166962" y="756414"/>
                  <a:pt x="1105760" y="700778"/>
                  <a:pt x="1166326" y="737118"/>
                </a:cubicBezTo>
                <a:cubicBezTo>
                  <a:pt x="1221716" y="770352"/>
                  <a:pt x="1140959" y="742432"/>
                  <a:pt x="1212979" y="774441"/>
                </a:cubicBezTo>
                <a:cubicBezTo>
                  <a:pt x="1230954" y="782430"/>
                  <a:pt x="1268963" y="793102"/>
                  <a:pt x="1268963" y="793102"/>
                </a:cubicBezTo>
                <a:cubicBezTo>
                  <a:pt x="1289600" y="813739"/>
                  <a:pt x="1298965" y="826764"/>
                  <a:pt x="1324947" y="839755"/>
                </a:cubicBezTo>
                <a:cubicBezTo>
                  <a:pt x="1333744" y="844154"/>
                  <a:pt x="1344341" y="844309"/>
                  <a:pt x="1352939" y="849086"/>
                </a:cubicBezTo>
                <a:cubicBezTo>
                  <a:pt x="1372544" y="859978"/>
                  <a:pt x="1387645" y="879316"/>
                  <a:pt x="1408922" y="886408"/>
                </a:cubicBezTo>
                <a:cubicBezTo>
                  <a:pt x="1418253" y="889518"/>
                  <a:pt x="1428117" y="891340"/>
                  <a:pt x="1436914" y="895739"/>
                </a:cubicBezTo>
                <a:cubicBezTo>
                  <a:pt x="1497969" y="926267"/>
                  <a:pt x="1430990" y="901120"/>
                  <a:pt x="1492898" y="942392"/>
                </a:cubicBezTo>
                <a:cubicBezTo>
                  <a:pt x="1501082" y="947848"/>
                  <a:pt x="1511559" y="948613"/>
                  <a:pt x="1520890" y="951723"/>
                </a:cubicBezTo>
                <a:cubicBezTo>
                  <a:pt x="1527110" y="961053"/>
                  <a:pt x="1530221" y="973494"/>
                  <a:pt x="1539551" y="979714"/>
                </a:cubicBezTo>
                <a:cubicBezTo>
                  <a:pt x="1550221" y="986827"/>
                  <a:pt x="1564590" y="985360"/>
                  <a:pt x="1576873" y="989045"/>
                </a:cubicBezTo>
                <a:cubicBezTo>
                  <a:pt x="1595714" y="994697"/>
                  <a:pt x="1614196" y="1001486"/>
                  <a:pt x="1632857" y="1007706"/>
                </a:cubicBezTo>
                <a:cubicBezTo>
                  <a:pt x="1642188" y="1010816"/>
                  <a:pt x="1651040" y="1016310"/>
                  <a:pt x="1660849" y="1017037"/>
                </a:cubicBezTo>
                <a:lnTo>
                  <a:pt x="1912775" y="1035698"/>
                </a:lnTo>
                <a:cubicBezTo>
                  <a:pt x="1956313" y="1038884"/>
                  <a:pt x="1999799" y="1042953"/>
                  <a:pt x="2043404" y="1045029"/>
                </a:cubicBezTo>
                <a:lnTo>
                  <a:pt x="2239347" y="1054359"/>
                </a:lnTo>
                <a:cubicBezTo>
                  <a:pt x="2305284" y="1067547"/>
                  <a:pt x="2270960" y="1058676"/>
                  <a:pt x="2341984" y="1082351"/>
                </a:cubicBezTo>
                <a:lnTo>
                  <a:pt x="2369975" y="1091682"/>
                </a:lnTo>
                <a:cubicBezTo>
                  <a:pt x="2376196" y="1097902"/>
                  <a:pt x="2384111" y="1102800"/>
                  <a:pt x="2388637" y="1110343"/>
                </a:cubicBezTo>
                <a:cubicBezTo>
                  <a:pt x="2402938" y="1134178"/>
                  <a:pt x="2390886" y="1147021"/>
                  <a:pt x="2416628" y="1166327"/>
                </a:cubicBezTo>
                <a:cubicBezTo>
                  <a:pt x="2421605" y="1170059"/>
                  <a:pt x="2429069" y="1166327"/>
                  <a:pt x="2435290" y="1166327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="" xmlns:a16="http://schemas.microsoft.com/office/drawing/2014/main" id="{F9607673-27AD-4465-87D2-68452C846659}"/>
              </a:ext>
            </a:extLst>
          </p:cNvPr>
          <p:cNvSpPr/>
          <p:nvPr/>
        </p:nvSpPr>
        <p:spPr>
          <a:xfrm>
            <a:off x="1978090" y="2606154"/>
            <a:ext cx="2454026" cy="2133797"/>
          </a:xfrm>
          <a:custGeom>
            <a:avLst/>
            <a:gdLst>
              <a:gd name="connsiteX0" fmla="*/ 65314 w 2454026"/>
              <a:gd name="connsiteY0" fmla="*/ 939479 h 2133797"/>
              <a:gd name="connsiteX1" fmla="*/ 55983 w 2454026"/>
              <a:gd name="connsiteY1" fmla="*/ 584915 h 2133797"/>
              <a:gd name="connsiteX2" fmla="*/ 46653 w 2454026"/>
              <a:gd name="connsiteY2" fmla="*/ 547593 h 2133797"/>
              <a:gd name="connsiteX3" fmla="*/ 9330 w 2454026"/>
              <a:gd name="connsiteY3" fmla="*/ 491609 h 2133797"/>
              <a:gd name="connsiteX4" fmla="*/ 0 w 2454026"/>
              <a:gd name="connsiteY4" fmla="*/ 463617 h 2133797"/>
              <a:gd name="connsiteX5" fmla="*/ 9330 w 2454026"/>
              <a:gd name="connsiteY5" fmla="*/ 332989 h 2133797"/>
              <a:gd name="connsiteX6" fmla="*/ 27992 w 2454026"/>
              <a:gd name="connsiteY6" fmla="*/ 267675 h 2133797"/>
              <a:gd name="connsiteX7" fmla="*/ 46653 w 2454026"/>
              <a:gd name="connsiteY7" fmla="*/ 249013 h 2133797"/>
              <a:gd name="connsiteX8" fmla="*/ 74645 w 2454026"/>
              <a:gd name="connsiteY8" fmla="*/ 230352 h 2133797"/>
              <a:gd name="connsiteX9" fmla="*/ 139959 w 2454026"/>
              <a:gd name="connsiteY9" fmla="*/ 221022 h 2133797"/>
              <a:gd name="connsiteX10" fmla="*/ 195943 w 2454026"/>
              <a:gd name="connsiteY10" fmla="*/ 202360 h 2133797"/>
              <a:gd name="connsiteX11" fmla="*/ 233265 w 2454026"/>
              <a:gd name="connsiteY11" fmla="*/ 146377 h 2133797"/>
              <a:gd name="connsiteX12" fmla="*/ 261257 w 2454026"/>
              <a:gd name="connsiteY12" fmla="*/ 90393 h 2133797"/>
              <a:gd name="connsiteX13" fmla="*/ 270588 w 2454026"/>
              <a:gd name="connsiteY13" fmla="*/ 34409 h 2133797"/>
              <a:gd name="connsiteX14" fmla="*/ 401216 w 2454026"/>
              <a:gd name="connsiteY14" fmla="*/ 15748 h 2133797"/>
              <a:gd name="connsiteX15" fmla="*/ 419877 w 2454026"/>
              <a:gd name="connsiteY15" fmla="*/ 43740 h 2133797"/>
              <a:gd name="connsiteX16" fmla="*/ 447869 w 2454026"/>
              <a:gd name="connsiteY16" fmla="*/ 137046 h 2133797"/>
              <a:gd name="connsiteX17" fmla="*/ 457200 w 2454026"/>
              <a:gd name="connsiteY17" fmla="*/ 622238 h 2133797"/>
              <a:gd name="connsiteX18" fmla="*/ 466530 w 2454026"/>
              <a:gd name="connsiteY18" fmla="*/ 668891 h 2133797"/>
              <a:gd name="connsiteX19" fmla="*/ 503853 w 2454026"/>
              <a:gd name="connsiteY19" fmla="*/ 752866 h 2133797"/>
              <a:gd name="connsiteX20" fmla="*/ 522514 w 2454026"/>
              <a:gd name="connsiteY20" fmla="*/ 836842 h 2133797"/>
              <a:gd name="connsiteX21" fmla="*/ 531845 w 2454026"/>
              <a:gd name="connsiteY21" fmla="*/ 864834 h 2133797"/>
              <a:gd name="connsiteX22" fmla="*/ 550506 w 2454026"/>
              <a:gd name="connsiteY22" fmla="*/ 958140 h 2133797"/>
              <a:gd name="connsiteX23" fmla="*/ 569167 w 2454026"/>
              <a:gd name="connsiteY23" fmla="*/ 986132 h 2133797"/>
              <a:gd name="connsiteX24" fmla="*/ 578498 w 2454026"/>
              <a:gd name="connsiteY24" fmla="*/ 1014124 h 2133797"/>
              <a:gd name="connsiteX25" fmla="*/ 597159 w 2454026"/>
              <a:gd name="connsiteY25" fmla="*/ 1042115 h 2133797"/>
              <a:gd name="connsiteX26" fmla="*/ 606490 w 2454026"/>
              <a:gd name="connsiteY26" fmla="*/ 1070107 h 2133797"/>
              <a:gd name="connsiteX27" fmla="*/ 662473 w 2454026"/>
              <a:gd name="connsiteY27" fmla="*/ 1107430 h 2133797"/>
              <a:gd name="connsiteX28" fmla="*/ 718457 w 2454026"/>
              <a:gd name="connsiteY28" fmla="*/ 1126091 h 2133797"/>
              <a:gd name="connsiteX29" fmla="*/ 970383 w 2454026"/>
              <a:gd name="connsiteY29" fmla="*/ 1116760 h 2133797"/>
              <a:gd name="connsiteX30" fmla="*/ 998375 w 2454026"/>
              <a:gd name="connsiteY30" fmla="*/ 1107430 h 2133797"/>
              <a:gd name="connsiteX31" fmla="*/ 1810139 w 2454026"/>
              <a:gd name="connsiteY31" fmla="*/ 1088768 h 2133797"/>
              <a:gd name="connsiteX32" fmla="*/ 1950098 w 2454026"/>
              <a:gd name="connsiteY32" fmla="*/ 1079438 h 2133797"/>
              <a:gd name="connsiteX33" fmla="*/ 2052734 w 2454026"/>
              <a:gd name="connsiteY33" fmla="*/ 1088768 h 2133797"/>
              <a:gd name="connsiteX34" fmla="*/ 2090057 w 2454026"/>
              <a:gd name="connsiteY34" fmla="*/ 1135422 h 2133797"/>
              <a:gd name="connsiteX35" fmla="*/ 2146041 w 2454026"/>
              <a:gd name="connsiteY35" fmla="*/ 1228728 h 2133797"/>
              <a:gd name="connsiteX36" fmla="*/ 2174032 w 2454026"/>
              <a:gd name="connsiteY36" fmla="*/ 1489985 h 2133797"/>
              <a:gd name="connsiteX37" fmla="*/ 2183363 w 2454026"/>
              <a:gd name="connsiteY37" fmla="*/ 1555299 h 2133797"/>
              <a:gd name="connsiteX38" fmla="*/ 2202024 w 2454026"/>
              <a:gd name="connsiteY38" fmla="*/ 1583291 h 2133797"/>
              <a:gd name="connsiteX39" fmla="*/ 2230016 w 2454026"/>
              <a:gd name="connsiteY39" fmla="*/ 1639275 h 2133797"/>
              <a:gd name="connsiteX40" fmla="*/ 2248677 w 2454026"/>
              <a:gd name="connsiteY40" fmla="*/ 1853879 h 2133797"/>
              <a:gd name="connsiteX41" fmla="*/ 2267339 w 2454026"/>
              <a:gd name="connsiteY41" fmla="*/ 1881870 h 2133797"/>
              <a:gd name="connsiteX42" fmla="*/ 2313992 w 2454026"/>
              <a:gd name="connsiteY42" fmla="*/ 1965846 h 2133797"/>
              <a:gd name="connsiteX43" fmla="*/ 2332653 w 2454026"/>
              <a:gd name="connsiteY43" fmla="*/ 1993838 h 2133797"/>
              <a:gd name="connsiteX44" fmla="*/ 2369975 w 2454026"/>
              <a:gd name="connsiteY44" fmla="*/ 2031160 h 2133797"/>
              <a:gd name="connsiteX45" fmla="*/ 2388637 w 2454026"/>
              <a:gd name="connsiteY45" fmla="*/ 2059152 h 2133797"/>
              <a:gd name="connsiteX46" fmla="*/ 2416628 w 2454026"/>
              <a:gd name="connsiteY46" fmla="*/ 2087144 h 2133797"/>
              <a:gd name="connsiteX47" fmla="*/ 2425959 w 2454026"/>
              <a:gd name="connsiteY47" fmla="*/ 2115136 h 2133797"/>
              <a:gd name="connsiteX48" fmla="*/ 2453951 w 2454026"/>
              <a:gd name="connsiteY48" fmla="*/ 2133797 h 2133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2454026" h="2133797">
                <a:moveTo>
                  <a:pt x="65314" y="939479"/>
                </a:moveTo>
                <a:cubicBezTo>
                  <a:pt x="62204" y="821291"/>
                  <a:pt x="61607" y="703010"/>
                  <a:pt x="55983" y="584915"/>
                </a:cubicBezTo>
                <a:cubicBezTo>
                  <a:pt x="55373" y="572106"/>
                  <a:pt x="52388" y="559063"/>
                  <a:pt x="46653" y="547593"/>
                </a:cubicBezTo>
                <a:cubicBezTo>
                  <a:pt x="36623" y="527533"/>
                  <a:pt x="9330" y="491609"/>
                  <a:pt x="9330" y="491609"/>
                </a:cubicBezTo>
                <a:cubicBezTo>
                  <a:pt x="6220" y="482278"/>
                  <a:pt x="0" y="473452"/>
                  <a:pt x="0" y="463617"/>
                </a:cubicBezTo>
                <a:cubicBezTo>
                  <a:pt x="0" y="419963"/>
                  <a:pt x="4509" y="376376"/>
                  <a:pt x="9330" y="332989"/>
                </a:cubicBezTo>
                <a:cubicBezTo>
                  <a:pt x="9885" y="327997"/>
                  <a:pt x="23166" y="275719"/>
                  <a:pt x="27992" y="267675"/>
                </a:cubicBezTo>
                <a:cubicBezTo>
                  <a:pt x="32518" y="260132"/>
                  <a:pt x="39784" y="254509"/>
                  <a:pt x="46653" y="249013"/>
                </a:cubicBezTo>
                <a:cubicBezTo>
                  <a:pt x="55410" y="242008"/>
                  <a:pt x="63904" y="233574"/>
                  <a:pt x="74645" y="230352"/>
                </a:cubicBezTo>
                <a:cubicBezTo>
                  <a:pt x="95710" y="224033"/>
                  <a:pt x="118188" y="224132"/>
                  <a:pt x="139959" y="221022"/>
                </a:cubicBezTo>
                <a:cubicBezTo>
                  <a:pt x="158620" y="214801"/>
                  <a:pt x="185032" y="218727"/>
                  <a:pt x="195943" y="202360"/>
                </a:cubicBezTo>
                <a:cubicBezTo>
                  <a:pt x="208384" y="183699"/>
                  <a:pt x="226173" y="167654"/>
                  <a:pt x="233265" y="146377"/>
                </a:cubicBezTo>
                <a:cubicBezTo>
                  <a:pt x="246142" y="107746"/>
                  <a:pt x="237140" y="126569"/>
                  <a:pt x="261257" y="90393"/>
                </a:cubicBezTo>
                <a:cubicBezTo>
                  <a:pt x="264367" y="71732"/>
                  <a:pt x="264605" y="52357"/>
                  <a:pt x="270588" y="34409"/>
                </a:cubicBezTo>
                <a:cubicBezTo>
                  <a:pt x="290839" y="-26344"/>
                  <a:pt x="342144" y="10825"/>
                  <a:pt x="401216" y="15748"/>
                </a:cubicBezTo>
                <a:cubicBezTo>
                  <a:pt x="407436" y="25079"/>
                  <a:pt x="415323" y="33493"/>
                  <a:pt x="419877" y="43740"/>
                </a:cubicBezTo>
                <a:cubicBezTo>
                  <a:pt x="432861" y="72953"/>
                  <a:pt x="440114" y="106023"/>
                  <a:pt x="447869" y="137046"/>
                </a:cubicBezTo>
                <a:cubicBezTo>
                  <a:pt x="450979" y="298777"/>
                  <a:pt x="451528" y="460577"/>
                  <a:pt x="457200" y="622238"/>
                </a:cubicBezTo>
                <a:cubicBezTo>
                  <a:pt x="457756" y="638087"/>
                  <a:pt x="462357" y="653591"/>
                  <a:pt x="466530" y="668891"/>
                </a:cubicBezTo>
                <a:cubicBezTo>
                  <a:pt x="481904" y="725262"/>
                  <a:pt x="478176" y="714352"/>
                  <a:pt x="503853" y="752866"/>
                </a:cubicBezTo>
                <a:cubicBezTo>
                  <a:pt x="524858" y="815886"/>
                  <a:pt x="500616" y="738303"/>
                  <a:pt x="522514" y="836842"/>
                </a:cubicBezTo>
                <a:cubicBezTo>
                  <a:pt x="524648" y="846443"/>
                  <a:pt x="528735" y="855503"/>
                  <a:pt x="531845" y="864834"/>
                </a:cubicBezTo>
                <a:cubicBezTo>
                  <a:pt x="533951" y="877469"/>
                  <a:pt x="542913" y="940422"/>
                  <a:pt x="550506" y="958140"/>
                </a:cubicBezTo>
                <a:cubicBezTo>
                  <a:pt x="554923" y="968447"/>
                  <a:pt x="564152" y="976102"/>
                  <a:pt x="569167" y="986132"/>
                </a:cubicBezTo>
                <a:cubicBezTo>
                  <a:pt x="573566" y="994929"/>
                  <a:pt x="574099" y="1005327"/>
                  <a:pt x="578498" y="1014124"/>
                </a:cubicBezTo>
                <a:cubicBezTo>
                  <a:pt x="583513" y="1024154"/>
                  <a:pt x="592144" y="1032085"/>
                  <a:pt x="597159" y="1042115"/>
                </a:cubicBezTo>
                <a:cubicBezTo>
                  <a:pt x="601558" y="1050912"/>
                  <a:pt x="599535" y="1063152"/>
                  <a:pt x="606490" y="1070107"/>
                </a:cubicBezTo>
                <a:cubicBezTo>
                  <a:pt x="622349" y="1085966"/>
                  <a:pt x="641196" y="1100338"/>
                  <a:pt x="662473" y="1107430"/>
                </a:cubicBezTo>
                <a:lnTo>
                  <a:pt x="718457" y="1126091"/>
                </a:lnTo>
                <a:cubicBezTo>
                  <a:pt x="802432" y="1122981"/>
                  <a:pt x="886536" y="1122350"/>
                  <a:pt x="970383" y="1116760"/>
                </a:cubicBezTo>
                <a:cubicBezTo>
                  <a:pt x="980197" y="1116106"/>
                  <a:pt x="988561" y="1108084"/>
                  <a:pt x="998375" y="1107430"/>
                </a:cubicBezTo>
                <a:cubicBezTo>
                  <a:pt x="1177010" y="1095521"/>
                  <a:pt x="1743302" y="1089882"/>
                  <a:pt x="1810139" y="1088768"/>
                </a:cubicBezTo>
                <a:cubicBezTo>
                  <a:pt x="1856792" y="1085658"/>
                  <a:pt x="1903341" y="1079438"/>
                  <a:pt x="1950098" y="1079438"/>
                </a:cubicBezTo>
                <a:cubicBezTo>
                  <a:pt x="1984451" y="1079438"/>
                  <a:pt x="2019261" y="1081043"/>
                  <a:pt x="2052734" y="1088768"/>
                </a:cubicBezTo>
                <a:cubicBezTo>
                  <a:pt x="2062721" y="1091073"/>
                  <a:pt x="2087682" y="1131069"/>
                  <a:pt x="2090057" y="1135422"/>
                </a:cubicBezTo>
                <a:cubicBezTo>
                  <a:pt x="2139564" y="1226185"/>
                  <a:pt x="2105099" y="1187786"/>
                  <a:pt x="2146041" y="1228728"/>
                </a:cubicBezTo>
                <a:cubicBezTo>
                  <a:pt x="2165486" y="1471797"/>
                  <a:pt x="2140037" y="1387992"/>
                  <a:pt x="2174032" y="1489985"/>
                </a:cubicBezTo>
                <a:cubicBezTo>
                  <a:pt x="2177142" y="1511756"/>
                  <a:pt x="2177043" y="1534234"/>
                  <a:pt x="2183363" y="1555299"/>
                </a:cubicBezTo>
                <a:cubicBezTo>
                  <a:pt x="2186585" y="1566040"/>
                  <a:pt x="2197009" y="1573261"/>
                  <a:pt x="2202024" y="1583291"/>
                </a:cubicBezTo>
                <a:cubicBezTo>
                  <a:pt x="2240655" y="1660552"/>
                  <a:pt x="2176536" y="1559054"/>
                  <a:pt x="2230016" y="1639275"/>
                </a:cubicBezTo>
                <a:cubicBezTo>
                  <a:pt x="2230385" y="1644444"/>
                  <a:pt x="2241603" y="1825584"/>
                  <a:pt x="2248677" y="1853879"/>
                </a:cubicBezTo>
                <a:cubicBezTo>
                  <a:pt x="2251397" y="1864758"/>
                  <a:pt x="2261118" y="1872540"/>
                  <a:pt x="2267339" y="1881870"/>
                </a:cubicBezTo>
                <a:cubicBezTo>
                  <a:pt x="2283761" y="1931140"/>
                  <a:pt x="2271213" y="1901677"/>
                  <a:pt x="2313992" y="1965846"/>
                </a:cubicBezTo>
                <a:lnTo>
                  <a:pt x="2332653" y="1993838"/>
                </a:lnTo>
                <a:cubicBezTo>
                  <a:pt x="2353009" y="2054910"/>
                  <a:pt x="2324736" y="1994970"/>
                  <a:pt x="2369975" y="2031160"/>
                </a:cubicBezTo>
                <a:cubicBezTo>
                  <a:pt x="2378732" y="2038165"/>
                  <a:pt x="2381458" y="2050537"/>
                  <a:pt x="2388637" y="2059152"/>
                </a:cubicBezTo>
                <a:cubicBezTo>
                  <a:pt x="2397084" y="2069289"/>
                  <a:pt x="2407298" y="2077813"/>
                  <a:pt x="2416628" y="2087144"/>
                </a:cubicBezTo>
                <a:cubicBezTo>
                  <a:pt x="2419738" y="2096475"/>
                  <a:pt x="2419004" y="2108181"/>
                  <a:pt x="2425959" y="2115136"/>
                </a:cubicBezTo>
                <a:cubicBezTo>
                  <a:pt x="2456902" y="2146078"/>
                  <a:pt x="2453951" y="2108107"/>
                  <a:pt x="2453951" y="2133797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="" xmlns:a16="http://schemas.microsoft.com/office/drawing/2014/main" id="{261525DE-6692-405A-B498-DF96F896CB66}"/>
              </a:ext>
            </a:extLst>
          </p:cNvPr>
          <p:cNvSpPr/>
          <p:nvPr/>
        </p:nvSpPr>
        <p:spPr>
          <a:xfrm>
            <a:off x="1875364" y="3592286"/>
            <a:ext cx="2556677" cy="1847461"/>
          </a:xfrm>
          <a:custGeom>
            <a:avLst/>
            <a:gdLst>
              <a:gd name="connsiteX0" fmla="*/ 177371 w 2556677"/>
              <a:gd name="connsiteY0" fmla="*/ 0 h 1847461"/>
              <a:gd name="connsiteX1" fmla="*/ 168040 w 2556677"/>
              <a:gd name="connsiteY1" fmla="*/ 149290 h 1847461"/>
              <a:gd name="connsiteX2" fmla="*/ 158709 w 2556677"/>
              <a:gd name="connsiteY2" fmla="*/ 242596 h 1847461"/>
              <a:gd name="connsiteX3" fmla="*/ 149379 w 2556677"/>
              <a:gd name="connsiteY3" fmla="*/ 289249 h 1847461"/>
              <a:gd name="connsiteX4" fmla="*/ 112056 w 2556677"/>
              <a:gd name="connsiteY4" fmla="*/ 345232 h 1847461"/>
              <a:gd name="connsiteX5" fmla="*/ 93395 w 2556677"/>
              <a:gd name="connsiteY5" fmla="*/ 363894 h 1847461"/>
              <a:gd name="connsiteX6" fmla="*/ 65403 w 2556677"/>
              <a:gd name="connsiteY6" fmla="*/ 373224 h 1847461"/>
              <a:gd name="connsiteX7" fmla="*/ 37412 w 2556677"/>
              <a:gd name="connsiteY7" fmla="*/ 401216 h 1847461"/>
              <a:gd name="connsiteX8" fmla="*/ 28081 w 2556677"/>
              <a:gd name="connsiteY8" fmla="*/ 447869 h 1847461"/>
              <a:gd name="connsiteX9" fmla="*/ 9420 w 2556677"/>
              <a:gd name="connsiteY9" fmla="*/ 475861 h 1847461"/>
              <a:gd name="connsiteX10" fmla="*/ 89 w 2556677"/>
              <a:gd name="connsiteY10" fmla="*/ 531845 h 1847461"/>
              <a:gd name="connsiteX11" fmla="*/ 9420 w 2556677"/>
              <a:gd name="connsiteY11" fmla="*/ 699796 h 1847461"/>
              <a:gd name="connsiteX12" fmla="*/ 37412 w 2556677"/>
              <a:gd name="connsiteY12" fmla="*/ 718457 h 1847461"/>
              <a:gd name="connsiteX13" fmla="*/ 65403 w 2556677"/>
              <a:gd name="connsiteY13" fmla="*/ 746449 h 1847461"/>
              <a:gd name="connsiteX14" fmla="*/ 289338 w 2556677"/>
              <a:gd name="connsiteY14" fmla="*/ 755779 h 1847461"/>
              <a:gd name="connsiteX15" fmla="*/ 307999 w 2556677"/>
              <a:gd name="connsiteY15" fmla="*/ 774441 h 1847461"/>
              <a:gd name="connsiteX16" fmla="*/ 363983 w 2556677"/>
              <a:gd name="connsiteY16" fmla="*/ 811763 h 1847461"/>
              <a:gd name="connsiteX17" fmla="*/ 382644 w 2556677"/>
              <a:gd name="connsiteY17" fmla="*/ 839755 h 1847461"/>
              <a:gd name="connsiteX18" fmla="*/ 438628 w 2556677"/>
              <a:gd name="connsiteY18" fmla="*/ 858416 h 1847461"/>
              <a:gd name="connsiteX19" fmla="*/ 447958 w 2556677"/>
              <a:gd name="connsiteY19" fmla="*/ 886408 h 1847461"/>
              <a:gd name="connsiteX20" fmla="*/ 485281 w 2556677"/>
              <a:gd name="connsiteY20" fmla="*/ 933061 h 1847461"/>
              <a:gd name="connsiteX21" fmla="*/ 503942 w 2556677"/>
              <a:gd name="connsiteY21" fmla="*/ 989045 h 1847461"/>
              <a:gd name="connsiteX22" fmla="*/ 531934 w 2556677"/>
              <a:gd name="connsiteY22" fmla="*/ 1045028 h 1847461"/>
              <a:gd name="connsiteX23" fmla="*/ 550595 w 2556677"/>
              <a:gd name="connsiteY23" fmla="*/ 1119673 h 1847461"/>
              <a:gd name="connsiteX24" fmla="*/ 569256 w 2556677"/>
              <a:gd name="connsiteY24" fmla="*/ 1716832 h 1847461"/>
              <a:gd name="connsiteX25" fmla="*/ 597248 w 2556677"/>
              <a:gd name="connsiteY25" fmla="*/ 1810138 h 1847461"/>
              <a:gd name="connsiteX26" fmla="*/ 615909 w 2556677"/>
              <a:gd name="connsiteY26" fmla="*/ 1828800 h 1847461"/>
              <a:gd name="connsiteX27" fmla="*/ 1129093 w 2556677"/>
              <a:gd name="connsiteY27" fmla="*/ 1838130 h 1847461"/>
              <a:gd name="connsiteX28" fmla="*/ 1157085 w 2556677"/>
              <a:gd name="connsiteY28" fmla="*/ 1847461 h 1847461"/>
              <a:gd name="connsiteX29" fmla="*/ 1259722 w 2556677"/>
              <a:gd name="connsiteY29" fmla="*/ 1828800 h 1847461"/>
              <a:gd name="connsiteX30" fmla="*/ 1306375 w 2556677"/>
              <a:gd name="connsiteY30" fmla="*/ 1791477 h 1847461"/>
              <a:gd name="connsiteX31" fmla="*/ 1334367 w 2556677"/>
              <a:gd name="connsiteY31" fmla="*/ 1782147 h 1847461"/>
              <a:gd name="connsiteX32" fmla="*/ 1362358 w 2556677"/>
              <a:gd name="connsiteY32" fmla="*/ 1763485 h 1847461"/>
              <a:gd name="connsiteX33" fmla="*/ 1371689 w 2556677"/>
              <a:gd name="connsiteY33" fmla="*/ 1735494 h 1847461"/>
              <a:gd name="connsiteX34" fmla="*/ 1390350 w 2556677"/>
              <a:gd name="connsiteY34" fmla="*/ 1716832 h 1847461"/>
              <a:gd name="connsiteX35" fmla="*/ 1427673 w 2556677"/>
              <a:gd name="connsiteY35" fmla="*/ 1632857 h 1847461"/>
              <a:gd name="connsiteX36" fmla="*/ 1455665 w 2556677"/>
              <a:gd name="connsiteY36" fmla="*/ 1474236 h 1847461"/>
              <a:gd name="connsiteX37" fmla="*/ 1474326 w 2556677"/>
              <a:gd name="connsiteY37" fmla="*/ 1418253 h 1847461"/>
              <a:gd name="connsiteX38" fmla="*/ 1539640 w 2556677"/>
              <a:gd name="connsiteY38" fmla="*/ 1334277 h 1847461"/>
              <a:gd name="connsiteX39" fmla="*/ 1558301 w 2556677"/>
              <a:gd name="connsiteY39" fmla="*/ 1306285 h 1847461"/>
              <a:gd name="connsiteX40" fmla="*/ 1567632 w 2556677"/>
              <a:gd name="connsiteY40" fmla="*/ 1278294 h 1847461"/>
              <a:gd name="connsiteX41" fmla="*/ 1586293 w 2556677"/>
              <a:gd name="connsiteY41" fmla="*/ 1259632 h 1847461"/>
              <a:gd name="connsiteX42" fmla="*/ 1604954 w 2556677"/>
              <a:gd name="connsiteY42" fmla="*/ 1231641 h 1847461"/>
              <a:gd name="connsiteX43" fmla="*/ 1623616 w 2556677"/>
              <a:gd name="connsiteY43" fmla="*/ 1212979 h 1847461"/>
              <a:gd name="connsiteX44" fmla="*/ 1660938 w 2556677"/>
              <a:gd name="connsiteY44" fmla="*/ 1156996 h 1847461"/>
              <a:gd name="connsiteX45" fmla="*/ 1679599 w 2556677"/>
              <a:gd name="connsiteY45" fmla="*/ 1138334 h 1847461"/>
              <a:gd name="connsiteX46" fmla="*/ 1698260 w 2556677"/>
              <a:gd name="connsiteY46" fmla="*/ 1110343 h 1847461"/>
              <a:gd name="connsiteX47" fmla="*/ 1726252 w 2556677"/>
              <a:gd name="connsiteY47" fmla="*/ 1101012 h 1847461"/>
              <a:gd name="connsiteX48" fmla="*/ 1772905 w 2556677"/>
              <a:gd name="connsiteY48" fmla="*/ 1054359 h 1847461"/>
              <a:gd name="connsiteX49" fmla="*/ 1856881 w 2556677"/>
              <a:gd name="connsiteY49" fmla="*/ 1063690 h 1847461"/>
              <a:gd name="connsiteX50" fmla="*/ 1950187 w 2556677"/>
              <a:gd name="connsiteY50" fmla="*/ 1073020 h 1847461"/>
              <a:gd name="connsiteX51" fmla="*/ 2360734 w 2556677"/>
              <a:gd name="connsiteY51" fmla="*/ 1091681 h 1847461"/>
              <a:gd name="connsiteX52" fmla="*/ 2482032 w 2556677"/>
              <a:gd name="connsiteY52" fmla="*/ 1119673 h 1847461"/>
              <a:gd name="connsiteX53" fmla="*/ 2510024 w 2556677"/>
              <a:gd name="connsiteY53" fmla="*/ 1138334 h 1847461"/>
              <a:gd name="connsiteX54" fmla="*/ 2538016 w 2556677"/>
              <a:gd name="connsiteY54" fmla="*/ 1147665 h 1847461"/>
              <a:gd name="connsiteX55" fmla="*/ 2556677 w 2556677"/>
              <a:gd name="connsiteY55" fmla="*/ 1156996 h 1847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56677" h="1847461">
                <a:moveTo>
                  <a:pt x="177371" y="0"/>
                </a:moveTo>
                <a:cubicBezTo>
                  <a:pt x="174261" y="49763"/>
                  <a:pt x="171864" y="99576"/>
                  <a:pt x="168040" y="149290"/>
                </a:cubicBezTo>
                <a:cubicBezTo>
                  <a:pt x="165643" y="180455"/>
                  <a:pt x="162840" y="211613"/>
                  <a:pt x="158709" y="242596"/>
                </a:cubicBezTo>
                <a:cubicBezTo>
                  <a:pt x="156613" y="258316"/>
                  <a:pt x="155942" y="274812"/>
                  <a:pt x="149379" y="289249"/>
                </a:cubicBezTo>
                <a:cubicBezTo>
                  <a:pt x="140098" y="309667"/>
                  <a:pt x="127915" y="329373"/>
                  <a:pt x="112056" y="345232"/>
                </a:cubicBezTo>
                <a:cubicBezTo>
                  <a:pt x="105836" y="351453"/>
                  <a:pt x="100938" y="359368"/>
                  <a:pt x="93395" y="363894"/>
                </a:cubicBezTo>
                <a:cubicBezTo>
                  <a:pt x="84961" y="368954"/>
                  <a:pt x="74734" y="370114"/>
                  <a:pt x="65403" y="373224"/>
                </a:cubicBezTo>
                <a:cubicBezTo>
                  <a:pt x="56073" y="382555"/>
                  <a:pt x="43313" y="389414"/>
                  <a:pt x="37412" y="401216"/>
                </a:cubicBezTo>
                <a:cubicBezTo>
                  <a:pt x="30320" y="415401"/>
                  <a:pt x="33649" y="433020"/>
                  <a:pt x="28081" y="447869"/>
                </a:cubicBezTo>
                <a:cubicBezTo>
                  <a:pt x="24143" y="458369"/>
                  <a:pt x="15640" y="466530"/>
                  <a:pt x="9420" y="475861"/>
                </a:cubicBezTo>
                <a:cubicBezTo>
                  <a:pt x="6310" y="494522"/>
                  <a:pt x="89" y="512926"/>
                  <a:pt x="89" y="531845"/>
                </a:cubicBezTo>
                <a:cubicBezTo>
                  <a:pt x="89" y="587915"/>
                  <a:pt x="-1576" y="644815"/>
                  <a:pt x="9420" y="699796"/>
                </a:cubicBezTo>
                <a:cubicBezTo>
                  <a:pt x="11619" y="710792"/>
                  <a:pt x="28797" y="711278"/>
                  <a:pt x="37412" y="718457"/>
                </a:cubicBezTo>
                <a:cubicBezTo>
                  <a:pt x="47549" y="726904"/>
                  <a:pt x="52350" y="744515"/>
                  <a:pt x="65403" y="746449"/>
                </a:cubicBezTo>
                <a:cubicBezTo>
                  <a:pt x="139306" y="757398"/>
                  <a:pt x="214693" y="752669"/>
                  <a:pt x="289338" y="755779"/>
                </a:cubicBezTo>
                <a:cubicBezTo>
                  <a:pt x="295558" y="762000"/>
                  <a:pt x="300961" y="769163"/>
                  <a:pt x="307999" y="774441"/>
                </a:cubicBezTo>
                <a:cubicBezTo>
                  <a:pt x="325941" y="787898"/>
                  <a:pt x="363983" y="811763"/>
                  <a:pt x="363983" y="811763"/>
                </a:cubicBezTo>
                <a:cubicBezTo>
                  <a:pt x="370203" y="821094"/>
                  <a:pt x="373135" y="833812"/>
                  <a:pt x="382644" y="839755"/>
                </a:cubicBezTo>
                <a:cubicBezTo>
                  <a:pt x="399325" y="850180"/>
                  <a:pt x="438628" y="858416"/>
                  <a:pt x="438628" y="858416"/>
                </a:cubicBezTo>
                <a:cubicBezTo>
                  <a:pt x="441738" y="867747"/>
                  <a:pt x="442898" y="877974"/>
                  <a:pt x="447958" y="886408"/>
                </a:cubicBezTo>
                <a:cubicBezTo>
                  <a:pt x="481198" y="941807"/>
                  <a:pt x="453266" y="861026"/>
                  <a:pt x="485281" y="933061"/>
                </a:cubicBezTo>
                <a:cubicBezTo>
                  <a:pt x="493270" y="951036"/>
                  <a:pt x="493031" y="972678"/>
                  <a:pt x="503942" y="989045"/>
                </a:cubicBezTo>
                <a:cubicBezTo>
                  <a:pt x="522186" y="1016411"/>
                  <a:pt x="524208" y="1014124"/>
                  <a:pt x="531934" y="1045028"/>
                </a:cubicBezTo>
                <a:lnTo>
                  <a:pt x="550595" y="1119673"/>
                </a:lnTo>
                <a:cubicBezTo>
                  <a:pt x="556815" y="1318726"/>
                  <a:pt x="541091" y="1519684"/>
                  <a:pt x="569256" y="1716832"/>
                </a:cubicBezTo>
                <a:cubicBezTo>
                  <a:pt x="577542" y="1774830"/>
                  <a:pt x="567729" y="1773239"/>
                  <a:pt x="597248" y="1810138"/>
                </a:cubicBezTo>
                <a:cubicBezTo>
                  <a:pt x="602743" y="1817007"/>
                  <a:pt x="607124" y="1828338"/>
                  <a:pt x="615909" y="1828800"/>
                </a:cubicBezTo>
                <a:cubicBezTo>
                  <a:pt x="786762" y="1837792"/>
                  <a:pt x="958032" y="1835020"/>
                  <a:pt x="1129093" y="1838130"/>
                </a:cubicBezTo>
                <a:cubicBezTo>
                  <a:pt x="1138424" y="1841240"/>
                  <a:pt x="1147250" y="1847461"/>
                  <a:pt x="1157085" y="1847461"/>
                </a:cubicBezTo>
                <a:cubicBezTo>
                  <a:pt x="1209834" y="1847461"/>
                  <a:pt x="1220357" y="1841921"/>
                  <a:pt x="1259722" y="1828800"/>
                </a:cubicBezTo>
                <a:cubicBezTo>
                  <a:pt x="1277080" y="1811442"/>
                  <a:pt x="1282833" y="1803248"/>
                  <a:pt x="1306375" y="1791477"/>
                </a:cubicBezTo>
                <a:cubicBezTo>
                  <a:pt x="1315172" y="1787079"/>
                  <a:pt x="1325036" y="1785257"/>
                  <a:pt x="1334367" y="1782147"/>
                </a:cubicBezTo>
                <a:cubicBezTo>
                  <a:pt x="1343697" y="1775926"/>
                  <a:pt x="1355353" y="1772242"/>
                  <a:pt x="1362358" y="1763485"/>
                </a:cubicBezTo>
                <a:cubicBezTo>
                  <a:pt x="1368502" y="1755805"/>
                  <a:pt x="1366629" y="1743928"/>
                  <a:pt x="1371689" y="1735494"/>
                </a:cubicBezTo>
                <a:cubicBezTo>
                  <a:pt x="1376215" y="1727951"/>
                  <a:pt x="1384130" y="1723053"/>
                  <a:pt x="1390350" y="1716832"/>
                </a:cubicBezTo>
                <a:cubicBezTo>
                  <a:pt x="1412558" y="1650211"/>
                  <a:pt x="1398101" y="1677216"/>
                  <a:pt x="1427673" y="1632857"/>
                </a:cubicBezTo>
                <a:cubicBezTo>
                  <a:pt x="1438784" y="1510625"/>
                  <a:pt x="1426139" y="1562813"/>
                  <a:pt x="1455665" y="1474236"/>
                </a:cubicBezTo>
                <a:cubicBezTo>
                  <a:pt x="1455666" y="1474234"/>
                  <a:pt x="1474325" y="1418254"/>
                  <a:pt x="1474326" y="1418253"/>
                </a:cubicBezTo>
                <a:cubicBezTo>
                  <a:pt x="1518177" y="1374402"/>
                  <a:pt x="1494999" y="1401240"/>
                  <a:pt x="1539640" y="1334277"/>
                </a:cubicBezTo>
                <a:cubicBezTo>
                  <a:pt x="1545860" y="1324946"/>
                  <a:pt x="1554755" y="1316923"/>
                  <a:pt x="1558301" y="1306285"/>
                </a:cubicBezTo>
                <a:cubicBezTo>
                  <a:pt x="1561411" y="1296955"/>
                  <a:pt x="1562572" y="1286728"/>
                  <a:pt x="1567632" y="1278294"/>
                </a:cubicBezTo>
                <a:cubicBezTo>
                  <a:pt x="1572158" y="1270751"/>
                  <a:pt x="1580798" y="1266501"/>
                  <a:pt x="1586293" y="1259632"/>
                </a:cubicBezTo>
                <a:cubicBezTo>
                  <a:pt x="1593298" y="1250876"/>
                  <a:pt x="1597949" y="1240397"/>
                  <a:pt x="1604954" y="1231641"/>
                </a:cubicBezTo>
                <a:cubicBezTo>
                  <a:pt x="1610450" y="1224771"/>
                  <a:pt x="1618338" y="1220017"/>
                  <a:pt x="1623616" y="1212979"/>
                </a:cubicBezTo>
                <a:cubicBezTo>
                  <a:pt x="1637073" y="1195037"/>
                  <a:pt x="1645080" y="1172855"/>
                  <a:pt x="1660938" y="1156996"/>
                </a:cubicBezTo>
                <a:cubicBezTo>
                  <a:pt x="1667158" y="1150775"/>
                  <a:pt x="1674104" y="1145203"/>
                  <a:pt x="1679599" y="1138334"/>
                </a:cubicBezTo>
                <a:cubicBezTo>
                  <a:pt x="1686604" y="1129578"/>
                  <a:pt x="1689504" y="1117348"/>
                  <a:pt x="1698260" y="1110343"/>
                </a:cubicBezTo>
                <a:cubicBezTo>
                  <a:pt x="1705940" y="1104199"/>
                  <a:pt x="1716921" y="1104122"/>
                  <a:pt x="1726252" y="1101012"/>
                </a:cubicBezTo>
                <a:cubicBezTo>
                  <a:pt x="1735765" y="1086743"/>
                  <a:pt x="1750952" y="1056188"/>
                  <a:pt x="1772905" y="1054359"/>
                </a:cubicBezTo>
                <a:cubicBezTo>
                  <a:pt x="1800972" y="1052020"/>
                  <a:pt x="1828871" y="1060742"/>
                  <a:pt x="1856881" y="1063690"/>
                </a:cubicBezTo>
                <a:lnTo>
                  <a:pt x="1950187" y="1073020"/>
                </a:lnTo>
                <a:cubicBezTo>
                  <a:pt x="2102984" y="1123954"/>
                  <a:pt x="1919126" y="1065704"/>
                  <a:pt x="2360734" y="1091681"/>
                </a:cubicBezTo>
                <a:cubicBezTo>
                  <a:pt x="2410731" y="1094622"/>
                  <a:pt x="2440370" y="1105787"/>
                  <a:pt x="2482032" y="1119673"/>
                </a:cubicBezTo>
                <a:cubicBezTo>
                  <a:pt x="2491363" y="1125893"/>
                  <a:pt x="2499994" y="1133319"/>
                  <a:pt x="2510024" y="1138334"/>
                </a:cubicBezTo>
                <a:cubicBezTo>
                  <a:pt x="2518821" y="1142733"/>
                  <a:pt x="2528884" y="1144012"/>
                  <a:pt x="2538016" y="1147665"/>
                </a:cubicBezTo>
                <a:cubicBezTo>
                  <a:pt x="2544473" y="1150248"/>
                  <a:pt x="2550457" y="1153886"/>
                  <a:pt x="2556677" y="1156996"/>
                </a:cubicBez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6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28822" y="2569692"/>
            <a:ext cx="329058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Definición de un problema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1059026" y="3239684"/>
            <a:ext cx="721722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e: un estado cualquiera; </a:t>
            </a:r>
            <a:r>
              <a:rPr lang="es-CO" dirty="0" err="1"/>
              <a:t>e</a:t>
            </a:r>
            <a:r>
              <a:rPr lang="es-CO" baseline="-25000" dirty="0" err="1"/>
              <a:t>i</a:t>
            </a:r>
            <a:r>
              <a:rPr lang="es-CO" dirty="0"/>
              <a:t>: estado inicial; </a:t>
            </a:r>
            <a:r>
              <a:rPr lang="es-CO" dirty="0" err="1"/>
              <a:t>e</a:t>
            </a:r>
            <a:r>
              <a:rPr lang="es-CO" baseline="-25000" dirty="0" err="1"/>
              <a:t>f</a:t>
            </a:r>
            <a:r>
              <a:rPr lang="es-CO" dirty="0"/>
              <a:t>: estado objetivo</a:t>
            </a:r>
          </a:p>
          <a:p>
            <a:endParaRPr lang="es-CO" dirty="0"/>
          </a:p>
          <a:p>
            <a:r>
              <a:rPr lang="es-CO" dirty="0"/>
              <a:t>Acción(e)  </a:t>
            </a:r>
            <a:r>
              <a:rPr lang="es-CO" dirty="0">
                <a:sym typeface="Wingdings" panose="05000000000000000000" pitchFamily="2" charset="2"/>
              </a:rPr>
              <a:t>  {a</a:t>
            </a:r>
            <a:r>
              <a:rPr lang="es-CO" baseline="-25000" dirty="0">
                <a:sym typeface="Wingdings" panose="05000000000000000000" pitchFamily="2" charset="2"/>
              </a:rPr>
              <a:t>1</a:t>
            </a:r>
            <a:r>
              <a:rPr lang="es-CO" dirty="0">
                <a:sym typeface="Wingdings" panose="05000000000000000000" pitchFamily="2" charset="2"/>
              </a:rPr>
              <a:t>, a</a:t>
            </a:r>
            <a:r>
              <a:rPr lang="es-CO" baseline="-25000" dirty="0">
                <a:sym typeface="Wingdings" panose="05000000000000000000" pitchFamily="2" charset="2"/>
              </a:rPr>
              <a:t>2</a:t>
            </a:r>
            <a:r>
              <a:rPr lang="es-CO" dirty="0">
                <a:sym typeface="Wingdings" panose="05000000000000000000" pitchFamily="2" charset="2"/>
              </a:rPr>
              <a:t>, a</a:t>
            </a:r>
            <a:r>
              <a:rPr lang="es-CO" baseline="-25000" dirty="0">
                <a:sym typeface="Wingdings" panose="05000000000000000000" pitchFamily="2" charset="2"/>
              </a:rPr>
              <a:t>3</a:t>
            </a:r>
            <a:r>
              <a:rPr lang="es-CO" dirty="0">
                <a:sym typeface="Wingdings" panose="05000000000000000000" pitchFamily="2" charset="2"/>
              </a:rPr>
              <a:t>, a</a:t>
            </a:r>
            <a:r>
              <a:rPr lang="es-CO" baseline="-25000" dirty="0">
                <a:sym typeface="Wingdings" panose="05000000000000000000" pitchFamily="2" charset="2"/>
              </a:rPr>
              <a:t>4</a:t>
            </a:r>
            <a:r>
              <a:rPr lang="es-CO" dirty="0">
                <a:sym typeface="Wingdings" panose="05000000000000000000" pitchFamily="2" charset="2"/>
              </a:rPr>
              <a:t>….}</a:t>
            </a:r>
          </a:p>
          <a:p>
            <a:endParaRPr lang="es-CO" dirty="0">
              <a:sym typeface="Wingdings" panose="05000000000000000000" pitchFamily="2" charset="2"/>
            </a:endParaRPr>
          </a:p>
          <a:p>
            <a:r>
              <a:rPr lang="es-CO" dirty="0"/>
              <a:t>Resultado(</a:t>
            </a:r>
            <a:r>
              <a:rPr lang="es-CO" dirty="0" err="1"/>
              <a:t>e,a</a:t>
            </a:r>
            <a:r>
              <a:rPr lang="es-CO" dirty="0"/>
              <a:t>)  </a:t>
            </a:r>
            <a:r>
              <a:rPr lang="es-CO" dirty="0">
                <a:sym typeface="Wingdings" panose="05000000000000000000" pitchFamily="2" charset="2"/>
              </a:rPr>
              <a:t>  e’</a:t>
            </a:r>
          </a:p>
          <a:p>
            <a:endParaRPr lang="es-CO" dirty="0">
              <a:sym typeface="Wingdings" panose="05000000000000000000" pitchFamily="2" charset="2"/>
            </a:endParaRPr>
          </a:p>
          <a:p>
            <a:r>
              <a:rPr lang="es-CO" dirty="0">
                <a:sym typeface="Wingdings" panose="05000000000000000000" pitchFamily="2" charset="2"/>
              </a:rPr>
              <a:t>Testeo del objetivo (e)  Verdadero o Falso</a:t>
            </a:r>
          </a:p>
          <a:p>
            <a:endParaRPr lang="es-CO" dirty="0">
              <a:sym typeface="Wingdings" panose="05000000000000000000" pitchFamily="2" charset="2"/>
            </a:endParaRPr>
          </a:p>
          <a:p>
            <a:r>
              <a:rPr lang="es-CO" dirty="0">
                <a:sym typeface="Wingdings" panose="05000000000000000000" pitchFamily="2" charset="2"/>
              </a:rPr>
              <a:t>Costo (</a:t>
            </a:r>
            <a:r>
              <a:rPr lang="es-CO" dirty="0" err="1">
                <a:sym typeface="Wingdings" panose="05000000000000000000" pitchFamily="2" charset="2"/>
              </a:rPr>
              <a:t>e</a:t>
            </a:r>
            <a:r>
              <a:rPr lang="es-CO" baseline="30000" dirty="0" err="1">
                <a:sym typeface="Wingdings" panose="05000000000000000000" pitchFamily="2" charset="2"/>
              </a:rPr>
              <a:t>a</a:t>
            </a:r>
            <a:r>
              <a:rPr lang="es-CO" baseline="30000" dirty="0">
                <a:sym typeface="Wingdings" panose="05000000000000000000" pitchFamily="2" charset="2"/>
              </a:rPr>
              <a:t> </a:t>
            </a:r>
            <a:r>
              <a:rPr lang="es-CO" dirty="0">
                <a:sym typeface="Wingdings" panose="05000000000000000000" pitchFamily="2" charset="2"/>
              </a:rPr>
              <a:t> </a:t>
            </a:r>
            <a:r>
              <a:rPr lang="es-CO" dirty="0" err="1">
                <a:sym typeface="Wingdings" panose="05000000000000000000" pitchFamily="2" charset="2"/>
              </a:rPr>
              <a:t>e</a:t>
            </a:r>
            <a:r>
              <a:rPr lang="es-CO" baseline="30000" dirty="0" err="1">
                <a:sym typeface="Wingdings" panose="05000000000000000000" pitchFamily="2" charset="2"/>
              </a:rPr>
              <a:t>a</a:t>
            </a:r>
            <a:r>
              <a:rPr lang="es-CO" baseline="30000" dirty="0">
                <a:sym typeface="Wingdings" panose="05000000000000000000" pitchFamily="2" charset="2"/>
              </a:rPr>
              <a:t> </a:t>
            </a:r>
            <a:r>
              <a:rPr lang="es-CO" dirty="0">
                <a:sym typeface="Wingdings" panose="05000000000000000000" pitchFamily="2" charset="2"/>
              </a:rPr>
              <a:t> </a:t>
            </a:r>
            <a:r>
              <a:rPr lang="es-CO" dirty="0" err="1">
                <a:sym typeface="Wingdings" panose="05000000000000000000" pitchFamily="2" charset="2"/>
              </a:rPr>
              <a:t>e</a:t>
            </a:r>
            <a:r>
              <a:rPr lang="es-CO" baseline="30000" dirty="0" err="1">
                <a:sym typeface="Wingdings" panose="05000000000000000000" pitchFamily="2" charset="2"/>
              </a:rPr>
              <a:t>a</a:t>
            </a:r>
            <a:r>
              <a:rPr lang="es-CO" dirty="0">
                <a:sym typeface="Wingdings" panose="05000000000000000000" pitchFamily="2" charset="2"/>
              </a:rPr>
              <a:t> </a:t>
            </a:r>
            <a:r>
              <a:rPr lang="es-CO" dirty="0" err="1">
                <a:sym typeface="Wingdings" panose="05000000000000000000" pitchFamily="2" charset="2"/>
              </a:rPr>
              <a:t>e</a:t>
            </a:r>
            <a:r>
              <a:rPr lang="es-CO" baseline="-25000" dirty="0" err="1">
                <a:sym typeface="Wingdings" panose="05000000000000000000" pitchFamily="2" charset="2"/>
              </a:rPr>
              <a:t>f</a:t>
            </a:r>
            <a:r>
              <a:rPr lang="es-CO" dirty="0">
                <a:sym typeface="Wingdings" panose="05000000000000000000" pitchFamily="2" charset="2"/>
              </a:rPr>
              <a:t>)</a:t>
            </a:r>
          </a:p>
          <a:p>
            <a:endParaRPr lang="es-CO" dirty="0">
              <a:sym typeface="Wingdings" panose="05000000000000000000" pitchFamily="2" charset="2"/>
            </a:endParaRPr>
          </a:p>
          <a:p>
            <a:r>
              <a:rPr lang="es-CO" dirty="0">
                <a:sym typeface="Wingdings" panose="05000000000000000000" pitchFamily="2" charset="2"/>
              </a:rPr>
              <a:t>Costo paso (</a:t>
            </a:r>
            <a:r>
              <a:rPr lang="es-CO" dirty="0" err="1">
                <a:sym typeface="Wingdings" panose="05000000000000000000" pitchFamily="2" charset="2"/>
              </a:rPr>
              <a:t>e,a,e</a:t>
            </a:r>
            <a:r>
              <a:rPr lang="es-CO" dirty="0">
                <a:sym typeface="Wingdings" panose="05000000000000000000" pitchFamily="2" charset="2"/>
              </a:rPr>
              <a:t>’)</a:t>
            </a:r>
            <a:endParaRPr lang="es-CO" dirty="0"/>
          </a:p>
        </p:txBody>
      </p:sp>
      <p:sp>
        <p:nvSpPr>
          <p:cNvPr id="11" name="Rectángulo 11">
            <a:extLst>
              <a:ext uri="{FF2B5EF4-FFF2-40B4-BE49-F238E27FC236}">
                <a16:creationId xmlns="" xmlns:a16="http://schemas.microsoft.com/office/drawing/2014/main" id="{1A5B8AE8-18FD-44B1-B54C-61807BB0C462}"/>
              </a:ext>
            </a:extLst>
          </p:cNvPr>
          <p:cNvSpPr/>
          <p:nvPr/>
        </p:nvSpPr>
        <p:spPr>
          <a:xfrm>
            <a:off x="1752354" y="1458510"/>
            <a:ext cx="817332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200" b="1" i="1" dirty="0" err="1"/>
              <a:t>Problem</a:t>
            </a:r>
            <a:r>
              <a:rPr lang="es-CO" sz="2200" b="1" i="1" dirty="0"/>
              <a:t> </a:t>
            </a:r>
            <a:r>
              <a:rPr lang="es-CO" sz="2200" b="1" i="1" dirty="0" err="1"/>
              <a:t>solving</a:t>
            </a:r>
            <a:r>
              <a:rPr lang="es-CO" sz="2200" i="1" dirty="0"/>
              <a:t>… en tecnología, la teoría que consiste en que agentes (inteligentes) pueden planear a futuro para resolver un problema.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="" xmlns:a16="http://schemas.microsoft.com/office/drawing/2014/main" id="{CF79E00D-2853-4136-96F6-EA8B0C264F70}"/>
              </a:ext>
            </a:extLst>
          </p:cNvPr>
          <p:cNvSpPr/>
          <p:nvPr/>
        </p:nvSpPr>
        <p:spPr>
          <a:xfrm>
            <a:off x="5466186" y="5902018"/>
            <a:ext cx="40022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>
                <a:solidFill>
                  <a:srgbClr val="FF0000"/>
                </a:solidFill>
              </a:rPr>
              <a:t>Definamos el problema del viajero!</a:t>
            </a:r>
          </a:p>
        </p:txBody>
      </p:sp>
    </p:spTree>
    <p:extLst>
      <p:ext uri="{BB962C8B-B14F-4D97-AF65-F5344CB8AC3E}">
        <p14:creationId xmlns:p14="http://schemas.microsoft.com/office/powerpoint/2010/main" val="173496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621730" y="1624853"/>
            <a:ext cx="64341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Problema de determinación de la mejor ruta (viajero)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7055864" y="3429000"/>
            <a:ext cx="24382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Lo explorado, la frontera y lo inexplorado.</a:t>
            </a:r>
            <a:endParaRPr lang="es-CO" i="1" dirty="0"/>
          </a:p>
        </p:txBody>
      </p:sp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F0BB9506-9A03-4CC9-BD00-2FE493613C31}"/>
              </a:ext>
            </a:extLst>
          </p:cNvPr>
          <p:cNvSpPr/>
          <p:nvPr/>
        </p:nvSpPr>
        <p:spPr>
          <a:xfrm>
            <a:off x="2845838" y="6031281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11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F7505764-4DDA-4C2D-A593-E98A5CBBD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430" y="2506714"/>
            <a:ext cx="5001642" cy="3266378"/>
          </a:xfrm>
        </p:spPr>
      </p:pic>
      <p:sp>
        <p:nvSpPr>
          <p:cNvPr id="12" name="Rectángulo 11">
            <a:extLst>
              <a:ext uri="{FF2B5EF4-FFF2-40B4-BE49-F238E27FC236}">
                <a16:creationId xmlns="" xmlns:a16="http://schemas.microsoft.com/office/drawing/2014/main" id="{53379DC7-2FBD-40A6-BEB7-94AB1D4C719C}"/>
              </a:ext>
            </a:extLst>
          </p:cNvPr>
          <p:cNvSpPr/>
          <p:nvPr/>
        </p:nvSpPr>
        <p:spPr>
          <a:xfrm>
            <a:off x="1343607" y="325606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13" name="Rectángulo 11">
            <a:extLst>
              <a:ext uri="{FF2B5EF4-FFF2-40B4-BE49-F238E27FC236}">
                <a16:creationId xmlns="" xmlns:a16="http://schemas.microsoft.com/office/drawing/2014/main" id="{20DB473C-6098-4BC8-83FF-CCE141FCA785}"/>
              </a:ext>
            </a:extLst>
          </p:cNvPr>
          <p:cNvSpPr/>
          <p:nvPr/>
        </p:nvSpPr>
        <p:spPr>
          <a:xfrm>
            <a:off x="1551991" y="272088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71</a:t>
            </a:r>
          </a:p>
        </p:txBody>
      </p:sp>
      <p:sp>
        <p:nvSpPr>
          <p:cNvPr id="14" name="Rectángulo 11">
            <a:extLst>
              <a:ext uri="{FF2B5EF4-FFF2-40B4-BE49-F238E27FC236}">
                <a16:creationId xmlns="" xmlns:a16="http://schemas.microsoft.com/office/drawing/2014/main" id="{45C7960E-9D3A-4830-BCF1-5D0FC1E9B09C}"/>
              </a:ext>
            </a:extLst>
          </p:cNvPr>
          <p:cNvSpPr/>
          <p:nvPr/>
        </p:nvSpPr>
        <p:spPr>
          <a:xfrm>
            <a:off x="1789667" y="370239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140</a:t>
            </a:r>
          </a:p>
        </p:txBody>
      </p:sp>
      <p:sp>
        <p:nvSpPr>
          <p:cNvPr id="15" name="Rectángulo 11">
            <a:extLst>
              <a:ext uri="{FF2B5EF4-FFF2-40B4-BE49-F238E27FC236}">
                <a16:creationId xmlns="" xmlns:a16="http://schemas.microsoft.com/office/drawing/2014/main" id="{0FCD0380-DF13-4EF7-A942-345B92D8D825}"/>
              </a:ext>
            </a:extLst>
          </p:cNvPr>
          <p:cNvSpPr/>
          <p:nvPr/>
        </p:nvSpPr>
        <p:spPr>
          <a:xfrm>
            <a:off x="2164459" y="317839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151</a:t>
            </a:r>
          </a:p>
        </p:txBody>
      </p:sp>
      <p:sp>
        <p:nvSpPr>
          <p:cNvPr id="16" name="Rectángulo 11">
            <a:extLst>
              <a:ext uri="{FF2B5EF4-FFF2-40B4-BE49-F238E27FC236}">
                <a16:creationId xmlns="" xmlns:a16="http://schemas.microsoft.com/office/drawing/2014/main" id="{0B98A6E6-52FB-460C-A312-DECEE7DDAF55}"/>
              </a:ext>
            </a:extLst>
          </p:cNvPr>
          <p:cNvSpPr/>
          <p:nvPr/>
        </p:nvSpPr>
        <p:spPr>
          <a:xfrm>
            <a:off x="1251761" y="378006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118</a:t>
            </a:r>
          </a:p>
        </p:txBody>
      </p:sp>
      <p:sp>
        <p:nvSpPr>
          <p:cNvPr id="17" name="Rectángulo 11">
            <a:extLst>
              <a:ext uri="{FF2B5EF4-FFF2-40B4-BE49-F238E27FC236}">
                <a16:creationId xmlns="" xmlns:a16="http://schemas.microsoft.com/office/drawing/2014/main" id="{21BD5B28-97AF-49A4-9693-D6FCC3AAF38D}"/>
              </a:ext>
            </a:extLst>
          </p:cNvPr>
          <p:cNvSpPr/>
          <p:nvPr/>
        </p:nvSpPr>
        <p:spPr>
          <a:xfrm>
            <a:off x="2164458" y="550439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120</a:t>
            </a:r>
          </a:p>
        </p:txBody>
      </p:sp>
      <p:sp>
        <p:nvSpPr>
          <p:cNvPr id="18" name="Rectángulo 11">
            <a:extLst>
              <a:ext uri="{FF2B5EF4-FFF2-40B4-BE49-F238E27FC236}">
                <a16:creationId xmlns="" xmlns:a16="http://schemas.microsoft.com/office/drawing/2014/main" id="{2C13B22C-797E-4BB9-B910-AD6CB920D3F2}"/>
              </a:ext>
            </a:extLst>
          </p:cNvPr>
          <p:cNvSpPr/>
          <p:nvPr/>
        </p:nvSpPr>
        <p:spPr>
          <a:xfrm>
            <a:off x="1461369" y="433724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111</a:t>
            </a:r>
          </a:p>
        </p:txBody>
      </p:sp>
      <p:sp>
        <p:nvSpPr>
          <p:cNvPr id="19" name="Rectángulo 11">
            <a:extLst>
              <a:ext uri="{FF2B5EF4-FFF2-40B4-BE49-F238E27FC236}">
                <a16:creationId xmlns="" xmlns:a16="http://schemas.microsoft.com/office/drawing/2014/main" id="{FA1F436B-74A0-43A2-8722-C8F41B2EE197}"/>
              </a:ext>
            </a:extLst>
          </p:cNvPr>
          <p:cNvSpPr/>
          <p:nvPr/>
        </p:nvSpPr>
        <p:spPr>
          <a:xfrm>
            <a:off x="1694464" y="465572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70</a:t>
            </a:r>
          </a:p>
        </p:txBody>
      </p:sp>
      <p:sp>
        <p:nvSpPr>
          <p:cNvPr id="20" name="Rectángulo 11">
            <a:extLst>
              <a:ext uri="{FF2B5EF4-FFF2-40B4-BE49-F238E27FC236}">
                <a16:creationId xmlns="" xmlns:a16="http://schemas.microsoft.com/office/drawing/2014/main" id="{E4877A13-201E-4C41-AEA9-23ABD72A303A}"/>
              </a:ext>
            </a:extLst>
          </p:cNvPr>
          <p:cNvSpPr/>
          <p:nvPr/>
        </p:nvSpPr>
        <p:spPr>
          <a:xfrm>
            <a:off x="1783679" y="504122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21" name="Rectángulo 11">
            <a:extLst>
              <a:ext uri="{FF2B5EF4-FFF2-40B4-BE49-F238E27FC236}">
                <a16:creationId xmlns="" xmlns:a16="http://schemas.microsoft.com/office/drawing/2014/main" id="{69CD1FCD-9D90-4369-9E1A-1547DA68ABCA}"/>
              </a:ext>
            </a:extLst>
          </p:cNvPr>
          <p:cNvSpPr/>
          <p:nvPr/>
        </p:nvSpPr>
        <p:spPr>
          <a:xfrm>
            <a:off x="4245399" y="4491080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85</a:t>
            </a:r>
          </a:p>
        </p:txBody>
      </p:sp>
      <p:sp>
        <p:nvSpPr>
          <p:cNvPr id="22" name="Rectángulo 11">
            <a:extLst>
              <a:ext uri="{FF2B5EF4-FFF2-40B4-BE49-F238E27FC236}">
                <a16:creationId xmlns="" xmlns:a16="http://schemas.microsoft.com/office/drawing/2014/main" id="{3E321CBD-CE24-4AEE-A8D8-3260C9529A64}"/>
              </a:ext>
            </a:extLst>
          </p:cNvPr>
          <p:cNvSpPr/>
          <p:nvPr/>
        </p:nvSpPr>
        <p:spPr>
          <a:xfrm>
            <a:off x="3489365" y="480685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101</a:t>
            </a:r>
          </a:p>
        </p:txBody>
      </p:sp>
      <p:sp>
        <p:nvSpPr>
          <p:cNvPr id="23" name="Rectángulo 11">
            <a:extLst>
              <a:ext uri="{FF2B5EF4-FFF2-40B4-BE49-F238E27FC236}">
                <a16:creationId xmlns="" xmlns:a16="http://schemas.microsoft.com/office/drawing/2014/main" id="{C588E686-8499-4910-906C-F35F97E86647}"/>
              </a:ext>
            </a:extLst>
          </p:cNvPr>
          <p:cNvSpPr/>
          <p:nvPr/>
        </p:nvSpPr>
        <p:spPr>
          <a:xfrm>
            <a:off x="2723668" y="352025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99</a:t>
            </a:r>
          </a:p>
        </p:txBody>
      </p:sp>
      <p:sp>
        <p:nvSpPr>
          <p:cNvPr id="24" name="Rectángulo 11">
            <a:extLst>
              <a:ext uri="{FF2B5EF4-FFF2-40B4-BE49-F238E27FC236}">
                <a16:creationId xmlns="" xmlns:a16="http://schemas.microsoft.com/office/drawing/2014/main" id="{DD63F08B-AE84-431F-B20E-D92EC00BEEB8}"/>
              </a:ext>
            </a:extLst>
          </p:cNvPr>
          <p:cNvSpPr/>
          <p:nvPr/>
        </p:nvSpPr>
        <p:spPr>
          <a:xfrm>
            <a:off x="3658501" y="5139790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90</a:t>
            </a:r>
          </a:p>
        </p:txBody>
      </p:sp>
      <p:sp>
        <p:nvSpPr>
          <p:cNvPr id="25" name="Rectángulo 11">
            <a:extLst>
              <a:ext uri="{FF2B5EF4-FFF2-40B4-BE49-F238E27FC236}">
                <a16:creationId xmlns="" xmlns:a16="http://schemas.microsoft.com/office/drawing/2014/main" id="{05A70D98-7DD8-4AB9-9D6E-279934147AE7}"/>
              </a:ext>
            </a:extLst>
          </p:cNvPr>
          <p:cNvSpPr/>
          <p:nvPr/>
        </p:nvSpPr>
        <p:spPr>
          <a:xfrm>
            <a:off x="3838797" y="399169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211</a:t>
            </a:r>
          </a:p>
        </p:txBody>
      </p:sp>
      <p:sp>
        <p:nvSpPr>
          <p:cNvPr id="26" name="Rectángulo 11">
            <a:extLst>
              <a:ext uri="{FF2B5EF4-FFF2-40B4-BE49-F238E27FC236}">
                <a16:creationId xmlns="" xmlns:a16="http://schemas.microsoft.com/office/drawing/2014/main" id="{2407DAEA-4C02-43E3-8279-8D001B2769B9}"/>
              </a:ext>
            </a:extLst>
          </p:cNvPr>
          <p:cNvSpPr/>
          <p:nvPr/>
        </p:nvSpPr>
        <p:spPr>
          <a:xfrm>
            <a:off x="3013077" y="501712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138</a:t>
            </a:r>
          </a:p>
        </p:txBody>
      </p:sp>
      <p:sp>
        <p:nvSpPr>
          <p:cNvPr id="27" name="Rectángulo 11">
            <a:extLst>
              <a:ext uri="{FF2B5EF4-FFF2-40B4-BE49-F238E27FC236}">
                <a16:creationId xmlns="" xmlns:a16="http://schemas.microsoft.com/office/drawing/2014/main" id="{1F1D0ABD-8FC0-4554-8D55-415C6859B65C}"/>
              </a:ext>
            </a:extLst>
          </p:cNvPr>
          <p:cNvSpPr/>
          <p:nvPr/>
        </p:nvSpPr>
        <p:spPr>
          <a:xfrm>
            <a:off x="2557922" y="490272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146</a:t>
            </a:r>
          </a:p>
        </p:txBody>
      </p:sp>
      <p:sp>
        <p:nvSpPr>
          <p:cNvPr id="28" name="Rectángulo 11">
            <a:extLst>
              <a:ext uri="{FF2B5EF4-FFF2-40B4-BE49-F238E27FC236}">
                <a16:creationId xmlns="" xmlns:a16="http://schemas.microsoft.com/office/drawing/2014/main" id="{83555CAA-0D6A-4DBD-8329-C4CA2AD9489B}"/>
              </a:ext>
            </a:extLst>
          </p:cNvPr>
          <p:cNvSpPr/>
          <p:nvPr/>
        </p:nvSpPr>
        <p:spPr>
          <a:xfrm>
            <a:off x="2723668" y="445230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97</a:t>
            </a:r>
          </a:p>
        </p:txBody>
      </p:sp>
      <p:sp>
        <p:nvSpPr>
          <p:cNvPr id="29" name="Rectángulo 11">
            <a:extLst>
              <a:ext uri="{FF2B5EF4-FFF2-40B4-BE49-F238E27FC236}">
                <a16:creationId xmlns="" xmlns:a16="http://schemas.microsoft.com/office/drawing/2014/main" id="{6C326678-04A4-4D49-81BC-4EA2A59D1900}"/>
              </a:ext>
            </a:extLst>
          </p:cNvPr>
          <p:cNvSpPr/>
          <p:nvPr/>
        </p:nvSpPr>
        <p:spPr>
          <a:xfrm>
            <a:off x="2245047" y="383344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80</a:t>
            </a:r>
          </a:p>
        </p:txBody>
      </p:sp>
      <p:sp>
        <p:nvSpPr>
          <p:cNvPr id="30" name="Rectángulo 11">
            <a:extLst>
              <a:ext uri="{FF2B5EF4-FFF2-40B4-BE49-F238E27FC236}">
                <a16:creationId xmlns="" xmlns:a16="http://schemas.microsoft.com/office/drawing/2014/main" id="{6A4D19BB-D406-46F4-B0F3-D9747F22E71E}"/>
              </a:ext>
            </a:extLst>
          </p:cNvPr>
          <p:cNvSpPr/>
          <p:nvPr/>
        </p:nvSpPr>
        <p:spPr>
          <a:xfrm>
            <a:off x="5626005" y="397939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142</a:t>
            </a:r>
          </a:p>
        </p:txBody>
      </p:sp>
      <p:sp>
        <p:nvSpPr>
          <p:cNvPr id="31" name="Rectángulo 11">
            <a:extLst>
              <a:ext uri="{FF2B5EF4-FFF2-40B4-BE49-F238E27FC236}">
                <a16:creationId xmlns="" xmlns:a16="http://schemas.microsoft.com/office/drawing/2014/main" id="{311E9068-2448-4627-B07C-0582624B2AE0}"/>
              </a:ext>
            </a:extLst>
          </p:cNvPr>
          <p:cNvSpPr/>
          <p:nvPr/>
        </p:nvSpPr>
        <p:spPr>
          <a:xfrm>
            <a:off x="5559144" y="473695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86</a:t>
            </a:r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FA20F67F-A874-43E8-BBB3-6A710B2D9789}"/>
              </a:ext>
            </a:extLst>
          </p:cNvPr>
          <p:cNvSpPr/>
          <p:nvPr/>
        </p:nvSpPr>
        <p:spPr>
          <a:xfrm>
            <a:off x="5442828" y="308175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92</a:t>
            </a:r>
          </a:p>
        </p:txBody>
      </p:sp>
      <p:sp>
        <p:nvSpPr>
          <p:cNvPr id="33" name="Rectángulo 11">
            <a:extLst>
              <a:ext uri="{FF2B5EF4-FFF2-40B4-BE49-F238E27FC236}">
                <a16:creationId xmlns="" xmlns:a16="http://schemas.microsoft.com/office/drawing/2014/main" id="{47AB5F81-7482-4DC5-ADDA-EBE7CA53B14A}"/>
              </a:ext>
            </a:extLst>
          </p:cNvPr>
          <p:cNvSpPr/>
          <p:nvPr/>
        </p:nvSpPr>
        <p:spPr>
          <a:xfrm>
            <a:off x="4598490" y="287906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87</a:t>
            </a:r>
          </a:p>
        </p:txBody>
      </p:sp>
      <p:sp>
        <p:nvSpPr>
          <p:cNvPr id="34" name="Rectángulo 11">
            <a:extLst>
              <a:ext uri="{FF2B5EF4-FFF2-40B4-BE49-F238E27FC236}">
                <a16:creationId xmlns="" xmlns:a16="http://schemas.microsoft.com/office/drawing/2014/main" id="{DDF9F1FB-BF64-4DFF-A5E6-8010D4A7ED3C}"/>
              </a:ext>
            </a:extLst>
          </p:cNvPr>
          <p:cNvSpPr/>
          <p:nvPr/>
        </p:nvSpPr>
        <p:spPr>
          <a:xfrm>
            <a:off x="4995748" y="450517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98</a:t>
            </a:r>
          </a:p>
        </p:txBody>
      </p:sp>
      <p:sp>
        <p:nvSpPr>
          <p:cNvPr id="37" name="Oval 36">
            <a:extLst>
              <a:ext uri="{FF2B5EF4-FFF2-40B4-BE49-F238E27FC236}">
                <a16:creationId xmlns="" xmlns:a16="http://schemas.microsoft.com/office/drawing/2014/main" id="{80D6575D-24CF-439C-BBC1-322BF0637565}"/>
              </a:ext>
            </a:extLst>
          </p:cNvPr>
          <p:cNvSpPr/>
          <p:nvPr/>
        </p:nvSpPr>
        <p:spPr>
          <a:xfrm>
            <a:off x="1899018" y="3587951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1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621730" y="1624853"/>
            <a:ext cx="64341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Problema de determinación de la mejor ruta (viajero)</a:t>
            </a:r>
          </a:p>
        </p:txBody>
      </p:sp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F0BB9506-9A03-4CC9-BD00-2FE493613C31}"/>
              </a:ext>
            </a:extLst>
          </p:cNvPr>
          <p:cNvSpPr/>
          <p:nvPr/>
        </p:nvSpPr>
        <p:spPr>
          <a:xfrm>
            <a:off x="2845838" y="6031281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11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F7505764-4DDA-4C2D-A593-E98A5CBBD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430" y="2506714"/>
            <a:ext cx="5001642" cy="3266378"/>
          </a:xfrm>
        </p:spPr>
      </p:pic>
      <p:sp>
        <p:nvSpPr>
          <p:cNvPr id="12" name="Rectángulo 11">
            <a:extLst>
              <a:ext uri="{FF2B5EF4-FFF2-40B4-BE49-F238E27FC236}">
                <a16:creationId xmlns="" xmlns:a16="http://schemas.microsoft.com/office/drawing/2014/main" id="{53379DC7-2FBD-40A6-BEB7-94AB1D4C719C}"/>
              </a:ext>
            </a:extLst>
          </p:cNvPr>
          <p:cNvSpPr/>
          <p:nvPr/>
        </p:nvSpPr>
        <p:spPr>
          <a:xfrm>
            <a:off x="1343607" y="325606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13" name="Rectángulo 11">
            <a:extLst>
              <a:ext uri="{FF2B5EF4-FFF2-40B4-BE49-F238E27FC236}">
                <a16:creationId xmlns="" xmlns:a16="http://schemas.microsoft.com/office/drawing/2014/main" id="{20DB473C-6098-4BC8-83FF-CCE141FCA785}"/>
              </a:ext>
            </a:extLst>
          </p:cNvPr>
          <p:cNvSpPr/>
          <p:nvPr/>
        </p:nvSpPr>
        <p:spPr>
          <a:xfrm>
            <a:off x="1551991" y="272088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71</a:t>
            </a:r>
          </a:p>
        </p:txBody>
      </p:sp>
      <p:sp>
        <p:nvSpPr>
          <p:cNvPr id="14" name="Rectángulo 11">
            <a:extLst>
              <a:ext uri="{FF2B5EF4-FFF2-40B4-BE49-F238E27FC236}">
                <a16:creationId xmlns="" xmlns:a16="http://schemas.microsoft.com/office/drawing/2014/main" id="{45C7960E-9D3A-4830-BCF1-5D0FC1E9B09C}"/>
              </a:ext>
            </a:extLst>
          </p:cNvPr>
          <p:cNvSpPr/>
          <p:nvPr/>
        </p:nvSpPr>
        <p:spPr>
          <a:xfrm>
            <a:off x="1789667" y="370239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140</a:t>
            </a:r>
          </a:p>
        </p:txBody>
      </p:sp>
      <p:sp>
        <p:nvSpPr>
          <p:cNvPr id="15" name="Rectángulo 11">
            <a:extLst>
              <a:ext uri="{FF2B5EF4-FFF2-40B4-BE49-F238E27FC236}">
                <a16:creationId xmlns="" xmlns:a16="http://schemas.microsoft.com/office/drawing/2014/main" id="{0FCD0380-DF13-4EF7-A942-345B92D8D825}"/>
              </a:ext>
            </a:extLst>
          </p:cNvPr>
          <p:cNvSpPr/>
          <p:nvPr/>
        </p:nvSpPr>
        <p:spPr>
          <a:xfrm>
            <a:off x="2164459" y="317839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151</a:t>
            </a:r>
          </a:p>
        </p:txBody>
      </p:sp>
      <p:sp>
        <p:nvSpPr>
          <p:cNvPr id="16" name="Rectángulo 11">
            <a:extLst>
              <a:ext uri="{FF2B5EF4-FFF2-40B4-BE49-F238E27FC236}">
                <a16:creationId xmlns="" xmlns:a16="http://schemas.microsoft.com/office/drawing/2014/main" id="{0B98A6E6-52FB-460C-A312-DECEE7DDAF55}"/>
              </a:ext>
            </a:extLst>
          </p:cNvPr>
          <p:cNvSpPr/>
          <p:nvPr/>
        </p:nvSpPr>
        <p:spPr>
          <a:xfrm>
            <a:off x="1251761" y="378006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118</a:t>
            </a:r>
          </a:p>
        </p:txBody>
      </p:sp>
      <p:sp>
        <p:nvSpPr>
          <p:cNvPr id="17" name="Rectángulo 11">
            <a:extLst>
              <a:ext uri="{FF2B5EF4-FFF2-40B4-BE49-F238E27FC236}">
                <a16:creationId xmlns="" xmlns:a16="http://schemas.microsoft.com/office/drawing/2014/main" id="{21BD5B28-97AF-49A4-9693-D6FCC3AAF38D}"/>
              </a:ext>
            </a:extLst>
          </p:cNvPr>
          <p:cNvSpPr/>
          <p:nvPr/>
        </p:nvSpPr>
        <p:spPr>
          <a:xfrm>
            <a:off x="2164458" y="550439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120</a:t>
            </a:r>
          </a:p>
        </p:txBody>
      </p:sp>
      <p:sp>
        <p:nvSpPr>
          <p:cNvPr id="18" name="Rectángulo 11">
            <a:extLst>
              <a:ext uri="{FF2B5EF4-FFF2-40B4-BE49-F238E27FC236}">
                <a16:creationId xmlns="" xmlns:a16="http://schemas.microsoft.com/office/drawing/2014/main" id="{2C13B22C-797E-4BB9-B910-AD6CB920D3F2}"/>
              </a:ext>
            </a:extLst>
          </p:cNvPr>
          <p:cNvSpPr/>
          <p:nvPr/>
        </p:nvSpPr>
        <p:spPr>
          <a:xfrm>
            <a:off x="1461369" y="433724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111</a:t>
            </a:r>
          </a:p>
        </p:txBody>
      </p:sp>
      <p:sp>
        <p:nvSpPr>
          <p:cNvPr id="19" name="Rectángulo 11">
            <a:extLst>
              <a:ext uri="{FF2B5EF4-FFF2-40B4-BE49-F238E27FC236}">
                <a16:creationId xmlns="" xmlns:a16="http://schemas.microsoft.com/office/drawing/2014/main" id="{FA1F436B-74A0-43A2-8722-C8F41B2EE197}"/>
              </a:ext>
            </a:extLst>
          </p:cNvPr>
          <p:cNvSpPr/>
          <p:nvPr/>
        </p:nvSpPr>
        <p:spPr>
          <a:xfrm>
            <a:off x="1694464" y="465572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70</a:t>
            </a:r>
          </a:p>
        </p:txBody>
      </p:sp>
      <p:sp>
        <p:nvSpPr>
          <p:cNvPr id="20" name="Rectángulo 11">
            <a:extLst>
              <a:ext uri="{FF2B5EF4-FFF2-40B4-BE49-F238E27FC236}">
                <a16:creationId xmlns="" xmlns:a16="http://schemas.microsoft.com/office/drawing/2014/main" id="{E4877A13-201E-4C41-AEA9-23ABD72A303A}"/>
              </a:ext>
            </a:extLst>
          </p:cNvPr>
          <p:cNvSpPr/>
          <p:nvPr/>
        </p:nvSpPr>
        <p:spPr>
          <a:xfrm>
            <a:off x="1783679" y="504122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21" name="Rectángulo 11">
            <a:extLst>
              <a:ext uri="{FF2B5EF4-FFF2-40B4-BE49-F238E27FC236}">
                <a16:creationId xmlns="" xmlns:a16="http://schemas.microsoft.com/office/drawing/2014/main" id="{69CD1FCD-9D90-4369-9E1A-1547DA68ABCA}"/>
              </a:ext>
            </a:extLst>
          </p:cNvPr>
          <p:cNvSpPr/>
          <p:nvPr/>
        </p:nvSpPr>
        <p:spPr>
          <a:xfrm>
            <a:off x="4245399" y="4491080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85</a:t>
            </a:r>
          </a:p>
        </p:txBody>
      </p:sp>
      <p:sp>
        <p:nvSpPr>
          <p:cNvPr id="22" name="Rectángulo 11">
            <a:extLst>
              <a:ext uri="{FF2B5EF4-FFF2-40B4-BE49-F238E27FC236}">
                <a16:creationId xmlns="" xmlns:a16="http://schemas.microsoft.com/office/drawing/2014/main" id="{3E321CBD-CE24-4AEE-A8D8-3260C9529A64}"/>
              </a:ext>
            </a:extLst>
          </p:cNvPr>
          <p:cNvSpPr/>
          <p:nvPr/>
        </p:nvSpPr>
        <p:spPr>
          <a:xfrm>
            <a:off x="3489365" y="480685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101</a:t>
            </a:r>
          </a:p>
        </p:txBody>
      </p:sp>
      <p:sp>
        <p:nvSpPr>
          <p:cNvPr id="23" name="Rectángulo 11">
            <a:extLst>
              <a:ext uri="{FF2B5EF4-FFF2-40B4-BE49-F238E27FC236}">
                <a16:creationId xmlns="" xmlns:a16="http://schemas.microsoft.com/office/drawing/2014/main" id="{C588E686-8499-4910-906C-F35F97E86647}"/>
              </a:ext>
            </a:extLst>
          </p:cNvPr>
          <p:cNvSpPr/>
          <p:nvPr/>
        </p:nvSpPr>
        <p:spPr>
          <a:xfrm>
            <a:off x="2723668" y="352025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99</a:t>
            </a:r>
          </a:p>
        </p:txBody>
      </p:sp>
      <p:sp>
        <p:nvSpPr>
          <p:cNvPr id="24" name="Rectángulo 11">
            <a:extLst>
              <a:ext uri="{FF2B5EF4-FFF2-40B4-BE49-F238E27FC236}">
                <a16:creationId xmlns="" xmlns:a16="http://schemas.microsoft.com/office/drawing/2014/main" id="{DD63F08B-AE84-431F-B20E-D92EC00BEEB8}"/>
              </a:ext>
            </a:extLst>
          </p:cNvPr>
          <p:cNvSpPr/>
          <p:nvPr/>
        </p:nvSpPr>
        <p:spPr>
          <a:xfrm>
            <a:off x="3658501" y="5139790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90</a:t>
            </a:r>
          </a:p>
        </p:txBody>
      </p:sp>
      <p:sp>
        <p:nvSpPr>
          <p:cNvPr id="25" name="Rectángulo 11">
            <a:extLst>
              <a:ext uri="{FF2B5EF4-FFF2-40B4-BE49-F238E27FC236}">
                <a16:creationId xmlns="" xmlns:a16="http://schemas.microsoft.com/office/drawing/2014/main" id="{05A70D98-7DD8-4AB9-9D6E-279934147AE7}"/>
              </a:ext>
            </a:extLst>
          </p:cNvPr>
          <p:cNvSpPr/>
          <p:nvPr/>
        </p:nvSpPr>
        <p:spPr>
          <a:xfrm>
            <a:off x="3838797" y="399169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211</a:t>
            </a:r>
          </a:p>
        </p:txBody>
      </p:sp>
      <p:sp>
        <p:nvSpPr>
          <p:cNvPr id="26" name="Rectángulo 11">
            <a:extLst>
              <a:ext uri="{FF2B5EF4-FFF2-40B4-BE49-F238E27FC236}">
                <a16:creationId xmlns="" xmlns:a16="http://schemas.microsoft.com/office/drawing/2014/main" id="{2407DAEA-4C02-43E3-8279-8D001B2769B9}"/>
              </a:ext>
            </a:extLst>
          </p:cNvPr>
          <p:cNvSpPr/>
          <p:nvPr/>
        </p:nvSpPr>
        <p:spPr>
          <a:xfrm>
            <a:off x="3013077" y="501712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138</a:t>
            </a:r>
          </a:p>
        </p:txBody>
      </p:sp>
      <p:sp>
        <p:nvSpPr>
          <p:cNvPr id="27" name="Rectángulo 11">
            <a:extLst>
              <a:ext uri="{FF2B5EF4-FFF2-40B4-BE49-F238E27FC236}">
                <a16:creationId xmlns="" xmlns:a16="http://schemas.microsoft.com/office/drawing/2014/main" id="{1F1D0ABD-8FC0-4554-8D55-415C6859B65C}"/>
              </a:ext>
            </a:extLst>
          </p:cNvPr>
          <p:cNvSpPr/>
          <p:nvPr/>
        </p:nvSpPr>
        <p:spPr>
          <a:xfrm>
            <a:off x="2557922" y="490272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146</a:t>
            </a:r>
          </a:p>
        </p:txBody>
      </p:sp>
      <p:sp>
        <p:nvSpPr>
          <p:cNvPr id="28" name="Rectángulo 11">
            <a:extLst>
              <a:ext uri="{FF2B5EF4-FFF2-40B4-BE49-F238E27FC236}">
                <a16:creationId xmlns="" xmlns:a16="http://schemas.microsoft.com/office/drawing/2014/main" id="{83555CAA-0D6A-4DBD-8329-C4CA2AD9489B}"/>
              </a:ext>
            </a:extLst>
          </p:cNvPr>
          <p:cNvSpPr/>
          <p:nvPr/>
        </p:nvSpPr>
        <p:spPr>
          <a:xfrm>
            <a:off x="2723668" y="445230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97</a:t>
            </a:r>
          </a:p>
        </p:txBody>
      </p:sp>
      <p:sp>
        <p:nvSpPr>
          <p:cNvPr id="29" name="Rectángulo 11">
            <a:extLst>
              <a:ext uri="{FF2B5EF4-FFF2-40B4-BE49-F238E27FC236}">
                <a16:creationId xmlns="" xmlns:a16="http://schemas.microsoft.com/office/drawing/2014/main" id="{6C326678-04A4-4D49-81BC-4EA2A59D1900}"/>
              </a:ext>
            </a:extLst>
          </p:cNvPr>
          <p:cNvSpPr/>
          <p:nvPr/>
        </p:nvSpPr>
        <p:spPr>
          <a:xfrm>
            <a:off x="2245047" y="383344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80</a:t>
            </a:r>
          </a:p>
        </p:txBody>
      </p:sp>
      <p:sp>
        <p:nvSpPr>
          <p:cNvPr id="30" name="Rectángulo 11">
            <a:extLst>
              <a:ext uri="{FF2B5EF4-FFF2-40B4-BE49-F238E27FC236}">
                <a16:creationId xmlns="" xmlns:a16="http://schemas.microsoft.com/office/drawing/2014/main" id="{6A4D19BB-D406-46F4-B0F3-D9747F22E71E}"/>
              </a:ext>
            </a:extLst>
          </p:cNvPr>
          <p:cNvSpPr/>
          <p:nvPr/>
        </p:nvSpPr>
        <p:spPr>
          <a:xfrm>
            <a:off x="5626005" y="397939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142</a:t>
            </a:r>
          </a:p>
        </p:txBody>
      </p:sp>
      <p:sp>
        <p:nvSpPr>
          <p:cNvPr id="31" name="Rectángulo 11">
            <a:extLst>
              <a:ext uri="{FF2B5EF4-FFF2-40B4-BE49-F238E27FC236}">
                <a16:creationId xmlns="" xmlns:a16="http://schemas.microsoft.com/office/drawing/2014/main" id="{311E9068-2448-4627-B07C-0582624B2AE0}"/>
              </a:ext>
            </a:extLst>
          </p:cNvPr>
          <p:cNvSpPr/>
          <p:nvPr/>
        </p:nvSpPr>
        <p:spPr>
          <a:xfrm>
            <a:off x="5559144" y="473695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86</a:t>
            </a:r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FA20F67F-A874-43E8-BBB3-6A710B2D9789}"/>
              </a:ext>
            </a:extLst>
          </p:cNvPr>
          <p:cNvSpPr/>
          <p:nvPr/>
        </p:nvSpPr>
        <p:spPr>
          <a:xfrm>
            <a:off x="5442828" y="308175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92</a:t>
            </a:r>
          </a:p>
        </p:txBody>
      </p:sp>
      <p:sp>
        <p:nvSpPr>
          <p:cNvPr id="33" name="Rectángulo 11">
            <a:extLst>
              <a:ext uri="{FF2B5EF4-FFF2-40B4-BE49-F238E27FC236}">
                <a16:creationId xmlns="" xmlns:a16="http://schemas.microsoft.com/office/drawing/2014/main" id="{47AB5F81-7482-4DC5-ADDA-EBE7CA53B14A}"/>
              </a:ext>
            </a:extLst>
          </p:cNvPr>
          <p:cNvSpPr/>
          <p:nvPr/>
        </p:nvSpPr>
        <p:spPr>
          <a:xfrm>
            <a:off x="4598490" y="287906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87</a:t>
            </a:r>
          </a:p>
        </p:txBody>
      </p:sp>
      <p:sp>
        <p:nvSpPr>
          <p:cNvPr id="34" name="Rectángulo 11">
            <a:extLst>
              <a:ext uri="{FF2B5EF4-FFF2-40B4-BE49-F238E27FC236}">
                <a16:creationId xmlns="" xmlns:a16="http://schemas.microsoft.com/office/drawing/2014/main" id="{DDF9F1FB-BF64-4DFF-A5E6-8010D4A7ED3C}"/>
              </a:ext>
            </a:extLst>
          </p:cNvPr>
          <p:cNvSpPr/>
          <p:nvPr/>
        </p:nvSpPr>
        <p:spPr>
          <a:xfrm>
            <a:off x="4995748" y="450517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98</a:t>
            </a:r>
          </a:p>
        </p:txBody>
      </p:sp>
      <p:sp>
        <p:nvSpPr>
          <p:cNvPr id="36" name="Oval 35">
            <a:extLst>
              <a:ext uri="{FF2B5EF4-FFF2-40B4-BE49-F238E27FC236}">
                <a16:creationId xmlns="" xmlns:a16="http://schemas.microsoft.com/office/drawing/2014/main" id="{29E08DEA-6DDE-428F-B403-61B972B120C6}"/>
              </a:ext>
            </a:extLst>
          </p:cNvPr>
          <p:cNvSpPr/>
          <p:nvPr/>
        </p:nvSpPr>
        <p:spPr>
          <a:xfrm>
            <a:off x="1795817" y="3070488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="" xmlns:a16="http://schemas.microsoft.com/office/drawing/2014/main" id="{80D6575D-24CF-439C-BBC1-322BF0637565}"/>
              </a:ext>
            </a:extLst>
          </p:cNvPr>
          <p:cNvSpPr/>
          <p:nvPr/>
        </p:nvSpPr>
        <p:spPr>
          <a:xfrm>
            <a:off x="1899018" y="3587951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B3D8AAC1-E610-4B31-B595-63E468179260}"/>
              </a:ext>
            </a:extLst>
          </p:cNvPr>
          <p:cNvSpPr/>
          <p:nvPr/>
        </p:nvSpPr>
        <p:spPr>
          <a:xfrm>
            <a:off x="2491980" y="3735626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65F046E-BBAE-460B-A5BC-179D8162C8B5}"/>
              </a:ext>
            </a:extLst>
          </p:cNvPr>
          <p:cNvSpPr/>
          <p:nvPr/>
        </p:nvSpPr>
        <p:spPr>
          <a:xfrm>
            <a:off x="1761491" y="4120533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ángulo 11">
            <a:extLst>
              <a:ext uri="{FF2B5EF4-FFF2-40B4-BE49-F238E27FC236}">
                <a16:creationId xmlns="" xmlns:a16="http://schemas.microsoft.com/office/drawing/2014/main" id="{C403BFD6-4B9B-4E20-9391-D78B443291F7}"/>
              </a:ext>
            </a:extLst>
          </p:cNvPr>
          <p:cNvSpPr/>
          <p:nvPr/>
        </p:nvSpPr>
        <p:spPr>
          <a:xfrm>
            <a:off x="7055864" y="3429000"/>
            <a:ext cx="24382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Lo explorado, la frontera y lo inexplorado.</a:t>
            </a:r>
            <a:endParaRPr lang="es-CO" i="1" dirty="0"/>
          </a:p>
        </p:txBody>
      </p:sp>
    </p:spTree>
    <p:extLst>
      <p:ext uri="{BB962C8B-B14F-4D97-AF65-F5344CB8AC3E}">
        <p14:creationId xmlns:p14="http://schemas.microsoft.com/office/powerpoint/2010/main" val="91007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621730" y="1624853"/>
            <a:ext cx="64341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Problema de determinación de la mejor ruta (viajero)</a:t>
            </a:r>
          </a:p>
        </p:txBody>
      </p:sp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F0BB9506-9A03-4CC9-BD00-2FE493613C31}"/>
              </a:ext>
            </a:extLst>
          </p:cNvPr>
          <p:cNvSpPr/>
          <p:nvPr/>
        </p:nvSpPr>
        <p:spPr>
          <a:xfrm>
            <a:off x="2845838" y="6031281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11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F7505764-4DDA-4C2D-A593-E98A5CBBD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430" y="2506714"/>
            <a:ext cx="5001642" cy="3266378"/>
          </a:xfrm>
        </p:spPr>
      </p:pic>
      <p:sp>
        <p:nvSpPr>
          <p:cNvPr id="12" name="Rectángulo 11">
            <a:extLst>
              <a:ext uri="{FF2B5EF4-FFF2-40B4-BE49-F238E27FC236}">
                <a16:creationId xmlns="" xmlns:a16="http://schemas.microsoft.com/office/drawing/2014/main" id="{53379DC7-2FBD-40A6-BEB7-94AB1D4C719C}"/>
              </a:ext>
            </a:extLst>
          </p:cNvPr>
          <p:cNvSpPr/>
          <p:nvPr/>
        </p:nvSpPr>
        <p:spPr>
          <a:xfrm>
            <a:off x="1343607" y="325606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13" name="Rectángulo 11">
            <a:extLst>
              <a:ext uri="{FF2B5EF4-FFF2-40B4-BE49-F238E27FC236}">
                <a16:creationId xmlns="" xmlns:a16="http://schemas.microsoft.com/office/drawing/2014/main" id="{20DB473C-6098-4BC8-83FF-CCE141FCA785}"/>
              </a:ext>
            </a:extLst>
          </p:cNvPr>
          <p:cNvSpPr/>
          <p:nvPr/>
        </p:nvSpPr>
        <p:spPr>
          <a:xfrm>
            <a:off x="1551991" y="272088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71</a:t>
            </a:r>
          </a:p>
        </p:txBody>
      </p:sp>
      <p:sp>
        <p:nvSpPr>
          <p:cNvPr id="14" name="Rectángulo 11">
            <a:extLst>
              <a:ext uri="{FF2B5EF4-FFF2-40B4-BE49-F238E27FC236}">
                <a16:creationId xmlns="" xmlns:a16="http://schemas.microsoft.com/office/drawing/2014/main" id="{45C7960E-9D3A-4830-BCF1-5D0FC1E9B09C}"/>
              </a:ext>
            </a:extLst>
          </p:cNvPr>
          <p:cNvSpPr/>
          <p:nvPr/>
        </p:nvSpPr>
        <p:spPr>
          <a:xfrm>
            <a:off x="1789667" y="370239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140</a:t>
            </a:r>
          </a:p>
        </p:txBody>
      </p:sp>
      <p:sp>
        <p:nvSpPr>
          <p:cNvPr id="15" name="Rectángulo 11">
            <a:extLst>
              <a:ext uri="{FF2B5EF4-FFF2-40B4-BE49-F238E27FC236}">
                <a16:creationId xmlns="" xmlns:a16="http://schemas.microsoft.com/office/drawing/2014/main" id="{0FCD0380-DF13-4EF7-A942-345B92D8D825}"/>
              </a:ext>
            </a:extLst>
          </p:cNvPr>
          <p:cNvSpPr/>
          <p:nvPr/>
        </p:nvSpPr>
        <p:spPr>
          <a:xfrm>
            <a:off x="2164459" y="317839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151</a:t>
            </a:r>
          </a:p>
        </p:txBody>
      </p:sp>
      <p:sp>
        <p:nvSpPr>
          <p:cNvPr id="16" name="Rectángulo 11">
            <a:extLst>
              <a:ext uri="{FF2B5EF4-FFF2-40B4-BE49-F238E27FC236}">
                <a16:creationId xmlns="" xmlns:a16="http://schemas.microsoft.com/office/drawing/2014/main" id="{0B98A6E6-52FB-460C-A312-DECEE7DDAF55}"/>
              </a:ext>
            </a:extLst>
          </p:cNvPr>
          <p:cNvSpPr/>
          <p:nvPr/>
        </p:nvSpPr>
        <p:spPr>
          <a:xfrm>
            <a:off x="1251761" y="378006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118</a:t>
            </a:r>
          </a:p>
        </p:txBody>
      </p:sp>
      <p:sp>
        <p:nvSpPr>
          <p:cNvPr id="17" name="Rectángulo 11">
            <a:extLst>
              <a:ext uri="{FF2B5EF4-FFF2-40B4-BE49-F238E27FC236}">
                <a16:creationId xmlns="" xmlns:a16="http://schemas.microsoft.com/office/drawing/2014/main" id="{21BD5B28-97AF-49A4-9693-D6FCC3AAF38D}"/>
              </a:ext>
            </a:extLst>
          </p:cNvPr>
          <p:cNvSpPr/>
          <p:nvPr/>
        </p:nvSpPr>
        <p:spPr>
          <a:xfrm>
            <a:off x="2164458" y="550439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120</a:t>
            </a:r>
          </a:p>
        </p:txBody>
      </p:sp>
      <p:sp>
        <p:nvSpPr>
          <p:cNvPr id="18" name="Rectángulo 11">
            <a:extLst>
              <a:ext uri="{FF2B5EF4-FFF2-40B4-BE49-F238E27FC236}">
                <a16:creationId xmlns="" xmlns:a16="http://schemas.microsoft.com/office/drawing/2014/main" id="{2C13B22C-797E-4BB9-B910-AD6CB920D3F2}"/>
              </a:ext>
            </a:extLst>
          </p:cNvPr>
          <p:cNvSpPr/>
          <p:nvPr/>
        </p:nvSpPr>
        <p:spPr>
          <a:xfrm>
            <a:off x="1461369" y="433724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111</a:t>
            </a:r>
          </a:p>
        </p:txBody>
      </p:sp>
      <p:sp>
        <p:nvSpPr>
          <p:cNvPr id="19" name="Rectángulo 11">
            <a:extLst>
              <a:ext uri="{FF2B5EF4-FFF2-40B4-BE49-F238E27FC236}">
                <a16:creationId xmlns="" xmlns:a16="http://schemas.microsoft.com/office/drawing/2014/main" id="{FA1F436B-74A0-43A2-8722-C8F41B2EE197}"/>
              </a:ext>
            </a:extLst>
          </p:cNvPr>
          <p:cNvSpPr/>
          <p:nvPr/>
        </p:nvSpPr>
        <p:spPr>
          <a:xfrm>
            <a:off x="1694464" y="465572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70</a:t>
            </a:r>
          </a:p>
        </p:txBody>
      </p:sp>
      <p:sp>
        <p:nvSpPr>
          <p:cNvPr id="20" name="Rectángulo 11">
            <a:extLst>
              <a:ext uri="{FF2B5EF4-FFF2-40B4-BE49-F238E27FC236}">
                <a16:creationId xmlns="" xmlns:a16="http://schemas.microsoft.com/office/drawing/2014/main" id="{E4877A13-201E-4C41-AEA9-23ABD72A303A}"/>
              </a:ext>
            </a:extLst>
          </p:cNvPr>
          <p:cNvSpPr/>
          <p:nvPr/>
        </p:nvSpPr>
        <p:spPr>
          <a:xfrm>
            <a:off x="1783679" y="504122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21" name="Rectángulo 11">
            <a:extLst>
              <a:ext uri="{FF2B5EF4-FFF2-40B4-BE49-F238E27FC236}">
                <a16:creationId xmlns="" xmlns:a16="http://schemas.microsoft.com/office/drawing/2014/main" id="{69CD1FCD-9D90-4369-9E1A-1547DA68ABCA}"/>
              </a:ext>
            </a:extLst>
          </p:cNvPr>
          <p:cNvSpPr/>
          <p:nvPr/>
        </p:nvSpPr>
        <p:spPr>
          <a:xfrm>
            <a:off x="4245399" y="4491080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85</a:t>
            </a:r>
          </a:p>
        </p:txBody>
      </p:sp>
      <p:sp>
        <p:nvSpPr>
          <p:cNvPr id="22" name="Rectángulo 11">
            <a:extLst>
              <a:ext uri="{FF2B5EF4-FFF2-40B4-BE49-F238E27FC236}">
                <a16:creationId xmlns="" xmlns:a16="http://schemas.microsoft.com/office/drawing/2014/main" id="{3E321CBD-CE24-4AEE-A8D8-3260C9529A64}"/>
              </a:ext>
            </a:extLst>
          </p:cNvPr>
          <p:cNvSpPr/>
          <p:nvPr/>
        </p:nvSpPr>
        <p:spPr>
          <a:xfrm>
            <a:off x="3489365" y="480685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101</a:t>
            </a:r>
          </a:p>
        </p:txBody>
      </p:sp>
      <p:sp>
        <p:nvSpPr>
          <p:cNvPr id="23" name="Rectángulo 11">
            <a:extLst>
              <a:ext uri="{FF2B5EF4-FFF2-40B4-BE49-F238E27FC236}">
                <a16:creationId xmlns="" xmlns:a16="http://schemas.microsoft.com/office/drawing/2014/main" id="{C588E686-8499-4910-906C-F35F97E86647}"/>
              </a:ext>
            </a:extLst>
          </p:cNvPr>
          <p:cNvSpPr/>
          <p:nvPr/>
        </p:nvSpPr>
        <p:spPr>
          <a:xfrm>
            <a:off x="2723668" y="352025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99</a:t>
            </a:r>
          </a:p>
        </p:txBody>
      </p:sp>
      <p:sp>
        <p:nvSpPr>
          <p:cNvPr id="24" name="Rectángulo 11">
            <a:extLst>
              <a:ext uri="{FF2B5EF4-FFF2-40B4-BE49-F238E27FC236}">
                <a16:creationId xmlns="" xmlns:a16="http://schemas.microsoft.com/office/drawing/2014/main" id="{DD63F08B-AE84-431F-B20E-D92EC00BEEB8}"/>
              </a:ext>
            </a:extLst>
          </p:cNvPr>
          <p:cNvSpPr/>
          <p:nvPr/>
        </p:nvSpPr>
        <p:spPr>
          <a:xfrm>
            <a:off x="3658501" y="5139790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90</a:t>
            </a:r>
          </a:p>
        </p:txBody>
      </p:sp>
      <p:sp>
        <p:nvSpPr>
          <p:cNvPr id="25" name="Rectángulo 11">
            <a:extLst>
              <a:ext uri="{FF2B5EF4-FFF2-40B4-BE49-F238E27FC236}">
                <a16:creationId xmlns="" xmlns:a16="http://schemas.microsoft.com/office/drawing/2014/main" id="{05A70D98-7DD8-4AB9-9D6E-279934147AE7}"/>
              </a:ext>
            </a:extLst>
          </p:cNvPr>
          <p:cNvSpPr/>
          <p:nvPr/>
        </p:nvSpPr>
        <p:spPr>
          <a:xfrm>
            <a:off x="3838797" y="399169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211</a:t>
            </a:r>
          </a:p>
        </p:txBody>
      </p:sp>
      <p:sp>
        <p:nvSpPr>
          <p:cNvPr id="26" name="Rectángulo 11">
            <a:extLst>
              <a:ext uri="{FF2B5EF4-FFF2-40B4-BE49-F238E27FC236}">
                <a16:creationId xmlns="" xmlns:a16="http://schemas.microsoft.com/office/drawing/2014/main" id="{2407DAEA-4C02-43E3-8279-8D001B2769B9}"/>
              </a:ext>
            </a:extLst>
          </p:cNvPr>
          <p:cNvSpPr/>
          <p:nvPr/>
        </p:nvSpPr>
        <p:spPr>
          <a:xfrm>
            <a:off x="3013077" y="501712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138</a:t>
            </a:r>
          </a:p>
        </p:txBody>
      </p:sp>
      <p:sp>
        <p:nvSpPr>
          <p:cNvPr id="27" name="Rectángulo 11">
            <a:extLst>
              <a:ext uri="{FF2B5EF4-FFF2-40B4-BE49-F238E27FC236}">
                <a16:creationId xmlns="" xmlns:a16="http://schemas.microsoft.com/office/drawing/2014/main" id="{1F1D0ABD-8FC0-4554-8D55-415C6859B65C}"/>
              </a:ext>
            </a:extLst>
          </p:cNvPr>
          <p:cNvSpPr/>
          <p:nvPr/>
        </p:nvSpPr>
        <p:spPr>
          <a:xfrm>
            <a:off x="2557922" y="490272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146</a:t>
            </a:r>
          </a:p>
        </p:txBody>
      </p:sp>
      <p:sp>
        <p:nvSpPr>
          <p:cNvPr id="28" name="Rectángulo 11">
            <a:extLst>
              <a:ext uri="{FF2B5EF4-FFF2-40B4-BE49-F238E27FC236}">
                <a16:creationId xmlns="" xmlns:a16="http://schemas.microsoft.com/office/drawing/2014/main" id="{83555CAA-0D6A-4DBD-8329-C4CA2AD9489B}"/>
              </a:ext>
            </a:extLst>
          </p:cNvPr>
          <p:cNvSpPr/>
          <p:nvPr/>
        </p:nvSpPr>
        <p:spPr>
          <a:xfrm>
            <a:off x="2723668" y="445230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97</a:t>
            </a:r>
          </a:p>
        </p:txBody>
      </p:sp>
      <p:sp>
        <p:nvSpPr>
          <p:cNvPr id="29" name="Rectángulo 11">
            <a:extLst>
              <a:ext uri="{FF2B5EF4-FFF2-40B4-BE49-F238E27FC236}">
                <a16:creationId xmlns="" xmlns:a16="http://schemas.microsoft.com/office/drawing/2014/main" id="{6C326678-04A4-4D49-81BC-4EA2A59D1900}"/>
              </a:ext>
            </a:extLst>
          </p:cNvPr>
          <p:cNvSpPr/>
          <p:nvPr/>
        </p:nvSpPr>
        <p:spPr>
          <a:xfrm>
            <a:off x="2245047" y="383344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80</a:t>
            </a:r>
          </a:p>
        </p:txBody>
      </p:sp>
      <p:sp>
        <p:nvSpPr>
          <p:cNvPr id="30" name="Rectángulo 11">
            <a:extLst>
              <a:ext uri="{FF2B5EF4-FFF2-40B4-BE49-F238E27FC236}">
                <a16:creationId xmlns="" xmlns:a16="http://schemas.microsoft.com/office/drawing/2014/main" id="{6A4D19BB-D406-46F4-B0F3-D9747F22E71E}"/>
              </a:ext>
            </a:extLst>
          </p:cNvPr>
          <p:cNvSpPr/>
          <p:nvPr/>
        </p:nvSpPr>
        <p:spPr>
          <a:xfrm>
            <a:off x="5626005" y="397939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142</a:t>
            </a:r>
          </a:p>
        </p:txBody>
      </p:sp>
      <p:sp>
        <p:nvSpPr>
          <p:cNvPr id="31" name="Rectángulo 11">
            <a:extLst>
              <a:ext uri="{FF2B5EF4-FFF2-40B4-BE49-F238E27FC236}">
                <a16:creationId xmlns="" xmlns:a16="http://schemas.microsoft.com/office/drawing/2014/main" id="{311E9068-2448-4627-B07C-0582624B2AE0}"/>
              </a:ext>
            </a:extLst>
          </p:cNvPr>
          <p:cNvSpPr/>
          <p:nvPr/>
        </p:nvSpPr>
        <p:spPr>
          <a:xfrm>
            <a:off x="5559144" y="473695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86</a:t>
            </a:r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FA20F67F-A874-43E8-BBB3-6A710B2D9789}"/>
              </a:ext>
            </a:extLst>
          </p:cNvPr>
          <p:cNvSpPr/>
          <p:nvPr/>
        </p:nvSpPr>
        <p:spPr>
          <a:xfrm>
            <a:off x="5442828" y="308175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92</a:t>
            </a:r>
          </a:p>
        </p:txBody>
      </p:sp>
      <p:sp>
        <p:nvSpPr>
          <p:cNvPr id="33" name="Rectángulo 11">
            <a:extLst>
              <a:ext uri="{FF2B5EF4-FFF2-40B4-BE49-F238E27FC236}">
                <a16:creationId xmlns="" xmlns:a16="http://schemas.microsoft.com/office/drawing/2014/main" id="{47AB5F81-7482-4DC5-ADDA-EBE7CA53B14A}"/>
              </a:ext>
            </a:extLst>
          </p:cNvPr>
          <p:cNvSpPr/>
          <p:nvPr/>
        </p:nvSpPr>
        <p:spPr>
          <a:xfrm>
            <a:off x="4598490" y="287906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87</a:t>
            </a:r>
          </a:p>
        </p:txBody>
      </p:sp>
      <p:sp>
        <p:nvSpPr>
          <p:cNvPr id="34" name="Rectángulo 11">
            <a:extLst>
              <a:ext uri="{FF2B5EF4-FFF2-40B4-BE49-F238E27FC236}">
                <a16:creationId xmlns="" xmlns:a16="http://schemas.microsoft.com/office/drawing/2014/main" id="{DDF9F1FB-BF64-4DFF-A5E6-8010D4A7ED3C}"/>
              </a:ext>
            </a:extLst>
          </p:cNvPr>
          <p:cNvSpPr/>
          <p:nvPr/>
        </p:nvSpPr>
        <p:spPr>
          <a:xfrm>
            <a:off x="4995748" y="450517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98</a:t>
            </a:r>
          </a:p>
        </p:txBody>
      </p:sp>
      <p:sp>
        <p:nvSpPr>
          <p:cNvPr id="36" name="Oval 35">
            <a:extLst>
              <a:ext uri="{FF2B5EF4-FFF2-40B4-BE49-F238E27FC236}">
                <a16:creationId xmlns="" xmlns:a16="http://schemas.microsoft.com/office/drawing/2014/main" id="{29E08DEA-6DDE-428F-B403-61B972B120C6}"/>
              </a:ext>
            </a:extLst>
          </p:cNvPr>
          <p:cNvSpPr/>
          <p:nvPr/>
        </p:nvSpPr>
        <p:spPr>
          <a:xfrm>
            <a:off x="1795817" y="3070488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="" xmlns:a16="http://schemas.microsoft.com/office/drawing/2014/main" id="{80D6575D-24CF-439C-BBC1-322BF0637565}"/>
              </a:ext>
            </a:extLst>
          </p:cNvPr>
          <p:cNvSpPr/>
          <p:nvPr/>
        </p:nvSpPr>
        <p:spPr>
          <a:xfrm>
            <a:off x="1899018" y="3587951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="" xmlns:a16="http://schemas.microsoft.com/office/drawing/2014/main" id="{DB9F38A1-26EF-4C3B-90F9-35F94974EAE6}"/>
              </a:ext>
            </a:extLst>
          </p:cNvPr>
          <p:cNvSpPr/>
          <p:nvPr/>
        </p:nvSpPr>
        <p:spPr>
          <a:xfrm>
            <a:off x="2242289" y="2589828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B3D8AAC1-E610-4B31-B595-63E468179260}"/>
              </a:ext>
            </a:extLst>
          </p:cNvPr>
          <p:cNvSpPr/>
          <p:nvPr/>
        </p:nvSpPr>
        <p:spPr>
          <a:xfrm>
            <a:off x="2491980" y="3735626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65F046E-BBAE-460B-A5BC-179D8162C8B5}"/>
              </a:ext>
            </a:extLst>
          </p:cNvPr>
          <p:cNvSpPr/>
          <p:nvPr/>
        </p:nvSpPr>
        <p:spPr>
          <a:xfrm>
            <a:off x="1761491" y="4120533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0E5ABC53-BBC9-4E5C-A4A9-227C8C66E59F}"/>
              </a:ext>
            </a:extLst>
          </p:cNvPr>
          <p:cNvSpPr/>
          <p:nvPr/>
        </p:nvSpPr>
        <p:spPr>
          <a:xfrm>
            <a:off x="2177989" y="4459955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="" xmlns:a16="http://schemas.microsoft.com/office/drawing/2014/main" id="{CF3F35A4-3898-489B-BBE5-31A87CD75E02}"/>
              </a:ext>
            </a:extLst>
          </p:cNvPr>
          <p:cNvSpPr/>
          <p:nvPr/>
        </p:nvSpPr>
        <p:spPr>
          <a:xfrm>
            <a:off x="2534057" y="4098921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ángulo 11">
            <a:extLst>
              <a:ext uri="{FF2B5EF4-FFF2-40B4-BE49-F238E27FC236}">
                <a16:creationId xmlns="" xmlns:a16="http://schemas.microsoft.com/office/drawing/2014/main" id="{47E29B35-A746-41C6-83D4-757FF34FC023}"/>
              </a:ext>
            </a:extLst>
          </p:cNvPr>
          <p:cNvSpPr/>
          <p:nvPr/>
        </p:nvSpPr>
        <p:spPr>
          <a:xfrm>
            <a:off x="7055864" y="3429000"/>
            <a:ext cx="24382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Lo explorado, la frontera y lo inexplorado.</a:t>
            </a:r>
            <a:endParaRPr lang="es-CO" i="1" dirty="0"/>
          </a:p>
        </p:txBody>
      </p:sp>
    </p:spTree>
    <p:extLst>
      <p:ext uri="{BB962C8B-B14F-4D97-AF65-F5344CB8AC3E}">
        <p14:creationId xmlns:p14="http://schemas.microsoft.com/office/powerpoint/2010/main" val="161869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621730" y="1624853"/>
            <a:ext cx="64341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Problema de determinación de la mejor ruta (viajero)</a:t>
            </a:r>
          </a:p>
        </p:txBody>
      </p:sp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F0BB9506-9A03-4CC9-BD00-2FE493613C31}"/>
              </a:ext>
            </a:extLst>
          </p:cNvPr>
          <p:cNvSpPr/>
          <p:nvPr/>
        </p:nvSpPr>
        <p:spPr>
          <a:xfrm>
            <a:off x="2845838" y="6031281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11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F7505764-4DDA-4C2D-A593-E98A5CBBD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430" y="2506714"/>
            <a:ext cx="5001642" cy="3266378"/>
          </a:xfrm>
        </p:spPr>
      </p:pic>
      <p:sp>
        <p:nvSpPr>
          <p:cNvPr id="12" name="Rectángulo 11">
            <a:extLst>
              <a:ext uri="{FF2B5EF4-FFF2-40B4-BE49-F238E27FC236}">
                <a16:creationId xmlns="" xmlns:a16="http://schemas.microsoft.com/office/drawing/2014/main" id="{53379DC7-2FBD-40A6-BEB7-94AB1D4C719C}"/>
              </a:ext>
            </a:extLst>
          </p:cNvPr>
          <p:cNvSpPr/>
          <p:nvPr/>
        </p:nvSpPr>
        <p:spPr>
          <a:xfrm>
            <a:off x="1343607" y="325606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13" name="Rectángulo 11">
            <a:extLst>
              <a:ext uri="{FF2B5EF4-FFF2-40B4-BE49-F238E27FC236}">
                <a16:creationId xmlns="" xmlns:a16="http://schemas.microsoft.com/office/drawing/2014/main" id="{20DB473C-6098-4BC8-83FF-CCE141FCA785}"/>
              </a:ext>
            </a:extLst>
          </p:cNvPr>
          <p:cNvSpPr/>
          <p:nvPr/>
        </p:nvSpPr>
        <p:spPr>
          <a:xfrm>
            <a:off x="1551991" y="272088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71</a:t>
            </a:r>
          </a:p>
        </p:txBody>
      </p:sp>
      <p:sp>
        <p:nvSpPr>
          <p:cNvPr id="14" name="Rectángulo 11">
            <a:extLst>
              <a:ext uri="{FF2B5EF4-FFF2-40B4-BE49-F238E27FC236}">
                <a16:creationId xmlns="" xmlns:a16="http://schemas.microsoft.com/office/drawing/2014/main" id="{45C7960E-9D3A-4830-BCF1-5D0FC1E9B09C}"/>
              </a:ext>
            </a:extLst>
          </p:cNvPr>
          <p:cNvSpPr/>
          <p:nvPr/>
        </p:nvSpPr>
        <p:spPr>
          <a:xfrm>
            <a:off x="1789667" y="370239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140</a:t>
            </a:r>
          </a:p>
        </p:txBody>
      </p:sp>
      <p:sp>
        <p:nvSpPr>
          <p:cNvPr id="15" name="Rectángulo 11">
            <a:extLst>
              <a:ext uri="{FF2B5EF4-FFF2-40B4-BE49-F238E27FC236}">
                <a16:creationId xmlns="" xmlns:a16="http://schemas.microsoft.com/office/drawing/2014/main" id="{0FCD0380-DF13-4EF7-A942-345B92D8D825}"/>
              </a:ext>
            </a:extLst>
          </p:cNvPr>
          <p:cNvSpPr/>
          <p:nvPr/>
        </p:nvSpPr>
        <p:spPr>
          <a:xfrm>
            <a:off x="2164459" y="317839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151</a:t>
            </a:r>
          </a:p>
        </p:txBody>
      </p:sp>
      <p:sp>
        <p:nvSpPr>
          <p:cNvPr id="16" name="Rectángulo 11">
            <a:extLst>
              <a:ext uri="{FF2B5EF4-FFF2-40B4-BE49-F238E27FC236}">
                <a16:creationId xmlns="" xmlns:a16="http://schemas.microsoft.com/office/drawing/2014/main" id="{0B98A6E6-52FB-460C-A312-DECEE7DDAF55}"/>
              </a:ext>
            </a:extLst>
          </p:cNvPr>
          <p:cNvSpPr/>
          <p:nvPr/>
        </p:nvSpPr>
        <p:spPr>
          <a:xfrm>
            <a:off x="1251761" y="378006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118</a:t>
            </a:r>
          </a:p>
        </p:txBody>
      </p:sp>
      <p:sp>
        <p:nvSpPr>
          <p:cNvPr id="17" name="Rectángulo 11">
            <a:extLst>
              <a:ext uri="{FF2B5EF4-FFF2-40B4-BE49-F238E27FC236}">
                <a16:creationId xmlns="" xmlns:a16="http://schemas.microsoft.com/office/drawing/2014/main" id="{21BD5B28-97AF-49A4-9693-D6FCC3AAF38D}"/>
              </a:ext>
            </a:extLst>
          </p:cNvPr>
          <p:cNvSpPr/>
          <p:nvPr/>
        </p:nvSpPr>
        <p:spPr>
          <a:xfrm>
            <a:off x="2164458" y="550439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120</a:t>
            </a:r>
          </a:p>
        </p:txBody>
      </p:sp>
      <p:sp>
        <p:nvSpPr>
          <p:cNvPr id="18" name="Rectángulo 11">
            <a:extLst>
              <a:ext uri="{FF2B5EF4-FFF2-40B4-BE49-F238E27FC236}">
                <a16:creationId xmlns="" xmlns:a16="http://schemas.microsoft.com/office/drawing/2014/main" id="{2C13B22C-797E-4BB9-B910-AD6CB920D3F2}"/>
              </a:ext>
            </a:extLst>
          </p:cNvPr>
          <p:cNvSpPr/>
          <p:nvPr/>
        </p:nvSpPr>
        <p:spPr>
          <a:xfrm>
            <a:off x="1461369" y="433724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111</a:t>
            </a:r>
          </a:p>
        </p:txBody>
      </p:sp>
      <p:sp>
        <p:nvSpPr>
          <p:cNvPr id="19" name="Rectángulo 11">
            <a:extLst>
              <a:ext uri="{FF2B5EF4-FFF2-40B4-BE49-F238E27FC236}">
                <a16:creationId xmlns="" xmlns:a16="http://schemas.microsoft.com/office/drawing/2014/main" id="{FA1F436B-74A0-43A2-8722-C8F41B2EE197}"/>
              </a:ext>
            </a:extLst>
          </p:cNvPr>
          <p:cNvSpPr/>
          <p:nvPr/>
        </p:nvSpPr>
        <p:spPr>
          <a:xfrm>
            <a:off x="1694464" y="465572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70</a:t>
            </a:r>
          </a:p>
        </p:txBody>
      </p:sp>
      <p:sp>
        <p:nvSpPr>
          <p:cNvPr id="20" name="Rectángulo 11">
            <a:extLst>
              <a:ext uri="{FF2B5EF4-FFF2-40B4-BE49-F238E27FC236}">
                <a16:creationId xmlns="" xmlns:a16="http://schemas.microsoft.com/office/drawing/2014/main" id="{E4877A13-201E-4C41-AEA9-23ABD72A303A}"/>
              </a:ext>
            </a:extLst>
          </p:cNvPr>
          <p:cNvSpPr/>
          <p:nvPr/>
        </p:nvSpPr>
        <p:spPr>
          <a:xfrm>
            <a:off x="1783679" y="504122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21" name="Rectángulo 11">
            <a:extLst>
              <a:ext uri="{FF2B5EF4-FFF2-40B4-BE49-F238E27FC236}">
                <a16:creationId xmlns="" xmlns:a16="http://schemas.microsoft.com/office/drawing/2014/main" id="{69CD1FCD-9D90-4369-9E1A-1547DA68ABCA}"/>
              </a:ext>
            </a:extLst>
          </p:cNvPr>
          <p:cNvSpPr/>
          <p:nvPr/>
        </p:nvSpPr>
        <p:spPr>
          <a:xfrm>
            <a:off x="4245399" y="4491080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85</a:t>
            </a:r>
          </a:p>
        </p:txBody>
      </p:sp>
      <p:sp>
        <p:nvSpPr>
          <p:cNvPr id="22" name="Rectángulo 11">
            <a:extLst>
              <a:ext uri="{FF2B5EF4-FFF2-40B4-BE49-F238E27FC236}">
                <a16:creationId xmlns="" xmlns:a16="http://schemas.microsoft.com/office/drawing/2014/main" id="{3E321CBD-CE24-4AEE-A8D8-3260C9529A64}"/>
              </a:ext>
            </a:extLst>
          </p:cNvPr>
          <p:cNvSpPr/>
          <p:nvPr/>
        </p:nvSpPr>
        <p:spPr>
          <a:xfrm>
            <a:off x="3489365" y="480685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101</a:t>
            </a:r>
          </a:p>
        </p:txBody>
      </p:sp>
      <p:sp>
        <p:nvSpPr>
          <p:cNvPr id="23" name="Rectángulo 11">
            <a:extLst>
              <a:ext uri="{FF2B5EF4-FFF2-40B4-BE49-F238E27FC236}">
                <a16:creationId xmlns="" xmlns:a16="http://schemas.microsoft.com/office/drawing/2014/main" id="{C588E686-8499-4910-906C-F35F97E86647}"/>
              </a:ext>
            </a:extLst>
          </p:cNvPr>
          <p:cNvSpPr/>
          <p:nvPr/>
        </p:nvSpPr>
        <p:spPr>
          <a:xfrm>
            <a:off x="2723668" y="352025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99</a:t>
            </a:r>
          </a:p>
        </p:txBody>
      </p:sp>
      <p:sp>
        <p:nvSpPr>
          <p:cNvPr id="24" name="Rectángulo 11">
            <a:extLst>
              <a:ext uri="{FF2B5EF4-FFF2-40B4-BE49-F238E27FC236}">
                <a16:creationId xmlns="" xmlns:a16="http://schemas.microsoft.com/office/drawing/2014/main" id="{DD63F08B-AE84-431F-B20E-D92EC00BEEB8}"/>
              </a:ext>
            </a:extLst>
          </p:cNvPr>
          <p:cNvSpPr/>
          <p:nvPr/>
        </p:nvSpPr>
        <p:spPr>
          <a:xfrm>
            <a:off x="3658501" y="5139790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90</a:t>
            </a:r>
          </a:p>
        </p:txBody>
      </p:sp>
      <p:sp>
        <p:nvSpPr>
          <p:cNvPr id="25" name="Rectángulo 11">
            <a:extLst>
              <a:ext uri="{FF2B5EF4-FFF2-40B4-BE49-F238E27FC236}">
                <a16:creationId xmlns="" xmlns:a16="http://schemas.microsoft.com/office/drawing/2014/main" id="{05A70D98-7DD8-4AB9-9D6E-279934147AE7}"/>
              </a:ext>
            </a:extLst>
          </p:cNvPr>
          <p:cNvSpPr/>
          <p:nvPr/>
        </p:nvSpPr>
        <p:spPr>
          <a:xfrm>
            <a:off x="3838797" y="399169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211</a:t>
            </a:r>
          </a:p>
        </p:txBody>
      </p:sp>
      <p:sp>
        <p:nvSpPr>
          <p:cNvPr id="26" name="Rectángulo 11">
            <a:extLst>
              <a:ext uri="{FF2B5EF4-FFF2-40B4-BE49-F238E27FC236}">
                <a16:creationId xmlns="" xmlns:a16="http://schemas.microsoft.com/office/drawing/2014/main" id="{2407DAEA-4C02-43E3-8279-8D001B2769B9}"/>
              </a:ext>
            </a:extLst>
          </p:cNvPr>
          <p:cNvSpPr/>
          <p:nvPr/>
        </p:nvSpPr>
        <p:spPr>
          <a:xfrm>
            <a:off x="3013077" y="501712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138</a:t>
            </a:r>
          </a:p>
        </p:txBody>
      </p:sp>
      <p:sp>
        <p:nvSpPr>
          <p:cNvPr id="27" name="Rectángulo 11">
            <a:extLst>
              <a:ext uri="{FF2B5EF4-FFF2-40B4-BE49-F238E27FC236}">
                <a16:creationId xmlns="" xmlns:a16="http://schemas.microsoft.com/office/drawing/2014/main" id="{1F1D0ABD-8FC0-4554-8D55-415C6859B65C}"/>
              </a:ext>
            </a:extLst>
          </p:cNvPr>
          <p:cNvSpPr/>
          <p:nvPr/>
        </p:nvSpPr>
        <p:spPr>
          <a:xfrm>
            <a:off x="2557922" y="490272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146</a:t>
            </a:r>
          </a:p>
        </p:txBody>
      </p:sp>
      <p:sp>
        <p:nvSpPr>
          <p:cNvPr id="28" name="Rectángulo 11">
            <a:extLst>
              <a:ext uri="{FF2B5EF4-FFF2-40B4-BE49-F238E27FC236}">
                <a16:creationId xmlns="" xmlns:a16="http://schemas.microsoft.com/office/drawing/2014/main" id="{83555CAA-0D6A-4DBD-8329-C4CA2AD9489B}"/>
              </a:ext>
            </a:extLst>
          </p:cNvPr>
          <p:cNvSpPr/>
          <p:nvPr/>
        </p:nvSpPr>
        <p:spPr>
          <a:xfrm>
            <a:off x="2723668" y="445230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97</a:t>
            </a:r>
          </a:p>
        </p:txBody>
      </p:sp>
      <p:sp>
        <p:nvSpPr>
          <p:cNvPr id="29" name="Rectángulo 11">
            <a:extLst>
              <a:ext uri="{FF2B5EF4-FFF2-40B4-BE49-F238E27FC236}">
                <a16:creationId xmlns="" xmlns:a16="http://schemas.microsoft.com/office/drawing/2014/main" id="{6C326678-04A4-4D49-81BC-4EA2A59D1900}"/>
              </a:ext>
            </a:extLst>
          </p:cNvPr>
          <p:cNvSpPr/>
          <p:nvPr/>
        </p:nvSpPr>
        <p:spPr>
          <a:xfrm>
            <a:off x="2245047" y="383344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80</a:t>
            </a:r>
          </a:p>
        </p:txBody>
      </p:sp>
      <p:sp>
        <p:nvSpPr>
          <p:cNvPr id="30" name="Rectángulo 11">
            <a:extLst>
              <a:ext uri="{FF2B5EF4-FFF2-40B4-BE49-F238E27FC236}">
                <a16:creationId xmlns="" xmlns:a16="http://schemas.microsoft.com/office/drawing/2014/main" id="{6A4D19BB-D406-46F4-B0F3-D9747F22E71E}"/>
              </a:ext>
            </a:extLst>
          </p:cNvPr>
          <p:cNvSpPr/>
          <p:nvPr/>
        </p:nvSpPr>
        <p:spPr>
          <a:xfrm>
            <a:off x="5626005" y="397939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142</a:t>
            </a:r>
          </a:p>
        </p:txBody>
      </p:sp>
      <p:sp>
        <p:nvSpPr>
          <p:cNvPr id="31" name="Rectángulo 11">
            <a:extLst>
              <a:ext uri="{FF2B5EF4-FFF2-40B4-BE49-F238E27FC236}">
                <a16:creationId xmlns="" xmlns:a16="http://schemas.microsoft.com/office/drawing/2014/main" id="{311E9068-2448-4627-B07C-0582624B2AE0}"/>
              </a:ext>
            </a:extLst>
          </p:cNvPr>
          <p:cNvSpPr/>
          <p:nvPr/>
        </p:nvSpPr>
        <p:spPr>
          <a:xfrm>
            <a:off x="5559144" y="473695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86</a:t>
            </a:r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FA20F67F-A874-43E8-BBB3-6A710B2D9789}"/>
              </a:ext>
            </a:extLst>
          </p:cNvPr>
          <p:cNvSpPr/>
          <p:nvPr/>
        </p:nvSpPr>
        <p:spPr>
          <a:xfrm>
            <a:off x="5442828" y="308175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92</a:t>
            </a:r>
          </a:p>
        </p:txBody>
      </p:sp>
      <p:sp>
        <p:nvSpPr>
          <p:cNvPr id="33" name="Rectángulo 11">
            <a:extLst>
              <a:ext uri="{FF2B5EF4-FFF2-40B4-BE49-F238E27FC236}">
                <a16:creationId xmlns="" xmlns:a16="http://schemas.microsoft.com/office/drawing/2014/main" id="{47AB5F81-7482-4DC5-ADDA-EBE7CA53B14A}"/>
              </a:ext>
            </a:extLst>
          </p:cNvPr>
          <p:cNvSpPr/>
          <p:nvPr/>
        </p:nvSpPr>
        <p:spPr>
          <a:xfrm>
            <a:off x="4598490" y="287906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87</a:t>
            </a:r>
          </a:p>
        </p:txBody>
      </p:sp>
      <p:sp>
        <p:nvSpPr>
          <p:cNvPr id="34" name="Rectángulo 11">
            <a:extLst>
              <a:ext uri="{FF2B5EF4-FFF2-40B4-BE49-F238E27FC236}">
                <a16:creationId xmlns="" xmlns:a16="http://schemas.microsoft.com/office/drawing/2014/main" id="{DDF9F1FB-BF64-4DFF-A5E6-8010D4A7ED3C}"/>
              </a:ext>
            </a:extLst>
          </p:cNvPr>
          <p:cNvSpPr/>
          <p:nvPr/>
        </p:nvSpPr>
        <p:spPr>
          <a:xfrm>
            <a:off x="4995748" y="450517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98</a:t>
            </a:r>
          </a:p>
        </p:txBody>
      </p:sp>
      <p:sp>
        <p:nvSpPr>
          <p:cNvPr id="36" name="Oval 35">
            <a:extLst>
              <a:ext uri="{FF2B5EF4-FFF2-40B4-BE49-F238E27FC236}">
                <a16:creationId xmlns="" xmlns:a16="http://schemas.microsoft.com/office/drawing/2014/main" id="{29E08DEA-6DDE-428F-B403-61B972B120C6}"/>
              </a:ext>
            </a:extLst>
          </p:cNvPr>
          <p:cNvSpPr/>
          <p:nvPr/>
        </p:nvSpPr>
        <p:spPr>
          <a:xfrm>
            <a:off x="1795817" y="3070488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="" xmlns:a16="http://schemas.microsoft.com/office/drawing/2014/main" id="{80D6575D-24CF-439C-BBC1-322BF0637565}"/>
              </a:ext>
            </a:extLst>
          </p:cNvPr>
          <p:cNvSpPr/>
          <p:nvPr/>
        </p:nvSpPr>
        <p:spPr>
          <a:xfrm>
            <a:off x="1899018" y="3587951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="" xmlns:a16="http://schemas.microsoft.com/office/drawing/2014/main" id="{DB9F38A1-26EF-4C3B-90F9-35F94974EAE6}"/>
              </a:ext>
            </a:extLst>
          </p:cNvPr>
          <p:cNvSpPr/>
          <p:nvPr/>
        </p:nvSpPr>
        <p:spPr>
          <a:xfrm>
            <a:off x="2242289" y="2589828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B3D8AAC1-E610-4B31-B595-63E468179260}"/>
              </a:ext>
            </a:extLst>
          </p:cNvPr>
          <p:cNvSpPr/>
          <p:nvPr/>
        </p:nvSpPr>
        <p:spPr>
          <a:xfrm>
            <a:off x="2491980" y="3735626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65F046E-BBAE-460B-A5BC-179D8162C8B5}"/>
              </a:ext>
            </a:extLst>
          </p:cNvPr>
          <p:cNvSpPr/>
          <p:nvPr/>
        </p:nvSpPr>
        <p:spPr>
          <a:xfrm>
            <a:off x="1761491" y="4120533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0E5ABC53-BBC9-4E5C-A4A9-227C8C66E59F}"/>
              </a:ext>
            </a:extLst>
          </p:cNvPr>
          <p:cNvSpPr/>
          <p:nvPr/>
        </p:nvSpPr>
        <p:spPr>
          <a:xfrm>
            <a:off x="2177989" y="4459955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="" xmlns:a16="http://schemas.microsoft.com/office/drawing/2014/main" id="{1313B50A-BF7C-4D28-96B3-103F5C095A5D}"/>
              </a:ext>
            </a:extLst>
          </p:cNvPr>
          <p:cNvSpPr/>
          <p:nvPr/>
        </p:nvSpPr>
        <p:spPr>
          <a:xfrm>
            <a:off x="2251741" y="4866003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="" xmlns:a16="http://schemas.microsoft.com/office/drawing/2014/main" id="{CF3F35A4-3898-489B-BBE5-31A87CD75E02}"/>
              </a:ext>
            </a:extLst>
          </p:cNvPr>
          <p:cNvSpPr/>
          <p:nvPr/>
        </p:nvSpPr>
        <p:spPr>
          <a:xfrm>
            <a:off x="2534057" y="4098921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26CADD8C-F274-4C7D-B097-1B0826C0DB53}"/>
              </a:ext>
            </a:extLst>
          </p:cNvPr>
          <p:cNvSpPr/>
          <p:nvPr/>
        </p:nvSpPr>
        <p:spPr>
          <a:xfrm>
            <a:off x="3511892" y="4590804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="" xmlns:a16="http://schemas.microsoft.com/office/drawing/2014/main" id="{273DC761-276B-4ADC-9E0E-9E9ACF445AAF}"/>
              </a:ext>
            </a:extLst>
          </p:cNvPr>
          <p:cNvSpPr/>
          <p:nvPr/>
        </p:nvSpPr>
        <p:spPr>
          <a:xfrm>
            <a:off x="3830219" y="3635388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ángulo 11">
            <a:extLst>
              <a:ext uri="{FF2B5EF4-FFF2-40B4-BE49-F238E27FC236}">
                <a16:creationId xmlns="" xmlns:a16="http://schemas.microsoft.com/office/drawing/2014/main" id="{C3C62F78-7A35-47F6-8A0F-D0DC0160ECB4}"/>
              </a:ext>
            </a:extLst>
          </p:cNvPr>
          <p:cNvSpPr/>
          <p:nvPr/>
        </p:nvSpPr>
        <p:spPr>
          <a:xfrm>
            <a:off x="7055864" y="3429000"/>
            <a:ext cx="24382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Lo explorado, la frontera y lo inexplorado.</a:t>
            </a:r>
            <a:endParaRPr lang="es-CO" i="1" dirty="0"/>
          </a:p>
        </p:txBody>
      </p:sp>
    </p:spTree>
    <p:extLst>
      <p:ext uri="{BB962C8B-B14F-4D97-AF65-F5344CB8AC3E}">
        <p14:creationId xmlns:p14="http://schemas.microsoft.com/office/powerpoint/2010/main" val="3681389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621730" y="1624853"/>
            <a:ext cx="64341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Problema de determinación de la mejor ruta (viajero)</a:t>
            </a:r>
          </a:p>
        </p:txBody>
      </p:sp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F0BB9506-9A03-4CC9-BD00-2FE493613C31}"/>
              </a:ext>
            </a:extLst>
          </p:cNvPr>
          <p:cNvSpPr/>
          <p:nvPr/>
        </p:nvSpPr>
        <p:spPr>
          <a:xfrm>
            <a:off x="2845838" y="6031281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11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F7505764-4DDA-4C2D-A593-E98A5CBBD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430" y="2506714"/>
            <a:ext cx="5001642" cy="3266378"/>
          </a:xfrm>
        </p:spPr>
      </p:pic>
      <p:sp>
        <p:nvSpPr>
          <p:cNvPr id="12" name="Rectángulo 11">
            <a:extLst>
              <a:ext uri="{FF2B5EF4-FFF2-40B4-BE49-F238E27FC236}">
                <a16:creationId xmlns="" xmlns:a16="http://schemas.microsoft.com/office/drawing/2014/main" id="{53379DC7-2FBD-40A6-BEB7-94AB1D4C719C}"/>
              </a:ext>
            </a:extLst>
          </p:cNvPr>
          <p:cNvSpPr/>
          <p:nvPr/>
        </p:nvSpPr>
        <p:spPr>
          <a:xfrm>
            <a:off x="1343607" y="325606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13" name="Rectángulo 11">
            <a:extLst>
              <a:ext uri="{FF2B5EF4-FFF2-40B4-BE49-F238E27FC236}">
                <a16:creationId xmlns="" xmlns:a16="http://schemas.microsoft.com/office/drawing/2014/main" id="{20DB473C-6098-4BC8-83FF-CCE141FCA785}"/>
              </a:ext>
            </a:extLst>
          </p:cNvPr>
          <p:cNvSpPr/>
          <p:nvPr/>
        </p:nvSpPr>
        <p:spPr>
          <a:xfrm>
            <a:off x="1551991" y="272088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71</a:t>
            </a:r>
          </a:p>
        </p:txBody>
      </p:sp>
      <p:sp>
        <p:nvSpPr>
          <p:cNvPr id="14" name="Rectángulo 11">
            <a:extLst>
              <a:ext uri="{FF2B5EF4-FFF2-40B4-BE49-F238E27FC236}">
                <a16:creationId xmlns="" xmlns:a16="http://schemas.microsoft.com/office/drawing/2014/main" id="{45C7960E-9D3A-4830-BCF1-5D0FC1E9B09C}"/>
              </a:ext>
            </a:extLst>
          </p:cNvPr>
          <p:cNvSpPr/>
          <p:nvPr/>
        </p:nvSpPr>
        <p:spPr>
          <a:xfrm>
            <a:off x="1789667" y="370239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140</a:t>
            </a:r>
          </a:p>
        </p:txBody>
      </p:sp>
      <p:sp>
        <p:nvSpPr>
          <p:cNvPr id="15" name="Rectángulo 11">
            <a:extLst>
              <a:ext uri="{FF2B5EF4-FFF2-40B4-BE49-F238E27FC236}">
                <a16:creationId xmlns="" xmlns:a16="http://schemas.microsoft.com/office/drawing/2014/main" id="{0FCD0380-DF13-4EF7-A942-345B92D8D825}"/>
              </a:ext>
            </a:extLst>
          </p:cNvPr>
          <p:cNvSpPr/>
          <p:nvPr/>
        </p:nvSpPr>
        <p:spPr>
          <a:xfrm>
            <a:off x="2164459" y="317839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151</a:t>
            </a:r>
          </a:p>
        </p:txBody>
      </p:sp>
      <p:sp>
        <p:nvSpPr>
          <p:cNvPr id="16" name="Rectángulo 11">
            <a:extLst>
              <a:ext uri="{FF2B5EF4-FFF2-40B4-BE49-F238E27FC236}">
                <a16:creationId xmlns="" xmlns:a16="http://schemas.microsoft.com/office/drawing/2014/main" id="{0B98A6E6-52FB-460C-A312-DECEE7DDAF55}"/>
              </a:ext>
            </a:extLst>
          </p:cNvPr>
          <p:cNvSpPr/>
          <p:nvPr/>
        </p:nvSpPr>
        <p:spPr>
          <a:xfrm>
            <a:off x="1251761" y="378006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118</a:t>
            </a:r>
          </a:p>
        </p:txBody>
      </p:sp>
      <p:sp>
        <p:nvSpPr>
          <p:cNvPr id="17" name="Rectángulo 11">
            <a:extLst>
              <a:ext uri="{FF2B5EF4-FFF2-40B4-BE49-F238E27FC236}">
                <a16:creationId xmlns="" xmlns:a16="http://schemas.microsoft.com/office/drawing/2014/main" id="{21BD5B28-97AF-49A4-9693-D6FCC3AAF38D}"/>
              </a:ext>
            </a:extLst>
          </p:cNvPr>
          <p:cNvSpPr/>
          <p:nvPr/>
        </p:nvSpPr>
        <p:spPr>
          <a:xfrm>
            <a:off x="2164458" y="550439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120</a:t>
            </a:r>
          </a:p>
        </p:txBody>
      </p:sp>
      <p:sp>
        <p:nvSpPr>
          <p:cNvPr id="18" name="Rectángulo 11">
            <a:extLst>
              <a:ext uri="{FF2B5EF4-FFF2-40B4-BE49-F238E27FC236}">
                <a16:creationId xmlns="" xmlns:a16="http://schemas.microsoft.com/office/drawing/2014/main" id="{2C13B22C-797E-4BB9-B910-AD6CB920D3F2}"/>
              </a:ext>
            </a:extLst>
          </p:cNvPr>
          <p:cNvSpPr/>
          <p:nvPr/>
        </p:nvSpPr>
        <p:spPr>
          <a:xfrm>
            <a:off x="1461369" y="433724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111</a:t>
            </a:r>
          </a:p>
        </p:txBody>
      </p:sp>
      <p:sp>
        <p:nvSpPr>
          <p:cNvPr id="19" name="Rectángulo 11">
            <a:extLst>
              <a:ext uri="{FF2B5EF4-FFF2-40B4-BE49-F238E27FC236}">
                <a16:creationId xmlns="" xmlns:a16="http://schemas.microsoft.com/office/drawing/2014/main" id="{FA1F436B-74A0-43A2-8722-C8F41B2EE197}"/>
              </a:ext>
            </a:extLst>
          </p:cNvPr>
          <p:cNvSpPr/>
          <p:nvPr/>
        </p:nvSpPr>
        <p:spPr>
          <a:xfrm>
            <a:off x="1694464" y="465572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70</a:t>
            </a:r>
          </a:p>
        </p:txBody>
      </p:sp>
      <p:sp>
        <p:nvSpPr>
          <p:cNvPr id="20" name="Rectángulo 11">
            <a:extLst>
              <a:ext uri="{FF2B5EF4-FFF2-40B4-BE49-F238E27FC236}">
                <a16:creationId xmlns="" xmlns:a16="http://schemas.microsoft.com/office/drawing/2014/main" id="{E4877A13-201E-4C41-AEA9-23ABD72A303A}"/>
              </a:ext>
            </a:extLst>
          </p:cNvPr>
          <p:cNvSpPr/>
          <p:nvPr/>
        </p:nvSpPr>
        <p:spPr>
          <a:xfrm>
            <a:off x="1783679" y="504122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21" name="Rectángulo 11">
            <a:extLst>
              <a:ext uri="{FF2B5EF4-FFF2-40B4-BE49-F238E27FC236}">
                <a16:creationId xmlns="" xmlns:a16="http://schemas.microsoft.com/office/drawing/2014/main" id="{69CD1FCD-9D90-4369-9E1A-1547DA68ABCA}"/>
              </a:ext>
            </a:extLst>
          </p:cNvPr>
          <p:cNvSpPr/>
          <p:nvPr/>
        </p:nvSpPr>
        <p:spPr>
          <a:xfrm>
            <a:off x="4245399" y="4491080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85</a:t>
            </a:r>
          </a:p>
        </p:txBody>
      </p:sp>
      <p:sp>
        <p:nvSpPr>
          <p:cNvPr id="22" name="Rectángulo 11">
            <a:extLst>
              <a:ext uri="{FF2B5EF4-FFF2-40B4-BE49-F238E27FC236}">
                <a16:creationId xmlns="" xmlns:a16="http://schemas.microsoft.com/office/drawing/2014/main" id="{3E321CBD-CE24-4AEE-A8D8-3260C9529A64}"/>
              </a:ext>
            </a:extLst>
          </p:cNvPr>
          <p:cNvSpPr/>
          <p:nvPr/>
        </p:nvSpPr>
        <p:spPr>
          <a:xfrm>
            <a:off x="3489365" y="480685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101</a:t>
            </a:r>
          </a:p>
        </p:txBody>
      </p:sp>
      <p:sp>
        <p:nvSpPr>
          <p:cNvPr id="23" name="Rectángulo 11">
            <a:extLst>
              <a:ext uri="{FF2B5EF4-FFF2-40B4-BE49-F238E27FC236}">
                <a16:creationId xmlns="" xmlns:a16="http://schemas.microsoft.com/office/drawing/2014/main" id="{C588E686-8499-4910-906C-F35F97E86647}"/>
              </a:ext>
            </a:extLst>
          </p:cNvPr>
          <p:cNvSpPr/>
          <p:nvPr/>
        </p:nvSpPr>
        <p:spPr>
          <a:xfrm>
            <a:off x="2723668" y="352025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99</a:t>
            </a:r>
          </a:p>
        </p:txBody>
      </p:sp>
      <p:sp>
        <p:nvSpPr>
          <p:cNvPr id="24" name="Rectángulo 11">
            <a:extLst>
              <a:ext uri="{FF2B5EF4-FFF2-40B4-BE49-F238E27FC236}">
                <a16:creationId xmlns="" xmlns:a16="http://schemas.microsoft.com/office/drawing/2014/main" id="{DD63F08B-AE84-431F-B20E-D92EC00BEEB8}"/>
              </a:ext>
            </a:extLst>
          </p:cNvPr>
          <p:cNvSpPr/>
          <p:nvPr/>
        </p:nvSpPr>
        <p:spPr>
          <a:xfrm>
            <a:off x="3658501" y="5139790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90</a:t>
            </a:r>
          </a:p>
        </p:txBody>
      </p:sp>
      <p:sp>
        <p:nvSpPr>
          <p:cNvPr id="25" name="Rectángulo 11">
            <a:extLst>
              <a:ext uri="{FF2B5EF4-FFF2-40B4-BE49-F238E27FC236}">
                <a16:creationId xmlns="" xmlns:a16="http://schemas.microsoft.com/office/drawing/2014/main" id="{05A70D98-7DD8-4AB9-9D6E-279934147AE7}"/>
              </a:ext>
            </a:extLst>
          </p:cNvPr>
          <p:cNvSpPr/>
          <p:nvPr/>
        </p:nvSpPr>
        <p:spPr>
          <a:xfrm>
            <a:off x="3838797" y="399169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211</a:t>
            </a:r>
          </a:p>
        </p:txBody>
      </p:sp>
      <p:sp>
        <p:nvSpPr>
          <p:cNvPr id="26" name="Rectángulo 11">
            <a:extLst>
              <a:ext uri="{FF2B5EF4-FFF2-40B4-BE49-F238E27FC236}">
                <a16:creationId xmlns="" xmlns:a16="http://schemas.microsoft.com/office/drawing/2014/main" id="{2407DAEA-4C02-43E3-8279-8D001B2769B9}"/>
              </a:ext>
            </a:extLst>
          </p:cNvPr>
          <p:cNvSpPr/>
          <p:nvPr/>
        </p:nvSpPr>
        <p:spPr>
          <a:xfrm>
            <a:off x="3013077" y="501712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138</a:t>
            </a:r>
          </a:p>
        </p:txBody>
      </p:sp>
      <p:sp>
        <p:nvSpPr>
          <p:cNvPr id="27" name="Rectángulo 11">
            <a:extLst>
              <a:ext uri="{FF2B5EF4-FFF2-40B4-BE49-F238E27FC236}">
                <a16:creationId xmlns="" xmlns:a16="http://schemas.microsoft.com/office/drawing/2014/main" id="{1F1D0ABD-8FC0-4554-8D55-415C6859B65C}"/>
              </a:ext>
            </a:extLst>
          </p:cNvPr>
          <p:cNvSpPr/>
          <p:nvPr/>
        </p:nvSpPr>
        <p:spPr>
          <a:xfrm>
            <a:off x="2557922" y="490272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146</a:t>
            </a:r>
          </a:p>
        </p:txBody>
      </p:sp>
      <p:sp>
        <p:nvSpPr>
          <p:cNvPr id="28" name="Rectángulo 11">
            <a:extLst>
              <a:ext uri="{FF2B5EF4-FFF2-40B4-BE49-F238E27FC236}">
                <a16:creationId xmlns="" xmlns:a16="http://schemas.microsoft.com/office/drawing/2014/main" id="{83555CAA-0D6A-4DBD-8329-C4CA2AD9489B}"/>
              </a:ext>
            </a:extLst>
          </p:cNvPr>
          <p:cNvSpPr/>
          <p:nvPr/>
        </p:nvSpPr>
        <p:spPr>
          <a:xfrm>
            <a:off x="2723668" y="445230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97</a:t>
            </a:r>
          </a:p>
        </p:txBody>
      </p:sp>
      <p:sp>
        <p:nvSpPr>
          <p:cNvPr id="29" name="Rectángulo 11">
            <a:extLst>
              <a:ext uri="{FF2B5EF4-FFF2-40B4-BE49-F238E27FC236}">
                <a16:creationId xmlns="" xmlns:a16="http://schemas.microsoft.com/office/drawing/2014/main" id="{6C326678-04A4-4D49-81BC-4EA2A59D1900}"/>
              </a:ext>
            </a:extLst>
          </p:cNvPr>
          <p:cNvSpPr/>
          <p:nvPr/>
        </p:nvSpPr>
        <p:spPr>
          <a:xfrm>
            <a:off x="2245047" y="383344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80</a:t>
            </a:r>
          </a:p>
        </p:txBody>
      </p:sp>
      <p:sp>
        <p:nvSpPr>
          <p:cNvPr id="30" name="Rectángulo 11">
            <a:extLst>
              <a:ext uri="{FF2B5EF4-FFF2-40B4-BE49-F238E27FC236}">
                <a16:creationId xmlns="" xmlns:a16="http://schemas.microsoft.com/office/drawing/2014/main" id="{6A4D19BB-D406-46F4-B0F3-D9747F22E71E}"/>
              </a:ext>
            </a:extLst>
          </p:cNvPr>
          <p:cNvSpPr/>
          <p:nvPr/>
        </p:nvSpPr>
        <p:spPr>
          <a:xfrm>
            <a:off x="5626005" y="397939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142</a:t>
            </a:r>
          </a:p>
        </p:txBody>
      </p:sp>
      <p:sp>
        <p:nvSpPr>
          <p:cNvPr id="31" name="Rectángulo 11">
            <a:extLst>
              <a:ext uri="{FF2B5EF4-FFF2-40B4-BE49-F238E27FC236}">
                <a16:creationId xmlns="" xmlns:a16="http://schemas.microsoft.com/office/drawing/2014/main" id="{311E9068-2448-4627-B07C-0582624B2AE0}"/>
              </a:ext>
            </a:extLst>
          </p:cNvPr>
          <p:cNvSpPr/>
          <p:nvPr/>
        </p:nvSpPr>
        <p:spPr>
          <a:xfrm>
            <a:off x="5559144" y="473695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86</a:t>
            </a:r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FA20F67F-A874-43E8-BBB3-6A710B2D9789}"/>
              </a:ext>
            </a:extLst>
          </p:cNvPr>
          <p:cNvSpPr/>
          <p:nvPr/>
        </p:nvSpPr>
        <p:spPr>
          <a:xfrm>
            <a:off x="5442828" y="308175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92</a:t>
            </a:r>
          </a:p>
        </p:txBody>
      </p:sp>
      <p:sp>
        <p:nvSpPr>
          <p:cNvPr id="33" name="Rectángulo 11">
            <a:extLst>
              <a:ext uri="{FF2B5EF4-FFF2-40B4-BE49-F238E27FC236}">
                <a16:creationId xmlns="" xmlns:a16="http://schemas.microsoft.com/office/drawing/2014/main" id="{47AB5F81-7482-4DC5-ADDA-EBE7CA53B14A}"/>
              </a:ext>
            </a:extLst>
          </p:cNvPr>
          <p:cNvSpPr/>
          <p:nvPr/>
        </p:nvSpPr>
        <p:spPr>
          <a:xfrm>
            <a:off x="4598490" y="287906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87</a:t>
            </a:r>
          </a:p>
        </p:txBody>
      </p:sp>
      <p:sp>
        <p:nvSpPr>
          <p:cNvPr id="34" name="Rectángulo 11">
            <a:extLst>
              <a:ext uri="{FF2B5EF4-FFF2-40B4-BE49-F238E27FC236}">
                <a16:creationId xmlns="" xmlns:a16="http://schemas.microsoft.com/office/drawing/2014/main" id="{DDF9F1FB-BF64-4DFF-A5E6-8010D4A7ED3C}"/>
              </a:ext>
            </a:extLst>
          </p:cNvPr>
          <p:cNvSpPr/>
          <p:nvPr/>
        </p:nvSpPr>
        <p:spPr>
          <a:xfrm>
            <a:off x="4995748" y="450517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98</a:t>
            </a:r>
          </a:p>
        </p:txBody>
      </p:sp>
      <p:sp>
        <p:nvSpPr>
          <p:cNvPr id="36" name="Oval 35">
            <a:extLst>
              <a:ext uri="{FF2B5EF4-FFF2-40B4-BE49-F238E27FC236}">
                <a16:creationId xmlns="" xmlns:a16="http://schemas.microsoft.com/office/drawing/2014/main" id="{29E08DEA-6DDE-428F-B403-61B972B120C6}"/>
              </a:ext>
            </a:extLst>
          </p:cNvPr>
          <p:cNvSpPr/>
          <p:nvPr/>
        </p:nvSpPr>
        <p:spPr>
          <a:xfrm>
            <a:off x="1795817" y="3070488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="" xmlns:a16="http://schemas.microsoft.com/office/drawing/2014/main" id="{80D6575D-24CF-439C-BBC1-322BF0637565}"/>
              </a:ext>
            </a:extLst>
          </p:cNvPr>
          <p:cNvSpPr/>
          <p:nvPr/>
        </p:nvSpPr>
        <p:spPr>
          <a:xfrm>
            <a:off x="1899018" y="3587951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="" xmlns:a16="http://schemas.microsoft.com/office/drawing/2014/main" id="{DB9F38A1-26EF-4C3B-90F9-35F94974EAE6}"/>
              </a:ext>
            </a:extLst>
          </p:cNvPr>
          <p:cNvSpPr/>
          <p:nvPr/>
        </p:nvSpPr>
        <p:spPr>
          <a:xfrm>
            <a:off x="2242289" y="2589828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B3D8AAC1-E610-4B31-B595-63E468179260}"/>
              </a:ext>
            </a:extLst>
          </p:cNvPr>
          <p:cNvSpPr/>
          <p:nvPr/>
        </p:nvSpPr>
        <p:spPr>
          <a:xfrm>
            <a:off x="2491980" y="3735626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65F046E-BBAE-460B-A5BC-179D8162C8B5}"/>
              </a:ext>
            </a:extLst>
          </p:cNvPr>
          <p:cNvSpPr/>
          <p:nvPr/>
        </p:nvSpPr>
        <p:spPr>
          <a:xfrm>
            <a:off x="1761491" y="4120533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0E5ABC53-BBC9-4E5C-A4A9-227C8C66E59F}"/>
              </a:ext>
            </a:extLst>
          </p:cNvPr>
          <p:cNvSpPr/>
          <p:nvPr/>
        </p:nvSpPr>
        <p:spPr>
          <a:xfrm>
            <a:off x="2177989" y="4459955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="" xmlns:a16="http://schemas.microsoft.com/office/drawing/2014/main" id="{1313B50A-BF7C-4D28-96B3-103F5C095A5D}"/>
              </a:ext>
            </a:extLst>
          </p:cNvPr>
          <p:cNvSpPr/>
          <p:nvPr/>
        </p:nvSpPr>
        <p:spPr>
          <a:xfrm>
            <a:off x="2251741" y="4866003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="" xmlns:a16="http://schemas.microsoft.com/office/drawing/2014/main" id="{CF3F35A4-3898-489B-BBE5-31A87CD75E02}"/>
              </a:ext>
            </a:extLst>
          </p:cNvPr>
          <p:cNvSpPr/>
          <p:nvPr/>
        </p:nvSpPr>
        <p:spPr>
          <a:xfrm>
            <a:off x="2534057" y="4098921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26CADD8C-F274-4C7D-B097-1B0826C0DB53}"/>
              </a:ext>
            </a:extLst>
          </p:cNvPr>
          <p:cNvSpPr/>
          <p:nvPr/>
        </p:nvSpPr>
        <p:spPr>
          <a:xfrm>
            <a:off x="3511892" y="4590804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="" xmlns:a16="http://schemas.microsoft.com/office/drawing/2014/main" id="{273DC761-276B-4ADC-9E0E-9E9ACF445AAF}"/>
              </a:ext>
            </a:extLst>
          </p:cNvPr>
          <p:cNvSpPr/>
          <p:nvPr/>
        </p:nvSpPr>
        <p:spPr>
          <a:xfrm>
            <a:off x="3830219" y="3635388"/>
            <a:ext cx="169872" cy="16321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="" xmlns:a16="http://schemas.microsoft.com/office/drawing/2014/main" id="{B525E512-C3CF-474D-B85E-AAD163E68BFA}"/>
              </a:ext>
            </a:extLst>
          </p:cNvPr>
          <p:cNvSpPr/>
          <p:nvPr/>
        </p:nvSpPr>
        <p:spPr>
          <a:xfrm>
            <a:off x="2099264" y="2460782"/>
            <a:ext cx="1939336" cy="2639538"/>
          </a:xfrm>
          <a:custGeom>
            <a:avLst/>
            <a:gdLst>
              <a:gd name="connsiteX0" fmla="*/ 410256 w 1939336"/>
              <a:gd name="connsiteY0" fmla="*/ 13178 h 2639538"/>
              <a:gd name="connsiteX1" fmla="*/ 207056 w 1939336"/>
              <a:gd name="connsiteY1" fmla="*/ 18258 h 2639538"/>
              <a:gd name="connsiteX2" fmla="*/ 176576 w 1939336"/>
              <a:gd name="connsiteY2" fmla="*/ 38578 h 2639538"/>
              <a:gd name="connsiteX3" fmla="*/ 156256 w 1939336"/>
              <a:gd name="connsiteY3" fmla="*/ 48738 h 2639538"/>
              <a:gd name="connsiteX4" fmla="*/ 141016 w 1939336"/>
              <a:gd name="connsiteY4" fmla="*/ 58898 h 2639538"/>
              <a:gd name="connsiteX5" fmla="*/ 130856 w 1939336"/>
              <a:gd name="connsiteY5" fmla="*/ 114778 h 2639538"/>
              <a:gd name="connsiteX6" fmla="*/ 120696 w 1939336"/>
              <a:gd name="connsiteY6" fmla="*/ 130018 h 2639538"/>
              <a:gd name="connsiteX7" fmla="*/ 125776 w 1939336"/>
              <a:gd name="connsiteY7" fmla="*/ 363698 h 2639538"/>
              <a:gd name="connsiteX8" fmla="*/ 151176 w 1939336"/>
              <a:gd name="connsiteY8" fmla="*/ 409418 h 2639538"/>
              <a:gd name="connsiteX9" fmla="*/ 166416 w 1939336"/>
              <a:gd name="connsiteY9" fmla="*/ 424658 h 2639538"/>
              <a:gd name="connsiteX10" fmla="*/ 186736 w 1939336"/>
              <a:gd name="connsiteY10" fmla="*/ 455138 h 2639538"/>
              <a:gd name="connsiteX11" fmla="*/ 222296 w 1939336"/>
              <a:gd name="connsiteY11" fmla="*/ 485618 h 2639538"/>
              <a:gd name="connsiteX12" fmla="*/ 237536 w 1939336"/>
              <a:gd name="connsiteY12" fmla="*/ 495778 h 2639538"/>
              <a:gd name="connsiteX13" fmla="*/ 303576 w 1939336"/>
              <a:gd name="connsiteY13" fmla="*/ 516098 h 2639538"/>
              <a:gd name="connsiteX14" fmla="*/ 400096 w 1939336"/>
              <a:gd name="connsiteY14" fmla="*/ 521178 h 2639538"/>
              <a:gd name="connsiteX15" fmla="*/ 537256 w 1939336"/>
              <a:gd name="connsiteY15" fmla="*/ 526258 h 2639538"/>
              <a:gd name="connsiteX16" fmla="*/ 608376 w 1939336"/>
              <a:gd name="connsiteY16" fmla="*/ 531338 h 2639538"/>
              <a:gd name="connsiteX17" fmla="*/ 699816 w 1939336"/>
              <a:gd name="connsiteY17" fmla="*/ 536418 h 2639538"/>
              <a:gd name="connsiteX18" fmla="*/ 740456 w 1939336"/>
              <a:gd name="connsiteY18" fmla="*/ 546578 h 2639538"/>
              <a:gd name="connsiteX19" fmla="*/ 796336 w 1939336"/>
              <a:gd name="connsiteY19" fmla="*/ 556738 h 2639538"/>
              <a:gd name="connsiteX20" fmla="*/ 852216 w 1939336"/>
              <a:gd name="connsiteY20" fmla="*/ 577058 h 2639538"/>
              <a:gd name="connsiteX21" fmla="*/ 882696 w 1939336"/>
              <a:gd name="connsiteY21" fmla="*/ 592298 h 2639538"/>
              <a:gd name="connsiteX22" fmla="*/ 918256 w 1939336"/>
              <a:gd name="connsiteY22" fmla="*/ 607538 h 2639538"/>
              <a:gd name="connsiteX23" fmla="*/ 958896 w 1939336"/>
              <a:gd name="connsiteY23" fmla="*/ 638018 h 2639538"/>
              <a:gd name="connsiteX24" fmla="*/ 984296 w 1939336"/>
              <a:gd name="connsiteY24" fmla="*/ 658338 h 2639538"/>
              <a:gd name="connsiteX25" fmla="*/ 1019856 w 1939336"/>
              <a:gd name="connsiteY25" fmla="*/ 678658 h 2639538"/>
              <a:gd name="connsiteX26" fmla="*/ 1060496 w 1939336"/>
              <a:gd name="connsiteY26" fmla="*/ 719298 h 2639538"/>
              <a:gd name="connsiteX27" fmla="*/ 1111296 w 1939336"/>
              <a:gd name="connsiteY27" fmla="*/ 759938 h 2639538"/>
              <a:gd name="connsiteX28" fmla="*/ 1111296 w 1939336"/>
              <a:gd name="connsiteY28" fmla="*/ 759938 h 2639538"/>
              <a:gd name="connsiteX29" fmla="*/ 1157016 w 1939336"/>
              <a:gd name="connsiteY29" fmla="*/ 790418 h 2639538"/>
              <a:gd name="connsiteX30" fmla="*/ 1177336 w 1939336"/>
              <a:gd name="connsiteY30" fmla="*/ 810738 h 2639538"/>
              <a:gd name="connsiteX31" fmla="*/ 1202736 w 1939336"/>
              <a:gd name="connsiteY31" fmla="*/ 825978 h 2639538"/>
              <a:gd name="connsiteX32" fmla="*/ 1243376 w 1939336"/>
              <a:gd name="connsiteY32" fmla="*/ 856458 h 2639538"/>
              <a:gd name="connsiteX33" fmla="*/ 1263696 w 1939336"/>
              <a:gd name="connsiteY33" fmla="*/ 866618 h 2639538"/>
              <a:gd name="connsiteX34" fmla="*/ 1294176 w 1939336"/>
              <a:gd name="connsiteY34" fmla="*/ 886938 h 2639538"/>
              <a:gd name="connsiteX35" fmla="*/ 1314496 w 1939336"/>
              <a:gd name="connsiteY35" fmla="*/ 897098 h 2639538"/>
              <a:gd name="connsiteX36" fmla="*/ 1334816 w 1939336"/>
              <a:gd name="connsiteY36" fmla="*/ 912338 h 2639538"/>
              <a:gd name="connsiteX37" fmla="*/ 1355136 w 1939336"/>
              <a:gd name="connsiteY37" fmla="*/ 922498 h 2639538"/>
              <a:gd name="connsiteX38" fmla="*/ 1380536 w 1939336"/>
              <a:gd name="connsiteY38" fmla="*/ 937738 h 2639538"/>
              <a:gd name="connsiteX39" fmla="*/ 1416096 w 1939336"/>
              <a:gd name="connsiteY39" fmla="*/ 968218 h 2639538"/>
              <a:gd name="connsiteX40" fmla="*/ 1431336 w 1939336"/>
              <a:gd name="connsiteY40" fmla="*/ 978378 h 2639538"/>
              <a:gd name="connsiteX41" fmla="*/ 1477056 w 1939336"/>
              <a:gd name="connsiteY41" fmla="*/ 1029178 h 2639538"/>
              <a:gd name="connsiteX42" fmla="*/ 1492296 w 1939336"/>
              <a:gd name="connsiteY42" fmla="*/ 1044418 h 2639538"/>
              <a:gd name="connsiteX43" fmla="*/ 1502456 w 1939336"/>
              <a:gd name="connsiteY43" fmla="*/ 1064738 h 2639538"/>
              <a:gd name="connsiteX44" fmla="*/ 1532936 w 1939336"/>
              <a:gd name="connsiteY44" fmla="*/ 1090138 h 2639538"/>
              <a:gd name="connsiteX45" fmla="*/ 1538016 w 1939336"/>
              <a:gd name="connsiteY45" fmla="*/ 1110458 h 2639538"/>
              <a:gd name="connsiteX46" fmla="*/ 1558336 w 1939336"/>
              <a:gd name="connsiteY46" fmla="*/ 1146018 h 2639538"/>
              <a:gd name="connsiteX47" fmla="*/ 1568496 w 1939336"/>
              <a:gd name="connsiteY47" fmla="*/ 1181578 h 2639538"/>
              <a:gd name="connsiteX48" fmla="*/ 1583736 w 1939336"/>
              <a:gd name="connsiteY48" fmla="*/ 1222218 h 2639538"/>
              <a:gd name="connsiteX49" fmla="*/ 1588816 w 1939336"/>
              <a:gd name="connsiteY49" fmla="*/ 1298418 h 2639538"/>
              <a:gd name="connsiteX50" fmla="*/ 1593896 w 1939336"/>
              <a:gd name="connsiteY50" fmla="*/ 1344138 h 2639538"/>
              <a:gd name="connsiteX51" fmla="*/ 1588816 w 1939336"/>
              <a:gd name="connsiteY51" fmla="*/ 1786098 h 2639538"/>
              <a:gd name="connsiteX52" fmla="*/ 1578656 w 1939336"/>
              <a:gd name="connsiteY52" fmla="*/ 1847058 h 2639538"/>
              <a:gd name="connsiteX53" fmla="*/ 1563416 w 1939336"/>
              <a:gd name="connsiteY53" fmla="*/ 1897858 h 2639538"/>
              <a:gd name="connsiteX54" fmla="*/ 1558336 w 1939336"/>
              <a:gd name="connsiteY54" fmla="*/ 1938498 h 2639538"/>
              <a:gd name="connsiteX55" fmla="*/ 1527856 w 1939336"/>
              <a:gd name="connsiteY55" fmla="*/ 1963898 h 2639538"/>
              <a:gd name="connsiteX56" fmla="*/ 1517696 w 1939336"/>
              <a:gd name="connsiteY56" fmla="*/ 1979138 h 2639538"/>
              <a:gd name="connsiteX57" fmla="*/ 1502456 w 1939336"/>
              <a:gd name="connsiteY57" fmla="*/ 1989298 h 2639538"/>
              <a:gd name="connsiteX58" fmla="*/ 1451656 w 1939336"/>
              <a:gd name="connsiteY58" fmla="*/ 2019778 h 2639538"/>
              <a:gd name="connsiteX59" fmla="*/ 1411016 w 1939336"/>
              <a:gd name="connsiteY59" fmla="*/ 2065498 h 2639538"/>
              <a:gd name="connsiteX60" fmla="*/ 1390696 w 1939336"/>
              <a:gd name="connsiteY60" fmla="*/ 2095978 h 2639538"/>
              <a:gd name="connsiteX61" fmla="*/ 1350056 w 1939336"/>
              <a:gd name="connsiteY61" fmla="*/ 2131538 h 2639538"/>
              <a:gd name="connsiteX62" fmla="*/ 1299256 w 1939336"/>
              <a:gd name="connsiteY62" fmla="*/ 2141698 h 2639538"/>
              <a:gd name="connsiteX63" fmla="*/ 1278936 w 1939336"/>
              <a:gd name="connsiteY63" fmla="*/ 2146778 h 2639538"/>
              <a:gd name="connsiteX64" fmla="*/ 1167176 w 1939336"/>
              <a:gd name="connsiteY64" fmla="*/ 2151858 h 2639538"/>
              <a:gd name="connsiteX65" fmla="*/ 786176 w 1939336"/>
              <a:gd name="connsiteY65" fmla="*/ 2156938 h 2639538"/>
              <a:gd name="connsiteX66" fmla="*/ 669336 w 1939336"/>
              <a:gd name="connsiteY66" fmla="*/ 2162018 h 2639538"/>
              <a:gd name="connsiteX67" fmla="*/ 643936 w 1939336"/>
              <a:gd name="connsiteY67" fmla="*/ 2167098 h 2639538"/>
              <a:gd name="connsiteX68" fmla="*/ 537256 w 1939336"/>
              <a:gd name="connsiteY68" fmla="*/ 2172178 h 2639538"/>
              <a:gd name="connsiteX69" fmla="*/ 491536 w 1939336"/>
              <a:gd name="connsiteY69" fmla="*/ 2187418 h 2639538"/>
              <a:gd name="connsiteX70" fmla="*/ 461056 w 1939336"/>
              <a:gd name="connsiteY70" fmla="*/ 2197578 h 2639538"/>
              <a:gd name="connsiteX71" fmla="*/ 435656 w 1939336"/>
              <a:gd name="connsiteY71" fmla="*/ 2207738 h 2639538"/>
              <a:gd name="connsiteX72" fmla="*/ 420416 w 1939336"/>
              <a:gd name="connsiteY72" fmla="*/ 2212818 h 2639538"/>
              <a:gd name="connsiteX73" fmla="*/ 379776 w 1939336"/>
              <a:gd name="connsiteY73" fmla="*/ 2228058 h 2639538"/>
              <a:gd name="connsiteX74" fmla="*/ 328976 w 1939336"/>
              <a:gd name="connsiteY74" fmla="*/ 2258538 h 2639538"/>
              <a:gd name="connsiteX75" fmla="*/ 313736 w 1939336"/>
              <a:gd name="connsiteY75" fmla="*/ 2263618 h 2639538"/>
              <a:gd name="connsiteX76" fmla="*/ 283256 w 1939336"/>
              <a:gd name="connsiteY76" fmla="*/ 2268698 h 2639538"/>
              <a:gd name="connsiteX77" fmla="*/ 252776 w 1939336"/>
              <a:gd name="connsiteY77" fmla="*/ 2278858 h 2639538"/>
              <a:gd name="connsiteX78" fmla="*/ 237536 w 1939336"/>
              <a:gd name="connsiteY78" fmla="*/ 2283938 h 2639538"/>
              <a:gd name="connsiteX79" fmla="*/ 222296 w 1939336"/>
              <a:gd name="connsiteY79" fmla="*/ 2299178 h 2639538"/>
              <a:gd name="connsiteX80" fmla="*/ 212136 w 1939336"/>
              <a:gd name="connsiteY80" fmla="*/ 2314418 h 2639538"/>
              <a:gd name="connsiteX81" fmla="*/ 186736 w 1939336"/>
              <a:gd name="connsiteY81" fmla="*/ 2319498 h 2639538"/>
              <a:gd name="connsiteX82" fmla="*/ 171496 w 1939336"/>
              <a:gd name="connsiteY82" fmla="*/ 2329658 h 2639538"/>
              <a:gd name="connsiteX83" fmla="*/ 80056 w 1939336"/>
              <a:gd name="connsiteY83" fmla="*/ 2344898 h 2639538"/>
              <a:gd name="connsiteX84" fmla="*/ 44496 w 1939336"/>
              <a:gd name="connsiteY84" fmla="*/ 2360138 h 2639538"/>
              <a:gd name="connsiteX85" fmla="*/ 29256 w 1939336"/>
              <a:gd name="connsiteY85" fmla="*/ 2370298 h 2639538"/>
              <a:gd name="connsiteX86" fmla="*/ 19096 w 1939336"/>
              <a:gd name="connsiteY86" fmla="*/ 2385538 h 2639538"/>
              <a:gd name="connsiteX87" fmla="*/ 14016 w 1939336"/>
              <a:gd name="connsiteY87" fmla="*/ 2553178 h 2639538"/>
              <a:gd name="connsiteX88" fmla="*/ 34336 w 1939336"/>
              <a:gd name="connsiteY88" fmla="*/ 2583658 h 2639538"/>
              <a:gd name="connsiteX89" fmla="*/ 59736 w 1939336"/>
              <a:gd name="connsiteY89" fmla="*/ 2634458 h 2639538"/>
              <a:gd name="connsiteX90" fmla="*/ 74976 w 1939336"/>
              <a:gd name="connsiteY90" fmla="*/ 2639538 h 2639538"/>
              <a:gd name="connsiteX91" fmla="*/ 953816 w 1939336"/>
              <a:gd name="connsiteY91" fmla="*/ 2634458 h 2639538"/>
              <a:gd name="connsiteX92" fmla="*/ 984296 w 1939336"/>
              <a:gd name="connsiteY92" fmla="*/ 2629378 h 2639538"/>
              <a:gd name="connsiteX93" fmla="*/ 1050336 w 1939336"/>
              <a:gd name="connsiteY93" fmla="*/ 2609058 h 2639538"/>
              <a:gd name="connsiteX94" fmla="*/ 1065576 w 1939336"/>
              <a:gd name="connsiteY94" fmla="*/ 2603978 h 2639538"/>
              <a:gd name="connsiteX95" fmla="*/ 1116376 w 1939336"/>
              <a:gd name="connsiteY95" fmla="*/ 2588738 h 2639538"/>
              <a:gd name="connsiteX96" fmla="*/ 1146856 w 1939336"/>
              <a:gd name="connsiteY96" fmla="*/ 2578578 h 2639538"/>
              <a:gd name="connsiteX97" fmla="*/ 1172256 w 1939336"/>
              <a:gd name="connsiteY97" fmla="*/ 2568418 h 2639538"/>
              <a:gd name="connsiteX98" fmla="*/ 1202736 w 1939336"/>
              <a:gd name="connsiteY98" fmla="*/ 2558258 h 2639538"/>
              <a:gd name="connsiteX99" fmla="*/ 1228136 w 1939336"/>
              <a:gd name="connsiteY99" fmla="*/ 2548098 h 2639538"/>
              <a:gd name="connsiteX100" fmla="*/ 1284016 w 1939336"/>
              <a:gd name="connsiteY100" fmla="*/ 2543018 h 2639538"/>
              <a:gd name="connsiteX101" fmla="*/ 1299256 w 1939336"/>
              <a:gd name="connsiteY101" fmla="*/ 2537938 h 2639538"/>
              <a:gd name="connsiteX102" fmla="*/ 1314496 w 1939336"/>
              <a:gd name="connsiteY102" fmla="*/ 2527778 h 2639538"/>
              <a:gd name="connsiteX103" fmla="*/ 1360216 w 1939336"/>
              <a:gd name="connsiteY103" fmla="*/ 2492218 h 2639538"/>
              <a:gd name="connsiteX104" fmla="*/ 1375456 w 1939336"/>
              <a:gd name="connsiteY104" fmla="*/ 2482058 h 2639538"/>
              <a:gd name="connsiteX105" fmla="*/ 1390696 w 1939336"/>
              <a:gd name="connsiteY105" fmla="*/ 2476978 h 2639538"/>
              <a:gd name="connsiteX106" fmla="*/ 1411016 w 1939336"/>
              <a:gd name="connsiteY106" fmla="*/ 2466818 h 2639538"/>
              <a:gd name="connsiteX107" fmla="*/ 1441496 w 1939336"/>
              <a:gd name="connsiteY107" fmla="*/ 2456658 h 2639538"/>
              <a:gd name="connsiteX108" fmla="*/ 1477056 w 1939336"/>
              <a:gd name="connsiteY108" fmla="*/ 2446498 h 2639538"/>
              <a:gd name="connsiteX109" fmla="*/ 1502456 w 1939336"/>
              <a:gd name="connsiteY109" fmla="*/ 2436338 h 2639538"/>
              <a:gd name="connsiteX110" fmla="*/ 1548176 w 1939336"/>
              <a:gd name="connsiteY110" fmla="*/ 2421098 h 2639538"/>
              <a:gd name="connsiteX111" fmla="*/ 1563416 w 1939336"/>
              <a:gd name="connsiteY111" fmla="*/ 2416018 h 2639538"/>
              <a:gd name="connsiteX112" fmla="*/ 1588816 w 1939336"/>
              <a:gd name="connsiteY112" fmla="*/ 2405858 h 2639538"/>
              <a:gd name="connsiteX113" fmla="*/ 1604056 w 1939336"/>
              <a:gd name="connsiteY113" fmla="*/ 2400778 h 2639538"/>
              <a:gd name="connsiteX114" fmla="*/ 1634536 w 1939336"/>
              <a:gd name="connsiteY114" fmla="*/ 2385538 h 2639538"/>
              <a:gd name="connsiteX115" fmla="*/ 1659936 w 1939336"/>
              <a:gd name="connsiteY115" fmla="*/ 2355058 h 2639538"/>
              <a:gd name="connsiteX116" fmla="*/ 1675176 w 1939336"/>
              <a:gd name="connsiteY116" fmla="*/ 2349978 h 2639538"/>
              <a:gd name="connsiteX117" fmla="*/ 1690416 w 1939336"/>
              <a:gd name="connsiteY117" fmla="*/ 2334738 h 2639538"/>
              <a:gd name="connsiteX118" fmla="*/ 1700576 w 1939336"/>
              <a:gd name="connsiteY118" fmla="*/ 2299178 h 2639538"/>
              <a:gd name="connsiteX119" fmla="*/ 1710736 w 1939336"/>
              <a:gd name="connsiteY119" fmla="*/ 2268698 h 2639538"/>
              <a:gd name="connsiteX120" fmla="*/ 1715816 w 1939336"/>
              <a:gd name="connsiteY120" fmla="*/ 2243298 h 2639538"/>
              <a:gd name="connsiteX121" fmla="*/ 1725976 w 1939336"/>
              <a:gd name="connsiteY121" fmla="*/ 2212818 h 2639538"/>
              <a:gd name="connsiteX122" fmla="*/ 1731056 w 1939336"/>
              <a:gd name="connsiteY122" fmla="*/ 2126458 h 2639538"/>
              <a:gd name="connsiteX123" fmla="*/ 1736136 w 1939336"/>
              <a:gd name="connsiteY123" fmla="*/ 2106138 h 2639538"/>
              <a:gd name="connsiteX124" fmla="*/ 1741216 w 1939336"/>
              <a:gd name="connsiteY124" fmla="*/ 2065498 h 2639538"/>
              <a:gd name="connsiteX125" fmla="*/ 1751376 w 1939336"/>
              <a:gd name="connsiteY125" fmla="*/ 2024858 h 2639538"/>
              <a:gd name="connsiteX126" fmla="*/ 1756456 w 1939336"/>
              <a:gd name="connsiteY126" fmla="*/ 1918178 h 2639538"/>
              <a:gd name="connsiteX127" fmla="*/ 1761536 w 1939336"/>
              <a:gd name="connsiteY127" fmla="*/ 1902938 h 2639538"/>
              <a:gd name="connsiteX128" fmla="*/ 1766616 w 1939336"/>
              <a:gd name="connsiteY128" fmla="*/ 1857218 h 2639538"/>
              <a:gd name="connsiteX129" fmla="*/ 1776776 w 1939336"/>
              <a:gd name="connsiteY129" fmla="*/ 1841978 h 2639538"/>
              <a:gd name="connsiteX130" fmla="*/ 1786936 w 1939336"/>
              <a:gd name="connsiteY130" fmla="*/ 1801338 h 2639538"/>
              <a:gd name="connsiteX131" fmla="*/ 1797096 w 1939336"/>
              <a:gd name="connsiteY131" fmla="*/ 1786098 h 2639538"/>
              <a:gd name="connsiteX132" fmla="*/ 1807256 w 1939336"/>
              <a:gd name="connsiteY132" fmla="*/ 1755618 h 2639538"/>
              <a:gd name="connsiteX133" fmla="*/ 1817416 w 1939336"/>
              <a:gd name="connsiteY133" fmla="*/ 1720058 h 2639538"/>
              <a:gd name="connsiteX134" fmla="*/ 1832656 w 1939336"/>
              <a:gd name="connsiteY134" fmla="*/ 1643858 h 2639538"/>
              <a:gd name="connsiteX135" fmla="*/ 1842816 w 1939336"/>
              <a:gd name="connsiteY135" fmla="*/ 1598138 h 2639538"/>
              <a:gd name="connsiteX136" fmla="*/ 1863136 w 1939336"/>
              <a:gd name="connsiteY136" fmla="*/ 1557498 h 2639538"/>
              <a:gd name="connsiteX137" fmla="*/ 1868216 w 1939336"/>
              <a:gd name="connsiteY137" fmla="*/ 1532098 h 2639538"/>
              <a:gd name="connsiteX138" fmla="*/ 1873296 w 1939336"/>
              <a:gd name="connsiteY138" fmla="*/ 1516858 h 2639538"/>
              <a:gd name="connsiteX139" fmla="*/ 1878376 w 1939336"/>
              <a:gd name="connsiteY139" fmla="*/ 1486378 h 2639538"/>
              <a:gd name="connsiteX140" fmla="*/ 1888536 w 1939336"/>
              <a:gd name="connsiteY140" fmla="*/ 1460978 h 2639538"/>
              <a:gd name="connsiteX141" fmla="*/ 1898696 w 1939336"/>
              <a:gd name="connsiteY141" fmla="*/ 1430498 h 2639538"/>
              <a:gd name="connsiteX142" fmla="*/ 1913936 w 1939336"/>
              <a:gd name="connsiteY142" fmla="*/ 1389858 h 2639538"/>
              <a:gd name="connsiteX143" fmla="*/ 1919016 w 1939336"/>
              <a:gd name="connsiteY143" fmla="*/ 1369538 h 2639538"/>
              <a:gd name="connsiteX144" fmla="*/ 1924096 w 1939336"/>
              <a:gd name="connsiteY144" fmla="*/ 1354298 h 2639538"/>
              <a:gd name="connsiteX145" fmla="*/ 1929176 w 1939336"/>
              <a:gd name="connsiteY145" fmla="*/ 1333978 h 2639538"/>
              <a:gd name="connsiteX146" fmla="*/ 1939336 w 1939336"/>
              <a:gd name="connsiteY146" fmla="*/ 1303498 h 2639538"/>
              <a:gd name="connsiteX147" fmla="*/ 1934256 w 1939336"/>
              <a:gd name="connsiteY147" fmla="*/ 1105378 h 2639538"/>
              <a:gd name="connsiteX148" fmla="*/ 1908856 w 1939336"/>
              <a:gd name="connsiteY148" fmla="*/ 1059658 h 2639538"/>
              <a:gd name="connsiteX149" fmla="*/ 1888536 w 1939336"/>
              <a:gd name="connsiteY149" fmla="*/ 1029178 h 2639538"/>
              <a:gd name="connsiteX150" fmla="*/ 1878376 w 1939336"/>
              <a:gd name="connsiteY150" fmla="*/ 1013938 h 2639538"/>
              <a:gd name="connsiteX151" fmla="*/ 1863136 w 1939336"/>
              <a:gd name="connsiteY151" fmla="*/ 998698 h 2639538"/>
              <a:gd name="connsiteX152" fmla="*/ 1847896 w 1939336"/>
              <a:gd name="connsiteY152" fmla="*/ 978378 h 2639538"/>
              <a:gd name="connsiteX153" fmla="*/ 1837736 w 1939336"/>
              <a:gd name="connsiteY153" fmla="*/ 963138 h 2639538"/>
              <a:gd name="connsiteX154" fmla="*/ 1817416 w 1939336"/>
              <a:gd name="connsiteY154" fmla="*/ 952978 h 2639538"/>
              <a:gd name="connsiteX155" fmla="*/ 1792016 w 1939336"/>
              <a:gd name="connsiteY155" fmla="*/ 922498 h 2639538"/>
              <a:gd name="connsiteX156" fmla="*/ 1781856 w 1939336"/>
              <a:gd name="connsiteY156" fmla="*/ 907258 h 2639538"/>
              <a:gd name="connsiteX157" fmla="*/ 1751376 w 1939336"/>
              <a:gd name="connsiteY157" fmla="*/ 876778 h 2639538"/>
              <a:gd name="connsiteX158" fmla="*/ 1736136 w 1939336"/>
              <a:gd name="connsiteY158" fmla="*/ 861538 h 2639538"/>
              <a:gd name="connsiteX159" fmla="*/ 1705656 w 1939336"/>
              <a:gd name="connsiteY159" fmla="*/ 846298 h 2639538"/>
              <a:gd name="connsiteX160" fmla="*/ 1665016 w 1939336"/>
              <a:gd name="connsiteY160" fmla="*/ 815818 h 2639538"/>
              <a:gd name="connsiteX161" fmla="*/ 1634536 w 1939336"/>
              <a:gd name="connsiteY161" fmla="*/ 795498 h 2639538"/>
              <a:gd name="connsiteX162" fmla="*/ 1619296 w 1939336"/>
              <a:gd name="connsiteY162" fmla="*/ 785338 h 2639538"/>
              <a:gd name="connsiteX163" fmla="*/ 1578656 w 1939336"/>
              <a:gd name="connsiteY163" fmla="*/ 754858 h 2639538"/>
              <a:gd name="connsiteX164" fmla="*/ 1558336 w 1939336"/>
              <a:gd name="connsiteY164" fmla="*/ 739618 h 2639538"/>
              <a:gd name="connsiteX165" fmla="*/ 1512616 w 1939336"/>
              <a:gd name="connsiteY165" fmla="*/ 704058 h 2639538"/>
              <a:gd name="connsiteX166" fmla="*/ 1492296 w 1939336"/>
              <a:gd name="connsiteY166" fmla="*/ 688818 h 2639538"/>
              <a:gd name="connsiteX167" fmla="*/ 1466896 w 1939336"/>
              <a:gd name="connsiteY167" fmla="*/ 673578 h 2639538"/>
              <a:gd name="connsiteX168" fmla="*/ 1446576 w 1939336"/>
              <a:gd name="connsiteY168" fmla="*/ 663418 h 2639538"/>
              <a:gd name="connsiteX169" fmla="*/ 1395776 w 1939336"/>
              <a:gd name="connsiteY169" fmla="*/ 627858 h 2639538"/>
              <a:gd name="connsiteX170" fmla="*/ 1375456 w 1939336"/>
              <a:gd name="connsiteY170" fmla="*/ 617698 h 2639538"/>
              <a:gd name="connsiteX171" fmla="*/ 1355136 w 1939336"/>
              <a:gd name="connsiteY171" fmla="*/ 597378 h 2639538"/>
              <a:gd name="connsiteX172" fmla="*/ 1319576 w 1939336"/>
              <a:gd name="connsiteY172" fmla="*/ 582138 h 2639538"/>
              <a:gd name="connsiteX173" fmla="*/ 1263696 w 1939336"/>
              <a:gd name="connsiteY173" fmla="*/ 541498 h 2639538"/>
              <a:gd name="connsiteX174" fmla="*/ 1233216 w 1939336"/>
              <a:gd name="connsiteY174" fmla="*/ 521178 h 2639538"/>
              <a:gd name="connsiteX175" fmla="*/ 1217976 w 1939336"/>
              <a:gd name="connsiteY175" fmla="*/ 511018 h 2639538"/>
              <a:gd name="connsiteX176" fmla="*/ 1202736 w 1939336"/>
              <a:gd name="connsiteY176" fmla="*/ 495778 h 2639538"/>
              <a:gd name="connsiteX177" fmla="*/ 1182416 w 1939336"/>
              <a:gd name="connsiteY177" fmla="*/ 485618 h 2639538"/>
              <a:gd name="connsiteX178" fmla="*/ 1167176 w 1939336"/>
              <a:gd name="connsiteY178" fmla="*/ 475458 h 2639538"/>
              <a:gd name="connsiteX179" fmla="*/ 1146856 w 1939336"/>
              <a:gd name="connsiteY179" fmla="*/ 465298 h 2639538"/>
              <a:gd name="connsiteX180" fmla="*/ 1126536 w 1939336"/>
              <a:gd name="connsiteY180" fmla="*/ 444978 h 2639538"/>
              <a:gd name="connsiteX181" fmla="*/ 1075736 w 1939336"/>
              <a:gd name="connsiteY181" fmla="*/ 414498 h 2639538"/>
              <a:gd name="connsiteX182" fmla="*/ 1060496 w 1939336"/>
              <a:gd name="connsiteY182" fmla="*/ 409418 h 2639538"/>
              <a:gd name="connsiteX183" fmla="*/ 1009696 w 1939336"/>
              <a:gd name="connsiteY183" fmla="*/ 384018 h 2639538"/>
              <a:gd name="connsiteX184" fmla="*/ 994456 w 1939336"/>
              <a:gd name="connsiteY184" fmla="*/ 378938 h 2639538"/>
              <a:gd name="connsiteX185" fmla="*/ 943656 w 1939336"/>
              <a:gd name="connsiteY185" fmla="*/ 343378 h 2639538"/>
              <a:gd name="connsiteX186" fmla="*/ 928416 w 1939336"/>
              <a:gd name="connsiteY186" fmla="*/ 333218 h 2639538"/>
              <a:gd name="connsiteX187" fmla="*/ 913176 w 1939336"/>
              <a:gd name="connsiteY187" fmla="*/ 323058 h 2639538"/>
              <a:gd name="connsiteX188" fmla="*/ 867456 w 1939336"/>
              <a:gd name="connsiteY188" fmla="*/ 297658 h 2639538"/>
              <a:gd name="connsiteX189" fmla="*/ 852216 w 1939336"/>
              <a:gd name="connsiteY189" fmla="*/ 277338 h 2639538"/>
              <a:gd name="connsiteX190" fmla="*/ 821736 w 1939336"/>
              <a:gd name="connsiteY190" fmla="*/ 262098 h 2639538"/>
              <a:gd name="connsiteX191" fmla="*/ 781096 w 1939336"/>
              <a:gd name="connsiteY191" fmla="*/ 231618 h 2639538"/>
              <a:gd name="connsiteX192" fmla="*/ 745536 w 1939336"/>
              <a:gd name="connsiteY192" fmla="*/ 211298 h 2639538"/>
              <a:gd name="connsiteX193" fmla="*/ 730296 w 1939336"/>
              <a:gd name="connsiteY193" fmla="*/ 196058 h 2639538"/>
              <a:gd name="connsiteX194" fmla="*/ 709976 w 1939336"/>
              <a:gd name="connsiteY194" fmla="*/ 180818 h 2639538"/>
              <a:gd name="connsiteX195" fmla="*/ 689656 w 1939336"/>
              <a:gd name="connsiteY195" fmla="*/ 160498 h 2639538"/>
              <a:gd name="connsiteX196" fmla="*/ 669336 w 1939336"/>
              <a:gd name="connsiteY196" fmla="*/ 145258 h 2639538"/>
              <a:gd name="connsiteX197" fmla="*/ 633776 w 1939336"/>
              <a:gd name="connsiteY197" fmla="*/ 114778 h 2639538"/>
              <a:gd name="connsiteX198" fmla="*/ 618536 w 1939336"/>
              <a:gd name="connsiteY198" fmla="*/ 109698 h 2639538"/>
              <a:gd name="connsiteX199" fmla="*/ 582976 w 1939336"/>
              <a:gd name="connsiteY199" fmla="*/ 84298 h 2639538"/>
              <a:gd name="connsiteX200" fmla="*/ 567736 w 1939336"/>
              <a:gd name="connsiteY200" fmla="*/ 74138 h 2639538"/>
              <a:gd name="connsiteX201" fmla="*/ 547416 w 1939336"/>
              <a:gd name="connsiteY201" fmla="*/ 53818 h 2639538"/>
              <a:gd name="connsiteX202" fmla="*/ 506776 w 1939336"/>
              <a:gd name="connsiteY202" fmla="*/ 23338 h 2639538"/>
              <a:gd name="connsiteX203" fmla="*/ 491536 w 1939336"/>
              <a:gd name="connsiteY203" fmla="*/ 13178 h 2639538"/>
              <a:gd name="connsiteX204" fmla="*/ 476296 w 1939336"/>
              <a:gd name="connsiteY204" fmla="*/ 8098 h 2639538"/>
              <a:gd name="connsiteX205" fmla="*/ 339136 w 1939336"/>
              <a:gd name="connsiteY205" fmla="*/ 3018 h 2639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</a:cxnLst>
            <a:rect l="l" t="t" r="r" b="b"/>
            <a:pathLst>
              <a:path w="1939336" h="2639538">
                <a:moveTo>
                  <a:pt x="410256" y="13178"/>
                </a:moveTo>
                <a:lnTo>
                  <a:pt x="207056" y="18258"/>
                </a:lnTo>
                <a:cubicBezTo>
                  <a:pt x="194917" y="19577"/>
                  <a:pt x="187498" y="33117"/>
                  <a:pt x="176576" y="38578"/>
                </a:cubicBezTo>
                <a:cubicBezTo>
                  <a:pt x="169803" y="41965"/>
                  <a:pt x="162831" y="44981"/>
                  <a:pt x="156256" y="48738"/>
                </a:cubicBezTo>
                <a:cubicBezTo>
                  <a:pt x="150955" y="51767"/>
                  <a:pt x="146096" y="55511"/>
                  <a:pt x="141016" y="58898"/>
                </a:cubicBezTo>
                <a:cubicBezTo>
                  <a:pt x="139265" y="72907"/>
                  <a:pt x="138687" y="99116"/>
                  <a:pt x="130856" y="114778"/>
                </a:cubicBezTo>
                <a:cubicBezTo>
                  <a:pt x="128126" y="120239"/>
                  <a:pt x="124083" y="124938"/>
                  <a:pt x="120696" y="130018"/>
                </a:cubicBezTo>
                <a:cubicBezTo>
                  <a:pt x="122389" y="207911"/>
                  <a:pt x="122662" y="285849"/>
                  <a:pt x="125776" y="363698"/>
                </a:cubicBezTo>
                <a:cubicBezTo>
                  <a:pt x="126628" y="384997"/>
                  <a:pt x="137145" y="393382"/>
                  <a:pt x="151176" y="409418"/>
                </a:cubicBezTo>
                <a:cubicBezTo>
                  <a:pt x="155907" y="414825"/>
                  <a:pt x="162005" y="418987"/>
                  <a:pt x="166416" y="424658"/>
                </a:cubicBezTo>
                <a:cubicBezTo>
                  <a:pt x="173913" y="434297"/>
                  <a:pt x="176967" y="447812"/>
                  <a:pt x="186736" y="455138"/>
                </a:cubicBezTo>
                <a:cubicBezTo>
                  <a:pt x="262835" y="512213"/>
                  <a:pt x="158615" y="432551"/>
                  <a:pt x="222296" y="485618"/>
                </a:cubicBezTo>
                <a:cubicBezTo>
                  <a:pt x="226986" y="489527"/>
                  <a:pt x="232235" y="492749"/>
                  <a:pt x="237536" y="495778"/>
                </a:cubicBezTo>
                <a:cubicBezTo>
                  <a:pt x="259085" y="508091"/>
                  <a:pt x="278468" y="514089"/>
                  <a:pt x="303576" y="516098"/>
                </a:cubicBezTo>
                <a:cubicBezTo>
                  <a:pt x="335691" y="518667"/>
                  <a:pt x="367909" y="519779"/>
                  <a:pt x="400096" y="521178"/>
                </a:cubicBezTo>
                <a:lnTo>
                  <a:pt x="537256" y="526258"/>
                </a:lnTo>
                <a:cubicBezTo>
                  <a:pt x="560995" y="527416"/>
                  <a:pt x="584655" y="529855"/>
                  <a:pt x="608376" y="531338"/>
                </a:cubicBezTo>
                <a:lnTo>
                  <a:pt x="699816" y="536418"/>
                </a:lnTo>
                <a:cubicBezTo>
                  <a:pt x="713363" y="539805"/>
                  <a:pt x="726682" y="544282"/>
                  <a:pt x="740456" y="546578"/>
                </a:cubicBezTo>
                <a:cubicBezTo>
                  <a:pt x="779453" y="553077"/>
                  <a:pt x="760836" y="549638"/>
                  <a:pt x="796336" y="556738"/>
                </a:cubicBezTo>
                <a:cubicBezTo>
                  <a:pt x="829463" y="581583"/>
                  <a:pt x="803709" y="567357"/>
                  <a:pt x="852216" y="577058"/>
                </a:cubicBezTo>
                <a:cubicBezTo>
                  <a:pt x="873497" y="581314"/>
                  <a:pt x="862717" y="582308"/>
                  <a:pt x="882696" y="592298"/>
                </a:cubicBezTo>
                <a:cubicBezTo>
                  <a:pt x="909789" y="605845"/>
                  <a:pt x="886543" y="586396"/>
                  <a:pt x="918256" y="607538"/>
                </a:cubicBezTo>
                <a:cubicBezTo>
                  <a:pt x="932345" y="616931"/>
                  <a:pt x="945474" y="627694"/>
                  <a:pt x="958896" y="638018"/>
                </a:cubicBezTo>
                <a:cubicBezTo>
                  <a:pt x="967490" y="644629"/>
                  <a:pt x="974598" y="653489"/>
                  <a:pt x="984296" y="658338"/>
                </a:cubicBezTo>
                <a:cubicBezTo>
                  <a:pt x="994244" y="663312"/>
                  <a:pt x="1011080" y="670680"/>
                  <a:pt x="1019856" y="678658"/>
                </a:cubicBezTo>
                <a:cubicBezTo>
                  <a:pt x="1034032" y="691545"/>
                  <a:pt x="1043361" y="710730"/>
                  <a:pt x="1060496" y="719298"/>
                </a:cubicBezTo>
                <a:cubicBezTo>
                  <a:pt x="1093667" y="735884"/>
                  <a:pt x="1075461" y="724103"/>
                  <a:pt x="1111296" y="759938"/>
                </a:cubicBezTo>
                <a:lnTo>
                  <a:pt x="1111296" y="759938"/>
                </a:lnTo>
                <a:cubicBezTo>
                  <a:pt x="1128998" y="770559"/>
                  <a:pt x="1141624" y="776950"/>
                  <a:pt x="1157016" y="790418"/>
                </a:cubicBezTo>
                <a:cubicBezTo>
                  <a:pt x="1164225" y="796726"/>
                  <a:pt x="1169775" y="804857"/>
                  <a:pt x="1177336" y="810738"/>
                </a:cubicBezTo>
                <a:cubicBezTo>
                  <a:pt x="1185130" y="816800"/>
                  <a:pt x="1194618" y="820358"/>
                  <a:pt x="1202736" y="825978"/>
                </a:cubicBezTo>
                <a:cubicBezTo>
                  <a:pt x="1216658" y="835617"/>
                  <a:pt x="1228230" y="848885"/>
                  <a:pt x="1243376" y="856458"/>
                </a:cubicBezTo>
                <a:cubicBezTo>
                  <a:pt x="1250149" y="859845"/>
                  <a:pt x="1257202" y="862722"/>
                  <a:pt x="1263696" y="866618"/>
                </a:cubicBezTo>
                <a:cubicBezTo>
                  <a:pt x="1274167" y="872900"/>
                  <a:pt x="1283254" y="881477"/>
                  <a:pt x="1294176" y="886938"/>
                </a:cubicBezTo>
                <a:cubicBezTo>
                  <a:pt x="1300949" y="890325"/>
                  <a:pt x="1308074" y="893084"/>
                  <a:pt x="1314496" y="897098"/>
                </a:cubicBezTo>
                <a:cubicBezTo>
                  <a:pt x="1321676" y="901585"/>
                  <a:pt x="1327636" y="907851"/>
                  <a:pt x="1334816" y="912338"/>
                </a:cubicBezTo>
                <a:cubicBezTo>
                  <a:pt x="1341238" y="916352"/>
                  <a:pt x="1348516" y="918820"/>
                  <a:pt x="1355136" y="922498"/>
                </a:cubicBezTo>
                <a:cubicBezTo>
                  <a:pt x="1363767" y="927293"/>
                  <a:pt x="1372163" y="932505"/>
                  <a:pt x="1380536" y="937738"/>
                </a:cubicBezTo>
                <a:cubicBezTo>
                  <a:pt x="1409244" y="955680"/>
                  <a:pt x="1382834" y="939707"/>
                  <a:pt x="1416096" y="968218"/>
                </a:cubicBezTo>
                <a:cubicBezTo>
                  <a:pt x="1420732" y="972191"/>
                  <a:pt x="1426256" y="974991"/>
                  <a:pt x="1431336" y="978378"/>
                </a:cubicBezTo>
                <a:cubicBezTo>
                  <a:pt x="1450795" y="1007566"/>
                  <a:pt x="1437179" y="989301"/>
                  <a:pt x="1477056" y="1029178"/>
                </a:cubicBezTo>
                <a:cubicBezTo>
                  <a:pt x="1482136" y="1034258"/>
                  <a:pt x="1489083" y="1037992"/>
                  <a:pt x="1492296" y="1044418"/>
                </a:cubicBezTo>
                <a:cubicBezTo>
                  <a:pt x="1495683" y="1051191"/>
                  <a:pt x="1498054" y="1058576"/>
                  <a:pt x="1502456" y="1064738"/>
                </a:cubicBezTo>
                <a:cubicBezTo>
                  <a:pt x="1511346" y="1077183"/>
                  <a:pt x="1520784" y="1082037"/>
                  <a:pt x="1532936" y="1090138"/>
                </a:cubicBezTo>
                <a:cubicBezTo>
                  <a:pt x="1534629" y="1096911"/>
                  <a:pt x="1535565" y="1103921"/>
                  <a:pt x="1538016" y="1110458"/>
                </a:cubicBezTo>
                <a:cubicBezTo>
                  <a:pt x="1543540" y="1125190"/>
                  <a:pt x="1549914" y="1133385"/>
                  <a:pt x="1558336" y="1146018"/>
                </a:cubicBezTo>
                <a:cubicBezTo>
                  <a:pt x="1562339" y="1162031"/>
                  <a:pt x="1563030" y="1167002"/>
                  <a:pt x="1568496" y="1181578"/>
                </a:cubicBezTo>
                <a:cubicBezTo>
                  <a:pt x="1586719" y="1230173"/>
                  <a:pt x="1572205" y="1187626"/>
                  <a:pt x="1583736" y="1222218"/>
                </a:cubicBezTo>
                <a:cubicBezTo>
                  <a:pt x="1585429" y="1247618"/>
                  <a:pt x="1586702" y="1273050"/>
                  <a:pt x="1588816" y="1298418"/>
                </a:cubicBezTo>
                <a:cubicBezTo>
                  <a:pt x="1590089" y="1313699"/>
                  <a:pt x="1593896" y="1328804"/>
                  <a:pt x="1593896" y="1344138"/>
                </a:cubicBezTo>
                <a:cubicBezTo>
                  <a:pt x="1593896" y="1491468"/>
                  <a:pt x="1591917" y="1638801"/>
                  <a:pt x="1588816" y="1786098"/>
                </a:cubicBezTo>
                <a:cubicBezTo>
                  <a:pt x="1587876" y="1830744"/>
                  <a:pt x="1584487" y="1814988"/>
                  <a:pt x="1578656" y="1847058"/>
                </a:cubicBezTo>
                <a:cubicBezTo>
                  <a:pt x="1570484" y="1892005"/>
                  <a:pt x="1581354" y="1870951"/>
                  <a:pt x="1563416" y="1897858"/>
                </a:cubicBezTo>
                <a:cubicBezTo>
                  <a:pt x="1561723" y="1911405"/>
                  <a:pt x="1563002" y="1925668"/>
                  <a:pt x="1558336" y="1938498"/>
                </a:cubicBezTo>
                <a:cubicBezTo>
                  <a:pt x="1555207" y="1947103"/>
                  <a:pt x="1535112" y="1959060"/>
                  <a:pt x="1527856" y="1963898"/>
                </a:cubicBezTo>
                <a:cubicBezTo>
                  <a:pt x="1524469" y="1968978"/>
                  <a:pt x="1522013" y="1974821"/>
                  <a:pt x="1517696" y="1979138"/>
                </a:cubicBezTo>
                <a:cubicBezTo>
                  <a:pt x="1513379" y="1983455"/>
                  <a:pt x="1507757" y="1986269"/>
                  <a:pt x="1502456" y="1989298"/>
                </a:cubicBezTo>
                <a:cubicBezTo>
                  <a:pt x="1483749" y="1999988"/>
                  <a:pt x="1468225" y="2003209"/>
                  <a:pt x="1451656" y="2019778"/>
                </a:cubicBezTo>
                <a:cubicBezTo>
                  <a:pt x="1416859" y="2054575"/>
                  <a:pt x="1429146" y="2038303"/>
                  <a:pt x="1411016" y="2065498"/>
                </a:cubicBezTo>
                <a:cubicBezTo>
                  <a:pt x="1401781" y="2102439"/>
                  <a:pt x="1414084" y="2072590"/>
                  <a:pt x="1390696" y="2095978"/>
                </a:cubicBezTo>
                <a:cubicBezTo>
                  <a:pt x="1373551" y="2113123"/>
                  <a:pt x="1386039" y="2124341"/>
                  <a:pt x="1350056" y="2131538"/>
                </a:cubicBezTo>
                <a:cubicBezTo>
                  <a:pt x="1333123" y="2134925"/>
                  <a:pt x="1316009" y="2137510"/>
                  <a:pt x="1299256" y="2141698"/>
                </a:cubicBezTo>
                <a:cubicBezTo>
                  <a:pt x="1292483" y="2143391"/>
                  <a:pt x="1285897" y="2146243"/>
                  <a:pt x="1278936" y="2146778"/>
                </a:cubicBezTo>
                <a:cubicBezTo>
                  <a:pt x="1241754" y="2149638"/>
                  <a:pt x="1204460" y="2151089"/>
                  <a:pt x="1167176" y="2151858"/>
                </a:cubicBezTo>
                <a:lnTo>
                  <a:pt x="786176" y="2156938"/>
                </a:lnTo>
                <a:cubicBezTo>
                  <a:pt x="747229" y="2158631"/>
                  <a:pt x="708220" y="2159241"/>
                  <a:pt x="669336" y="2162018"/>
                </a:cubicBezTo>
                <a:cubicBezTo>
                  <a:pt x="660724" y="2162633"/>
                  <a:pt x="652545" y="2166436"/>
                  <a:pt x="643936" y="2167098"/>
                </a:cubicBezTo>
                <a:cubicBezTo>
                  <a:pt x="608441" y="2169828"/>
                  <a:pt x="572816" y="2170485"/>
                  <a:pt x="537256" y="2172178"/>
                </a:cubicBezTo>
                <a:cubicBezTo>
                  <a:pt x="500278" y="2181422"/>
                  <a:pt x="533621" y="2172114"/>
                  <a:pt x="491536" y="2187418"/>
                </a:cubicBezTo>
                <a:cubicBezTo>
                  <a:pt x="481471" y="2191078"/>
                  <a:pt x="471000" y="2193601"/>
                  <a:pt x="461056" y="2197578"/>
                </a:cubicBezTo>
                <a:cubicBezTo>
                  <a:pt x="452589" y="2200965"/>
                  <a:pt x="444194" y="2204536"/>
                  <a:pt x="435656" y="2207738"/>
                </a:cubicBezTo>
                <a:cubicBezTo>
                  <a:pt x="430642" y="2209618"/>
                  <a:pt x="425338" y="2210709"/>
                  <a:pt x="420416" y="2212818"/>
                </a:cubicBezTo>
                <a:cubicBezTo>
                  <a:pt x="383225" y="2228757"/>
                  <a:pt x="417239" y="2218692"/>
                  <a:pt x="379776" y="2228058"/>
                </a:cubicBezTo>
                <a:cubicBezTo>
                  <a:pt x="358108" y="2242504"/>
                  <a:pt x="350845" y="2249165"/>
                  <a:pt x="328976" y="2258538"/>
                </a:cubicBezTo>
                <a:cubicBezTo>
                  <a:pt x="324054" y="2260647"/>
                  <a:pt x="318963" y="2262456"/>
                  <a:pt x="313736" y="2263618"/>
                </a:cubicBezTo>
                <a:cubicBezTo>
                  <a:pt x="303681" y="2265852"/>
                  <a:pt x="293249" y="2266200"/>
                  <a:pt x="283256" y="2268698"/>
                </a:cubicBezTo>
                <a:cubicBezTo>
                  <a:pt x="272866" y="2271295"/>
                  <a:pt x="262936" y="2275471"/>
                  <a:pt x="252776" y="2278858"/>
                </a:cubicBezTo>
                <a:lnTo>
                  <a:pt x="237536" y="2283938"/>
                </a:lnTo>
                <a:cubicBezTo>
                  <a:pt x="232456" y="2289018"/>
                  <a:pt x="226895" y="2293659"/>
                  <a:pt x="222296" y="2299178"/>
                </a:cubicBezTo>
                <a:cubicBezTo>
                  <a:pt x="218387" y="2303868"/>
                  <a:pt x="217437" y="2311389"/>
                  <a:pt x="212136" y="2314418"/>
                </a:cubicBezTo>
                <a:cubicBezTo>
                  <a:pt x="204639" y="2318702"/>
                  <a:pt x="195203" y="2317805"/>
                  <a:pt x="186736" y="2319498"/>
                </a:cubicBezTo>
                <a:cubicBezTo>
                  <a:pt x="181656" y="2322885"/>
                  <a:pt x="177075" y="2327178"/>
                  <a:pt x="171496" y="2329658"/>
                </a:cubicBezTo>
                <a:cubicBezTo>
                  <a:pt x="137002" y="2344988"/>
                  <a:pt x="122500" y="2341361"/>
                  <a:pt x="80056" y="2344898"/>
                </a:cubicBezTo>
                <a:cubicBezTo>
                  <a:pt x="41795" y="2370405"/>
                  <a:pt x="90421" y="2340456"/>
                  <a:pt x="44496" y="2360138"/>
                </a:cubicBezTo>
                <a:cubicBezTo>
                  <a:pt x="38884" y="2362543"/>
                  <a:pt x="34336" y="2366911"/>
                  <a:pt x="29256" y="2370298"/>
                </a:cubicBezTo>
                <a:cubicBezTo>
                  <a:pt x="25869" y="2375378"/>
                  <a:pt x="22125" y="2380237"/>
                  <a:pt x="19096" y="2385538"/>
                </a:cubicBezTo>
                <a:cubicBezTo>
                  <a:pt x="-11887" y="2439758"/>
                  <a:pt x="1203" y="2463490"/>
                  <a:pt x="14016" y="2553178"/>
                </a:cubicBezTo>
                <a:cubicBezTo>
                  <a:pt x="15743" y="2565266"/>
                  <a:pt x="34336" y="2583658"/>
                  <a:pt x="34336" y="2583658"/>
                </a:cubicBezTo>
                <a:cubicBezTo>
                  <a:pt x="37976" y="2598219"/>
                  <a:pt x="43241" y="2628960"/>
                  <a:pt x="59736" y="2634458"/>
                </a:cubicBezTo>
                <a:lnTo>
                  <a:pt x="74976" y="2639538"/>
                </a:lnTo>
                <a:lnTo>
                  <a:pt x="953816" y="2634458"/>
                </a:lnTo>
                <a:cubicBezTo>
                  <a:pt x="964116" y="2634343"/>
                  <a:pt x="974196" y="2631398"/>
                  <a:pt x="984296" y="2629378"/>
                </a:cubicBezTo>
                <a:cubicBezTo>
                  <a:pt x="1006934" y="2624850"/>
                  <a:pt x="1028500" y="2616337"/>
                  <a:pt x="1050336" y="2609058"/>
                </a:cubicBezTo>
                <a:cubicBezTo>
                  <a:pt x="1055416" y="2607365"/>
                  <a:pt x="1060381" y="2605277"/>
                  <a:pt x="1065576" y="2603978"/>
                </a:cubicBezTo>
                <a:cubicBezTo>
                  <a:pt x="1096286" y="2596301"/>
                  <a:pt x="1079272" y="2601106"/>
                  <a:pt x="1116376" y="2588738"/>
                </a:cubicBezTo>
                <a:cubicBezTo>
                  <a:pt x="1126536" y="2585351"/>
                  <a:pt x="1136912" y="2582555"/>
                  <a:pt x="1146856" y="2578578"/>
                </a:cubicBezTo>
                <a:cubicBezTo>
                  <a:pt x="1155323" y="2575191"/>
                  <a:pt x="1163686" y="2571534"/>
                  <a:pt x="1172256" y="2568418"/>
                </a:cubicBezTo>
                <a:cubicBezTo>
                  <a:pt x="1182321" y="2564758"/>
                  <a:pt x="1192792" y="2562235"/>
                  <a:pt x="1202736" y="2558258"/>
                </a:cubicBezTo>
                <a:cubicBezTo>
                  <a:pt x="1211203" y="2554871"/>
                  <a:pt x="1219173" y="2549779"/>
                  <a:pt x="1228136" y="2548098"/>
                </a:cubicBezTo>
                <a:cubicBezTo>
                  <a:pt x="1246519" y="2544651"/>
                  <a:pt x="1265389" y="2544711"/>
                  <a:pt x="1284016" y="2543018"/>
                </a:cubicBezTo>
                <a:cubicBezTo>
                  <a:pt x="1289096" y="2541325"/>
                  <a:pt x="1294467" y="2540333"/>
                  <a:pt x="1299256" y="2537938"/>
                </a:cubicBezTo>
                <a:cubicBezTo>
                  <a:pt x="1304717" y="2535208"/>
                  <a:pt x="1309612" y="2531441"/>
                  <a:pt x="1314496" y="2527778"/>
                </a:cubicBezTo>
                <a:cubicBezTo>
                  <a:pt x="1329942" y="2516194"/>
                  <a:pt x="1344152" y="2502928"/>
                  <a:pt x="1360216" y="2492218"/>
                </a:cubicBezTo>
                <a:cubicBezTo>
                  <a:pt x="1365296" y="2488831"/>
                  <a:pt x="1369995" y="2484788"/>
                  <a:pt x="1375456" y="2482058"/>
                </a:cubicBezTo>
                <a:cubicBezTo>
                  <a:pt x="1380245" y="2479663"/>
                  <a:pt x="1385774" y="2479087"/>
                  <a:pt x="1390696" y="2476978"/>
                </a:cubicBezTo>
                <a:cubicBezTo>
                  <a:pt x="1397657" y="2473995"/>
                  <a:pt x="1403985" y="2469630"/>
                  <a:pt x="1411016" y="2466818"/>
                </a:cubicBezTo>
                <a:cubicBezTo>
                  <a:pt x="1420960" y="2462841"/>
                  <a:pt x="1431106" y="2459255"/>
                  <a:pt x="1441496" y="2456658"/>
                </a:cubicBezTo>
                <a:cubicBezTo>
                  <a:pt x="1457509" y="2452655"/>
                  <a:pt x="1462480" y="2451964"/>
                  <a:pt x="1477056" y="2446498"/>
                </a:cubicBezTo>
                <a:cubicBezTo>
                  <a:pt x="1485594" y="2443296"/>
                  <a:pt x="1493886" y="2439454"/>
                  <a:pt x="1502456" y="2436338"/>
                </a:cubicBezTo>
                <a:cubicBezTo>
                  <a:pt x="1517553" y="2430848"/>
                  <a:pt x="1532936" y="2426178"/>
                  <a:pt x="1548176" y="2421098"/>
                </a:cubicBezTo>
                <a:cubicBezTo>
                  <a:pt x="1553256" y="2419405"/>
                  <a:pt x="1558444" y="2418007"/>
                  <a:pt x="1563416" y="2416018"/>
                </a:cubicBezTo>
                <a:cubicBezTo>
                  <a:pt x="1571883" y="2412631"/>
                  <a:pt x="1580278" y="2409060"/>
                  <a:pt x="1588816" y="2405858"/>
                </a:cubicBezTo>
                <a:cubicBezTo>
                  <a:pt x="1593830" y="2403978"/>
                  <a:pt x="1599267" y="2403173"/>
                  <a:pt x="1604056" y="2400778"/>
                </a:cubicBezTo>
                <a:cubicBezTo>
                  <a:pt x="1643447" y="2381083"/>
                  <a:pt x="1596230" y="2398307"/>
                  <a:pt x="1634536" y="2385538"/>
                </a:cubicBezTo>
                <a:cubicBezTo>
                  <a:pt x="1642033" y="2374293"/>
                  <a:pt x="1648202" y="2362881"/>
                  <a:pt x="1659936" y="2355058"/>
                </a:cubicBezTo>
                <a:cubicBezTo>
                  <a:pt x="1664391" y="2352088"/>
                  <a:pt x="1670096" y="2351671"/>
                  <a:pt x="1675176" y="2349978"/>
                </a:cubicBezTo>
                <a:cubicBezTo>
                  <a:pt x="1680256" y="2344898"/>
                  <a:pt x="1686431" y="2340716"/>
                  <a:pt x="1690416" y="2334738"/>
                </a:cubicBezTo>
                <a:cubicBezTo>
                  <a:pt x="1693520" y="2330082"/>
                  <a:pt x="1699652" y="2302257"/>
                  <a:pt x="1700576" y="2299178"/>
                </a:cubicBezTo>
                <a:cubicBezTo>
                  <a:pt x="1703653" y="2288920"/>
                  <a:pt x="1708636" y="2279200"/>
                  <a:pt x="1710736" y="2268698"/>
                </a:cubicBezTo>
                <a:cubicBezTo>
                  <a:pt x="1712429" y="2260231"/>
                  <a:pt x="1713544" y="2251628"/>
                  <a:pt x="1715816" y="2243298"/>
                </a:cubicBezTo>
                <a:cubicBezTo>
                  <a:pt x="1718634" y="2232966"/>
                  <a:pt x="1725976" y="2212818"/>
                  <a:pt x="1725976" y="2212818"/>
                </a:cubicBezTo>
                <a:cubicBezTo>
                  <a:pt x="1727669" y="2184031"/>
                  <a:pt x="1728322" y="2155165"/>
                  <a:pt x="1731056" y="2126458"/>
                </a:cubicBezTo>
                <a:cubicBezTo>
                  <a:pt x="1731718" y="2119508"/>
                  <a:pt x="1734988" y="2113025"/>
                  <a:pt x="1736136" y="2106138"/>
                </a:cubicBezTo>
                <a:cubicBezTo>
                  <a:pt x="1738380" y="2092672"/>
                  <a:pt x="1738700" y="2078916"/>
                  <a:pt x="1741216" y="2065498"/>
                </a:cubicBezTo>
                <a:cubicBezTo>
                  <a:pt x="1743789" y="2051774"/>
                  <a:pt x="1751376" y="2024858"/>
                  <a:pt x="1751376" y="2024858"/>
                </a:cubicBezTo>
                <a:cubicBezTo>
                  <a:pt x="1753069" y="1989298"/>
                  <a:pt x="1753500" y="1953655"/>
                  <a:pt x="1756456" y="1918178"/>
                </a:cubicBezTo>
                <a:cubicBezTo>
                  <a:pt x="1756901" y="1912842"/>
                  <a:pt x="1760656" y="1908220"/>
                  <a:pt x="1761536" y="1902938"/>
                </a:cubicBezTo>
                <a:cubicBezTo>
                  <a:pt x="1764057" y="1887813"/>
                  <a:pt x="1762897" y="1872094"/>
                  <a:pt x="1766616" y="1857218"/>
                </a:cubicBezTo>
                <a:cubicBezTo>
                  <a:pt x="1768097" y="1851295"/>
                  <a:pt x="1774046" y="1847439"/>
                  <a:pt x="1776776" y="1841978"/>
                </a:cubicBezTo>
                <a:cubicBezTo>
                  <a:pt x="1786177" y="1823176"/>
                  <a:pt x="1778241" y="1824524"/>
                  <a:pt x="1786936" y="1801338"/>
                </a:cubicBezTo>
                <a:cubicBezTo>
                  <a:pt x="1789080" y="1795621"/>
                  <a:pt x="1794616" y="1791677"/>
                  <a:pt x="1797096" y="1786098"/>
                </a:cubicBezTo>
                <a:cubicBezTo>
                  <a:pt x="1801446" y="1776311"/>
                  <a:pt x="1803869" y="1765778"/>
                  <a:pt x="1807256" y="1755618"/>
                </a:cubicBezTo>
                <a:cubicBezTo>
                  <a:pt x="1814544" y="1733754"/>
                  <a:pt x="1811037" y="1745573"/>
                  <a:pt x="1817416" y="1720058"/>
                </a:cubicBezTo>
                <a:cubicBezTo>
                  <a:pt x="1826842" y="1616375"/>
                  <a:pt x="1812650" y="1697208"/>
                  <a:pt x="1832656" y="1643858"/>
                </a:cubicBezTo>
                <a:cubicBezTo>
                  <a:pt x="1836567" y="1633428"/>
                  <a:pt x="1840402" y="1607794"/>
                  <a:pt x="1842816" y="1598138"/>
                </a:cubicBezTo>
                <a:cubicBezTo>
                  <a:pt x="1847503" y="1579390"/>
                  <a:pt x="1851623" y="1576687"/>
                  <a:pt x="1863136" y="1557498"/>
                </a:cubicBezTo>
                <a:cubicBezTo>
                  <a:pt x="1864829" y="1549031"/>
                  <a:pt x="1866122" y="1540475"/>
                  <a:pt x="1868216" y="1532098"/>
                </a:cubicBezTo>
                <a:cubicBezTo>
                  <a:pt x="1869515" y="1526903"/>
                  <a:pt x="1872134" y="1522085"/>
                  <a:pt x="1873296" y="1516858"/>
                </a:cubicBezTo>
                <a:cubicBezTo>
                  <a:pt x="1875530" y="1506803"/>
                  <a:pt x="1875666" y="1496315"/>
                  <a:pt x="1878376" y="1486378"/>
                </a:cubicBezTo>
                <a:cubicBezTo>
                  <a:pt x="1880775" y="1477580"/>
                  <a:pt x="1885420" y="1469548"/>
                  <a:pt x="1888536" y="1460978"/>
                </a:cubicBezTo>
                <a:cubicBezTo>
                  <a:pt x="1892196" y="1450913"/>
                  <a:pt x="1894719" y="1440442"/>
                  <a:pt x="1898696" y="1430498"/>
                </a:cubicBezTo>
                <a:cubicBezTo>
                  <a:pt x="1904064" y="1417078"/>
                  <a:pt x="1909954" y="1403794"/>
                  <a:pt x="1913936" y="1389858"/>
                </a:cubicBezTo>
                <a:cubicBezTo>
                  <a:pt x="1915854" y="1383145"/>
                  <a:pt x="1917098" y="1376251"/>
                  <a:pt x="1919016" y="1369538"/>
                </a:cubicBezTo>
                <a:cubicBezTo>
                  <a:pt x="1920487" y="1364389"/>
                  <a:pt x="1922625" y="1359447"/>
                  <a:pt x="1924096" y="1354298"/>
                </a:cubicBezTo>
                <a:cubicBezTo>
                  <a:pt x="1926014" y="1347585"/>
                  <a:pt x="1927170" y="1340665"/>
                  <a:pt x="1929176" y="1333978"/>
                </a:cubicBezTo>
                <a:cubicBezTo>
                  <a:pt x="1932253" y="1323720"/>
                  <a:pt x="1939336" y="1303498"/>
                  <a:pt x="1939336" y="1303498"/>
                </a:cubicBezTo>
                <a:cubicBezTo>
                  <a:pt x="1937643" y="1237458"/>
                  <a:pt x="1938650" y="1171293"/>
                  <a:pt x="1934256" y="1105378"/>
                </a:cubicBezTo>
                <a:cubicBezTo>
                  <a:pt x="1931994" y="1071441"/>
                  <a:pt x="1924847" y="1080218"/>
                  <a:pt x="1908856" y="1059658"/>
                </a:cubicBezTo>
                <a:cubicBezTo>
                  <a:pt x="1901359" y="1050019"/>
                  <a:pt x="1895309" y="1039338"/>
                  <a:pt x="1888536" y="1029178"/>
                </a:cubicBezTo>
                <a:cubicBezTo>
                  <a:pt x="1885149" y="1024098"/>
                  <a:pt x="1882693" y="1018255"/>
                  <a:pt x="1878376" y="1013938"/>
                </a:cubicBezTo>
                <a:cubicBezTo>
                  <a:pt x="1873296" y="1008858"/>
                  <a:pt x="1867811" y="1004153"/>
                  <a:pt x="1863136" y="998698"/>
                </a:cubicBezTo>
                <a:cubicBezTo>
                  <a:pt x="1857626" y="992270"/>
                  <a:pt x="1852817" y="985268"/>
                  <a:pt x="1847896" y="978378"/>
                </a:cubicBezTo>
                <a:cubicBezTo>
                  <a:pt x="1844347" y="973410"/>
                  <a:pt x="1842426" y="967047"/>
                  <a:pt x="1837736" y="963138"/>
                </a:cubicBezTo>
                <a:cubicBezTo>
                  <a:pt x="1831918" y="958290"/>
                  <a:pt x="1824189" y="956365"/>
                  <a:pt x="1817416" y="952978"/>
                </a:cubicBezTo>
                <a:cubicBezTo>
                  <a:pt x="1792191" y="915140"/>
                  <a:pt x="1824611" y="961612"/>
                  <a:pt x="1792016" y="922498"/>
                </a:cubicBezTo>
                <a:cubicBezTo>
                  <a:pt x="1788107" y="917808"/>
                  <a:pt x="1785912" y="911821"/>
                  <a:pt x="1781856" y="907258"/>
                </a:cubicBezTo>
                <a:cubicBezTo>
                  <a:pt x="1772310" y="896519"/>
                  <a:pt x="1761536" y="886938"/>
                  <a:pt x="1751376" y="876778"/>
                </a:cubicBezTo>
                <a:cubicBezTo>
                  <a:pt x="1746296" y="871698"/>
                  <a:pt x="1742114" y="865523"/>
                  <a:pt x="1736136" y="861538"/>
                </a:cubicBezTo>
                <a:cubicBezTo>
                  <a:pt x="1692460" y="832421"/>
                  <a:pt x="1747720" y="867330"/>
                  <a:pt x="1705656" y="846298"/>
                </a:cubicBezTo>
                <a:cubicBezTo>
                  <a:pt x="1693750" y="840345"/>
                  <a:pt x="1673240" y="821799"/>
                  <a:pt x="1665016" y="815818"/>
                </a:cubicBezTo>
                <a:cubicBezTo>
                  <a:pt x="1655141" y="808636"/>
                  <a:pt x="1644696" y="802271"/>
                  <a:pt x="1634536" y="795498"/>
                </a:cubicBezTo>
                <a:cubicBezTo>
                  <a:pt x="1629456" y="792111"/>
                  <a:pt x="1624180" y="789001"/>
                  <a:pt x="1619296" y="785338"/>
                </a:cubicBezTo>
                <a:lnTo>
                  <a:pt x="1578656" y="754858"/>
                </a:lnTo>
                <a:cubicBezTo>
                  <a:pt x="1571883" y="749778"/>
                  <a:pt x="1565019" y="744816"/>
                  <a:pt x="1558336" y="739618"/>
                </a:cubicBezTo>
                <a:cubicBezTo>
                  <a:pt x="1500716" y="694802"/>
                  <a:pt x="1561607" y="740802"/>
                  <a:pt x="1512616" y="704058"/>
                </a:cubicBezTo>
                <a:cubicBezTo>
                  <a:pt x="1505843" y="698978"/>
                  <a:pt x="1499556" y="693174"/>
                  <a:pt x="1492296" y="688818"/>
                </a:cubicBezTo>
                <a:cubicBezTo>
                  <a:pt x="1483829" y="683738"/>
                  <a:pt x="1475527" y="678373"/>
                  <a:pt x="1466896" y="673578"/>
                </a:cubicBezTo>
                <a:cubicBezTo>
                  <a:pt x="1460276" y="669900"/>
                  <a:pt x="1452946" y="667513"/>
                  <a:pt x="1446576" y="663418"/>
                </a:cubicBezTo>
                <a:cubicBezTo>
                  <a:pt x="1429189" y="652241"/>
                  <a:pt x="1414264" y="637102"/>
                  <a:pt x="1395776" y="627858"/>
                </a:cubicBezTo>
                <a:cubicBezTo>
                  <a:pt x="1389003" y="624471"/>
                  <a:pt x="1381514" y="622242"/>
                  <a:pt x="1375456" y="617698"/>
                </a:cubicBezTo>
                <a:cubicBezTo>
                  <a:pt x="1367793" y="611951"/>
                  <a:pt x="1362799" y="603125"/>
                  <a:pt x="1355136" y="597378"/>
                </a:cubicBezTo>
                <a:cubicBezTo>
                  <a:pt x="1326067" y="575576"/>
                  <a:pt x="1344800" y="596151"/>
                  <a:pt x="1319576" y="582138"/>
                </a:cubicBezTo>
                <a:cubicBezTo>
                  <a:pt x="1288971" y="565135"/>
                  <a:pt x="1290731" y="561160"/>
                  <a:pt x="1263696" y="541498"/>
                </a:cubicBezTo>
                <a:cubicBezTo>
                  <a:pt x="1253821" y="534316"/>
                  <a:pt x="1243376" y="527951"/>
                  <a:pt x="1233216" y="521178"/>
                </a:cubicBezTo>
                <a:cubicBezTo>
                  <a:pt x="1228136" y="517791"/>
                  <a:pt x="1222293" y="515335"/>
                  <a:pt x="1217976" y="511018"/>
                </a:cubicBezTo>
                <a:cubicBezTo>
                  <a:pt x="1212896" y="505938"/>
                  <a:pt x="1208582" y="499954"/>
                  <a:pt x="1202736" y="495778"/>
                </a:cubicBezTo>
                <a:cubicBezTo>
                  <a:pt x="1196574" y="491376"/>
                  <a:pt x="1188991" y="489375"/>
                  <a:pt x="1182416" y="485618"/>
                </a:cubicBezTo>
                <a:cubicBezTo>
                  <a:pt x="1177115" y="482589"/>
                  <a:pt x="1172477" y="478487"/>
                  <a:pt x="1167176" y="475458"/>
                </a:cubicBezTo>
                <a:cubicBezTo>
                  <a:pt x="1160601" y="471701"/>
                  <a:pt x="1152914" y="469842"/>
                  <a:pt x="1146856" y="465298"/>
                </a:cubicBezTo>
                <a:cubicBezTo>
                  <a:pt x="1139193" y="459551"/>
                  <a:pt x="1134016" y="450962"/>
                  <a:pt x="1126536" y="444978"/>
                </a:cubicBezTo>
                <a:cubicBezTo>
                  <a:pt x="1112646" y="433866"/>
                  <a:pt x="1092781" y="421803"/>
                  <a:pt x="1075736" y="414498"/>
                </a:cubicBezTo>
                <a:cubicBezTo>
                  <a:pt x="1070814" y="412389"/>
                  <a:pt x="1065576" y="411111"/>
                  <a:pt x="1060496" y="409418"/>
                </a:cubicBezTo>
                <a:cubicBezTo>
                  <a:pt x="1031608" y="387752"/>
                  <a:pt x="1048208" y="396855"/>
                  <a:pt x="1009696" y="384018"/>
                </a:cubicBezTo>
                <a:lnTo>
                  <a:pt x="994456" y="378938"/>
                </a:lnTo>
                <a:cubicBezTo>
                  <a:pt x="964367" y="356372"/>
                  <a:pt x="981181" y="368394"/>
                  <a:pt x="943656" y="343378"/>
                </a:cubicBezTo>
                <a:lnTo>
                  <a:pt x="928416" y="333218"/>
                </a:lnTo>
                <a:cubicBezTo>
                  <a:pt x="923336" y="329831"/>
                  <a:pt x="918637" y="325788"/>
                  <a:pt x="913176" y="323058"/>
                </a:cubicBezTo>
                <a:cubicBezTo>
                  <a:pt x="884025" y="308482"/>
                  <a:pt x="899350" y="316794"/>
                  <a:pt x="867456" y="297658"/>
                </a:cubicBezTo>
                <a:cubicBezTo>
                  <a:pt x="862376" y="290885"/>
                  <a:pt x="858203" y="283325"/>
                  <a:pt x="852216" y="277338"/>
                </a:cubicBezTo>
                <a:cubicBezTo>
                  <a:pt x="842368" y="267490"/>
                  <a:pt x="834131" y="266230"/>
                  <a:pt x="821736" y="262098"/>
                </a:cubicBezTo>
                <a:cubicBezTo>
                  <a:pt x="809521" y="252326"/>
                  <a:pt x="795249" y="239705"/>
                  <a:pt x="781096" y="231618"/>
                </a:cubicBezTo>
                <a:cubicBezTo>
                  <a:pt x="765287" y="222584"/>
                  <a:pt x="759038" y="222549"/>
                  <a:pt x="745536" y="211298"/>
                </a:cubicBezTo>
                <a:cubicBezTo>
                  <a:pt x="740017" y="206699"/>
                  <a:pt x="735751" y="200733"/>
                  <a:pt x="730296" y="196058"/>
                </a:cubicBezTo>
                <a:cubicBezTo>
                  <a:pt x="723868" y="190548"/>
                  <a:pt x="716348" y="186393"/>
                  <a:pt x="709976" y="180818"/>
                </a:cubicBezTo>
                <a:cubicBezTo>
                  <a:pt x="702767" y="174510"/>
                  <a:pt x="696865" y="166806"/>
                  <a:pt x="689656" y="160498"/>
                </a:cubicBezTo>
                <a:cubicBezTo>
                  <a:pt x="683284" y="154923"/>
                  <a:pt x="675764" y="150768"/>
                  <a:pt x="669336" y="145258"/>
                </a:cubicBezTo>
                <a:cubicBezTo>
                  <a:pt x="651320" y="129816"/>
                  <a:pt x="656059" y="127511"/>
                  <a:pt x="633776" y="114778"/>
                </a:cubicBezTo>
                <a:cubicBezTo>
                  <a:pt x="629127" y="112121"/>
                  <a:pt x="623325" y="112093"/>
                  <a:pt x="618536" y="109698"/>
                </a:cubicBezTo>
                <a:cubicBezTo>
                  <a:pt x="610555" y="105707"/>
                  <a:pt x="588345" y="88133"/>
                  <a:pt x="582976" y="84298"/>
                </a:cubicBezTo>
                <a:cubicBezTo>
                  <a:pt x="578008" y="80749"/>
                  <a:pt x="572372" y="78111"/>
                  <a:pt x="567736" y="74138"/>
                </a:cubicBezTo>
                <a:cubicBezTo>
                  <a:pt x="560463" y="67904"/>
                  <a:pt x="554775" y="59950"/>
                  <a:pt x="547416" y="53818"/>
                </a:cubicBezTo>
                <a:cubicBezTo>
                  <a:pt x="534407" y="42978"/>
                  <a:pt x="520865" y="32731"/>
                  <a:pt x="506776" y="23338"/>
                </a:cubicBezTo>
                <a:cubicBezTo>
                  <a:pt x="501696" y="19951"/>
                  <a:pt x="496997" y="15908"/>
                  <a:pt x="491536" y="13178"/>
                </a:cubicBezTo>
                <a:cubicBezTo>
                  <a:pt x="486747" y="10783"/>
                  <a:pt x="481445" y="9569"/>
                  <a:pt x="476296" y="8098"/>
                </a:cubicBezTo>
                <a:cubicBezTo>
                  <a:pt x="425455" y="-6428"/>
                  <a:pt x="422443" y="3018"/>
                  <a:pt x="339136" y="3018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ángulo 11">
            <a:extLst>
              <a:ext uri="{FF2B5EF4-FFF2-40B4-BE49-F238E27FC236}">
                <a16:creationId xmlns="" xmlns:a16="http://schemas.microsoft.com/office/drawing/2014/main" id="{E868944E-281E-4CC6-AF53-5FBB6C5885A5}"/>
              </a:ext>
            </a:extLst>
          </p:cNvPr>
          <p:cNvSpPr/>
          <p:nvPr/>
        </p:nvSpPr>
        <p:spPr>
          <a:xfrm>
            <a:off x="7055864" y="3429000"/>
            <a:ext cx="24382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Lo explorado, la frontera y lo inexplorado.</a:t>
            </a:r>
            <a:endParaRPr lang="es-CO" i="1" dirty="0"/>
          </a:p>
        </p:txBody>
      </p:sp>
      <p:sp>
        <p:nvSpPr>
          <p:cNvPr id="48" name="Rectángulo 11">
            <a:extLst>
              <a:ext uri="{FF2B5EF4-FFF2-40B4-BE49-F238E27FC236}">
                <a16:creationId xmlns="" xmlns:a16="http://schemas.microsoft.com/office/drawing/2014/main" id="{057B4D45-AA4A-414A-8219-F6EE5AC30610}"/>
              </a:ext>
            </a:extLst>
          </p:cNvPr>
          <p:cNvSpPr/>
          <p:nvPr/>
        </p:nvSpPr>
        <p:spPr>
          <a:xfrm>
            <a:off x="1910136" y="2177795"/>
            <a:ext cx="24382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>
                <a:solidFill>
                  <a:srgbClr val="7030A0"/>
                </a:solidFill>
              </a:rPr>
              <a:t>La frontera</a:t>
            </a:r>
            <a:endParaRPr lang="es-CO" b="1" i="1" dirty="0">
              <a:solidFill>
                <a:srgbClr val="7030A0"/>
              </a:solidFill>
            </a:endParaRPr>
          </a:p>
        </p:txBody>
      </p:sp>
      <p:sp>
        <p:nvSpPr>
          <p:cNvPr id="49" name="Rectángulo 11">
            <a:extLst>
              <a:ext uri="{FF2B5EF4-FFF2-40B4-BE49-F238E27FC236}">
                <a16:creationId xmlns="" xmlns:a16="http://schemas.microsoft.com/office/drawing/2014/main" id="{9D07D90D-6CF5-4D3A-AAA4-704DDEFC693C}"/>
              </a:ext>
            </a:extLst>
          </p:cNvPr>
          <p:cNvSpPr/>
          <p:nvPr/>
        </p:nvSpPr>
        <p:spPr>
          <a:xfrm>
            <a:off x="-101610" y="3092784"/>
            <a:ext cx="24382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>
                <a:solidFill>
                  <a:schemeClr val="accent1">
                    <a:lumMod val="75000"/>
                  </a:schemeClr>
                </a:solidFill>
              </a:rPr>
              <a:t>Lo explorado</a:t>
            </a:r>
          </a:p>
        </p:txBody>
      </p:sp>
      <p:sp>
        <p:nvSpPr>
          <p:cNvPr id="50" name="Rectángulo 11">
            <a:extLst>
              <a:ext uri="{FF2B5EF4-FFF2-40B4-BE49-F238E27FC236}">
                <a16:creationId xmlns="" xmlns:a16="http://schemas.microsoft.com/office/drawing/2014/main" id="{EC57CC20-8707-40CE-A54B-6A2E22F07F2F}"/>
              </a:ext>
            </a:extLst>
          </p:cNvPr>
          <p:cNvSpPr/>
          <p:nvPr/>
        </p:nvSpPr>
        <p:spPr>
          <a:xfrm>
            <a:off x="4016879" y="3599869"/>
            <a:ext cx="24382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>
                <a:solidFill>
                  <a:schemeClr val="accent1">
                    <a:lumMod val="75000"/>
                  </a:schemeClr>
                </a:solidFill>
              </a:rPr>
              <a:t>Lo inexplorado</a:t>
            </a:r>
          </a:p>
        </p:txBody>
      </p:sp>
    </p:spTree>
    <p:extLst>
      <p:ext uri="{BB962C8B-B14F-4D97-AF65-F5344CB8AC3E}">
        <p14:creationId xmlns:p14="http://schemas.microsoft.com/office/powerpoint/2010/main" val="154292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722398" y="1624853"/>
            <a:ext cx="809119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Algoritmos para llevar a cabo búsquedas (estrategias de búsqueda)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3B8CF5B-893F-4002-801F-8541D126B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97" y="2607627"/>
            <a:ext cx="10448925" cy="2943225"/>
          </a:xfrm>
          <a:prstGeom prst="rect">
            <a:avLst/>
          </a:prstGeom>
        </p:spPr>
      </p:pic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664232" y="5550852"/>
            <a:ext cx="72704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i="1" dirty="0" smtClean="0"/>
              <a:t>Tomado de “Artificial </a:t>
            </a:r>
            <a:r>
              <a:rPr lang="es-CO" sz="1200" i="1" dirty="0" err="1" smtClean="0"/>
              <a:t>Intelligence</a:t>
            </a:r>
            <a:r>
              <a:rPr lang="es-CO" sz="1200" i="1" dirty="0" smtClean="0"/>
              <a:t>: A </a:t>
            </a:r>
            <a:r>
              <a:rPr lang="es-CO" sz="1200" i="1" dirty="0" err="1" smtClean="0"/>
              <a:t>modern</a:t>
            </a:r>
            <a:r>
              <a:rPr lang="es-CO" sz="1200" i="1" dirty="0" smtClean="0"/>
              <a:t> </a:t>
            </a:r>
            <a:r>
              <a:rPr lang="es-CO" sz="1200" i="1" dirty="0" err="1" smtClean="0"/>
              <a:t>approach</a:t>
            </a:r>
            <a:r>
              <a:rPr lang="es-CO" sz="1200" i="1" dirty="0" smtClean="0"/>
              <a:t>”, S.J. Russell and P. </a:t>
            </a:r>
            <a:r>
              <a:rPr lang="es-CO" sz="1200" i="1" dirty="0" err="1" smtClean="0"/>
              <a:t>Norvig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751715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788171" y="1645173"/>
            <a:ext cx="466781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no informada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FF564DB-999D-4593-B715-D39A2B6DEAB6}"/>
              </a:ext>
            </a:extLst>
          </p:cNvPr>
          <p:cNvSpPr/>
          <p:nvPr/>
        </p:nvSpPr>
        <p:spPr>
          <a:xfrm>
            <a:off x="1425488" y="2197854"/>
            <a:ext cx="2101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Breadth First Search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D6B7F81-5F33-42D6-8D43-E85F3775275F}"/>
              </a:ext>
            </a:extLst>
          </p:cNvPr>
          <p:cNvSpPr/>
          <p:nvPr/>
        </p:nvSpPr>
        <p:spPr>
          <a:xfrm>
            <a:off x="432244" y="5889973"/>
            <a:ext cx="3429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Menor número de saltos primero!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4893753" y="5912644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8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7E590FDD-AA6E-47CB-9FD3-F73A40DF3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345" y="2388077"/>
            <a:ext cx="5001642" cy="3266378"/>
          </a:xfrm>
        </p:spPr>
      </p:pic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AA01F58C-210C-42EA-8802-DE1019CB61EB}"/>
              </a:ext>
            </a:extLst>
          </p:cNvPr>
          <p:cNvSpPr/>
          <p:nvPr/>
        </p:nvSpPr>
        <p:spPr>
          <a:xfrm>
            <a:off x="3391522" y="313743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10" name="Rectángulo 11">
            <a:extLst>
              <a:ext uri="{FF2B5EF4-FFF2-40B4-BE49-F238E27FC236}">
                <a16:creationId xmlns="" xmlns:a16="http://schemas.microsoft.com/office/drawing/2014/main" id="{6B5224BC-8C8E-4B8B-B0ED-3723C53F6561}"/>
              </a:ext>
            </a:extLst>
          </p:cNvPr>
          <p:cNvSpPr/>
          <p:nvPr/>
        </p:nvSpPr>
        <p:spPr>
          <a:xfrm>
            <a:off x="3599906" y="260224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71</a:t>
            </a:r>
          </a:p>
        </p:txBody>
      </p:sp>
      <p:sp>
        <p:nvSpPr>
          <p:cNvPr id="11" name="Rectángulo 11">
            <a:extLst>
              <a:ext uri="{FF2B5EF4-FFF2-40B4-BE49-F238E27FC236}">
                <a16:creationId xmlns="" xmlns:a16="http://schemas.microsoft.com/office/drawing/2014/main" id="{DE0D364D-2FC0-45D0-B0B3-17FFB87657B7}"/>
              </a:ext>
            </a:extLst>
          </p:cNvPr>
          <p:cNvSpPr/>
          <p:nvPr/>
        </p:nvSpPr>
        <p:spPr>
          <a:xfrm>
            <a:off x="3837582" y="358375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="" xmlns:a16="http://schemas.microsoft.com/office/drawing/2014/main" id="{2E6AE2A9-2E71-41A9-AEC1-0BCF240A92C4}"/>
              </a:ext>
            </a:extLst>
          </p:cNvPr>
          <p:cNvSpPr/>
          <p:nvPr/>
        </p:nvSpPr>
        <p:spPr>
          <a:xfrm>
            <a:off x="4212374" y="305975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151</a:t>
            </a:r>
          </a:p>
        </p:txBody>
      </p:sp>
      <p:sp>
        <p:nvSpPr>
          <p:cNvPr id="13" name="Rectángulo 11">
            <a:extLst>
              <a:ext uri="{FF2B5EF4-FFF2-40B4-BE49-F238E27FC236}">
                <a16:creationId xmlns="" xmlns:a16="http://schemas.microsoft.com/office/drawing/2014/main" id="{7234AE3B-DBCB-459C-9012-6F178A8EB15F}"/>
              </a:ext>
            </a:extLst>
          </p:cNvPr>
          <p:cNvSpPr/>
          <p:nvPr/>
        </p:nvSpPr>
        <p:spPr>
          <a:xfrm>
            <a:off x="3299676" y="366142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118</a:t>
            </a:r>
          </a:p>
        </p:txBody>
      </p:sp>
      <p:sp>
        <p:nvSpPr>
          <p:cNvPr id="14" name="Rectángulo 11">
            <a:extLst>
              <a:ext uri="{FF2B5EF4-FFF2-40B4-BE49-F238E27FC236}">
                <a16:creationId xmlns="" xmlns:a16="http://schemas.microsoft.com/office/drawing/2014/main" id="{8F714A0D-A263-47B4-837D-7935C3135555}"/>
              </a:ext>
            </a:extLst>
          </p:cNvPr>
          <p:cNvSpPr/>
          <p:nvPr/>
        </p:nvSpPr>
        <p:spPr>
          <a:xfrm>
            <a:off x="4212373" y="538575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120</a:t>
            </a:r>
          </a:p>
        </p:txBody>
      </p:sp>
      <p:sp>
        <p:nvSpPr>
          <p:cNvPr id="15" name="Rectángulo 11">
            <a:extLst>
              <a:ext uri="{FF2B5EF4-FFF2-40B4-BE49-F238E27FC236}">
                <a16:creationId xmlns="" xmlns:a16="http://schemas.microsoft.com/office/drawing/2014/main" id="{3BFB4984-6A7C-4EAA-AACE-14ADE2D72A4D}"/>
              </a:ext>
            </a:extLst>
          </p:cNvPr>
          <p:cNvSpPr/>
          <p:nvPr/>
        </p:nvSpPr>
        <p:spPr>
          <a:xfrm>
            <a:off x="3509284" y="4218607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111</a:t>
            </a:r>
          </a:p>
        </p:txBody>
      </p:sp>
      <p:sp>
        <p:nvSpPr>
          <p:cNvPr id="16" name="Rectángulo 11">
            <a:extLst>
              <a:ext uri="{FF2B5EF4-FFF2-40B4-BE49-F238E27FC236}">
                <a16:creationId xmlns="" xmlns:a16="http://schemas.microsoft.com/office/drawing/2014/main" id="{D0AE4880-98EC-4410-AE2C-903AB1C6F0B1}"/>
              </a:ext>
            </a:extLst>
          </p:cNvPr>
          <p:cNvSpPr/>
          <p:nvPr/>
        </p:nvSpPr>
        <p:spPr>
          <a:xfrm>
            <a:off x="3742379" y="4537087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70</a:t>
            </a:r>
          </a:p>
        </p:txBody>
      </p:sp>
      <p:sp>
        <p:nvSpPr>
          <p:cNvPr id="17" name="Rectángulo 11">
            <a:extLst>
              <a:ext uri="{FF2B5EF4-FFF2-40B4-BE49-F238E27FC236}">
                <a16:creationId xmlns="" xmlns:a16="http://schemas.microsoft.com/office/drawing/2014/main" id="{390C51DC-496D-4D61-96F4-94E4D24A1F60}"/>
              </a:ext>
            </a:extLst>
          </p:cNvPr>
          <p:cNvSpPr/>
          <p:nvPr/>
        </p:nvSpPr>
        <p:spPr>
          <a:xfrm>
            <a:off x="3831594" y="492258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18" name="Rectángulo 11">
            <a:extLst>
              <a:ext uri="{FF2B5EF4-FFF2-40B4-BE49-F238E27FC236}">
                <a16:creationId xmlns="" xmlns:a16="http://schemas.microsoft.com/office/drawing/2014/main" id="{25453A23-D4C7-41C3-88EF-5A09EFD9AA14}"/>
              </a:ext>
            </a:extLst>
          </p:cNvPr>
          <p:cNvSpPr/>
          <p:nvPr/>
        </p:nvSpPr>
        <p:spPr>
          <a:xfrm>
            <a:off x="6293314" y="437244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85</a:t>
            </a:r>
          </a:p>
        </p:txBody>
      </p:sp>
      <p:sp>
        <p:nvSpPr>
          <p:cNvPr id="19" name="Rectángulo 11">
            <a:extLst>
              <a:ext uri="{FF2B5EF4-FFF2-40B4-BE49-F238E27FC236}">
                <a16:creationId xmlns="" xmlns:a16="http://schemas.microsoft.com/office/drawing/2014/main" id="{432A7858-EB35-419C-9099-AFCABCDE0551}"/>
              </a:ext>
            </a:extLst>
          </p:cNvPr>
          <p:cNvSpPr/>
          <p:nvPr/>
        </p:nvSpPr>
        <p:spPr>
          <a:xfrm>
            <a:off x="5537280" y="4688218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101</a:t>
            </a:r>
          </a:p>
        </p:txBody>
      </p:sp>
      <p:sp>
        <p:nvSpPr>
          <p:cNvPr id="20" name="Rectángulo 11">
            <a:extLst>
              <a:ext uri="{FF2B5EF4-FFF2-40B4-BE49-F238E27FC236}">
                <a16:creationId xmlns="" xmlns:a16="http://schemas.microsoft.com/office/drawing/2014/main" id="{64AE6A55-1804-47F0-BCA3-71CA88528CCA}"/>
              </a:ext>
            </a:extLst>
          </p:cNvPr>
          <p:cNvSpPr/>
          <p:nvPr/>
        </p:nvSpPr>
        <p:spPr>
          <a:xfrm>
            <a:off x="4771583" y="340161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99</a:t>
            </a:r>
          </a:p>
        </p:txBody>
      </p:sp>
      <p:sp>
        <p:nvSpPr>
          <p:cNvPr id="21" name="Rectángulo 11">
            <a:extLst>
              <a:ext uri="{FF2B5EF4-FFF2-40B4-BE49-F238E27FC236}">
                <a16:creationId xmlns="" xmlns:a16="http://schemas.microsoft.com/office/drawing/2014/main" id="{7528A32E-46CD-4487-AEB1-80B940423639}"/>
              </a:ext>
            </a:extLst>
          </p:cNvPr>
          <p:cNvSpPr/>
          <p:nvPr/>
        </p:nvSpPr>
        <p:spPr>
          <a:xfrm>
            <a:off x="5706416" y="502115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90</a:t>
            </a:r>
          </a:p>
        </p:txBody>
      </p:sp>
      <p:sp>
        <p:nvSpPr>
          <p:cNvPr id="22" name="Rectángulo 11">
            <a:extLst>
              <a:ext uri="{FF2B5EF4-FFF2-40B4-BE49-F238E27FC236}">
                <a16:creationId xmlns="" xmlns:a16="http://schemas.microsoft.com/office/drawing/2014/main" id="{84D1D623-FBCF-464C-8B09-0CC233F085D3}"/>
              </a:ext>
            </a:extLst>
          </p:cNvPr>
          <p:cNvSpPr/>
          <p:nvPr/>
        </p:nvSpPr>
        <p:spPr>
          <a:xfrm>
            <a:off x="5886712" y="387305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211</a:t>
            </a:r>
          </a:p>
        </p:txBody>
      </p:sp>
      <p:sp>
        <p:nvSpPr>
          <p:cNvPr id="23" name="Rectángulo 11">
            <a:extLst>
              <a:ext uri="{FF2B5EF4-FFF2-40B4-BE49-F238E27FC236}">
                <a16:creationId xmlns="" xmlns:a16="http://schemas.microsoft.com/office/drawing/2014/main" id="{0A2A69B1-E363-40AC-90F5-7A15A69C9E05}"/>
              </a:ext>
            </a:extLst>
          </p:cNvPr>
          <p:cNvSpPr/>
          <p:nvPr/>
        </p:nvSpPr>
        <p:spPr>
          <a:xfrm>
            <a:off x="5060992" y="4898487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138</a:t>
            </a:r>
          </a:p>
        </p:txBody>
      </p:sp>
      <p:sp>
        <p:nvSpPr>
          <p:cNvPr id="24" name="Rectángulo 11">
            <a:extLst>
              <a:ext uri="{FF2B5EF4-FFF2-40B4-BE49-F238E27FC236}">
                <a16:creationId xmlns="" xmlns:a16="http://schemas.microsoft.com/office/drawing/2014/main" id="{AA3D515E-CC9D-4A5B-9BCF-E15A03916B17}"/>
              </a:ext>
            </a:extLst>
          </p:cNvPr>
          <p:cNvSpPr/>
          <p:nvPr/>
        </p:nvSpPr>
        <p:spPr>
          <a:xfrm>
            <a:off x="4605837" y="478408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146</a:t>
            </a:r>
          </a:p>
        </p:txBody>
      </p:sp>
      <p:sp>
        <p:nvSpPr>
          <p:cNvPr id="25" name="Rectángulo 11">
            <a:extLst>
              <a:ext uri="{FF2B5EF4-FFF2-40B4-BE49-F238E27FC236}">
                <a16:creationId xmlns="" xmlns:a16="http://schemas.microsoft.com/office/drawing/2014/main" id="{9EFB9B84-7A40-42AC-97A5-FE36374F7714}"/>
              </a:ext>
            </a:extLst>
          </p:cNvPr>
          <p:cNvSpPr/>
          <p:nvPr/>
        </p:nvSpPr>
        <p:spPr>
          <a:xfrm>
            <a:off x="4771583" y="4333668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97</a:t>
            </a:r>
          </a:p>
        </p:txBody>
      </p:sp>
      <p:sp>
        <p:nvSpPr>
          <p:cNvPr id="26" name="Rectángulo 11">
            <a:extLst>
              <a:ext uri="{FF2B5EF4-FFF2-40B4-BE49-F238E27FC236}">
                <a16:creationId xmlns="" xmlns:a16="http://schemas.microsoft.com/office/drawing/2014/main" id="{30AF8D42-5A6E-4FE6-B485-99B44269F11C}"/>
              </a:ext>
            </a:extLst>
          </p:cNvPr>
          <p:cNvSpPr/>
          <p:nvPr/>
        </p:nvSpPr>
        <p:spPr>
          <a:xfrm>
            <a:off x="4292962" y="371480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80</a:t>
            </a:r>
          </a:p>
        </p:txBody>
      </p:sp>
      <p:sp>
        <p:nvSpPr>
          <p:cNvPr id="27" name="Rectángulo 11">
            <a:extLst>
              <a:ext uri="{FF2B5EF4-FFF2-40B4-BE49-F238E27FC236}">
                <a16:creationId xmlns="" xmlns:a16="http://schemas.microsoft.com/office/drawing/2014/main" id="{7A3AA04B-F1EA-4747-8CFC-6A4A46559B82}"/>
              </a:ext>
            </a:extLst>
          </p:cNvPr>
          <p:cNvSpPr/>
          <p:nvPr/>
        </p:nvSpPr>
        <p:spPr>
          <a:xfrm>
            <a:off x="7673920" y="386075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142</a:t>
            </a:r>
          </a:p>
        </p:txBody>
      </p:sp>
      <p:sp>
        <p:nvSpPr>
          <p:cNvPr id="28" name="Rectángulo 11">
            <a:extLst>
              <a:ext uri="{FF2B5EF4-FFF2-40B4-BE49-F238E27FC236}">
                <a16:creationId xmlns="" xmlns:a16="http://schemas.microsoft.com/office/drawing/2014/main" id="{CACB2EC2-E7AC-4FDC-9A1B-F71ECACA6D9B}"/>
              </a:ext>
            </a:extLst>
          </p:cNvPr>
          <p:cNvSpPr/>
          <p:nvPr/>
        </p:nvSpPr>
        <p:spPr>
          <a:xfrm>
            <a:off x="7607059" y="4618317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86</a:t>
            </a:r>
          </a:p>
        </p:txBody>
      </p:sp>
      <p:sp>
        <p:nvSpPr>
          <p:cNvPr id="29" name="Rectángulo 11">
            <a:extLst>
              <a:ext uri="{FF2B5EF4-FFF2-40B4-BE49-F238E27FC236}">
                <a16:creationId xmlns="" xmlns:a16="http://schemas.microsoft.com/office/drawing/2014/main" id="{42F609C1-2BD3-40F2-A9CC-2A0186364662}"/>
              </a:ext>
            </a:extLst>
          </p:cNvPr>
          <p:cNvSpPr/>
          <p:nvPr/>
        </p:nvSpPr>
        <p:spPr>
          <a:xfrm>
            <a:off x="7490743" y="296311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92</a:t>
            </a:r>
          </a:p>
        </p:txBody>
      </p:sp>
      <p:sp>
        <p:nvSpPr>
          <p:cNvPr id="30" name="Rectángulo 11">
            <a:extLst>
              <a:ext uri="{FF2B5EF4-FFF2-40B4-BE49-F238E27FC236}">
                <a16:creationId xmlns="" xmlns:a16="http://schemas.microsoft.com/office/drawing/2014/main" id="{F64C5CFB-E5AE-420C-83E6-393D00AA5D83}"/>
              </a:ext>
            </a:extLst>
          </p:cNvPr>
          <p:cNvSpPr/>
          <p:nvPr/>
        </p:nvSpPr>
        <p:spPr>
          <a:xfrm>
            <a:off x="6646405" y="276042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87</a:t>
            </a:r>
          </a:p>
        </p:txBody>
      </p:sp>
      <p:sp>
        <p:nvSpPr>
          <p:cNvPr id="31" name="Rectángulo 11">
            <a:extLst>
              <a:ext uri="{FF2B5EF4-FFF2-40B4-BE49-F238E27FC236}">
                <a16:creationId xmlns="" xmlns:a16="http://schemas.microsoft.com/office/drawing/2014/main" id="{80D3CBD1-F233-44AF-B2F6-DFF6D8BB70B8}"/>
              </a:ext>
            </a:extLst>
          </p:cNvPr>
          <p:cNvSpPr/>
          <p:nvPr/>
        </p:nvSpPr>
        <p:spPr>
          <a:xfrm>
            <a:off x="7043663" y="438653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16420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788171" y="1645173"/>
            <a:ext cx="466781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no informada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FF564DB-999D-4593-B715-D39A2B6DEAB6}"/>
              </a:ext>
            </a:extLst>
          </p:cNvPr>
          <p:cNvSpPr/>
          <p:nvPr/>
        </p:nvSpPr>
        <p:spPr>
          <a:xfrm>
            <a:off x="1425488" y="2197854"/>
            <a:ext cx="2101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Breadth First Search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D6B7F81-5F33-42D6-8D43-E85F3775275F}"/>
              </a:ext>
            </a:extLst>
          </p:cNvPr>
          <p:cNvSpPr/>
          <p:nvPr/>
        </p:nvSpPr>
        <p:spPr>
          <a:xfrm>
            <a:off x="2963221" y="2882613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A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4893753" y="5912644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34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399718B1-DB66-4973-8C49-7E51B750B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61783"/>
            <a:ext cx="5001642" cy="3266378"/>
          </a:xfrm>
        </p:spPr>
      </p:pic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185C7AC1-6401-41E7-9EA0-4F961CCD7E34}"/>
              </a:ext>
            </a:extLst>
          </p:cNvPr>
          <p:cNvSpPr/>
          <p:nvPr/>
        </p:nvSpPr>
        <p:spPr>
          <a:xfrm>
            <a:off x="2158700" y="3493805"/>
            <a:ext cx="292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Z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="" xmlns:a16="http://schemas.microsoft.com/office/drawing/2014/main" id="{267BD407-A51E-4370-AF18-974DDB180609}"/>
              </a:ext>
            </a:extLst>
          </p:cNvPr>
          <p:cNvSpPr/>
          <p:nvPr/>
        </p:nvSpPr>
        <p:spPr>
          <a:xfrm>
            <a:off x="2962478" y="3493805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2E423FE6-B5F5-452D-BCD7-8571532F9B36}"/>
              </a:ext>
            </a:extLst>
          </p:cNvPr>
          <p:cNvSpPr/>
          <p:nvPr/>
        </p:nvSpPr>
        <p:spPr>
          <a:xfrm>
            <a:off x="3774930" y="3493805"/>
            <a:ext cx="296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="" xmlns:a16="http://schemas.microsoft.com/office/drawing/2014/main" id="{744A508D-8EE5-423F-8202-3A502CEDD01E}"/>
              </a:ext>
            </a:extLst>
          </p:cNvPr>
          <p:cNvSpPr/>
          <p:nvPr/>
        </p:nvSpPr>
        <p:spPr>
          <a:xfrm>
            <a:off x="2158700" y="4290815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BAD7A1E5-B36E-4B5D-9752-31DFFCCB0BDB}"/>
              </a:ext>
            </a:extLst>
          </p:cNvPr>
          <p:cNvSpPr/>
          <p:nvPr/>
        </p:nvSpPr>
        <p:spPr>
          <a:xfrm>
            <a:off x="3527345" y="4290815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A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="" xmlns:a16="http://schemas.microsoft.com/office/drawing/2014/main" id="{7B5F7B12-08E3-4025-ADB3-8E20B44038FA}"/>
              </a:ext>
            </a:extLst>
          </p:cNvPr>
          <p:cNvSpPr/>
          <p:nvPr/>
        </p:nvSpPr>
        <p:spPr>
          <a:xfrm>
            <a:off x="3085030" y="4290815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="" xmlns:a16="http://schemas.microsoft.com/office/drawing/2014/main" id="{F272D987-E179-4C7D-974F-D56389A32BFC}"/>
              </a:ext>
            </a:extLst>
          </p:cNvPr>
          <p:cNvSpPr/>
          <p:nvPr/>
        </p:nvSpPr>
        <p:spPr>
          <a:xfrm>
            <a:off x="2622608" y="4293152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="" xmlns:a16="http://schemas.microsoft.com/office/drawing/2014/main" id="{276F29C9-4052-44E9-9C7F-79ABFEB345C2}"/>
              </a:ext>
            </a:extLst>
          </p:cNvPr>
          <p:cNvSpPr/>
          <p:nvPr/>
        </p:nvSpPr>
        <p:spPr>
          <a:xfrm>
            <a:off x="4479525" y="4290815"/>
            <a:ext cx="2824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="" xmlns:a16="http://schemas.microsoft.com/office/drawing/2014/main" id="{F55C6039-D25A-4C61-BB50-00E388D3141C}"/>
              </a:ext>
            </a:extLst>
          </p:cNvPr>
          <p:cNvSpPr/>
          <p:nvPr/>
        </p:nvSpPr>
        <p:spPr>
          <a:xfrm>
            <a:off x="4404872" y="4781941"/>
            <a:ext cx="381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="" xmlns:a16="http://schemas.microsoft.com/office/drawing/2014/main" id="{1B65F3C6-FE00-41E0-B58E-B4624E427A01}"/>
              </a:ext>
            </a:extLst>
          </p:cNvPr>
          <p:cNvSpPr/>
          <p:nvPr/>
        </p:nvSpPr>
        <p:spPr>
          <a:xfrm>
            <a:off x="4432123" y="5273067"/>
            <a:ext cx="327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="" xmlns:a16="http://schemas.microsoft.com/office/drawing/2014/main" id="{0BAA6F80-9062-4BC5-B8F4-0D0A7A33CDDD}"/>
              </a:ext>
            </a:extLst>
          </p:cNvPr>
          <p:cNvSpPr/>
          <p:nvPr/>
        </p:nvSpPr>
        <p:spPr>
          <a:xfrm>
            <a:off x="3192234" y="4726593"/>
            <a:ext cx="303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P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="" xmlns:a16="http://schemas.microsoft.com/office/drawing/2014/main" id="{79785549-7AF4-4409-9173-9D265E341798}"/>
              </a:ext>
            </a:extLst>
          </p:cNvPr>
          <p:cNvSpPr/>
          <p:nvPr/>
        </p:nvSpPr>
        <p:spPr>
          <a:xfrm>
            <a:off x="2804651" y="4730852"/>
            <a:ext cx="308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C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="" xmlns:a16="http://schemas.microsoft.com/office/drawing/2014/main" id="{49E840D2-0971-4C1E-8E12-3D942BFAE8AD}"/>
              </a:ext>
            </a:extLst>
          </p:cNvPr>
          <p:cNvSpPr/>
          <p:nvPr/>
        </p:nvSpPr>
        <p:spPr>
          <a:xfrm>
            <a:off x="3182556" y="5273067"/>
            <a:ext cx="309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B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="" xmlns:a16="http://schemas.microsoft.com/office/drawing/2014/main" id="{F9B38407-5B88-486F-92E3-FF77268D8F39}"/>
              </a:ext>
            </a:extLst>
          </p:cNvPr>
          <p:cNvSpPr/>
          <p:nvPr/>
        </p:nvSpPr>
        <p:spPr>
          <a:xfrm>
            <a:off x="2910288" y="5883848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G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="" xmlns:a16="http://schemas.microsoft.com/office/drawing/2014/main" id="{5BD5C3F8-601A-4193-B08C-72D14A21A217}"/>
              </a:ext>
            </a:extLst>
          </p:cNvPr>
          <p:cNvSpPr/>
          <p:nvPr/>
        </p:nvSpPr>
        <p:spPr>
          <a:xfrm>
            <a:off x="3355663" y="5883848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06809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788171" y="1645173"/>
            <a:ext cx="466781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no informada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FF564DB-999D-4593-B715-D39A2B6DEAB6}"/>
              </a:ext>
            </a:extLst>
          </p:cNvPr>
          <p:cNvSpPr/>
          <p:nvPr/>
        </p:nvSpPr>
        <p:spPr>
          <a:xfrm>
            <a:off x="1425488" y="2197854"/>
            <a:ext cx="2101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Breadth First Search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D6B7F81-5F33-42D6-8D43-E85F3775275F}"/>
              </a:ext>
            </a:extLst>
          </p:cNvPr>
          <p:cNvSpPr/>
          <p:nvPr/>
        </p:nvSpPr>
        <p:spPr>
          <a:xfrm>
            <a:off x="2963221" y="2882613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A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4893753" y="5912644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34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399718B1-DB66-4973-8C49-7E51B750B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61783"/>
            <a:ext cx="5001642" cy="3266378"/>
          </a:xfrm>
        </p:spPr>
      </p:pic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185C7AC1-6401-41E7-9EA0-4F961CCD7E34}"/>
              </a:ext>
            </a:extLst>
          </p:cNvPr>
          <p:cNvSpPr/>
          <p:nvPr/>
        </p:nvSpPr>
        <p:spPr>
          <a:xfrm>
            <a:off x="2158700" y="3493805"/>
            <a:ext cx="292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Z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="" xmlns:a16="http://schemas.microsoft.com/office/drawing/2014/main" id="{267BD407-A51E-4370-AF18-974DDB180609}"/>
              </a:ext>
            </a:extLst>
          </p:cNvPr>
          <p:cNvSpPr/>
          <p:nvPr/>
        </p:nvSpPr>
        <p:spPr>
          <a:xfrm>
            <a:off x="2962478" y="3493805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2E423FE6-B5F5-452D-BCD7-8571532F9B36}"/>
              </a:ext>
            </a:extLst>
          </p:cNvPr>
          <p:cNvSpPr/>
          <p:nvPr/>
        </p:nvSpPr>
        <p:spPr>
          <a:xfrm>
            <a:off x="3774930" y="3493805"/>
            <a:ext cx="296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="" xmlns:a16="http://schemas.microsoft.com/office/drawing/2014/main" id="{744A508D-8EE5-423F-8202-3A502CEDD01E}"/>
              </a:ext>
            </a:extLst>
          </p:cNvPr>
          <p:cNvSpPr/>
          <p:nvPr/>
        </p:nvSpPr>
        <p:spPr>
          <a:xfrm>
            <a:off x="2158700" y="4290815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BAD7A1E5-B36E-4B5D-9752-31DFFCCB0BDB}"/>
              </a:ext>
            </a:extLst>
          </p:cNvPr>
          <p:cNvSpPr/>
          <p:nvPr/>
        </p:nvSpPr>
        <p:spPr>
          <a:xfrm>
            <a:off x="3527345" y="4290815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A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="" xmlns:a16="http://schemas.microsoft.com/office/drawing/2014/main" id="{7B5F7B12-08E3-4025-ADB3-8E20B44038FA}"/>
              </a:ext>
            </a:extLst>
          </p:cNvPr>
          <p:cNvSpPr/>
          <p:nvPr/>
        </p:nvSpPr>
        <p:spPr>
          <a:xfrm>
            <a:off x="3085030" y="4290815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="" xmlns:a16="http://schemas.microsoft.com/office/drawing/2014/main" id="{F272D987-E179-4C7D-974F-D56389A32BFC}"/>
              </a:ext>
            </a:extLst>
          </p:cNvPr>
          <p:cNvSpPr/>
          <p:nvPr/>
        </p:nvSpPr>
        <p:spPr>
          <a:xfrm>
            <a:off x="2622608" y="4293152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="" xmlns:a16="http://schemas.microsoft.com/office/drawing/2014/main" id="{276F29C9-4052-44E9-9C7F-79ABFEB345C2}"/>
              </a:ext>
            </a:extLst>
          </p:cNvPr>
          <p:cNvSpPr/>
          <p:nvPr/>
        </p:nvSpPr>
        <p:spPr>
          <a:xfrm>
            <a:off x="4479525" y="4290815"/>
            <a:ext cx="2824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="" xmlns:a16="http://schemas.microsoft.com/office/drawing/2014/main" id="{F55C6039-D25A-4C61-BB50-00E388D3141C}"/>
              </a:ext>
            </a:extLst>
          </p:cNvPr>
          <p:cNvSpPr/>
          <p:nvPr/>
        </p:nvSpPr>
        <p:spPr>
          <a:xfrm>
            <a:off x="4404872" y="4781941"/>
            <a:ext cx="381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="" xmlns:a16="http://schemas.microsoft.com/office/drawing/2014/main" id="{1B65F3C6-FE00-41E0-B58E-B4624E427A01}"/>
              </a:ext>
            </a:extLst>
          </p:cNvPr>
          <p:cNvSpPr/>
          <p:nvPr/>
        </p:nvSpPr>
        <p:spPr>
          <a:xfrm>
            <a:off x="4432123" y="5273067"/>
            <a:ext cx="327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="" xmlns:a16="http://schemas.microsoft.com/office/drawing/2014/main" id="{0BAA6F80-9062-4BC5-B8F4-0D0A7A33CDDD}"/>
              </a:ext>
            </a:extLst>
          </p:cNvPr>
          <p:cNvSpPr/>
          <p:nvPr/>
        </p:nvSpPr>
        <p:spPr>
          <a:xfrm>
            <a:off x="3192234" y="4726593"/>
            <a:ext cx="303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P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="" xmlns:a16="http://schemas.microsoft.com/office/drawing/2014/main" id="{79785549-7AF4-4409-9173-9D265E341798}"/>
              </a:ext>
            </a:extLst>
          </p:cNvPr>
          <p:cNvSpPr/>
          <p:nvPr/>
        </p:nvSpPr>
        <p:spPr>
          <a:xfrm>
            <a:off x="2804651" y="4730852"/>
            <a:ext cx="308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C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="" xmlns:a16="http://schemas.microsoft.com/office/drawing/2014/main" id="{49E840D2-0971-4C1E-8E12-3D942BFAE8AD}"/>
              </a:ext>
            </a:extLst>
          </p:cNvPr>
          <p:cNvSpPr/>
          <p:nvPr/>
        </p:nvSpPr>
        <p:spPr>
          <a:xfrm>
            <a:off x="3182556" y="5273067"/>
            <a:ext cx="309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B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="" xmlns:a16="http://schemas.microsoft.com/office/drawing/2014/main" id="{F9B38407-5B88-486F-92E3-FF77268D8F39}"/>
              </a:ext>
            </a:extLst>
          </p:cNvPr>
          <p:cNvSpPr/>
          <p:nvPr/>
        </p:nvSpPr>
        <p:spPr>
          <a:xfrm>
            <a:off x="2910288" y="5883848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G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="" xmlns:a16="http://schemas.microsoft.com/office/drawing/2014/main" id="{5BD5C3F8-601A-4193-B08C-72D14A21A217}"/>
              </a:ext>
            </a:extLst>
          </p:cNvPr>
          <p:cNvSpPr/>
          <p:nvPr/>
        </p:nvSpPr>
        <p:spPr>
          <a:xfrm>
            <a:off x="3355663" y="5883848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G</a:t>
            </a:r>
          </a:p>
        </p:txBody>
      </p:sp>
      <p:sp>
        <p:nvSpPr>
          <p:cNvPr id="52" name="Rectángulo 11">
            <a:extLst>
              <a:ext uri="{FF2B5EF4-FFF2-40B4-BE49-F238E27FC236}">
                <a16:creationId xmlns="" xmlns:a16="http://schemas.microsoft.com/office/drawing/2014/main" id="{99B46E88-6E22-4C8E-9855-67456D6C8108}"/>
              </a:ext>
            </a:extLst>
          </p:cNvPr>
          <p:cNvSpPr/>
          <p:nvPr/>
        </p:nvSpPr>
        <p:spPr>
          <a:xfrm>
            <a:off x="4853180" y="5273067"/>
            <a:ext cx="72704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400" b="1" dirty="0">
                <a:solidFill>
                  <a:srgbClr val="FF0000"/>
                </a:solidFill>
              </a:rPr>
              <a:t>Cómo evitar esos pasos a estados repetidos?</a:t>
            </a:r>
            <a:endParaRPr lang="es-CO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07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722398" y="1624853"/>
            <a:ext cx="809119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Algoritmos para llevar a cabo búsquedas (estrategias de búsqueda)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D4D43145-FC1F-49F2-99AE-820BF8C39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690" y="2240868"/>
            <a:ext cx="7950620" cy="440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84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788171" y="1645173"/>
            <a:ext cx="466781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no informada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FF564DB-999D-4593-B715-D39A2B6DEAB6}"/>
              </a:ext>
            </a:extLst>
          </p:cNvPr>
          <p:cNvSpPr/>
          <p:nvPr/>
        </p:nvSpPr>
        <p:spPr>
          <a:xfrm>
            <a:off x="842395" y="2335369"/>
            <a:ext cx="5299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Breadth First Search (</a:t>
            </a:r>
            <a:r>
              <a:rPr lang="es-CO" b="1" dirty="0"/>
              <a:t>empleando búsqueda en grafos</a:t>
            </a:r>
            <a:r>
              <a:rPr lang="en-US" b="1" dirty="0"/>
              <a:t>)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4893753" y="5912644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34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399718B1-DB66-4973-8C49-7E51B750B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963" y="2249463"/>
            <a:ext cx="5001642" cy="3266378"/>
          </a:xfrm>
        </p:spPr>
      </p:pic>
    </p:spTree>
    <p:extLst>
      <p:ext uri="{BB962C8B-B14F-4D97-AF65-F5344CB8AC3E}">
        <p14:creationId xmlns:p14="http://schemas.microsoft.com/office/powerpoint/2010/main" val="317554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788171" y="1645173"/>
            <a:ext cx="466781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no informada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FF564DB-999D-4593-B715-D39A2B6DEAB6}"/>
              </a:ext>
            </a:extLst>
          </p:cNvPr>
          <p:cNvSpPr/>
          <p:nvPr/>
        </p:nvSpPr>
        <p:spPr>
          <a:xfrm>
            <a:off x="842395" y="2335369"/>
            <a:ext cx="5299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Breadth First Search (</a:t>
            </a:r>
            <a:r>
              <a:rPr lang="es-CO" b="1" dirty="0"/>
              <a:t>empleando búsqueda en grafos</a:t>
            </a:r>
            <a:r>
              <a:rPr lang="en-US" b="1" dirty="0"/>
              <a:t>)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4893753" y="5912644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34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399718B1-DB66-4973-8C49-7E51B750B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963" y="2249463"/>
            <a:ext cx="5001642" cy="3266378"/>
          </a:xfrm>
        </p:spPr>
      </p:pic>
      <p:sp>
        <p:nvSpPr>
          <p:cNvPr id="23" name="Rectángulo 11">
            <a:extLst>
              <a:ext uri="{FF2B5EF4-FFF2-40B4-BE49-F238E27FC236}">
                <a16:creationId xmlns="" xmlns:a16="http://schemas.microsoft.com/office/drawing/2014/main" id="{9C7FCEA8-7169-4BF9-B2B1-491797D9AD68}"/>
              </a:ext>
            </a:extLst>
          </p:cNvPr>
          <p:cNvSpPr/>
          <p:nvPr/>
        </p:nvSpPr>
        <p:spPr>
          <a:xfrm>
            <a:off x="1574800" y="6281976"/>
            <a:ext cx="86184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400" b="1" dirty="0">
                <a:solidFill>
                  <a:srgbClr val="FF0000"/>
                </a:solidFill>
              </a:rPr>
              <a:t>Encontramos una ruta, pero no es la que tiene el menor costo!</a:t>
            </a:r>
            <a:endParaRPr lang="es-CO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67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788171" y="1645173"/>
            <a:ext cx="466781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no informada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FF564DB-999D-4593-B715-D39A2B6DEAB6}"/>
              </a:ext>
            </a:extLst>
          </p:cNvPr>
          <p:cNvSpPr/>
          <p:nvPr/>
        </p:nvSpPr>
        <p:spPr>
          <a:xfrm>
            <a:off x="1393239" y="2365151"/>
            <a:ext cx="74176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Uniform-cost search (</a:t>
            </a:r>
            <a:r>
              <a:rPr lang="es-CO" b="1" dirty="0"/>
              <a:t>buscando el camino menos ‘costoso”</a:t>
            </a:r>
            <a:r>
              <a:rPr lang="en-US" b="1" dirty="0"/>
              <a:t>)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102081" y="5132797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8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F1E87999-27B3-4D3B-8170-701C0D90C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4" y="3116314"/>
            <a:ext cx="5001642" cy="3266378"/>
          </a:xfrm>
          <a:prstGeom prst="rect">
            <a:avLst/>
          </a:prstGeom>
        </p:spPr>
      </p:pic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7FB18453-F780-4BBA-889B-8A3B77CAC7C7}"/>
              </a:ext>
            </a:extLst>
          </p:cNvPr>
          <p:cNvSpPr/>
          <p:nvPr/>
        </p:nvSpPr>
        <p:spPr>
          <a:xfrm>
            <a:off x="714861" y="386566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10" name="Rectángulo 11">
            <a:extLst>
              <a:ext uri="{FF2B5EF4-FFF2-40B4-BE49-F238E27FC236}">
                <a16:creationId xmlns="" xmlns:a16="http://schemas.microsoft.com/office/drawing/2014/main" id="{527A312B-6212-4C59-89D4-F1B4CCE71EC1}"/>
              </a:ext>
            </a:extLst>
          </p:cNvPr>
          <p:cNvSpPr/>
          <p:nvPr/>
        </p:nvSpPr>
        <p:spPr>
          <a:xfrm>
            <a:off x="923245" y="333048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71</a:t>
            </a:r>
          </a:p>
        </p:txBody>
      </p:sp>
      <p:sp>
        <p:nvSpPr>
          <p:cNvPr id="11" name="Rectángulo 11">
            <a:extLst>
              <a:ext uri="{FF2B5EF4-FFF2-40B4-BE49-F238E27FC236}">
                <a16:creationId xmlns="" xmlns:a16="http://schemas.microsoft.com/office/drawing/2014/main" id="{14C7019B-039B-4A44-BA30-C15AD9E15C44}"/>
              </a:ext>
            </a:extLst>
          </p:cNvPr>
          <p:cNvSpPr/>
          <p:nvPr/>
        </p:nvSpPr>
        <p:spPr>
          <a:xfrm>
            <a:off x="1160921" y="431199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="" xmlns:a16="http://schemas.microsoft.com/office/drawing/2014/main" id="{298CC9EE-BDAC-4CE9-98C9-580ED77C2BBD}"/>
              </a:ext>
            </a:extLst>
          </p:cNvPr>
          <p:cNvSpPr/>
          <p:nvPr/>
        </p:nvSpPr>
        <p:spPr>
          <a:xfrm>
            <a:off x="1535713" y="378799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151</a:t>
            </a:r>
          </a:p>
        </p:txBody>
      </p:sp>
      <p:sp>
        <p:nvSpPr>
          <p:cNvPr id="13" name="Rectángulo 11">
            <a:extLst>
              <a:ext uri="{FF2B5EF4-FFF2-40B4-BE49-F238E27FC236}">
                <a16:creationId xmlns="" xmlns:a16="http://schemas.microsoft.com/office/drawing/2014/main" id="{6A36AA40-FF98-45ED-ABAB-0EF8D96D35B7}"/>
              </a:ext>
            </a:extLst>
          </p:cNvPr>
          <p:cNvSpPr/>
          <p:nvPr/>
        </p:nvSpPr>
        <p:spPr>
          <a:xfrm>
            <a:off x="623015" y="438966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118</a:t>
            </a:r>
          </a:p>
        </p:txBody>
      </p:sp>
      <p:sp>
        <p:nvSpPr>
          <p:cNvPr id="14" name="Rectángulo 11">
            <a:extLst>
              <a:ext uri="{FF2B5EF4-FFF2-40B4-BE49-F238E27FC236}">
                <a16:creationId xmlns="" xmlns:a16="http://schemas.microsoft.com/office/drawing/2014/main" id="{D2C607DA-1B0A-4718-8F60-47C933656CDA}"/>
              </a:ext>
            </a:extLst>
          </p:cNvPr>
          <p:cNvSpPr/>
          <p:nvPr/>
        </p:nvSpPr>
        <p:spPr>
          <a:xfrm>
            <a:off x="1535712" y="611399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120</a:t>
            </a:r>
          </a:p>
        </p:txBody>
      </p:sp>
      <p:sp>
        <p:nvSpPr>
          <p:cNvPr id="15" name="Rectángulo 11">
            <a:extLst>
              <a:ext uri="{FF2B5EF4-FFF2-40B4-BE49-F238E27FC236}">
                <a16:creationId xmlns="" xmlns:a16="http://schemas.microsoft.com/office/drawing/2014/main" id="{FDCC4351-446B-416C-85D3-3B9827A5782D}"/>
              </a:ext>
            </a:extLst>
          </p:cNvPr>
          <p:cNvSpPr/>
          <p:nvPr/>
        </p:nvSpPr>
        <p:spPr>
          <a:xfrm>
            <a:off x="832623" y="494684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111</a:t>
            </a:r>
          </a:p>
        </p:txBody>
      </p:sp>
      <p:sp>
        <p:nvSpPr>
          <p:cNvPr id="16" name="Rectángulo 11">
            <a:extLst>
              <a:ext uri="{FF2B5EF4-FFF2-40B4-BE49-F238E27FC236}">
                <a16:creationId xmlns="" xmlns:a16="http://schemas.microsoft.com/office/drawing/2014/main" id="{67B0623E-E444-4F68-ACAF-C9E5CA92C99C}"/>
              </a:ext>
            </a:extLst>
          </p:cNvPr>
          <p:cNvSpPr/>
          <p:nvPr/>
        </p:nvSpPr>
        <p:spPr>
          <a:xfrm>
            <a:off x="1065718" y="526532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70</a:t>
            </a:r>
          </a:p>
        </p:txBody>
      </p:sp>
      <p:sp>
        <p:nvSpPr>
          <p:cNvPr id="17" name="Rectángulo 11">
            <a:extLst>
              <a:ext uri="{FF2B5EF4-FFF2-40B4-BE49-F238E27FC236}">
                <a16:creationId xmlns="" xmlns:a16="http://schemas.microsoft.com/office/drawing/2014/main" id="{E25F6796-70E5-4FCD-B408-CBF5C3B6F737}"/>
              </a:ext>
            </a:extLst>
          </p:cNvPr>
          <p:cNvSpPr/>
          <p:nvPr/>
        </p:nvSpPr>
        <p:spPr>
          <a:xfrm>
            <a:off x="1154933" y="565082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18" name="Rectángulo 11">
            <a:extLst>
              <a:ext uri="{FF2B5EF4-FFF2-40B4-BE49-F238E27FC236}">
                <a16:creationId xmlns="" xmlns:a16="http://schemas.microsoft.com/office/drawing/2014/main" id="{F6A40ED4-1AB4-4010-B5E0-8025EC72C5F9}"/>
              </a:ext>
            </a:extLst>
          </p:cNvPr>
          <p:cNvSpPr/>
          <p:nvPr/>
        </p:nvSpPr>
        <p:spPr>
          <a:xfrm>
            <a:off x="3616653" y="5100680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85</a:t>
            </a:r>
          </a:p>
        </p:txBody>
      </p:sp>
      <p:sp>
        <p:nvSpPr>
          <p:cNvPr id="19" name="Rectángulo 11">
            <a:extLst>
              <a:ext uri="{FF2B5EF4-FFF2-40B4-BE49-F238E27FC236}">
                <a16:creationId xmlns="" xmlns:a16="http://schemas.microsoft.com/office/drawing/2014/main" id="{2BADBC2B-87B1-4FB6-9882-3AE0525EE713}"/>
              </a:ext>
            </a:extLst>
          </p:cNvPr>
          <p:cNvSpPr/>
          <p:nvPr/>
        </p:nvSpPr>
        <p:spPr>
          <a:xfrm>
            <a:off x="2860619" y="541645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101</a:t>
            </a:r>
          </a:p>
        </p:txBody>
      </p:sp>
      <p:sp>
        <p:nvSpPr>
          <p:cNvPr id="20" name="Rectángulo 11">
            <a:extLst>
              <a:ext uri="{FF2B5EF4-FFF2-40B4-BE49-F238E27FC236}">
                <a16:creationId xmlns="" xmlns:a16="http://schemas.microsoft.com/office/drawing/2014/main" id="{FEE623FF-A40C-4890-AFC8-842D0C331596}"/>
              </a:ext>
            </a:extLst>
          </p:cNvPr>
          <p:cNvSpPr/>
          <p:nvPr/>
        </p:nvSpPr>
        <p:spPr>
          <a:xfrm>
            <a:off x="2094922" y="412985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99</a:t>
            </a:r>
          </a:p>
        </p:txBody>
      </p:sp>
      <p:sp>
        <p:nvSpPr>
          <p:cNvPr id="21" name="Rectángulo 11">
            <a:extLst>
              <a:ext uri="{FF2B5EF4-FFF2-40B4-BE49-F238E27FC236}">
                <a16:creationId xmlns="" xmlns:a16="http://schemas.microsoft.com/office/drawing/2014/main" id="{BCABAE09-1208-49E0-9163-F62A23BE1721}"/>
              </a:ext>
            </a:extLst>
          </p:cNvPr>
          <p:cNvSpPr/>
          <p:nvPr/>
        </p:nvSpPr>
        <p:spPr>
          <a:xfrm>
            <a:off x="3029755" y="5749390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90</a:t>
            </a:r>
          </a:p>
        </p:txBody>
      </p:sp>
      <p:sp>
        <p:nvSpPr>
          <p:cNvPr id="22" name="Rectángulo 11">
            <a:extLst>
              <a:ext uri="{FF2B5EF4-FFF2-40B4-BE49-F238E27FC236}">
                <a16:creationId xmlns="" xmlns:a16="http://schemas.microsoft.com/office/drawing/2014/main" id="{35180E83-1F3C-498D-8074-CBE5E4B69A0E}"/>
              </a:ext>
            </a:extLst>
          </p:cNvPr>
          <p:cNvSpPr/>
          <p:nvPr/>
        </p:nvSpPr>
        <p:spPr>
          <a:xfrm>
            <a:off x="3210051" y="460129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211</a:t>
            </a:r>
          </a:p>
        </p:txBody>
      </p:sp>
      <p:sp>
        <p:nvSpPr>
          <p:cNvPr id="24" name="Rectángulo 11">
            <a:extLst>
              <a:ext uri="{FF2B5EF4-FFF2-40B4-BE49-F238E27FC236}">
                <a16:creationId xmlns="" xmlns:a16="http://schemas.microsoft.com/office/drawing/2014/main" id="{A6818322-D5FA-430B-B54E-35C0C9602056}"/>
              </a:ext>
            </a:extLst>
          </p:cNvPr>
          <p:cNvSpPr/>
          <p:nvPr/>
        </p:nvSpPr>
        <p:spPr>
          <a:xfrm>
            <a:off x="2384331" y="562672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138</a:t>
            </a:r>
          </a:p>
        </p:txBody>
      </p:sp>
      <p:sp>
        <p:nvSpPr>
          <p:cNvPr id="25" name="Rectángulo 11">
            <a:extLst>
              <a:ext uri="{FF2B5EF4-FFF2-40B4-BE49-F238E27FC236}">
                <a16:creationId xmlns="" xmlns:a16="http://schemas.microsoft.com/office/drawing/2014/main" id="{16AC5916-0A95-42F4-BF32-22150DA93EAB}"/>
              </a:ext>
            </a:extLst>
          </p:cNvPr>
          <p:cNvSpPr/>
          <p:nvPr/>
        </p:nvSpPr>
        <p:spPr>
          <a:xfrm>
            <a:off x="1929176" y="551232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146</a:t>
            </a:r>
          </a:p>
        </p:txBody>
      </p:sp>
      <p:sp>
        <p:nvSpPr>
          <p:cNvPr id="26" name="Rectángulo 11">
            <a:extLst>
              <a:ext uri="{FF2B5EF4-FFF2-40B4-BE49-F238E27FC236}">
                <a16:creationId xmlns="" xmlns:a16="http://schemas.microsoft.com/office/drawing/2014/main" id="{6CD02338-1C38-420B-9B03-A5817236C1CC}"/>
              </a:ext>
            </a:extLst>
          </p:cNvPr>
          <p:cNvSpPr/>
          <p:nvPr/>
        </p:nvSpPr>
        <p:spPr>
          <a:xfrm>
            <a:off x="2094922" y="506190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97</a:t>
            </a:r>
          </a:p>
        </p:txBody>
      </p:sp>
      <p:sp>
        <p:nvSpPr>
          <p:cNvPr id="27" name="Rectángulo 11">
            <a:extLst>
              <a:ext uri="{FF2B5EF4-FFF2-40B4-BE49-F238E27FC236}">
                <a16:creationId xmlns="" xmlns:a16="http://schemas.microsoft.com/office/drawing/2014/main" id="{3C648A2B-7253-4A22-826A-2E58B8098E7D}"/>
              </a:ext>
            </a:extLst>
          </p:cNvPr>
          <p:cNvSpPr/>
          <p:nvPr/>
        </p:nvSpPr>
        <p:spPr>
          <a:xfrm>
            <a:off x="1616301" y="444304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80</a:t>
            </a:r>
          </a:p>
        </p:txBody>
      </p:sp>
      <p:sp>
        <p:nvSpPr>
          <p:cNvPr id="28" name="Rectángulo 11">
            <a:extLst>
              <a:ext uri="{FF2B5EF4-FFF2-40B4-BE49-F238E27FC236}">
                <a16:creationId xmlns="" xmlns:a16="http://schemas.microsoft.com/office/drawing/2014/main" id="{A3160E3D-CB4E-4271-B0AD-A94C89500411}"/>
              </a:ext>
            </a:extLst>
          </p:cNvPr>
          <p:cNvSpPr/>
          <p:nvPr/>
        </p:nvSpPr>
        <p:spPr>
          <a:xfrm>
            <a:off x="4997259" y="458899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142</a:t>
            </a:r>
          </a:p>
        </p:txBody>
      </p:sp>
      <p:sp>
        <p:nvSpPr>
          <p:cNvPr id="29" name="Rectángulo 11">
            <a:extLst>
              <a:ext uri="{FF2B5EF4-FFF2-40B4-BE49-F238E27FC236}">
                <a16:creationId xmlns="" xmlns:a16="http://schemas.microsoft.com/office/drawing/2014/main" id="{66650976-4EF7-44E8-A29D-82A5895FD8B6}"/>
              </a:ext>
            </a:extLst>
          </p:cNvPr>
          <p:cNvSpPr/>
          <p:nvPr/>
        </p:nvSpPr>
        <p:spPr>
          <a:xfrm>
            <a:off x="4930398" y="534655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86</a:t>
            </a:r>
          </a:p>
        </p:txBody>
      </p:sp>
      <p:sp>
        <p:nvSpPr>
          <p:cNvPr id="30" name="Rectángulo 11">
            <a:extLst>
              <a:ext uri="{FF2B5EF4-FFF2-40B4-BE49-F238E27FC236}">
                <a16:creationId xmlns="" xmlns:a16="http://schemas.microsoft.com/office/drawing/2014/main" id="{22BCC1CF-B153-4235-BECF-091200C5BB18}"/>
              </a:ext>
            </a:extLst>
          </p:cNvPr>
          <p:cNvSpPr/>
          <p:nvPr/>
        </p:nvSpPr>
        <p:spPr>
          <a:xfrm>
            <a:off x="4814082" y="369135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92</a:t>
            </a:r>
          </a:p>
        </p:txBody>
      </p:sp>
      <p:sp>
        <p:nvSpPr>
          <p:cNvPr id="31" name="Rectángulo 11">
            <a:extLst>
              <a:ext uri="{FF2B5EF4-FFF2-40B4-BE49-F238E27FC236}">
                <a16:creationId xmlns="" xmlns:a16="http://schemas.microsoft.com/office/drawing/2014/main" id="{FF556E7C-6CBD-404D-A000-B3221BB60B45}"/>
              </a:ext>
            </a:extLst>
          </p:cNvPr>
          <p:cNvSpPr/>
          <p:nvPr/>
        </p:nvSpPr>
        <p:spPr>
          <a:xfrm>
            <a:off x="3969744" y="348866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87</a:t>
            </a:r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2C0C4F71-7F35-42B5-B83F-D9F04CCFBF0C}"/>
              </a:ext>
            </a:extLst>
          </p:cNvPr>
          <p:cNvSpPr/>
          <p:nvPr/>
        </p:nvSpPr>
        <p:spPr>
          <a:xfrm>
            <a:off x="4367002" y="511477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206287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788171" y="1645173"/>
            <a:ext cx="466781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no informada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FF564DB-999D-4593-B715-D39A2B6DEAB6}"/>
              </a:ext>
            </a:extLst>
          </p:cNvPr>
          <p:cNvSpPr/>
          <p:nvPr/>
        </p:nvSpPr>
        <p:spPr>
          <a:xfrm>
            <a:off x="1393238" y="2365151"/>
            <a:ext cx="74176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Depth-first search (</a:t>
            </a:r>
            <a:r>
              <a:rPr lang="es-CO" b="1" dirty="0"/>
              <a:t>opuesto a </a:t>
            </a:r>
            <a:r>
              <a:rPr lang="es-CO" b="1" dirty="0" err="1"/>
              <a:t>uniform-cost</a:t>
            </a:r>
            <a:r>
              <a:rPr lang="es-CO" b="1" dirty="0"/>
              <a:t> </a:t>
            </a:r>
            <a:r>
              <a:rPr lang="es-CO" b="1" dirty="0" err="1"/>
              <a:t>search</a:t>
            </a:r>
            <a:r>
              <a:rPr lang="es-CO" b="1" dirty="0"/>
              <a:t> </a:t>
            </a:r>
            <a:r>
              <a:rPr lang="en-US" b="1" dirty="0"/>
              <a:t>)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102081" y="5132797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8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F1E87999-27B3-4D3B-8170-701C0D90C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4" y="3116314"/>
            <a:ext cx="5001642" cy="3266378"/>
          </a:xfrm>
          <a:prstGeom prst="rect">
            <a:avLst/>
          </a:prstGeom>
        </p:spPr>
      </p:pic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7FB18453-F780-4BBA-889B-8A3B77CAC7C7}"/>
              </a:ext>
            </a:extLst>
          </p:cNvPr>
          <p:cNvSpPr/>
          <p:nvPr/>
        </p:nvSpPr>
        <p:spPr>
          <a:xfrm>
            <a:off x="714861" y="386566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10" name="Rectángulo 11">
            <a:extLst>
              <a:ext uri="{FF2B5EF4-FFF2-40B4-BE49-F238E27FC236}">
                <a16:creationId xmlns="" xmlns:a16="http://schemas.microsoft.com/office/drawing/2014/main" id="{527A312B-6212-4C59-89D4-F1B4CCE71EC1}"/>
              </a:ext>
            </a:extLst>
          </p:cNvPr>
          <p:cNvSpPr/>
          <p:nvPr/>
        </p:nvSpPr>
        <p:spPr>
          <a:xfrm>
            <a:off x="923245" y="333048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71</a:t>
            </a:r>
          </a:p>
        </p:txBody>
      </p:sp>
      <p:sp>
        <p:nvSpPr>
          <p:cNvPr id="11" name="Rectángulo 11">
            <a:extLst>
              <a:ext uri="{FF2B5EF4-FFF2-40B4-BE49-F238E27FC236}">
                <a16:creationId xmlns="" xmlns:a16="http://schemas.microsoft.com/office/drawing/2014/main" id="{14C7019B-039B-4A44-BA30-C15AD9E15C44}"/>
              </a:ext>
            </a:extLst>
          </p:cNvPr>
          <p:cNvSpPr/>
          <p:nvPr/>
        </p:nvSpPr>
        <p:spPr>
          <a:xfrm>
            <a:off x="1160921" y="431199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="" xmlns:a16="http://schemas.microsoft.com/office/drawing/2014/main" id="{298CC9EE-BDAC-4CE9-98C9-580ED77C2BBD}"/>
              </a:ext>
            </a:extLst>
          </p:cNvPr>
          <p:cNvSpPr/>
          <p:nvPr/>
        </p:nvSpPr>
        <p:spPr>
          <a:xfrm>
            <a:off x="1535713" y="378799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151</a:t>
            </a:r>
          </a:p>
        </p:txBody>
      </p:sp>
      <p:sp>
        <p:nvSpPr>
          <p:cNvPr id="13" name="Rectángulo 11">
            <a:extLst>
              <a:ext uri="{FF2B5EF4-FFF2-40B4-BE49-F238E27FC236}">
                <a16:creationId xmlns="" xmlns:a16="http://schemas.microsoft.com/office/drawing/2014/main" id="{6A36AA40-FF98-45ED-ABAB-0EF8D96D35B7}"/>
              </a:ext>
            </a:extLst>
          </p:cNvPr>
          <p:cNvSpPr/>
          <p:nvPr/>
        </p:nvSpPr>
        <p:spPr>
          <a:xfrm>
            <a:off x="623015" y="438966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118</a:t>
            </a:r>
          </a:p>
        </p:txBody>
      </p:sp>
      <p:sp>
        <p:nvSpPr>
          <p:cNvPr id="14" name="Rectángulo 11">
            <a:extLst>
              <a:ext uri="{FF2B5EF4-FFF2-40B4-BE49-F238E27FC236}">
                <a16:creationId xmlns="" xmlns:a16="http://schemas.microsoft.com/office/drawing/2014/main" id="{D2C607DA-1B0A-4718-8F60-47C933656CDA}"/>
              </a:ext>
            </a:extLst>
          </p:cNvPr>
          <p:cNvSpPr/>
          <p:nvPr/>
        </p:nvSpPr>
        <p:spPr>
          <a:xfrm>
            <a:off x="1535712" y="611399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120</a:t>
            </a:r>
          </a:p>
        </p:txBody>
      </p:sp>
      <p:sp>
        <p:nvSpPr>
          <p:cNvPr id="15" name="Rectángulo 11">
            <a:extLst>
              <a:ext uri="{FF2B5EF4-FFF2-40B4-BE49-F238E27FC236}">
                <a16:creationId xmlns="" xmlns:a16="http://schemas.microsoft.com/office/drawing/2014/main" id="{FDCC4351-446B-416C-85D3-3B9827A5782D}"/>
              </a:ext>
            </a:extLst>
          </p:cNvPr>
          <p:cNvSpPr/>
          <p:nvPr/>
        </p:nvSpPr>
        <p:spPr>
          <a:xfrm>
            <a:off x="832623" y="494684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111</a:t>
            </a:r>
          </a:p>
        </p:txBody>
      </p:sp>
      <p:sp>
        <p:nvSpPr>
          <p:cNvPr id="16" name="Rectángulo 11">
            <a:extLst>
              <a:ext uri="{FF2B5EF4-FFF2-40B4-BE49-F238E27FC236}">
                <a16:creationId xmlns="" xmlns:a16="http://schemas.microsoft.com/office/drawing/2014/main" id="{67B0623E-E444-4F68-ACAF-C9E5CA92C99C}"/>
              </a:ext>
            </a:extLst>
          </p:cNvPr>
          <p:cNvSpPr/>
          <p:nvPr/>
        </p:nvSpPr>
        <p:spPr>
          <a:xfrm>
            <a:off x="1065718" y="526532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70</a:t>
            </a:r>
          </a:p>
        </p:txBody>
      </p:sp>
      <p:sp>
        <p:nvSpPr>
          <p:cNvPr id="17" name="Rectángulo 11">
            <a:extLst>
              <a:ext uri="{FF2B5EF4-FFF2-40B4-BE49-F238E27FC236}">
                <a16:creationId xmlns="" xmlns:a16="http://schemas.microsoft.com/office/drawing/2014/main" id="{E25F6796-70E5-4FCD-B408-CBF5C3B6F737}"/>
              </a:ext>
            </a:extLst>
          </p:cNvPr>
          <p:cNvSpPr/>
          <p:nvPr/>
        </p:nvSpPr>
        <p:spPr>
          <a:xfrm>
            <a:off x="1154933" y="565082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18" name="Rectángulo 11">
            <a:extLst>
              <a:ext uri="{FF2B5EF4-FFF2-40B4-BE49-F238E27FC236}">
                <a16:creationId xmlns="" xmlns:a16="http://schemas.microsoft.com/office/drawing/2014/main" id="{F6A40ED4-1AB4-4010-B5E0-8025EC72C5F9}"/>
              </a:ext>
            </a:extLst>
          </p:cNvPr>
          <p:cNvSpPr/>
          <p:nvPr/>
        </p:nvSpPr>
        <p:spPr>
          <a:xfrm>
            <a:off x="3616653" y="5100680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85</a:t>
            </a:r>
          </a:p>
        </p:txBody>
      </p:sp>
      <p:sp>
        <p:nvSpPr>
          <p:cNvPr id="19" name="Rectángulo 11">
            <a:extLst>
              <a:ext uri="{FF2B5EF4-FFF2-40B4-BE49-F238E27FC236}">
                <a16:creationId xmlns="" xmlns:a16="http://schemas.microsoft.com/office/drawing/2014/main" id="{2BADBC2B-87B1-4FB6-9882-3AE0525EE713}"/>
              </a:ext>
            </a:extLst>
          </p:cNvPr>
          <p:cNvSpPr/>
          <p:nvPr/>
        </p:nvSpPr>
        <p:spPr>
          <a:xfrm>
            <a:off x="2860619" y="541645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101</a:t>
            </a:r>
          </a:p>
        </p:txBody>
      </p:sp>
      <p:sp>
        <p:nvSpPr>
          <p:cNvPr id="20" name="Rectángulo 11">
            <a:extLst>
              <a:ext uri="{FF2B5EF4-FFF2-40B4-BE49-F238E27FC236}">
                <a16:creationId xmlns="" xmlns:a16="http://schemas.microsoft.com/office/drawing/2014/main" id="{FEE623FF-A40C-4890-AFC8-842D0C331596}"/>
              </a:ext>
            </a:extLst>
          </p:cNvPr>
          <p:cNvSpPr/>
          <p:nvPr/>
        </p:nvSpPr>
        <p:spPr>
          <a:xfrm>
            <a:off x="2094922" y="412985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99</a:t>
            </a:r>
          </a:p>
        </p:txBody>
      </p:sp>
      <p:sp>
        <p:nvSpPr>
          <p:cNvPr id="21" name="Rectángulo 11">
            <a:extLst>
              <a:ext uri="{FF2B5EF4-FFF2-40B4-BE49-F238E27FC236}">
                <a16:creationId xmlns="" xmlns:a16="http://schemas.microsoft.com/office/drawing/2014/main" id="{BCABAE09-1208-49E0-9163-F62A23BE1721}"/>
              </a:ext>
            </a:extLst>
          </p:cNvPr>
          <p:cNvSpPr/>
          <p:nvPr/>
        </p:nvSpPr>
        <p:spPr>
          <a:xfrm>
            <a:off x="3029755" y="5749390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90</a:t>
            </a:r>
          </a:p>
        </p:txBody>
      </p:sp>
      <p:sp>
        <p:nvSpPr>
          <p:cNvPr id="22" name="Rectángulo 11">
            <a:extLst>
              <a:ext uri="{FF2B5EF4-FFF2-40B4-BE49-F238E27FC236}">
                <a16:creationId xmlns="" xmlns:a16="http://schemas.microsoft.com/office/drawing/2014/main" id="{35180E83-1F3C-498D-8074-CBE5E4B69A0E}"/>
              </a:ext>
            </a:extLst>
          </p:cNvPr>
          <p:cNvSpPr/>
          <p:nvPr/>
        </p:nvSpPr>
        <p:spPr>
          <a:xfrm>
            <a:off x="3210051" y="460129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211</a:t>
            </a:r>
          </a:p>
        </p:txBody>
      </p:sp>
      <p:sp>
        <p:nvSpPr>
          <p:cNvPr id="24" name="Rectángulo 11">
            <a:extLst>
              <a:ext uri="{FF2B5EF4-FFF2-40B4-BE49-F238E27FC236}">
                <a16:creationId xmlns="" xmlns:a16="http://schemas.microsoft.com/office/drawing/2014/main" id="{A6818322-D5FA-430B-B54E-35C0C9602056}"/>
              </a:ext>
            </a:extLst>
          </p:cNvPr>
          <p:cNvSpPr/>
          <p:nvPr/>
        </p:nvSpPr>
        <p:spPr>
          <a:xfrm>
            <a:off x="2384331" y="562672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138</a:t>
            </a:r>
          </a:p>
        </p:txBody>
      </p:sp>
      <p:sp>
        <p:nvSpPr>
          <p:cNvPr id="25" name="Rectángulo 11">
            <a:extLst>
              <a:ext uri="{FF2B5EF4-FFF2-40B4-BE49-F238E27FC236}">
                <a16:creationId xmlns="" xmlns:a16="http://schemas.microsoft.com/office/drawing/2014/main" id="{16AC5916-0A95-42F4-BF32-22150DA93EAB}"/>
              </a:ext>
            </a:extLst>
          </p:cNvPr>
          <p:cNvSpPr/>
          <p:nvPr/>
        </p:nvSpPr>
        <p:spPr>
          <a:xfrm>
            <a:off x="1929176" y="5512321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146</a:t>
            </a:r>
          </a:p>
        </p:txBody>
      </p:sp>
      <p:sp>
        <p:nvSpPr>
          <p:cNvPr id="26" name="Rectángulo 11">
            <a:extLst>
              <a:ext uri="{FF2B5EF4-FFF2-40B4-BE49-F238E27FC236}">
                <a16:creationId xmlns="" xmlns:a16="http://schemas.microsoft.com/office/drawing/2014/main" id="{6CD02338-1C38-420B-9B03-A5817236C1CC}"/>
              </a:ext>
            </a:extLst>
          </p:cNvPr>
          <p:cNvSpPr/>
          <p:nvPr/>
        </p:nvSpPr>
        <p:spPr>
          <a:xfrm>
            <a:off x="2094922" y="506190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97</a:t>
            </a:r>
          </a:p>
        </p:txBody>
      </p:sp>
      <p:sp>
        <p:nvSpPr>
          <p:cNvPr id="27" name="Rectángulo 11">
            <a:extLst>
              <a:ext uri="{FF2B5EF4-FFF2-40B4-BE49-F238E27FC236}">
                <a16:creationId xmlns="" xmlns:a16="http://schemas.microsoft.com/office/drawing/2014/main" id="{3C648A2B-7253-4A22-826A-2E58B8098E7D}"/>
              </a:ext>
            </a:extLst>
          </p:cNvPr>
          <p:cNvSpPr/>
          <p:nvPr/>
        </p:nvSpPr>
        <p:spPr>
          <a:xfrm>
            <a:off x="1616301" y="444304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80</a:t>
            </a:r>
          </a:p>
        </p:txBody>
      </p:sp>
      <p:sp>
        <p:nvSpPr>
          <p:cNvPr id="28" name="Rectángulo 11">
            <a:extLst>
              <a:ext uri="{FF2B5EF4-FFF2-40B4-BE49-F238E27FC236}">
                <a16:creationId xmlns="" xmlns:a16="http://schemas.microsoft.com/office/drawing/2014/main" id="{A3160E3D-CB4E-4271-B0AD-A94C89500411}"/>
              </a:ext>
            </a:extLst>
          </p:cNvPr>
          <p:cNvSpPr/>
          <p:nvPr/>
        </p:nvSpPr>
        <p:spPr>
          <a:xfrm>
            <a:off x="4997259" y="458899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142</a:t>
            </a:r>
          </a:p>
        </p:txBody>
      </p:sp>
      <p:sp>
        <p:nvSpPr>
          <p:cNvPr id="29" name="Rectángulo 11">
            <a:extLst>
              <a:ext uri="{FF2B5EF4-FFF2-40B4-BE49-F238E27FC236}">
                <a16:creationId xmlns="" xmlns:a16="http://schemas.microsoft.com/office/drawing/2014/main" id="{66650976-4EF7-44E8-A29D-82A5895FD8B6}"/>
              </a:ext>
            </a:extLst>
          </p:cNvPr>
          <p:cNvSpPr/>
          <p:nvPr/>
        </p:nvSpPr>
        <p:spPr>
          <a:xfrm>
            <a:off x="4930398" y="534655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86</a:t>
            </a:r>
          </a:p>
        </p:txBody>
      </p:sp>
      <p:sp>
        <p:nvSpPr>
          <p:cNvPr id="30" name="Rectángulo 11">
            <a:extLst>
              <a:ext uri="{FF2B5EF4-FFF2-40B4-BE49-F238E27FC236}">
                <a16:creationId xmlns="" xmlns:a16="http://schemas.microsoft.com/office/drawing/2014/main" id="{22BCC1CF-B153-4235-BECF-091200C5BB18}"/>
              </a:ext>
            </a:extLst>
          </p:cNvPr>
          <p:cNvSpPr/>
          <p:nvPr/>
        </p:nvSpPr>
        <p:spPr>
          <a:xfrm>
            <a:off x="4814082" y="369135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92</a:t>
            </a:r>
          </a:p>
        </p:txBody>
      </p:sp>
      <p:sp>
        <p:nvSpPr>
          <p:cNvPr id="31" name="Rectángulo 11">
            <a:extLst>
              <a:ext uri="{FF2B5EF4-FFF2-40B4-BE49-F238E27FC236}">
                <a16:creationId xmlns="" xmlns:a16="http://schemas.microsoft.com/office/drawing/2014/main" id="{FF556E7C-6CBD-404D-A000-B3221BB60B45}"/>
              </a:ext>
            </a:extLst>
          </p:cNvPr>
          <p:cNvSpPr/>
          <p:nvPr/>
        </p:nvSpPr>
        <p:spPr>
          <a:xfrm>
            <a:off x="3969744" y="348866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87</a:t>
            </a:r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2C0C4F71-7F35-42B5-B83F-D9F04CCFBF0C}"/>
              </a:ext>
            </a:extLst>
          </p:cNvPr>
          <p:cNvSpPr/>
          <p:nvPr/>
        </p:nvSpPr>
        <p:spPr>
          <a:xfrm>
            <a:off x="4367002" y="511477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98</a:t>
            </a:r>
          </a:p>
        </p:txBody>
      </p:sp>
      <p:sp>
        <p:nvSpPr>
          <p:cNvPr id="33" name="Rectángulo 11">
            <a:extLst>
              <a:ext uri="{FF2B5EF4-FFF2-40B4-BE49-F238E27FC236}">
                <a16:creationId xmlns="" xmlns:a16="http://schemas.microsoft.com/office/drawing/2014/main" id="{9C7FCEA8-7169-4BF9-B2B1-491797D9AD68}"/>
              </a:ext>
            </a:extLst>
          </p:cNvPr>
          <p:cNvSpPr/>
          <p:nvPr/>
        </p:nvSpPr>
        <p:spPr>
          <a:xfrm>
            <a:off x="1574800" y="6281976"/>
            <a:ext cx="86184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400" b="1" dirty="0">
                <a:solidFill>
                  <a:srgbClr val="FF0000"/>
                </a:solidFill>
              </a:rPr>
              <a:t>Encontramos una ruta, pero no es la que tiene el menor costo!</a:t>
            </a:r>
            <a:endParaRPr lang="es-CO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730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788171" y="1645173"/>
            <a:ext cx="466781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no informada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FF564DB-999D-4593-B715-D39A2B6DEAB6}"/>
              </a:ext>
            </a:extLst>
          </p:cNvPr>
          <p:cNvSpPr/>
          <p:nvPr/>
        </p:nvSpPr>
        <p:spPr>
          <a:xfrm>
            <a:off x="1393239" y="2365151"/>
            <a:ext cx="74176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Comparación</a:t>
            </a:r>
            <a:r>
              <a:rPr lang="en-US" b="1" dirty="0"/>
              <a:t> entre </a:t>
            </a:r>
            <a:r>
              <a:rPr lang="en-US" b="1" dirty="0" err="1"/>
              <a:t>algoritmos</a:t>
            </a:r>
            <a:r>
              <a:rPr lang="en-US" b="1" dirty="0"/>
              <a:t> de </a:t>
            </a:r>
            <a:r>
              <a:rPr lang="en-US" b="1" dirty="0" err="1"/>
              <a:t>búsqueda</a:t>
            </a:r>
            <a:r>
              <a:rPr lang="en-US" b="1" dirty="0"/>
              <a:t> no </a:t>
            </a:r>
            <a:r>
              <a:rPr lang="en-US" b="1" dirty="0" err="1"/>
              <a:t>informada</a:t>
            </a:r>
            <a:endParaRPr lang="en-US" b="1" dirty="0"/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258DBDD2-A40D-4DF1-8C06-0CC244B3622D}"/>
              </a:ext>
            </a:extLst>
          </p:cNvPr>
          <p:cNvSpPr/>
          <p:nvPr/>
        </p:nvSpPr>
        <p:spPr>
          <a:xfrm>
            <a:off x="4880068" y="3233300"/>
            <a:ext cx="22237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Uniform-cost search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3AC11034-D0BE-461B-8C30-BC3B482C079D}"/>
              </a:ext>
            </a:extLst>
          </p:cNvPr>
          <p:cNvSpPr/>
          <p:nvPr/>
        </p:nvSpPr>
        <p:spPr>
          <a:xfrm>
            <a:off x="8169959" y="3309309"/>
            <a:ext cx="74176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Depth-first search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478296B9-6260-4B27-8D69-1EFE2C3AB936}"/>
              </a:ext>
            </a:extLst>
          </p:cNvPr>
          <p:cNvSpPr/>
          <p:nvPr/>
        </p:nvSpPr>
        <p:spPr>
          <a:xfrm>
            <a:off x="1638201" y="3211940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Breadth First search</a:t>
            </a:r>
          </a:p>
        </p:txBody>
      </p:sp>
      <p:sp>
        <p:nvSpPr>
          <p:cNvPr id="3" name="Oval 2">
            <a:extLst>
              <a:ext uri="{FF2B5EF4-FFF2-40B4-BE49-F238E27FC236}">
                <a16:creationId xmlns="" xmlns:a16="http://schemas.microsoft.com/office/drawing/2014/main" id="{ADD4BF66-F989-441B-A96B-5ACF1A06D269}"/>
              </a:ext>
            </a:extLst>
          </p:cNvPr>
          <p:cNvSpPr/>
          <p:nvPr/>
        </p:nvSpPr>
        <p:spPr>
          <a:xfrm>
            <a:off x="1788160" y="4622800"/>
            <a:ext cx="39624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="" xmlns:a16="http://schemas.microsoft.com/office/drawing/2014/main" id="{14D28F6C-AB45-4E09-BB03-35F9F0A72144}"/>
              </a:ext>
            </a:extLst>
          </p:cNvPr>
          <p:cNvSpPr/>
          <p:nvPr/>
        </p:nvSpPr>
        <p:spPr>
          <a:xfrm>
            <a:off x="3190240" y="4622800"/>
            <a:ext cx="396240" cy="40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D119CA2F-9477-4942-8A3E-639FC9A2AB0F}"/>
              </a:ext>
            </a:extLst>
          </p:cNvPr>
          <p:cNvSpPr/>
          <p:nvPr/>
        </p:nvSpPr>
        <p:spPr>
          <a:xfrm>
            <a:off x="2808580" y="5421868"/>
            <a:ext cx="39624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5E071C82-5801-43F2-B986-AEC64CAEC031}"/>
              </a:ext>
            </a:extLst>
          </p:cNvPr>
          <p:cNvSpPr/>
          <p:nvPr/>
        </p:nvSpPr>
        <p:spPr>
          <a:xfrm>
            <a:off x="3404259" y="5421868"/>
            <a:ext cx="375261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702CC24A-BE24-4DBD-9DE9-11E1039F3D5F}"/>
              </a:ext>
            </a:extLst>
          </p:cNvPr>
          <p:cNvSpPr/>
          <p:nvPr/>
        </p:nvSpPr>
        <p:spPr>
          <a:xfrm>
            <a:off x="1440081" y="5421868"/>
            <a:ext cx="39624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="" xmlns:a16="http://schemas.microsoft.com/office/drawing/2014/main" id="{06A32DAA-C196-460C-B091-96F63EC0535B}"/>
              </a:ext>
            </a:extLst>
          </p:cNvPr>
          <p:cNvSpPr/>
          <p:nvPr/>
        </p:nvSpPr>
        <p:spPr>
          <a:xfrm>
            <a:off x="2035760" y="5421868"/>
            <a:ext cx="375261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="" xmlns:a16="http://schemas.microsoft.com/office/drawing/2014/main" id="{3B64A0FE-4AD6-4E86-BBA2-EA51632AE112}"/>
              </a:ext>
            </a:extLst>
          </p:cNvPr>
          <p:cNvSpPr/>
          <p:nvPr/>
        </p:nvSpPr>
        <p:spPr>
          <a:xfrm>
            <a:off x="2469539" y="3893509"/>
            <a:ext cx="39624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C747420D-FDF4-4F7C-856F-E5CCBDA78BE5}"/>
              </a:ext>
            </a:extLst>
          </p:cNvPr>
          <p:cNvSpPr/>
          <p:nvPr/>
        </p:nvSpPr>
        <p:spPr>
          <a:xfrm>
            <a:off x="4978405" y="4622800"/>
            <a:ext cx="39624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5" name="Oval 44">
            <a:extLst>
              <a:ext uri="{FF2B5EF4-FFF2-40B4-BE49-F238E27FC236}">
                <a16:creationId xmlns="" xmlns:a16="http://schemas.microsoft.com/office/drawing/2014/main" id="{F9370560-D025-48AD-84D3-B436CF34B63E}"/>
              </a:ext>
            </a:extLst>
          </p:cNvPr>
          <p:cNvSpPr/>
          <p:nvPr/>
        </p:nvSpPr>
        <p:spPr>
          <a:xfrm>
            <a:off x="6380485" y="4622800"/>
            <a:ext cx="396240" cy="40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6F7AB23E-5BE4-44AC-9021-5C6A8124057D}"/>
              </a:ext>
            </a:extLst>
          </p:cNvPr>
          <p:cNvSpPr/>
          <p:nvPr/>
        </p:nvSpPr>
        <p:spPr>
          <a:xfrm>
            <a:off x="5998825" y="5421868"/>
            <a:ext cx="39624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="" xmlns:a16="http://schemas.microsoft.com/office/drawing/2014/main" id="{D9EE1745-414C-4284-A919-3F5A6CB1BD69}"/>
              </a:ext>
            </a:extLst>
          </p:cNvPr>
          <p:cNvSpPr/>
          <p:nvPr/>
        </p:nvSpPr>
        <p:spPr>
          <a:xfrm>
            <a:off x="6594504" y="5421868"/>
            <a:ext cx="375261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="" xmlns:a16="http://schemas.microsoft.com/office/drawing/2014/main" id="{EB5345FF-1CBC-4C61-84CF-4185AEFD9EEF}"/>
              </a:ext>
            </a:extLst>
          </p:cNvPr>
          <p:cNvSpPr/>
          <p:nvPr/>
        </p:nvSpPr>
        <p:spPr>
          <a:xfrm>
            <a:off x="4630326" y="5421868"/>
            <a:ext cx="39624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="" xmlns:a16="http://schemas.microsoft.com/office/drawing/2014/main" id="{43FC8987-CBF2-4EA0-B75D-3522162855CB}"/>
              </a:ext>
            </a:extLst>
          </p:cNvPr>
          <p:cNvSpPr/>
          <p:nvPr/>
        </p:nvSpPr>
        <p:spPr>
          <a:xfrm>
            <a:off x="5226005" y="5421868"/>
            <a:ext cx="375261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="" xmlns:a16="http://schemas.microsoft.com/office/drawing/2014/main" id="{CD70DDED-7F33-46E6-9D3F-21FB3D0A7334}"/>
              </a:ext>
            </a:extLst>
          </p:cNvPr>
          <p:cNvSpPr/>
          <p:nvPr/>
        </p:nvSpPr>
        <p:spPr>
          <a:xfrm>
            <a:off x="5659784" y="3893509"/>
            <a:ext cx="39624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="" xmlns:a16="http://schemas.microsoft.com/office/drawing/2014/main" id="{99CC545C-0BAC-4880-AA6B-4EB54000E61C}"/>
              </a:ext>
            </a:extLst>
          </p:cNvPr>
          <p:cNvSpPr/>
          <p:nvPr/>
        </p:nvSpPr>
        <p:spPr>
          <a:xfrm>
            <a:off x="8359703" y="4585732"/>
            <a:ext cx="39624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="" xmlns:a16="http://schemas.microsoft.com/office/drawing/2014/main" id="{A157443E-B057-4A60-8F7C-E06CCE1BAEFD}"/>
              </a:ext>
            </a:extLst>
          </p:cNvPr>
          <p:cNvSpPr/>
          <p:nvPr/>
        </p:nvSpPr>
        <p:spPr>
          <a:xfrm>
            <a:off x="9660186" y="4594968"/>
            <a:ext cx="396240" cy="40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="" xmlns:a16="http://schemas.microsoft.com/office/drawing/2014/main" id="{035A2F58-A386-4860-B0B2-7E7F7006A6D8}"/>
              </a:ext>
            </a:extLst>
          </p:cNvPr>
          <p:cNvSpPr/>
          <p:nvPr/>
        </p:nvSpPr>
        <p:spPr>
          <a:xfrm>
            <a:off x="9380123" y="5384800"/>
            <a:ext cx="39624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="" xmlns:a16="http://schemas.microsoft.com/office/drawing/2014/main" id="{4847C654-BB1A-498A-B72C-739B86FC0F7B}"/>
              </a:ext>
            </a:extLst>
          </p:cNvPr>
          <p:cNvSpPr/>
          <p:nvPr/>
        </p:nvSpPr>
        <p:spPr>
          <a:xfrm>
            <a:off x="9975802" y="5384800"/>
            <a:ext cx="375261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="" xmlns:a16="http://schemas.microsoft.com/office/drawing/2014/main" id="{1D8F1C8B-E13E-40EF-BFA6-6700828357A2}"/>
              </a:ext>
            </a:extLst>
          </p:cNvPr>
          <p:cNvSpPr/>
          <p:nvPr/>
        </p:nvSpPr>
        <p:spPr>
          <a:xfrm>
            <a:off x="8011624" y="5384800"/>
            <a:ext cx="39624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="" xmlns:a16="http://schemas.microsoft.com/office/drawing/2014/main" id="{3E6506B4-EFDC-4BD6-A37F-5C2704B36DA1}"/>
              </a:ext>
            </a:extLst>
          </p:cNvPr>
          <p:cNvSpPr/>
          <p:nvPr/>
        </p:nvSpPr>
        <p:spPr>
          <a:xfrm>
            <a:off x="8607303" y="5384800"/>
            <a:ext cx="375261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="" xmlns:a16="http://schemas.microsoft.com/office/drawing/2014/main" id="{EB9B724D-2A46-4892-9B2A-5174982A9787}"/>
              </a:ext>
            </a:extLst>
          </p:cNvPr>
          <p:cNvSpPr/>
          <p:nvPr/>
        </p:nvSpPr>
        <p:spPr>
          <a:xfrm>
            <a:off x="9041082" y="3856441"/>
            <a:ext cx="39624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ángulo 11">
            <a:extLst>
              <a:ext uri="{FF2B5EF4-FFF2-40B4-BE49-F238E27FC236}">
                <a16:creationId xmlns="" xmlns:a16="http://schemas.microsoft.com/office/drawing/2014/main" id="{CBC3A249-E068-4626-B9C0-1636BD01B182}"/>
              </a:ext>
            </a:extLst>
          </p:cNvPr>
          <p:cNvSpPr/>
          <p:nvPr/>
        </p:nvSpPr>
        <p:spPr>
          <a:xfrm>
            <a:off x="4978405" y="4345801"/>
            <a:ext cx="9399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/>
              <a:t>5</a:t>
            </a:r>
          </a:p>
        </p:txBody>
      </p:sp>
      <p:sp>
        <p:nvSpPr>
          <p:cNvPr id="59" name="Rectángulo 11">
            <a:extLst>
              <a:ext uri="{FF2B5EF4-FFF2-40B4-BE49-F238E27FC236}">
                <a16:creationId xmlns="" xmlns:a16="http://schemas.microsoft.com/office/drawing/2014/main" id="{48C80045-6058-416D-AED9-4836B6EB1456}"/>
              </a:ext>
            </a:extLst>
          </p:cNvPr>
          <p:cNvSpPr/>
          <p:nvPr/>
        </p:nvSpPr>
        <p:spPr>
          <a:xfrm>
            <a:off x="5870558" y="4320675"/>
            <a:ext cx="9399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/>
              <a:t>2</a:t>
            </a:r>
          </a:p>
        </p:txBody>
      </p:sp>
      <p:sp>
        <p:nvSpPr>
          <p:cNvPr id="60" name="Rectángulo 11">
            <a:extLst>
              <a:ext uri="{FF2B5EF4-FFF2-40B4-BE49-F238E27FC236}">
                <a16:creationId xmlns="" xmlns:a16="http://schemas.microsoft.com/office/drawing/2014/main" id="{84A4D5F9-0019-46FD-8419-DB1C68FAA4A2}"/>
              </a:ext>
            </a:extLst>
          </p:cNvPr>
          <p:cNvSpPr/>
          <p:nvPr/>
        </p:nvSpPr>
        <p:spPr>
          <a:xfrm>
            <a:off x="4256195" y="5052536"/>
            <a:ext cx="9399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/>
              <a:t>3</a:t>
            </a:r>
          </a:p>
        </p:txBody>
      </p:sp>
      <p:sp>
        <p:nvSpPr>
          <p:cNvPr id="61" name="Rectángulo 11">
            <a:extLst>
              <a:ext uri="{FF2B5EF4-FFF2-40B4-BE49-F238E27FC236}">
                <a16:creationId xmlns="" xmlns:a16="http://schemas.microsoft.com/office/drawing/2014/main" id="{DF048860-DE57-4B1D-B1BD-E4C72A48DF83}"/>
              </a:ext>
            </a:extLst>
          </p:cNvPr>
          <p:cNvSpPr/>
          <p:nvPr/>
        </p:nvSpPr>
        <p:spPr>
          <a:xfrm>
            <a:off x="5051940" y="5068500"/>
            <a:ext cx="9399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/>
              <a:t>2</a:t>
            </a:r>
          </a:p>
        </p:txBody>
      </p:sp>
      <p:sp>
        <p:nvSpPr>
          <p:cNvPr id="62" name="Rectángulo 11">
            <a:extLst>
              <a:ext uri="{FF2B5EF4-FFF2-40B4-BE49-F238E27FC236}">
                <a16:creationId xmlns="" xmlns:a16="http://schemas.microsoft.com/office/drawing/2014/main" id="{447DEAE1-E27F-499D-8E7B-12FC74121E5D}"/>
              </a:ext>
            </a:extLst>
          </p:cNvPr>
          <p:cNvSpPr/>
          <p:nvPr/>
        </p:nvSpPr>
        <p:spPr>
          <a:xfrm>
            <a:off x="5726950" y="5068500"/>
            <a:ext cx="9399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/>
              <a:t>4</a:t>
            </a:r>
          </a:p>
        </p:txBody>
      </p:sp>
      <p:sp>
        <p:nvSpPr>
          <p:cNvPr id="63" name="Rectángulo 11">
            <a:extLst>
              <a:ext uri="{FF2B5EF4-FFF2-40B4-BE49-F238E27FC236}">
                <a16:creationId xmlns="" xmlns:a16="http://schemas.microsoft.com/office/drawing/2014/main" id="{E040DD57-A591-4FE6-B733-63BF46EAEF27}"/>
              </a:ext>
            </a:extLst>
          </p:cNvPr>
          <p:cNvSpPr/>
          <p:nvPr/>
        </p:nvSpPr>
        <p:spPr>
          <a:xfrm>
            <a:off x="6410499" y="5038293"/>
            <a:ext cx="9399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1585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788171" y="1645173"/>
            <a:ext cx="466781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no informada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FF564DB-999D-4593-B715-D39A2B6DEAB6}"/>
              </a:ext>
            </a:extLst>
          </p:cNvPr>
          <p:cNvSpPr/>
          <p:nvPr/>
        </p:nvSpPr>
        <p:spPr>
          <a:xfrm>
            <a:off x="842395" y="2335369"/>
            <a:ext cx="21862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Depth-limited search</a:t>
            </a:r>
            <a:endParaRPr lang="en-US" b="1" dirty="0"/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4893753" y="5912644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34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399718B1-DB66-4973-8C49-7E51B750B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963" y="2249463"/>
            <a:ext cx="5001642" cy="3266378"/>
          </a:xfrm>
        </p:spPr>
      </p:pic>
      <p:sp>
        <p:nvSpPr>
          <p:cNvPr id="23" name="Rectángulo 11">
            <a:extLst>
              <a:ext uri="{FF2B5EF4-FFF2-40B4-BE49-F238E27FC236}">
                <a16:creationId xmlns="" xmlns:a16="http://schemas.microsoft.com/office/drawing/2014/main" id="{9C7FCEA8-7169-4BF9-B2B1-491797D9AD68}"/>
              </a:ext>
            </a:extLst>
          </p:cNvPr>
          <p:cNvSpPr/>
          <p:nvPr/>
        </p:nvSpPr>
        <p:spPr>
          <a:xfrm>
            <a:off x="1574800" y="6281976"/>
            <a:ext cx="86184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400" b="1" dirty="0">
                <a:solidFill>
                  <a:srgbClr val="FF0000"/>
                </a:solidFill>
              </a:rPr>
              <a:t>Encontramos una ruta, pero no es la que tiene el menor costo!</a:t>
            </a:r>
            <a:endParaRPr lang="es-CO" sz="2400" dirty="0">
              <a:solidFill>
                <a:srgbClr val="FF0000"/>
              </a:solidFill>
            </a:endParaRPr>
          </a:p>
        </p:txBody>
      </p:sp>
      <p:sp>
        <p:nvSpPr>
          <p:cNvPr id="8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-726573" y="2704701"/>
            <a:ext cx="72704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dirty="0" smtClean="0"/>
              <a:t>Si escogemos un límite de pasos = 4…</a:t>
            </a:r>
            <a:endParaRPr lang="es-CO" sz="1600" dirty="0"/>
          </a:p>
        </p:txBody>
      </p:sp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-1386444" y="5928033"/>
            <a:ext cx="72704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b="1" dirty="0" smtClean="0"/>
              <a:t>Análisis: </a:t>
            </a:r>
            <a:r>
              <a:rPr lang="es-CO" sz="1600" dirty="0" smtClean="0"/>
              <a:t>Diámetro del espacio de estados es 9!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252450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788171" y="1645173"/>
            <a:ext cx="466781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no informada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FF564DB-999D-4593-B715-D39A2B6DEAB6}"/>
              </a:ext>
            </a:extLst>
          </p:cNvPr>
          <p:cNvSpPr/>
          <p:nvPr/>
        </p:nvSpPr>
        <p:spPr>
          <a:xfrm>
            <a:off x="842395" y="2335369"/>
            <a:ext cx="27148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Iterative deepening search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4893753" y="5912644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34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399718B1-DB66-4973-8C49-7E51B750B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963" y="2249463"/>
            <a:ext cx="5001642" cy="3266378"/>
          </a:xfrm>
        </p:spPr>
      </p:pic>
      <p:sp>
        <p:nvSpPr>
          <p:cNvPr id="8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-726573" y="2704701"/>
            <a:ext cx="72704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dirty="0"/>
              <a:t>Combina lo mejor de BFS y </a:t>
            </a:r>
            <a:r>
              <a:rPr lang="es-CO" sz="1600" dirty="0" smtClean="0"/>
              <a:t>DFS!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69762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457" y="2715789"/>
            <a:ext cx="4144530" cy="1998969"/>
          </a:xfrm>
          <a:prstGeom prst="rect">
            <a:avLst/>
          </a:prstGeom>
        </p:spPr>
      </p:pic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788171" y="1645173"/>
            <a:ext cx="466781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no informada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FF564DB-999D-4593-B715-D39A2B6DEAB6}"/>
              </a:ext>
            </a:extLst>
          </p:cNvPr>
          <p:cNvSpPr/>
          <p:nvPr/>
        </p:nvSpPr>
        <p:spPr>
          <a:xfrm>
            <a:off x="842395" y="2335369"/>
            <a:ext cx="2065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Bidirectional search</a:t>
            </a:r>
          </a:p>
        </p:txBody>
      </p:sp>
      <p:sp>
        <p:nvSpPr>
          <p:cNvPr id="8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4893753" y="5912644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pic>
        <p:nvPicPr>
          <p:cNvPr id="9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399718B1-DB66-4973-8C49-7E51B750B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963" y="2249463"/>
            <a:ext cx="5001642" cy="3266378"/>
          </a:xfrm>
        </p:spPr>
      </p:pic>
      <p:sp>
        <p:nvSpPr>
          <p:cNvPr id="11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213550" y="986755"/>
            <a:ext cx="72704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b="1" dirty="0" smtClean="0"/>
              <a:t>Análisis: </a:t>
            </a:r>
            <a:r>
              <a:rPr lang="es-CO" sz="1600" dirty="0" smtClean="0"/>
              <a:t>Cuáles son los predecesores del estado jaque maque en un partida de ajedrez? </a:t>
            </a:r>
            <a:endParaRPr lang="es-CO" sz="1600" dirty="0"/>
          </a:p>
        </p:txBody>
      </p:sp>
      <p:sp>
        <p:nvSpPr>
          <p:cNvPr id="1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682907" y="4695591"/>
            <a:ext cx="72704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i="1" dirty="0" smtClean="0"/>
              <a:t>Tomado de “Artificial </a:t>
            </a:r>
            <a:r>
              <a:rPr lang="es-CO" sz="1200" i="1" dirty="0" err="1" smtClean="0"/>
              <a:t>Intelligence</a:t>
            </a:r>
            <a:r>
              <a:rPr lang="es-CO" sz="1200" i="1" dirty="0" smtClean="0"/>
              <a:t>: A </a:t>
            </a:r>
            <a:r>
              <a:rPr lang="es-CO" sz="1200" i="1" dirty="0" err="1" smtClean="0"/>
              <a:t>modern</a:t>
            </a:r>
            <a:r>
              <a:rPr lang="es-CO" sz="1200" i="1" dirty="0" smtClean="0"/>
              <a:t> </a:t>
            </a:r>
            <a:r>
              <a:rPr lang="es-CO" sz="1200" i="1" dirty="0" err="1" smtClean="0"/>
              <a:t>approach</a:t>
            </a:r>
            <a:r>
              <a:rPr lang="es-CO" sz="1200" i="1" dirty="0" smtClean="0"/>
              <a:t>”, S.J. Russell and P. </a:t>
            </a:r>
            <a:r>
              <a:rPr lang="es-CO" sz="1200" i="1" dirty="0" err="1" smtClean="0"/>
              <a:t>Norvig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2861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FF564DB-999D-4593-B715-D39A2B6DEAB6}"/>
              </a:ext>
            </a:extLst>
          </p:cNvPr>
          <p:cNvSpPr/>
          <p:nvPr/>
        </p:nvSpPr>
        <p:spPr>
          <a:xfrm>
            <a:off x="851920" y="2516344"/>
            <a:ext cx="1014945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smtClean="0"/>
              <a:t>Completeness</a:t>
            </a:r>
          </a:p>
          <a:p>
            <a:r>
              <a:rPr lang="en-US" dirty="0" smtClean="0"/>
              <a:t>	La </a:t>
            </a:r>
            <a:r>
              <a:rPr lang="en-US" dirty="0" err="1" smtClean="0"/>
              <a:t>estrategia</a:t>
            </a:r>
            <a:r>
              <a:rPr lang="en-US" dirty="0" smtClean="0"/>
              <a:t> </a:t>
            </a:r>
            <a:r>
              <a:rPr lang="en-US" dirty="0" err="1" smtClean="0"/>
              <a:t>garantiza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encontrará</a:t>
            </a:r>
            <a:r>
              <a:rPr lang="en-US" dirty="0" smtClean="0"/>
              <a:t> 	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solución</a:t>
            </a:r>
            <a:r>
              <a:rPr lang="en-US" dirty="0" smtClean="0"/>
              <a:t> (</a:t>
            </a:r>
            <a:r>
              <a:rPr lang="en-US" dirty="0" err="1" smtClean="0"/>
              <a:t>si</a:t>
            </a:r>
            <a:r>
              <a:rPr lang="en-US" dirty="0" smtClean="0"/>
              <a:t> la hay)?</a:t>
            </a:r>
          </a:p>
          <a:p>
            <a:endParaRPr lang="en-US" dirty="0"/>
          </a:p>
          <a:p>
            <a:r>
              <a:rPr lang="en-US" b="1" i="1" dirty="0" smtClean="0"/>
              <a:t>Time</a:t>
            </a:r>
            <a:r>
              <a:rPr lang="en-US" b="1" dirty="0" smtClean="0"/>
              <a:t> </a:t>
            </a:r>
            <a:r>
              <a:rPr lang="en-US" b="1" i="1" dirty="0" smtClean="0"/>
              <a:t>complexity</a:t>
            </a:r>
          </a:p>
          <a:p>
            <a:r>
              <a:rPr lang="en-US" dirty="0"/>
              <a:t>	</a:t>
            </a:r>
            <a:r>
              <a:rPr lang="en-US" dirty="0" err="1" smtClean="0"/>
              <a:t>Cuántas</a:t>
            </a:r>
            <a:r>
              <a:rPr lang="en-US" dirty="0" smtClean="0"/>
              <a:t> </a:t>
            </a:r>
            <a:r>
              <a:rPr lang="en-US" dirty="0" err="1" smtClean="0"/>
              <a:t>iteraciones</a:t>
            </a:r>
            <a:r>
              <a:rPr lang="en-US" dirty="0" smtClean="0"/>
              <a:t> se </a:t>
            </a:r>
            <a:r>
              <a:rPr lang="en-US" dirty="0" err="1" smtClean="0"/>
              <a:t>requieren</a:t>
            </a:r>
            <a:r>
              <a:rPr lang="en-US" dirty="0" smtClean="0"/>
              <a:t> para </a:t>
            </a:r>
            <a:r>
              <a:rPr lang="en-US" dirty="0" err="1" smtClean="0"/>
              <a:t>encontrar</a:t>
            </a:r>
            <a:r>
              <a:rPr lang="en-US" dirty="0" smtClean="0"/>
              <a:t>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solución</a:t>
            </a:r>
            <a:r>
              <a:rPr lang="en-US" dirty="0" smtClean="0"/>
              <a:t>?</a:t>
            </a:r>
          </a:p>
          <a:p>
            <a:endParaRPr lang="en-US" b="1" dirty="0"/>
          </a:p>
          <a:p>
            <a:r>
              <a:rPr lang="en-US" b="1" i="1" dirty="0" smtClean="0"/>
              <a:t>Space</a:t>
            </a:r>
            <a:r>
              <a:rPr lang="en-US" b="1" dirty="0" smtClean="0"/>
              <a:t> </a:t>
            </a:r>
            <a:r>
              <a:rPr lang="en-US" b="1" i="1" dirty="0" smtClean="0"/>
              <a:t>complexity</a:t>
            </a:r>
          </a:p>
          <a:p>
            <a:r>
              <a:rPr lang="en-US" dirty="0"/>
              <a:t>	</a:t>
            </a:r>
            <a:r>
              <a:rPr lang="en-US" dirty="0" err="1" smtClean="0"/>
              <a:t>Cuánta</a:t>
            </a:r>
            <a:r>
              <a:rPr lang="en-US" dirty="0" smtClean="0"/>
              <a:t> </a:t>
            </a:r>
            <a:r>
              <a:rPr lang="en-US" dirty="0" err="1" smtClean="0"/>
              <a:t>memoria</a:t>
            </a:r>
            <a:r>
              <a:rPr lang="en-US" dirty="0" smtClean="0"/>
              <a:t> se require para </a:t>
            </a:r>
            <a:r>
              <a:rPr lang="en-US" dirty="0" err="1" smtClean="0"/>
              <a:t>llevar</a:t>
            </a:r>
            <a:r>
              <a:rPr lang="en-US" dirty="0" smtClean="0"/>
              <a:t> a </a:t>
            </a:r>
            <a:r>
              <a:rPr lang="en-US" dirty="0" err="1" smtClean="0"/>
              <a:t>cabo</a:t>
            </a:r>
            <a:r>
              <a:rPr lang="en-US" dirty="0" smtClean="0"/>
              <a:t> la </a:t>
            </a:r>
            <a:r>
              <a:rPr lang="en-US" dirty="0" err="1" smtClean="0"/>
              <a:t>búsqueda</a:t>
            </a:r>
            <a:r>
              <a:rPr lang="en-US" dirty="0" smtClean="0"/>
              <a:t>?</a:t>
            </a:r>
          </a:p>
          <a:p>
            <a:endParaRPr lang="en-US" b="1" dirty="0"/>
          </a:p>
          <a:p>
            <a:r>
              <a:rPr lang="en-US" b="1" i="1" dirty="0" smtClean="0"/>
              <a:t>Optimality</a:t>
            </a:r>
          </a:p>
          <a:p>
            <a:r>
              <a:rPr lang="en-US" dirty="0"/>
              <a:t>	</a:t>
            </a:r>
            <a:r>
              <a:rPr lang="en-US" dirty="0" smtClean="0"/>
              <a:t>La </a:t>
            </a:r>
            <a:r>
              <a:rPr lang="en-US" dirty="0" err="1" smtClean="0"/>
              <a:t>estrategia</a:t>
            </a:r>
            <a:r>
              <a:rPr lang="en-US" dirty="0" smtClean="0"/>
              <a:t> </a:t>
            </a:r>
            <a:r>
              <a:rPr lang="en-US" dirty="0" err="1" smtClean="0"/>
              <a:t>encuentra</a:t>
            </a:r>
            <a:r>
              <a:rPr lang="en-US" dirty="0" smtClean="0"/>
              <a:t> la </a:t>
            </a:r>
            <a:r>
              <a:rPr lang="en-US" dirty="0" err="1" smtClean="0"/>
              <a:t>solución</a:t>
            </a:r>
            <a:r>
              <a:rPr lang="en-US" dirty="0" smtClean="0"/>
              <a:t> de mayor </a:t>
            </a:r>
            <a:r>
              <a:rPr lang="en-US" dirty="0" err="1" smtClean="0"/>
              <a:t>calidad</a:t>
            </a:r>
            <a:r>
              <a:rPr lang="en-US" dirty="0" smtClean="0"/>
              <a:t> </a:t>
            </a:r>
            <a:r>
              <a:rPr lang="en-US" dirty="0" err="1" smtClean="0"/>
              <a:t>cuando</a:t>
            </a:r>
            <a:r>
              <a:rPr lang="en-US" dirty="0" smtClean="0"/>
              <a:t> </a:t>
            </a:r>
            <a:r>
              <a:rPr lang="en-US" dirty="0" err="1" smtClean="0"/>
              <a:t>existen</a:t>
            </a:r>
            <a:r>
              <a:rPr lang="en-US" dirty="0" smtClean="0"/>
              <a:t> </a:t>
            </a:r>
            <a:r>
              <a:rPr lang="en-US" dirty="0" err="1" smtClean="0"/>
              <a:t>varias</a:t>
            </a:r>
            <a:r>
              <a:rPr lang="en-US" dirty="0" smtClean="0"/>
              <a:t> </a:t>
            </a:r>
            <a:r>
              <a:rPr lang="en-US" dirty="0" err="1" smtClean="0"/>
              <a:t>soluciones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10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563304" y="1628283"/>
            <a:ext cx="77655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Criterios de evaluación de estrategias de búsqueda no informada</a:t>
            </a:r>
            <a:endParaRPr lang="es-CO" sz="2200" b="1" dirty="0"/>
          </a:p>
        </p:txBody>
      </p:sp>
    </p:spTree>
    <p:extLst>
      <p:ext uri="{BB962C8B-B14F-4D97-AF65-F5344CB8AC3E}">
        <p14:creationId xmlns:p14="http://schemas.microsoft.com/office/powerpoint/2010/main" val="3082101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563304" y="1628283"/>
            <a:ext cx="77655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Criterios de evaluación de estrategias de búsqueda no informada</a:t>
            </a:r>
            <a:endParaRPr lang="es-CO" sz="22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42" y="2544999"/>
            <a:ext cx="8744966" cy="1996600"/>
          </a:xfrm>
          <a:prstGeom prst="rect">
            <a:avLst/>
          </a:prstGeom>
        </p:spPr>
      </p:pic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2194125" y="4715990"/>
            <a:ext cx="727046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600" b="1" i="1" dirty="0" smtClean="0"/>
              <a:t> b </a:t>
            </a:r>
            <a:r>
              <a:rPr lang="es-CO" sz="1600" dirty="0" smtClean="0"/>
              <a:t>es el factor de ramificación</a:t>
            </a:r>
          </a:p>
          <a:p>
            <a:r>
              <a:rPr lang="es-CO" sz="1600" b="1" i="1" dirty="0"/>
              <a:t> </a:t>
            </a:r>
            <a:r>
              <a:rPr lang="es-CO" sz="1600" b="1" i="1" dirty="0" smtClean="0"/>
              <a:t>d</a:t>
            </a:r>
            <a:r>
              <a:rPr lang="es-CO" sz="1600" dirty="0" smtClean="0"/>
              <a:t> es el número de saltos donde se encuentra la solución (profundidad)</a:t>
            </a:r>
          </a:p>
          <a:p>
            <a:r>
              <a:rPr lang="es-CO" sz="1600" b="1" dirty="0" smtClean="0"/>
              <a:t> m </a:t>
            </a:r>
            <a:r>
              <a:rPr lang="es-CO" sz="1600" dirty="0" smtClean="0"/>
              <a:t>es el máximo número de saltos del árbol de búsqueda (máxima profundidad)</a:t>
            </a:r>
          </a:p>
          <a:p>
            <a:r>
              <a:rPr lang="es-CO" sz="1600" b="1" dirty="0"/>
              <a:t> </a:t>
            </a:r>
            <a:r>
              <a:rPr lang="es-CO" sz="1600" b="1" dirty="0" smtClean="0"/>
              <a:t>l </a:t>
            </a:r>
            <a:r>
              <a:rPr lang="es-CO" sz="1600" dirty="0" smtClean="0"/>
              <a:t>es el número de saltos límite (profundidad límite)</a:t>
            </a:r>
            <a:endParaRPr lang="es-CO" sz="1600" dirty="0"/>
          </a:p>
        </p:txBody>
      </p:sp>
      <p:sp>
        <p:nvSpPr>
          <p:cNvPr id="8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4921532" y="4438991"/>
            <a:ext cx="72704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i="1" dirty="0" smtClean="0"/>
              <a:t>Tomado de “Artificial </a:t>
            </a:r>
            <a:r>
              <a:rPr lang="es-CO" sz="1200" i="1" dirty="0" err="1" smtClean="0"/>
              <a:t>Intelligence</a:t>
            </a:r>
            <a:r>
              <a:rPr lang="es-CO" sz="1200" i="1" dirty="0" smtClean="0"/>
              <a:t>: A </a:t>
            </a:r>
            <a:r>
              <a:rPr lang="es-CO" sz="1200" i="1" dirty="0" err="1" smtClean="0"/>
              <a:t>modern</a:t>
            </a:r>
            <a:r>
              <a:rPr lang="es-CO" sz="1200" i="1" dirty="0" smtClean="0"/>
              <a:t> </a:t>
            </a:r>
            <a:r>
              <a:rPr lang="es-CO" sz="1200" i="1" dirty="0" err="1" smtClean="0"/>
              <a:t>approach</a:t>
            </a:r>
            <a:r>
              <a:rPr lang="es-CO" sz="1200" i="1" dirty="0" smtClean="0"/>
              <a:t>”, S.J. Russell and P. </a:t>
            </a:r>
            <a:r>
              <a:rPr lang="es-CO" sz="1200" i="1" dirty="0" err="1" smtClean="0"/>
              <a:t>Norvig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31524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96374" y="1645173"/>
            <a:ext cx="4451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</a:t>
            </a:r>
            <a:r>
              <a:rPr lang="es-CO" sz="2200" b="1" dirty="0" smtClean="0"/>
              <a:t>informada</a:t>
            </a:r>
            <a:endParaRPr lang="es-CO" sz="2200" b="1" dirty="0"/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896374" y="2226469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Analicemos un poco más las estrategias que tenemos hasta ahora:</a:t>
            </a:r>
            <a:endParaRPr lang="es-CO" dirty="0"/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908054" y="4626769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S</a:t>
            </a:r>
            <a:endParaRPr lang="es-CO" dirty="0"/>
          </a:p>
        </p:txBody>
      </p:sp>
      <p:sp>
        <p:nvSpPr>
          <p:cNvPr id="33" name="Elipse 32"/>
          <p:cNvSpPr/>
          <p:nvPr/>
        </p:nvSpPr>
        <p:spPr>
          <a:xfrm>
            <a:off x="3914775" y="4562475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931829" y="4624388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G</a:t>
            </a:r>
          </a:p>
        </p:txBody>
      </p:sp>
      <p:sp>
        <p:nvSpPr>
          <p:cNvPr id="42" name="Elipse 41"/>
          <p:cNvSpPr/>
          <p:nvPr/>
        </p:nvSpPr>
        <p:spPr>
          <a:xfrm>
            <a:off x="5938550" y="4560094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347784" y="6367904"/>
            <a:ext cx="15822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Espacio de estados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214339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96374" y="1645173"/>
            <a:ext cx="4451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</a:t>
            </a:r>
            <a:r>
              <a:rPr lang="es-CO" sz="2200" b="1" dirty="0" smtClean="0"/>
              <a:t>informada</a:t>
            </a:r>
            <a:endParaRPr lang="es-CO" sz="2200" b="1" dirty="0"/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896374" y="2226469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Analicemos un poco más las estrategias que tenemos hasta ahora:</a:t>
            </a:r>
            <a:endParaRPr lang="es-CO" dirty="0"/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908054" y="4626769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S</a:t>
            </a:r>
            <a:endParaRPr lang="es-CO" dirty="0"/>
          </a:p>
        </p:txBody>
      </p:sp>
      <p:sp>
        <p:nvSpPr>
          <p:cNvPr id="33" name="Elipse 32"/>
          <p:cNvSpPr/>
          <p:nvPr/>
        </p:nvSpPr>
        <p:spPr>
          <a:xfrm>
            <a:off x="3914775" y="4562475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Elipse 36"/>
          <p:cNvSpPr/>
          <p:nvPr/>
        </p:nvSpPr>
        <p:spPr>
          <a:xfrm>
            <a:off x="3629273" y="4262924"/>
            <a:ext cx="1061719" cy="11229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931829" y="4624388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G</a:t>
            </a:r>
          </a:p>
        </p:txBody>
      </p:sp>
      <p:sp>
        <p:nvSpPr>
          <p:cNvPr id="14" name="Elipse 13"/>
          <p:cNvSpPr/>
          <p:nvPr/>
        </p:nvSpPr>
        <p:spPr>
          <a:xfrm>
            <a:off x="5938550" y="4560094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347784" y="6367904"/>
            <a:ext cx="15822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Espacio de estados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2584449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96374" y="1645173"/>
            <a:ext cx="4451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</a:t>
            </a:r>
            <a:r>
              <a:rPr lang="es-CO" sz="2200" b="1" dirty="0" smtClean="0"/>
              <a:t>informada</a:t>
            </a:r>
            <a:endParaRPr lang="es-CO" sz="2200" b="1" dirty="0"/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896374" y="2226469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Analicemos un poco más las estrategias que tenemos hasta ahora:</a:t>
            </a:r>
            <a:endParaRPr lang="es-CO" dirty="0"/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908054" y="4626769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S</a:t>
            </a:r>
            <a:endParaRPr lang="es-CO" dirty="0"/>
          </a:p>
        </p:txBody>
      </p:sp>
      <p:sp>
        <p:nvSpPr>
          <p:cNvPr id="33" name="Elipse 32"/>
          <p:cNvSpPr/>
          <p:nvPr/>
        </p:nvSpPr>
        <p:spPr>
          <a:xfrm>
            <a:off x="3914775" y="4562475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931829" y="4624388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G</a:t>
            </a:r>
          </a:p>
        </p:txBody>
      </p:sp>
      <p:sp>
        <p:nvSpPr>
          <p:cNvPr id="35" name="Elipse 34"/>
          <p:cNvSpPr/>
          <p:nvPr/>
        </p:nvSpPr>
        <p:spPr>
          <a:xfrm>
            <a:off x="5938550" y="4560094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Elipse 36"/>
          <p:cNvSpPr/>
          <p:nvPr/>
        </p:nvSpPr>
        <p:spPr>
          <a:xfrm>
            <a:off x="3629273" y="4262924"/>
            <a:ext cx="1061719" cy="11229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Elipse 37"/>
          <p:cNvSpPr/>
          <p:nvPr/>
        </p:nvSpPr>
        <p:spPr>
          <a:xfrm>
            <a:off x="3226403" y="3829702"/>
            <a:ext cx="1880900" cy="198941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347784" y="6367904"/>
            <a:ext cx="15822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Espacio de estados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89022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96374" y="1645173"/>
            <a:ext cx="4451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</a:t>
            </a:r>
            <a:r>
              <a:rPr lang="es-CO" sz="2200" b="1" dirty="0" smtClean="0"/>
              <a:t>informada</a:t>
            </a:r>
            <a:endParaRPr lang="es-CO" sz="2200" b="1" dirty="0"/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896374" y="2226469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Analicemos un poco más las estrategias que tenemos hasta ahora:</a:t>
            </a:r>
            <a:endParaRPr lang="es-CO" dirty="0"/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908054" y="4626769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S</a:t>
            </a:r>
            <a:endParaRPr lang="es-CO" dirty="0"/>
          </a:p>
        </p:txBody>
      </p:sp>
      <p:sp>
        <p:nvSpPr>
          <p:cNvPr id="33" name="Elipse 32"/>
          <p:cNvSpPr/>
          <p:nvPr/>
        </p:nvSpPr>
        <p:spPr>
          <a:xfrm>
            <a:off x="3914775" y="4562475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931829" y="4624388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G</a:t>
            </a:r>
          </a:p>
        </p:txBody>
      </p:sp>
      <p:sp>
        <p:nvSpPr>
          <p:cNvPr id="35" name="Elipse 34"/>
          <p:cNvSpPr/>
          <p:nvPr/>
        </p:nvSpPr>
        <p:spPr>
          <a:xfrm>
            <a:off x="5938550" y="4560094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Elipse 36"/>
          <p:cNvSpPr/>
          <p:nvPr/>
        </p:nvSpPr>
        <p:spPr>
          <a:xfrm>
            <a:off x="3629273" y="4262924"/>
            <a:ext cx="1061719" cy="11229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Elipse 37"/>
          <p:cNvSpPr/>
          <p:nvPr/>
        </p:nvSpPr>
        <p:spPr>
          <a:xfrm>
            <a:off x="3226403" y="3829702"/>
            <a:ext cx="1880900" cy="198941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2796661" y="3368057"/>
            <a:ext cx="2753826" cy="29127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347784" y="6367904"/>
            <a:ext cx="15822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Espacio de estados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267142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ipse 11"/>
          <p:cNvSpPr/>
          <p:nvPr/>
        </p:nvSpPr>
        <p:spPr>
          <a:xfrm>
            <a:off x="2347624" y="2886003"/>
            <a:ext cx="3665343" cy="38768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96374" y="1645173"/>
            <a:ext cx="4451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</a:t>
            </a:r>
            <a:r>
              <a:rPr lang="es-CO" sz="2200" b="1" dirty="0" smtClean="0"/>
              <a:t>informada</a:t>
            </a:r>
            <a:endParaRPr lang="es-CO" sz="2200" b="1" dirty="0"/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896374" y="2226469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Analicemos un poco más las estrategias que tenemos hasta ahora:</a:t>
            </a:r>
            <a:endParaRPr lang="es-CO" dirty="0"/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908054" y="4626769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S</a:t>
            </a:r>
            <a:endParaRPr lang="es-CO" dirty="0"/>
          </a:p>
        </p:txBody>
      </p:sp>
      <p:sp>
        <p:nvSpPr>
          <p:cNvPr id="33" name="Elipse 32"/>
          <p:cNvSpPr/>
          <p:nvPr/>
        </p:nvSpPr>
        <p:spPr>
          <a:xfrm>
            <a:off x="3914775" y="4562475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931829" y="4624388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G</a:t>
            </a:r>
          </a:p>
        </p:txBody>
      </p:sp>
      <p:sp>
        <p:nvSpPr>
          <p:cNvPr id="35" name="Elipse 34"/>
          <p:cNvSpPr/>
          <p:nvPr/>
        </p:nvSpPr>
        <p:spPr>
          <a:xfrm>
            <a:off x="5938550" y="4560094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347784" y="6367904"/>
            <a:ext cx="15822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Espacio de estados</a:t>
            </a:r>
            <a:endParaRPr lang="es-CO" sz="1400" dirty="0"/>
          </a:p>
        </p:txBody>
      </p:sp>
      <p:sp>
        <p:nvSpPr>
          <p:cNvPr id="37" name="Elipse 36"/>
          <p:cNvSpPr/>
          <p:nvPr/>
        </p:nvSpPr>
        <p:spPr>
          <a:xfrm>
            <a:off x="3629273" y="4262924"/>
            <a:ext cx="1061719" cy="11229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Elipse 37"/>
          <p:cNvSpPr/>
          <p:nvPr/>
        </p:nvSpPr>
        <p:spPr>
          <a:xfrm>
            <a:off x="3226403" y="3829702"/>
            <a:ext cx="1880900" cy="198941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2796661" y="3368057"/>
            <a:ext cx="2753826" cy="29127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108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ipse 11"/>
          <p:cNvSpPr/>
          <p:nvPr/>
        </p:nvSpPr>
        <p:spPr>
          <a:xfrm>
            <a:off x="2347624" y="2886003"/>
            <a:ext cx="3665343" cy="38768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96374" y="1645173"/>
            <a:ext cx="4451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</a:t>
            </a:r>
            <a:r>
              <a:rPr lang="es-CO" sz="2200" b="1" dirty="0" smtClean="0"/>
              <a:t>informada</a:t>
            </a:r>
            <a:endParaRPr lang="es-CO" sz="2200" b="1" dirty="0"/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896374" y="2226469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Analicemos un poco más las estrategias que tenemos hasta ahora:</a:t>
            </a:r>
            <a:endParaRPr lang="es-CO" dirty="0"/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908054" y="4626769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S</a:t>
            </a:r>
            <a:endParaRPr lang="es-CO" dirty="0"/>
          </a:p>
        </p:txBody>
      </p:sp>
      <p:sp>
        <p:nvSpPr>
          <p:cNvPr id="33" name="Elipse 32"/>
          <p:cNvSpPr/>
          <p:nvPr/>
        </p:nvSpPr>
        <p:spPr>
          <a:xfrm>
            <a:off x="3914775" y="4562475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931829" y="4624388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G</a:t>
            </a:r>
          </a:p>
        </p:txBody>
      </p:sp>
      <p:sp>
        <p:nvSpPr>
          <p:cNvPr id="35" name="Elipse 34"/>
          <p:cNvSpPr/>
          <p:nvPr/>
        </p:nvSpPr>
        <p:spPr>
          <a:xfrm>
            <a:off x="5938550" y="4560094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347784" y="6367904"/>
            <a:ext cx="15822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Espacio de estados</a:t>
            </a:r>
            <a:endParaRPr lang="es-CO" sz="1400" dirty="0"/>
          </a:p>
        </p:txBody>
      </p:sp>
      <p:sp>
        <p:nvSpPr>
          <p:cNvPr id="37" name="Elipse 36"/>
          <p:cNvSpPr/>
          <p:nvPr/>
        </p:nvSpPr>
        <p:spPr>
          <a:xfrm>
            <a:off x="3629273" y="4262924"/>
            <a:ext cx="1061719" cy="11229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Elipse 37"/>
          <p:cNvSpPr/>
          <p:nvPr/>
        </p:nvSpPr>
        <p:spPr>
          <a:xfrm>
            <a:off x="3226403" y="3829702"/>
            <a:ext cx="1880900" cy="198941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/>
          <p:cNvSpPr/>
          <p:nvPr/>
        </p:nvSpPr>
        <p:spPr>
          <a:xfrm>
            <a:off x="2796661" y="3368057"/>
            <a:ext cx="2753826" cy="29127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Forma libre 1"/>
          <p:cNvSpPr/>
          <p:nvPr/>
        </p:nvSpPr>
        <p:spPr>
          <a:xfrm>
            <a:off x="4410075" y="4724400"/>
            <a:ext cx="1533525" cy="152400"/>
          </a:xfrm>
          <a:custGeom>
            <a:avLst/>
            <a:gdLst>
              <a:gd name="connsiteX0" fmla="*/ 0 w 1533525"/>
              <a:gd name="connsiteY0" fmla="*/ 114300 h 152400"/>
              <a:gd name="connsiteX1" fmla="*/ 9525 w 1533525"/>
              <a:gd name="connsiteY1" fmla="*/ 47625 h 152400"/>
              <a:gd name="connsiteX2" fmla="*/ 133350 w 1533525"/>
              <a:gd name="connsiteY2" fmla="*/ 0 h 152400"/>
              <a:gd name="connsiteX3" fmla="*/ 323850 w 1533525"/>
              <a:gd name="connsiteY3" fmla="*/ 9525 h 152400"/>
              <a:gd name="connsiteX4" fmla="*/ 361950 w 1533525"/>
              <a:gd name="connsiteY4" fmla="*/ 28575 h 152400"/>
              <a:gd name="connsiteX5" fmla="*/ 428625 w 1533525"/>
              <a:gd name="connsiteY5" fmla="*/ 47625 h 152400"/>
              <a:gd name="connsiteX6" fmla="*/ 457200 w 1533525"/>
              <a:gd name="connsiteY6" fmla="*/ 66675 h 152400"/>
              <a:gd name="connsiteX7" fmla="*/ 533400 w 1533525"/>
              <a:gd name="connsiteY7" fmla="*/ 85725 h 152400"/>
              <a:gd name="connsiteX8" fmla="*/ 590550 w 1533525"/>
              <a:gd name="connsiteY8" fmla="*/ 114300 h 152400"/>
              <a:gd name="connsiteX9" fmla="*/ 628650 w 1533525"/>
              <a:gd name="connsiteY9" fmla="*/ 123825 h 152400"/>
              <a:gd name="connsiteX10" fmla="*/ 695325 w 1533525"/>
              <a:gd name="connsiteY10" fmla="*/ 152400 h 152400"/>
              <a:gd name="connsiteX11" fmla="*/ 857250 w 1533525"/>
              <a:gd name="connsiteY11" fmla="*/ 142875 h 152400"/>
              <a:gd name="connsiteX12" fmla="*/ 914400 w 1533525"/>
              <a:gd name="connsiteY12" fmla="*/ 123825 h 152400"/>
              <a:gd name="connsiteX13" fmla="*/ 990600 w 1533525"/>
              <a:gd name="connsiteY13" fmla="*/ 114300 h 152400"/>
              <a:gd name="connsiteX14" fmla="*/ 1019175 w 1533525"/>
              <a:gd name="connsiteY14" fmla="*/ 104775 h 152400"/>
              <a:gd name="connsiteX15" fmla="*/ 1085850 w 1533525"/>
              <a:gd name="connsiteY15" fmla="*/ 76200 h 152400"/>
              <a:gd name="connsiteX16" fmla="*/ 1171575 w 1533525"/>
              <a:gd name="connsiteY16" fmla="*/ 57150 h 152400"/>
              <a:gd name="connsiteX17" fmla="*/ 1200150 w 1533525"/>
              <a:gd name="connsiteY17" fmla="*/ 47625 h 152400"/>
              <a:gd name="connsiteX18" fmla="*/ 1304925 w 1533525"/>
              <a:gd name="connsiteY18" fmla="*/ 38100 h 152400"/>
              <a:gd name="connsiteX19" fmla="*/ 1485900 w 1533525"/>
              <a:gd name="connsiteY19" fmla="*/ 38100 h 152400"/>
              <a:gd name="connsiteX20" fmla="*/ 1533525 w 1533525"/>
              <a:gd name="connsiteY20" fmla="*/ 47625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533525" h="152400">
                <a:moveTo>
                  <a:pt x="0" y="114300"/>
                </a:moveTo>
                <a:cubicBezTo>
                  <a:pt x="3175" y="92075"/>
                  <a:pt x="-515" y="67705"/>
                  <a:pt x="9525" y="47625"/>
                </a:cubicBezTo>
                <a:cubicBezTo>
                  <a:pt x="27788" y="11099"/>
                  <a:pt x="111886" y="4770"/>
                  <a:pt x="133350" y="0"/>
                </a:cubicBezTo>
                <a:cubicBezTo>
                  <a:pt x="196850" y="3175"/>
                  <a:pt x="260762" y="1639"/>
                  <a:pt x="323850" y="9525"/>
                </a:cubicBezTo>
                <a:cubicBezTo>
                  <a:pt x="337939" y="11286"/>
                  <a:pt x="348655" y="23589"/>
                  <a:pt x="361950" y="28575"/>
                </a:cubicBezTo>
                <a:cubicBezTo>
                  <a:pt x="386365" y="37730"/>
                  <a:pt x="405598" y="36111"/>
                  <a:pt x="428625" y="47625"/>
                </a:cubicBezTo>
                <a:cubicBezTo>
                  <a:pt x="438864" y="52745"/>
                  <a:pt x="446961" y="61555"/>
                  <a:pt x="457200" y="66675"/>
                </a:cubicBezTo>
                <a:cubicBezTo>
                  <a:pt x="478973" y="77561"/>
                  <a:pt x="511663" y="80291"/>
                  <a:pt x="533400" y="85725"/>
                </a:cubicBezTo>
                <a:cubicBezTo>
                  <a:pt x="597617" y="101779"/>
                  <a:pt x="525365" y="86364"/>
                  <a:pt x="590550" y="114300"/>
                </a:cubicBezTo>
                <a:cubicBezTo>
                  <a:pt x="602582" y="119457"/>
                  <a:pt x="616063" y="120229"/>
                  <a:pt x="628650" y="123825"/>
                </a:cubicBezTo>
                <a:cubicBezTo>
                  <a:pt x="661352" y="133168"/>
                  <a:pt x="661458" y="135467"/>
                  <a:pt x="695325" y="152400"/>
                </a:cubicBezTo>
                <a:cubicBezTo>
                  <a:pt x="749300" y="149225"/>
                  <a:pt x="803636" y="149868"/>
                  <a:pt x="857250" y="142875"/>
                </a:cubicBezTo>
                <a:cubicBezTo>
                  <a:pt x="877162" y="140278"/>
                  <a:pt x="894765" y="128032"/>
                  <a:pt x="914400" y="123825"/>
                </a:cubicBezTo>
                <a:cubicBezTo>
                  <a:pt x="939429" y="118462"/>
                  <a:pt x="965200" y="117475"/>
                  <a:pt x="990600" y="114300"/>
                </a:cubicBezTo>
                <a:cubicBezTo>
                  <a:pt x="1000125" y="111125"/>
                  <a:pt x="1009947" y="108730"/>
                  <a:pt x="1019175" y="104775"/>
                </a:cubicBezTo>
                <a:cubicBezTo>
                  <a:pt x="1057339" y="88419"/>
                  <a:pt x="1050109" y="85135"/>
                  <a:pt x="1085850" y="76200"/>
                </a:cubicBezTo>
                <a:cubicBezTo>
                  <a:pt x="1164416" y="56558"/>
                  <a:pt x="1103129" y="76706"/>
                  <a:pt x="1171575" y="57150"/>
                </a:cubicBezTo>
                <a:cubicBezTo>
                  <a:pt x="1181229" y="54392"/>
                  <a:pt x="1190211" y="49045"/>
                  <a:pt x="1200150" y="47625"/>
                </a:cubicBezTo>
                <a:cubicBezTo>
                  <a:pt x="1234867" y="42665"/>
                  <a:pt x="1270000" y="41275"/>
                  <a:pt x="1304925" y="38100"/>
                </a:cubicBezTo>
                <a:cubicBezTo>
                  <a:pt x="1378663" y="13521"/>
                  <a:pt x="1339315" y="22670"/>
                  <a:pt x="1485900" y="38100"/>
                </a:cubicBezTo>
                <a:cubicBezTo>
                  <a:pt x="1595464" y="49633"/>
                  <a:pt x="1457023" y="47625"/>
                  <a:pt x="1533525" y="47625"/>
                </a:cubicBezTo>
              </a:path>
            </a:pathLst>
          </a:cu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" name="Conector recto de flecha 3"/>
          <p:cNvCxnSpPr/>
          <p:nvPr/>
        </p:nvCxnSpPr>
        <p:spPr>
          <a:xfrm flipH="1">
            <a:off x="5211473" y="3604692"/>
            <a:ext cx="1120190" cy="1214330"/>
          </a:xfrm>
          <a:prstGeom prst="straightConnector1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6331663" y="3219577"/>
            <a:ext cx="158226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Obtener este camino sería más eficiente</a:t>
            </a:r>
            <a:endParaRPr lang="es-CO" sz="1400" dirty="0"/>
          </a:p>
        </p:txBody>
      </p:sp>
      <p:sp>
        <p:nvSpPr>
          <p:cNvPr id="16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8746475" y="2886003"/>
            <a:ext cx="254825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Cuando se trabaja con un espacio de estados realmente grande (esto depende de la capacidad computacional de su solución y de su máquina), necesitamos algo más que las búsquedas no informadas!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0711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96374" y="1645173"/>
            <a:ext cx="4451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</a:t>
            </a:r>
            <a:r>
              <a:rPr lang="es-CO" sz="2200" b="1" dirty="0" smtClean="0"/>
              <a:t>informada</a:t>
            </a:r>
            <a:endParaRPr lang="es-CO" sz="2200" b="1" dirty="0"/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172599" y="2298634"/>
            <a:ext cx="7270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Lo que necesitamos es un estimador o </a:t>
            </a:r>
            <a:r>
              <a:rPr lang="es-CO" b="1" i="1" dirty="0" smtClean="0"/>
              <a:t>heurística (h)</a:t>
            </a:r>
          </a:p>
          <a:p>
            <a:r>
              <a:rPr lang="es-CO" b="1" dirty="0" smtClean="0"/>
              <a:t>Ejemplo: </a:t>
            </a:r>
            <a:r>
              <a:rPr lang="es-CO" dirty="0" smtClean="0"/>
              <a:t>La distancia más corta desde el estado actual al estado objetivo</a:t>
            </a:r>
            <a:endParaRPr lang="es-CO" dirty="0"/>
          </a:p>
        </p:txBody>
      </p:sp>
      <p:sp>
        <p:nvSpPr>
          <p:cNvPr id="36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347784" y="6367904"/>
            <a:ext cx="15822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Espacio de estados</a:t>
            </a:r>
            <a:endParaRPr lang="es-CO" sz="1400" dirty="0"/>
          </a:p>
        </p:txBody>
      </p:sp>
      <p:sp>
        <p:nvSpPr>
          <p:cNvPr id="18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908054" y="4626769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S</a:t>
            </a:r>
            <a:endParaRPr lang="es-CO" dirty="0"/>
          </a:p>
        </p:txBody>
      </p:sp>
      <p:sp>
        <p:nvSpPr>
          <p:cNvPr id="20" name="Elipse 19"/>
          <p:cNvSpPr/>
          <p:nvPr/>
        </p:nvSpPr>
        <p:spPr>
          <a:xfrm>
            <a:off x="3914775" y="4562475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931829" y="4624388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G</a:t>
            </a:r>
          </a:p>
        </p:txBody>
      </p:sp>
      <p:sp>
        <p:nvSpPr>
          <p:cNvPr id="22" name="Elipse 21"/>
          <p:cNvSpPr/>
          <p:nvPr/>
        </p:nvSpPr>
        <p:spPr>
          <a:xfrm>
            <a:off x="5938550" y="4560094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Elipse 22"/>
          <p:cNvSpPr/>
          <p:nvPr/>
        </p:nvSpPr>
        <p:spPr>
          <a:xfrm>
            <a:off x="3724092" y="4460201"/>
            <a:ext cx="908648" cy="69770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941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96374" y="1645173"/>
            <a:ext cx="4451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</a:t>
            </a:r>
            <a:r>
              <a:rPr lang="es-CO" sz="2200" b="1" dirty="0" smtClean="0"/>
              <a:t>informada</a:t>
            </a:r>
            <a:endParaRPr lang="es-CO" sz="2200" b="1" dirty="0"/>
          </a:p>
        </p:txBody>
      </p:sp>
      <p:sp>
        <p:nvSpPr>
          <p:cNvPr id="36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347784" y="6367904"/>
            <a:ext cx="15822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Espacio de estados</a:t>
            </a:r>
            <a:endParaRPr lang="es-CO" sz="1400" dirty="0"/>
          </a:p>
        </p:txBody>
      </p:sp>
      <p:sp>
        <p:nvSpPr>
          <p:cNvPr id="18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908054" y="4626769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S</a:t>
            </a:r>
            <a:endParaRPr lang="es-CO" dirty="0"/>
          </a:p>
        </p:txBody>
      </p:sp>
      <p:sp>
        <p:nvSpPr>
          <p:cNvPr id="20" name="Elipse 19"/>
          <p:cNvSpPr/>
          <p:nvPr/>
        </p:nvSpPr>
        <p:spPr>
          <a:xfrm>
            <a:off x="3914775" y="4562475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931829" y="4624388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G</a:t>
            </a:r>
          </a:p>
        </p:txBody>
      </p:sp>
      <p:sp>
        <p:nvSpPr>
          <p:cNvPr id="22" name="Elipse 21"/>
          <p:cNvSpPr/>
          <p:nvPr/>
        </p:nvSpPr>
        <p:spPr>
          <a:xfrm>
            <a:off x="5938550" y="4560094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Elipse 2"/>
          <p:cNvSpPr/>
          <p:nvPr/>
        </p:nvSpPr>
        <p:spPr>
          <a:xfrm>
            <a:off x="3681691" y="4450557"/>
            <a:ext cx="1609725" cy="69770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Elipse 22"/>
          <p:cNvSpPr/>
          <p:nvPr/>
        </p:nvSpPr>
        <p:spPr>
          <a:xfrm>
            <a:off x="3724092" y="4460201"/>
            <a:ext cx="908648" cy="69770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172599" y="2298634"/>
            <a:ext cx="7270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Lo que necesitamos es un estimador o </a:t>
            </a:r>
            <a:r>
              <a:rPr lang="es-CO" b="1" i="1" dirty="0" smtClean="0"/>
              <a:t>heurística (h)</a:t>
            </a:r>
          </a:p>
          <a:p>
            <a:r>
              <a:rPr lang="es-CO" b="1" dirty="0" smtClean="0"/>
              <a:t>Ejemplo: </a:t>
            </a:r>
            <a:r>
              <a:rPr lang="es-CO" dirty="0" smtClean="0"/>
              <a:t>La distancia más corta desde el estado actual al estado objetivo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11071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96374" y="1645173"/>
            <a:ext cx="4451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</a:t>
            </a:r>
            <a:r>
              <a:rPr lang="es-CO" sz="2200" b="1" dirty="0" smtClean="0"/>
              <a:t>informada</a:t>
            </a:r>
            <a:endParaRPr lang="es-CO" sz="2200" b="1" dirty="0"/>
          </a:p>
        </p:txBody>
      </p:sp>
      <p:sp>
        <p:nvSpPr>
          <p:cNvPr id="36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347784" y="6367904"/>
            <a:ext cx="15822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Espacio de estados</a:t>
            </a:r>
            <a:endParaRPr lang="es-CO" sz="1400" dirty="0"/>
          </a:p>
        </p:txBody>
      </p:sp>
      <p:sp>
        <p:nvSpPr>
          <p:cNvPr id="18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908054" y="4626769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S</a:t>
            </a:r>
            <a:endParaRPr lang="es-CO" dirty="0"/>
          </a:p>
        </p:txBody>
      </p:sp>
      <p:sp>
        <p:nvSpPr>
          <p:cNvPr id="20" name="Elipse 19"/>
          <p:cNvSpPr/>
          <p:nvPr/>
        </p:nvSpPr>
        <p:spPr>
          <a:xfrm>
            <a:off x="3914775" y="4562475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931829" y="4624388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G</a:t>
            </a:r>
          </a:p>
        </p:txBody>
      </p:sp>
      <p:sp>
        <p:nvSpPr>
          <p:cNvPr id="22" name="Elipse 21"/>
          <p:cNvSpPr/>
          <p:nvPr/>
        </p:nvSpPr>
        <p:spPr>
          <a:xfrm>
            <a:off x="5938550" y="4560094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Elipse 2"/>
          <p:cNvSpPr/>
          <p:nvPr/>
        </p:nvSpPr>
        <p:spPr>
          <a:xfrm>
            <a:off x="3681691" y="4450557"/>
            <a:ext cx="1609725" cy="69770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Elipse 22"/>
          <p:cNvSpPr/>
          <p:nvPr/>
        </p:nvSpPr>
        <p:spPr>
          <a:xfrm>
            <a:off x="3724092" y="4460201"/>
            <a:ext cx="908648" cy="69770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Elipse 23"/>
          <p:cNvSpPr/>
          <p:nvPr/>
        </p:nvSpPr>
        <p:spPr>
          <a:xfrm>
            <a:off x="3713315" y="4460201"/>
            <a:ext cx="2087409" cy="69770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172599" y="2298634"/>
            <a:ext cx="7270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Lo que necesitamos es un estimador o </a:t>
            </a:r>
            <a:r>
              <a:rPr lang="es-CO" b="1" i="1" dirty="0" smtClean="0"/>
              <a:t>heurística (h)</a:t>
            </a:r>
          </a:p>
          <a:p>
            <a:r>
              <a:rPr lang="es-CO" b="1" dirty="0" smtClean="0"/>
              <a:t>Ejemplo: </a:t>
            </a:r>
            <a:r>
              <a:rPr lang="es-CO" dirty="0" smtClean="0"/>
              <a:t>La distancia más corta desde el estado actual al estado objetivo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7878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96374" y="1645173"/>
            <a:ext cx="4451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</a:t>
            </a:r>
            <a:r>
              <a:rPr lang="es-CO" sz="2200" b="1" dirty="0" smtClean="0"/>
              <a:t>informada</a:t>
            </a:r>
            <a:endParaRPr lang="es-CO" sz="2200" b="1" dirty="0"/>
          </a:p>
        </p:txBody>
      </p:sp>
      <p:sp>
        <p:nvSpPr>
          <p:cNvPr id="36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347784" y="6367904"/>
            <a:ext cx="15822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Espacio de estados</a:t>
            </a:r>
            <a:endParaRPr lang="es-CO" sz="1400" dirty="0"/>
          </a:p>
        </p:txBody>
      </p:sp>
      <p:sp>
        <p:nvSpPr>
          <p:cNvPr id="18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908054" y="4626769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S</a:t>
            </a:r>
            <a:endParaRPr lang="es-CO" dirty="0"/>
          </a:p>
        </p:txBody>
      </p:sp>
      <p:sp>
        <p:nvSpPr>
          <p:cNvPr id="20" name="Elipse 19"/>
          <p:cNvSpPr/>
          <p:nvPr/>
        </p:nvSpPr>
        <p:spPr>
          <a:xfrm>
            <a:off x="3914775" y="4562475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931829" y="4624388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G</a:t>
            </a:r>
          </a:p>
        </p:txBody>
      </p:sp>
      <p:sp>
        <p:nvSpPr>
          <p:cNvPr id="22" name="Elipse 21"/>
          <p:cNvSpPr/>
          <p:nvPr/>
        </p:nvSpPr>
        <p:spPr>
          <a:xfrm>
            <a:off x="5938550" y="4560094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Elipse 2"/>
          <p:cNvSpPr/>
          <p:nvPr/>
        </p:nvSpPr>
        <p:spPr>
          <a:xfrm>
            <a:off x="3681691" y="4450557"/>
            <a:ext cx="1609725" cy="69770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Elipse 22"/>
          <p:cNvSpPr/>
          <p:nvPr/>
        </p:nvSpPr>
        <p:spPr>
          <a:xfrm>
            <a:off x="3724092" y="4460201"/>
            <a:ext cx="908648" cy="69770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Elipse 23"/>
          <p:cNvSpPr/>
          <p:nvPr/>
        </p:nvSpPr>
        <p:spPr>
          <a:xfrm>
            <a:off x="3713315" y="4460201"/>
            <a:ext cx="2087409" cy="69770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Elipse 24"/>
          <p:cNvSpPr/>
          <p:nvPr/>
        </p:nvSpPr>
        <p:spPr>
          <a:xfrm>
            <a:off x="3744939" y="4469845"/>
            <a:ext cx="2322486" cy="69770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172599" y="2298634"/>
            <a:ext cx="7270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Lo que necesitamos es un estimador o </a:t>
            </a:r>
            <a:r>
              <a:rPr lang="es-CO" b="1" i="1" dirty="0" smtClean="0"/>
              <a:t>heurística (h)</a:t>
            </a:r>
          </a:p>
          <a:p>
            <a:r>
              <a:rPr lang="es-CO" b="1" dirty="0" smtClean="0"/>
              <a:t>Ejemplo: </a:t>
            </a:r>
            <a:r>
              <a:rPr lang="es-CO" dirty="0" smtClean="0"/>
              <a:t>La distancia más corta desde el estado actual al estado objetivo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8770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96374" y="1645173"/>
            <a:ext cx="4451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</a:t>
            </a:r>
            <a:r>
              <a:rPr lang="es-CO" sz="2200" b="1" dirty="0" smtClean="0"/>
              <a:t>informada</a:t>
            </a:r>
            <a:endParaRPr lang="es-CO" sz="2200" b="1" dirty="0"/>
          </a:p>
        </p:txBody>
      </p:sp>
      <p:sp>
        <p:nvSpPr>
          <p:cNvPr id="36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4556651" y="6348854"/>
            <a:ext cx="15822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Espacio de estados</a:t>
            </a:r>
            <a:endParaRPr lang="es-CO" sz="1400" dirty="0"/>
          </a:p>
        </p:txBody>
      </p:sp>
      <p:sp>
        <p:nvSpPr>
          <p:cNvPr id="18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908054" y="4626769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S</a:t>
            </a:r>
            <a:endParaRPr lang="es-CO" dirty="0"/>
          </a:p>
        </p:txBody>
      </p:sp>
      <p:sp>
        <p:nvSpPr>
          <p:cNvPr id="20" name="Elipse 19"/>
          <p:cNvSpPr/>
          <p:nvPr/>
        </p:nvSpPr>
        <p:spPr>
          <a:xfrm>
            <a:off x="3914775" y="4562475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7503454" y="4624388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G</a:t>
            </a:r>
          </a:p>
        </p:txBody>
      </p:sp>
      <p:sp>
        <p:nvSpPr>
          <p:cNvPr id="22" name="Elipse 21"/>
          <p:cNvSpPr/>
          <p:nvPr/>
        </p:nvSpPr>
        <p:spPr>
          <a:xfrm>
            <a:off x="7510175" y="4560094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172599" y="2298634"/>
            <a:ext cx="104744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Lo que necesitamos es un estimador o </a:t>
            </a:r>
            <a:r>
              <a:rPr lang="es-CO" b="1" i="1" dirty="0" smtClean="0"/>
              <a:t>heurística (h)</a:t>
            </a:r>
          </a:p>
          <a:p>
            <a:r>
              <a:rPr lang="es-CO" b="1" dirty="0" smtClean="0"/>
              <a:t>Ejemplo: </a:t>
            </a:r>
            <a:r>
              <a:rPr lang="es-CO" dirty="0" smtClean="0"/>
              <a:t>La distancia más corta desde el estado actual al estado objetivo</a:t>
            </a:r>
          </a:p>
          <a:p>
            <a:r>
              <a:rPr lang="es-CO" b="1" dirty="0" smtClean="0">
                <a:solidFill>
                  <a:srgbClr val="FF0000"/>
                </a:solidFill>
              </a:rPr>
              <a:t>Problema: </a:t>
            </a:r>
            <a:r>
              <a:rPr lang="es-CO" dirty="0" smtClean="0"/>
              <a:t>No siempre la heurística con la que se trabaja es la mejor (Depende de cada problema).</a:t>
            </a:r>
            <a:endParaRPr lang="es-CO" dirty="0"/>
          </a:p>
        </p:txBody>
      </p:sp>
      <p:sp>
        <p:nvSpPr>
          <p:cNvPr id="2" name="Forma libre 1"/>
          <p:cNvSpPr/>
          <p:nvPr/>
        </p:nvSpPr>
        <p:spPr>
          <a:xfrm>
            <a:off x="5467350" y="4257675"/>
            <a:ext cx="3343275" cy="1962150"/>
          </a:xfrm>
          <a:custGeom>
            <a:avLst/>
            <a:gdLst>
              <a:gd name="connsiteX0" fmla="*/ 0 w 3343275"/>
              <a:gd name="connsiteY0" fmla="*/ 0 h 1962150"/>
              <a:gd name="connsiteX1" fmla="*/ 28575 w 3343275"/>
              <a:gd name="connsiteY1" fmla="*/ 57150 h 1962150"/>
              <a:gd name="connsiteX2" fmla="*/ 47625 w 3343275"/>
              <a:gd name="connsiteY2" fmla="*/ 142875 h 1962150"/>
              <a:gd name="connsiteX3" fmla="*/ 66675 w 3343275"/>
              <a:gd name="connsiteY3" fmla="*/ 171450 h 1962150"/>
              <a:gd name="connsiteX4" fmla="*/ 104775 w 3343275"/>
              <a:gd name="connsiteY4" fmla="*/ 266700 h 1962150"/>
              <a:gd name="connsiteX5" fmla="*/ 133350 w 3343275"/>
              <a:gd name="connsiteY5" fmla="*/ 361950 h 1962150"/>
              <a:gd name="connsiteX6" fmla="*/ 161925 w 3343275"/>
              <a:gd name="connsiteY6" fmla="*/ 409575 h 1962150"/>
              <a:gd name="connsiteX7" fmla="*/ 200025 w 3343275"/>
              <a:gd name="connsiteY7" fmla="*/ 495300 h 1962150"/>
              <a:gd name="connsiteX8" fmla="*/ 219075 w 3343275"/>
              <a:gd name="connsiteY8" fmla="*/ 561975 h 1962150"/>
              <a:gd name="connsiteX9" fmla="*/ 257175 w 3343275"/>
              <a:gd name="connsiteY9" fmla="*/ 676275 h 1962150"/>
              <a:gd name="connsiteX10" fmla="*/ 266700 w 3343275"/>
              <a:gd name="connsiteY10" fmla="*/ 704850 h 1962150"/>
              <a:gd name="connsiteX11" fmla="*/ 285750 w 3343275"/>
              <a:gd name="connsiteY11" fmla="*/ 742950 h 1962150"/>
              <a:gd name="connsiteX12" fmla="*/ 295275 w 3343275"/>
              <a:gd name="connsiteY12" fmla="*/ 781050 h 1962150"/>
              <a:gd name="connsiteX13" fmla="*/ 314325 w 3343275"/>
              <a:gd name="connsiteY13" fmla="*/ 809625 h 1962150"/>
              <a:gd name="connsiteX14" fmla="*/ 333375 w 3343275"/>
              <a:gd name="connsiteY14" fmla="*/ 857250 h 1962150"/>
              <a:gd name="connsiteX15" fmla="*/ 361950 w 3343275"/>
              <a:gd name="connsiteY15" fmla="*/ 895350 h 1962150"/>
              <a:gd name="connsiteX16" fmla="*/ 381000 w 3343275"/>
              <a:gd name="connsiteY16" fmla="*/ 942975 h 1962150"/>
              <a:gd name="connsiteX17" fmla="*/ 400050 w 3343275"/>
              <a:gd name="connsiteY17" fmla="*/ 971550 h 1962150"/>
              <a:gd name="connsiteX18" fmla="*/ 419100 w 3343275"/>
              <a:gd name="connsiteY18" fmla="*/ 1009650 h 1962150"/>
              <a:gd name="connsiteX19" fmla="*/ 447675 w 3343275"/>
              <a:gd name="connsiteY19" fmla="*/ 1076325 h 1962150"/>
              <a:gd name="connsiteX20" fmla="*/ 476250 w 3343275"/>
              <a:gd name="connsiteY20" fmla="*/ 1104900 h 1962150"/>
              <a:gd name="connsiteX21" fmla="*/ 504825 w 3343275"/>
              <a:gd name="connsiteY21" fmla="*/ 1152525 h 1962150"/>
              <a:gd name="connsiteX22" fmla="*/ 523875 w 3343275"/>
              <a:gd name="connsiteY22" fmla="*/ 1200150 h 1962150"/>
              <a:gd name="connsiteX23" fmla="*/ 571500 w 3343275"/>
              <a:gd name="connsiteY23" fmla="*/ 1247775 h 1962150"/>
              <a:gd name="connsiteX24" fmla="*/ 619125 w 3343275"/>
              <a:gd name="connsiteY24" fmla="*/ 1304925 h 1962150"/>
              <a:gd name="connsiteX25" fmla="*/ 647700 w 3343275"/>
              <a:gd name="connsiteY25" fmla="*/ 1343025 h 1962150"/>
              <a:gd name="connsiteX26" fmla="*/ 714375 w 3343275"/>
              <a:gd name="connsiteY26" fmla="*/ 1409700 h 1962150"/>
              <a:gd name="connsiteX27" fmla="*/ 800100 w 3343275"/>
              <a:gd name="connsiteY27" fmla="*/ 1466850 h 1962150"/>
              <a:gd name="connsiteX28" fmla="*/ 942975 w 3343275"/>
              <a:gd name="connsiteY28" fmla="*/ 1562100 h 1962150"/>
              <a:gd name="connsiteX29" fmla="*/ 1028700 w 3343275"/>
              <a:gd name="connsiteY29" fmla="*/ 1609725 h 1962150"/>
              <a:gd name="connsiteX30" fmla="*/ 1143000 w 3343275"/>
              <a:gd name="connsiteY30" fmla="*/ 1666875 h 1962150"/>
              <a:gd name="connsiteX31" fmla="*/ 1181100 w 3343275"/>
              <a:gd name="connsiteY31" fmla="*/ 1695450 h 1962150"/>
              <a:gd name="connsiteX32" fmla="*/ 1247775 w 3343275"/>
              <a:gd name="connsiteY32" fmla="*/ 1704975 h 1962150"/>
              <a:gd name="connsiteX33" fmla="*/ 1295400 w 3343275"/>
              <a:gd name="connsiteY33" fmla="*/ 1724025 h 1962150"/>
              <a:gd name="connsiteX34" fmla="*/ 1323975 w 3343275"/>
              <a:gd name="connsiteY34" fmla="*/ 1733550 h 1962150"/>
              <a:gd name="connsiteX35" fmla="*/ 1409700 w 3343275"/>
              <a:gd name="connsiteY35" fmla="*/ 1771650 h 1962150"/>
              <a:gd name="connsiteX36" fmla="*/ 1524000 w 3343275"/>
              <a:gd name="connsiteY36" fmla="*/ 1790700 h 1962150"/>
              <a:gd name="connsiteX37" fmla="*/ 1619250 w 3343275"/>
              <a:gd name="connsiteY37" fmla="*/ 1819275 h 1962150"/>
              <a:gd name="connsiteX38" fmla="*/ 1666875 w 3343275"/>
              <a:gd name="connsiteY38" fmla="*/ 1828800 h 1962150"/>
              <a:gd name="connsiteX39" fmla="*/ 1714500 w 3343275"/>
              <a:gd name="connsiteY39" fmla="*/ 1847850 h 1962150"/>
              <a:gd name="connsiteX40" fmla="*/ 1781175 w 3343275"/>
              <a:gd name="connsiteY40" fmla="*/ 1857375 h 1962150"/>
              <a:gd name="connsiteX41" fmla="*/ 1876425 w 3343275"/>
              <a:gd name="connsiteY41" fmla="*/ 1876425 h 1962150"/>
              <a:gd name="connsiteX42" fmla="*/ 1971675 w 3343275"/>
              <a:gd name="connsiteY42" fmla="*/ 1905000 h 1962150"/>
              <a:gd name="connsiteX43" fmla="*/ 2076450 w 3343275"/>
              <a:gd name="connsiteY43" fmla="*/ 1914525 h 1962150"/>
              <a:gd name="connsiteX44" fmla="*/ 2257425 w 3343275"/>
              <a:gd name="connsiteY44" fmla="*/ 1943100 h 1962150"/>
              <a:gd name="connsiteX45" fmla="*/ 2371725 w 3343275"/>
              <a:gd name="connsiteY45" fmla="*/ 1962150 h 1962150"/>
              <a:gd name="connsiteX46" fmla="*/ 2733675 w 3343275"/>
              <a:gd name="connsiteY46" fmla="*/ 1952625 h 1962150"/>
              <a:gd name="connsiteX47" fmla="*/ 2876550 w 3343275"/>
              <a:gd name="connsiteY47" fmla="*/ 1914525 h 1962150"/>
              <a:gd name="connsiteX48" fmla="*/ 2933700 w 3343275"/>
              <a:gd name="connsiteY48" fmla="*/ 1895475 h 1962150"/>
              <a:gd name="connsiteX49" fmla="*/ 2990850 w 3343275"/>
              <a:gd name="connsiteY49" fmla="*/ 1876425 h 1962150"/>
              <a:gd name="connsiteX50" fmla="*/ 3086100 w 3343275"/>
              <a:gd name="connsiteY50" fmla="*/ 1809750 h 1962150"/>
              <a:gd name="connsiteX51" fmla="*/ 3152775 w 3343275"/>
              <a:gd name="connsiteY51" fmla="*/ 1752600 h 1962150"/>
              <a:gd name="connsiteX52" fmla="*/ 3190875 w 3343275"/>
              <a:gd name="connsiteY52" fmla="*/ 1685925 h 1962150"/>
              <a:gd name="connsiteX53" fmla="*/ 3219450 w 3343275"/>
              <a:gd name="connsiteY53" fmla="*/ 1657350 h 1962150"/>
              <a:gd name="connsiteX54" fmla="*/ 3267075 w 3343275"/>
              <a:gd name="connsiteY54" fmla="*/ 1562100 h 1962150"/>
              <a:gd name="connsiteX55" fmla="*/ 3305175 w 3343275"/>
              <a:gd name="connsiteY55" fmla="*/ 1466850 h 1962150"/>
              <a:gd name="connsiteX56" fmla="*/ 3343275 w 3343275"/>
              <a:gd name="connsiteY56" fmla="*/ 1362075 h 1962150"/>
              <a:gd name="connsiteX57" fmla="*/ 3333750 w 3343275"/>
              <a:gd name="connsiteY57" fmla="*/ 1085850 h 1962150"/>
              <a:gd name="connsiteX58" fmla="*/ 3295650 w 3343275"/>
              <a:gd name="connsiteY58" fmla="*/ 1019175 h 1962150"/>
              <a:gd name="connsiteX59" fmla="*/ 3276600 w 3343275"/>
              <a:gd name="connsiteY59" fmla="*/ 981075 h 1962150"/>
              <a:gd name="connsiteX60" fmla="*/ 3248025 w 3343275"/>
              <a:gd name="connsiteY60" fmla="*/ 952500 h 1962150"/>
              <a:gd name="connsiteX61" fmla="*/ 3209925 w 3343275"/>
              <a:gd name="connsiteY61" fmla="*/ 904875 h 1962150"/>
              <a:gd name="connsiteX62" fmla="*/ 3190875 w 3343275"/>
              <a:gd name="connsiteY62" fmla="*/ 876300 h 1962150"/>
              <a:gd name="connsiteX63" fmla="*/ 3162300 w 3343275"/>
              <a:gd name="connsiteY63" fmla="*/ 847725 h 1962150"/>
              <a:gd name="connsiteX64" fmla="*/ 3152775 w 3343275"/>
              <a:gd name="connsiteY64" fmla="*/ 819150 h 1962150"/>
              <a:gd name="connsiteX65" fmla="*/ 3124200 w 3343275"/>
              <a:gd name="connsiteY65" fmla="*/ 800100 h 1962150"/>
              <a:gd name="connsiteX66" fmla="*/ 3114675 w 3343275"/>
              <a:gd name="connsiteY66" fmla="*/ 790575 h 196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3343275" h="1962150">
                <a:moveTo>
                  <a:pt x="0" y="0"/>
                </a:moveTo>
                <a:cubicBezTo>
                  <a:pt x="9525" y="19050"/>
                  <a:pt x="20665" y="37375"/>
                  <a:pt x="28575" y="57150"/>
                </a:cubicBezTo>
                <a:cubicBezTo>
                  <a:pt x="57854" y="130348"/>
                  <a:pt x="15959" y="58431"/>
                  <a:pt x="47625" y="142875"/>
                </a:cubicBezTo>
                <a:cubicBezTo>
                  <a:pt x="51645" y="153594"/>
                  <a:pt x="61878" y="161056"/>
                  <a:pt x="66675" y="171450"/>
                </a:cubicBezTo>
                <a:cubicBezTo>
                  <a:pt x="81005" y="202498"/>
                  <a:pt x="96481" y="233525"/>
                  <a:pt x="104775" y="266700"/>
                </a:cubicBezTo>
                <a:cubicBezTo>
                  <a:pt x="112451" y="297405"/>
                  <a:pt x="120467" y="333607"/>
                  <a:pt x="133350" y="361950"/>
                </a:cubicBezTo>
                <a:cubicBezTo>
                  <a:pt x="141011" y="378804"/>
                  <a:pt x="152400" y="393700"/>
                  <a:pt x="161925" y="409575"/>
                </a:cubicBezTo>
                <a:cubicBezTo>
                  <a:pt x="188801" y="570834"/>
                  <a:pt x="147236" y="389722"/>
                  <a:pt x="200025" y="495300"/>
                </a:cubicBezTo>
                <a:cubicBezTo>
                  <a:pt x="210362" y="515974"/>
                  <a:pt x="212115" y="539934"/>
                  <a:pt x="219075" y="561975"/>
                </a:cubicBezTo>
                <a:cubicBezTo>
                  <a:pt x="231169" y="600272"/>
                  <a:pt x="244475" y="638175"/>
                  <a:pt x="257175" y="676275"/>
                </a:cubicBezTo>
                <a:cubicBezTo>
                  <a:pt x="260350" y="685800"/>
                  <a:pt x="262210" y="695870"/>
                  <a:pt x="266700" y="704850"/>
                </a:cubicBezTo>
                <a:cubicBezTo>
                  <a:pt x="273050" y="717550"/>
                  <a:pt x="280764" y="729655"/>
                  <a:pt x="285750" y="742950"/>
                </a:cubicBezTo>
                <a:cubicBezTo>
                  <a:pt x="290347" y="755207"/>
                  <a:pt x="290118" y="769018"/>
                  <a:pt x="295275" y="781050"/>
                </a:cubicBezTo>
                <a:cubicBezTo>
                  <a:pt x="299784" y="791572"/>
                  <a:pt x="309205" y="799386"/>
                  <a:pt x="314325" y="809625"/>
                </a:cubicBezTo>
                <a:cubicBezTo>
                  <a:pt x="321971" y="824918"/>
                  <a:pt x="325072" y="842304"/>
                  <a:pt x="333375" y="857250"/>
                </a:cubicBezTo>
                <a:cubicBezTo>
                  <a:pt x="341085" y="871127"/>
                  <a:pt x="354240" y="881473"/>
                  <a:pt x="361950" y="895350"/>
                </a:cubicBezTo>
                <a:cubicBezTo>
                  <a:pt x="370253" y="910296"/>
                  <a:pt x="373354" y="927682"/>
                  <a:pt x="381000" y="942975"/>
                </a:cubicBezTo>
                <a:cubicBezTo>
                  <a:pt x="386120" y="953214"/>
                  <a:pt x="394370" y="961611"/>
                  <a:pt x="400050" y="971550"/>
                </a:cubicBezTo>
                <a:cubicBezTo>
                  <a:pt x="407095" y="983878"/>
                  <a:pt x="413507" y="996599"/>
                  <a:pt x="419100" y="1009650"/>
                </a:cubicBezTo>
                <a:cubicBezTo>
                  <a:pt x="432425" y="1040742"/>
                  <a:pt x="425110" y="1044735"/>
                  <a:pt x="447675" y="1076325"/>
                </a:cubicBezTo>
                <a:cubicBezTo>
                  <a:pt x="455505" y="1087286"/>
                  <a:pt x="468168" y="1094124"/>
                  <a:pt x="476250" y="1104900"/>
                </a:cubicBezTo>
                <a:cubicBezTo>
                  <a:pt x="487358" y="1119711"/>
                  <a:pt x="496546" y="1135966"/>
                  <a:pt x="504825" y="1152525"/>
                </a:cubicBezTo>
                <a:cubicBezTo>
                  <a:pt x="512471" y="1167818"/>
                  <a:pt x="514070" y="1186143"/>
                  <a:pt x="523875" y="1200150"/>
                </a:cubicBezTo>
                <a:cubicBezTo>
                  <a:pt x="536750" y="1218542"/>
                  <a:pt x="556398" y="1231163"/>
                  <a:pt x="571500" y="1247775"/>
                </a:cubicBezTo>
                <a:cubicBezTo>
                  <a:pt x="588181" y="1266124"/>
                  <a:pt x="603634" y="1285561"/>
                  <a:pt x="619125" y="1304925"/>
                </a:cubicBezTo>
                <a:cubicBezTo>
                  <a:pt x="629042" y="1317321"/>
                  <a:pt x="637021" y="1331278"/>
                  <a:pt x="647700" y="1343025"/>
                </a:cubicBezTo>
                <a:cubicBezTo>
                  <a:pt x="668843" y="1366282"/>
                  <a:pt x="690229" y="1389578"/>
                  <a:pt x="714375" y="1409700"/>
                </a:cubicBezTo>
                <a:cubicBezTo>
                  <a:pt x="779238" y="1463753"/>
                  <a:pt x="748000" y="1449483"/>
                  <a:pt x="800100" y="1466850"/>
                </a:cubicBezTo>
                <a:cubicBezTo>
                  <a:pt x="885504" y="1552254"/>
                  <a:pt x="733083" y="1404681"/>
                  <a:pt x="942975" y="1562100"/>
                </a:cubicBezTo>
                <a:cubicBezTo>
                  <a:pt x="1009382" y="1611905"/>
                  <a:pt x="950580" y="1572963"/>
                  <a:pt x="1028700" y="1609725"/>
                </a:cubicBezTo>
                <a:cubicBezTo>
                  <a:pt x="1067243" y="1627863"/>
                  <a:pt x="1108922" y="1641317"/>
                  <a:pt x="1143000" y="1666875"/>
                </a:cubicBezTo>
                <a:cubicBezTo>
                  <a:pt x="1155700" y="1676400"/>
                  <a:pt x="1166181" y="1690025"/>
                  <a:pt x="1181100" y="1695450"/>
                </a:cubicBezTo>
                <a:cubicBezTo>
                  <a:pt x="1202199" y="1703122"/>
                  <a:pt x="1225550" y="1701800"/>
                  <a:pt x="1247775" y="1704975"/>
                </a:cubicBezTo>
                <a:cubicBezTo>
                  <a:pt x="1263650" y="1711325"/>
                  <a:pt x="1279391" y="1718022"/>
                  <a:pt x="1295400" y="1724025"/>
                </a:cubicBezTo>
                <a:cubicBezTo>
                  <a:pt x="1304801" y="1727550"/>
                  <a:pt x="1314800" y="1729472"/>
                  <a:pt x="1323975" y="1733550"/>
                </a:cubicBezTo>
                <a:cubicBezTo>
                  <a:pt x="1348692" y="1744535"/>
                  <a:pt x="1380442" y="1765798"/>
                  <a:pt x="1409700" y="1771650"/>
                </a:cubicBezTo>
                <a:cubicBezTo>
                  <a:pt x="1447575" y="1779225"/>
                  <a:pt x="1487357" y="1778486"/>
                  <a:pt x="1524000" y="1790700"/>
                </a:cubicBezTo>
                <a:cubicBezTo>
                  <a:pt x="1571488" y="1806529"/>
                  <a:pt x="1576064" y="1809678"/>
                  <a:pt x="1619250" y="1819275"/>
                </a:cubicBezTo>
                <a:cubicBezTo>
                  <a:pt x="1635054" y="1822787"/>
                  <a:pt x="1651368" y="1824148"/>
                  <a:pt x="1666875" y="1828800"/>
                </a:cubicBezTo>
                <a:cubicBezTo>
                  <a:pt x="1683252" y="1833713"/>
                  <a:pt x="1697913" y="1843703"/>
                  <a:pt x="1714500" y="1847850"/>
                </a:cubicBezTo>
                <a:cubicBezTo>
                  <a:pt x="1736280" y="1853295"/>
                  <a:pt x="1759066" y="1853473"/>
                  <a:pt x="1781175" y="1857375"/>
                </a:cubicBezTo>
                <a:cubicBezTo>
                  <a:pt x="1813061" y="1863002"/>
                  <a:pt x="1845013" y="1868572"/>
                  <a:pt x="1876425" y="1876425"/>
                </a:cubicBezTo>
                <a:cubicBezTo>
                  <a:pt x="1908583" y="1884465"/>
                  <a:pt x="1939112" y="1898798"/>
                  <a:pt x="1971675" y="1905000"/>
                </a:cubicBezTo>
                <a:cubicBezTo>
                  <a:pt x="2006125" y="1911562"/>
                  <a:pt x="2041555" y="1911036"/>
                  <a:pt x="2076450" y="1914525"/>
                </a:cubicBezTo>
                <a:cubicBezTo>
                  <a:pt x="2202702" y="1927150"/>
                  <a:pt x="2124583" y="1918947"/>
                  <a:pt x="2257425" y="1943100"/>
                </a:cubicBezTo>
                <a:cubicBezTo>
                  <a:pt x="2295428" y="1950010"/>
                  <a:pt x="2371725" y="1962150"/>
                  <a:pt x="2371725" y="1962150"/>
                </a:cubicBezTo>
                <a:lnTo>
                  <a:pt x="2733675" y="1952625"/>
                </a:lnTo>
                <a:cubicBezTo>
                  <a:pt x="2783963" y="1950339"/>
                  <a:pt x="2829543" y="1930194"/>
                  <a:pt x="2876550" y="1914525"/>
                </a:cubicBezTo>
                <a:lnTo>
                  <a:pt x="2933700" y="1895475"/>
                </a:lnTo>
                <a:cubicBezTo>
                  <a:pt x="2952750" y="1889125"/>
                  <a:pt x="2974142" y="1887564"/>
                  <a:pt x="2990850" y="1876425"/>
                </a:cubicBezTo>
                <a:cubicBezTo>
                  <a:pt x="3122232" y="1788837"/>
                  <a:pt x="2987372" y="1880270"/>
                  <a:pt x="3086100" y="1809750"/>
                </a:cubicBezTo>
                <a:cubicBezTo>
                  <a:pt x="3123352" y="1783141"/>
                  <a:pt x="3116412" y="1795023"/>
                  <a:pt x="3152775" y="1752600"/>
                </a:cubicBezTo>
                <a:cubicBezTo>
                  <a:pt x="3191342" y="1707605"/>
                  <a:pt x="3152266" y="1739977"/>
                  <a:pt x="3190875" y="1685925"/>
                </a:cubicBezTo>
                <a:cubicBezTo>
                  <a:pt x="3198705" y="1674964"/>
                  <a:pt x="3209925" y="1666875"/>
                  <a:pt x="3219450" y="1657350"/>
                </a:cubicBezTo>
                <a:cubicBezTo>
                  <a:pt x="3277777" y="1482370"/>
                  <a:pt x="3199370" y="1697511"/>
                  <a:pt x="3267075" y="1562100"/>
                </a:cubicBezTo>
                <a:cubicBezTo>
                  <a:pt x="3282368" y="1531514"/>
                  <a:pt x="3292475" y="1498600"/>
                  <a:pt x="3305175" y="1466850"/>
                </a:cubicBezTo>
                <a:cubicBezTo>
                  <a:pt x="3331683" y="1400581"/>
                  <a:pt x="3318818" y="1435445"/>
                  <a:pt x="3343275" y="1362075"/>
                </a:cubicBezTo>
                <a:cubicBezTo>
                  <a:pt x="3340100" y="1270000"/>
                  <a:pt x="3342091" y="1177601"/>
                  <a:pt x="3333750" y="1085850"/>
                </a:cubicBezTo>
                <a:cubicBezTo>
                  <a:pt x="3332194" y="1068735"/>
                  <a:pt x="3304344" y="1034390"/>
                  <a:pt x="3295650" y="1019175"/>
                </a:cubicBezTo>
                <a:cubicBezTo>
                  <a:pt x="3288605" y="1006847"/>
                  <a:pt x="3284853" y="992629"/>
                  <a:pt x="3276600" y="981075"/>
                </a:cubicBezTo>
                <a:cubicBezTo>
                  <a:pt x="3268770" y="970114"/>
                  <a:pt x="3256895" y="962637"/>
                  <a:pt x="3248025" y="952500"/>
                </a:cubicBezTo>
                <a:cubicBezTo>
                  <a:pt x="3234638" y="937200"/>
                  <a:pt x="3222123" y="921139"/>
                  <a:pt x="3209925" y="904875"/>
                </a:cubicBezTo>
                <a:cubicBezTo>
                  <a:pt x="3203056" y="895717"/>
                  <a:pt x="3198204" y="885094"/>
                  <a:pt x="3190875" y="876300"/>
                </a:cubicBezTo>
                <a:cubicBezTo>
                  <a:pt x="3182251" y="865952"/>
                  <a:pt x="3171825" y="857250"/>
                  <a:pt x="3162300" y="847725"/>
                </a:cubicBezTo>
                <a:cubicBezTo>
                  <a:pt x="3159125" y="838200"/>
                  <a:pt x="3159047" y="826990"/>
                  <a:pt x="3152775" y="819150"/>
                </a:cubicBezTo>
                <a:cubicBezTo>
                  <a:pt x="3145624" y="810211"/>
                  <a:pt x="3133358" y="806969"/>
                  <a:pt x="3124200" y="800100"/>
                </a:cubicBezTo>
                <a:cubicBezTo>
                  <a:pt x="3120608" y="797406"/>
                  <a:pt x="3117850" y="793750"/>
                  <a:pt x="3114675" y="790575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6347854" y="5688792"/>
            <a:ext cx="15822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>
                <a:solidFill>
                  <a:srgbClr val="7030A0"/>
                </a:solidFill>
              </a:rPr>
              <a:t>Obstáculo</a:t>
            </a:r>
            <a:endParaRPr lang="es-CO" sz="1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93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887" y="1864677"/>
            <a:ext cx="1762559" cy="4271096"/>
          </a:xfrm>
          <a:prstGeom prst="rect">
            <a:avLst/>
          </a:prstGeom>
        </p:spPr>
      </p:pic>
      <p:pic>
        <p:nvPicPr>
          <p:cNvPr id="8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7E590FDD-AA6E-47CB-9FD3-F73A40DF3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270" y="2959577"/>
            <a:ext cx="5001642" cy="3266378"/>
          </a:xfrm>
        </p:spPr>
      </p:pic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229624" y="1637889"/>
            <a:ext cx="4451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</a:t>
            </a:r>
            <a:r>
              <a:rPr lang="es-CO" sz="2200" b="1" dirty="0" smtClean="0"/>
              <a:t>informada</a:t>
            </a:r>
            <a:endParaRPr lang="es-CO" sz="2200" b="1" dirty="0"/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445953" y="6226805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AA01F58C-210C-42EA-8802-DE1019CB61EB}"/>
              </a:ext>
            </a:extLst>
          </p:cNvPr>
          <p:cNvSpPr/>
          <p:nvPr/>
        </p:nvSpPr>
        <p:spPr>
          <a:xfrm>
            <a:off x="5077447" y="370893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10" name="Rectángulo 11">
            <a:extLst>
              <a:ext uri="{FF2B5EF4-FFF2-40B4-BE49-F238E27FC236}">
                <a16:creationId xmlns="" xmlns:a16="http://schemas.microsoft.com/office/drawing/2014/main" id="{6B5224BC-8C8E-4B8B-B0ED-3723C53F6561}"/>
              </a:ext>
            </a:extLst>
          </p:cNvPr>
          <p:cNvSpPr/>
          <p:nvPr/>
        </p:nvSpPr>
        <p:spPr>
          <a:xfrm>
            <a:off x="5285831" y="317374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71</a:t>
            </a:r>
          </a:p>
        </p:txBody>
      </p:sp>
      <p:sp>
        <p:nvSpPr>
          <p:cNvPr id="11" name="Rectángulo 11">
            <a:extLst>
              <a:ext uri="{FF2B5EF4-FFF2-40B4-BE49-F238E27FC236}">
                <a16:creationId xmlns="" xmlns:a16="http://schemas.microsoft.com/office/drawing/2014/main" id="{DE0D364D-2FC0-45D0-B0B3-17FFB87657B7}"/>
              </a:ext>
            </a:extLst>
          </p:cNvPr>
          <p:cNvSpPr/>
          <p:nvPr/>
        </p:nvSpPr>
        <p:spPr>
          <a:xfrm>
            <a:off x="5523507" y="415525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="" xmlns:a16="http://schemas.microsoft.com/office/drawing/2014/main" id="{2E6AE2A9-2E71-41A9-AEC1-0BCF240A92C4}"/>
              </a:ext>
            </a:extLst>
          </p:cNvPr>
          <p:cNvSpPr/>
          <p:nvPr/>
        </p:nvSpPr>
        <p:spPr>
          <a:xfrm>
            <a:off x="5898299" y="363125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151</a:t>
            </a:r>
          </a:p>
        </p:txBody>
      </p:sp>
      <p:sp>
        <p:nvSpPr>
          <p:cNvPr id="13" name="Rectángulo 11">
            <a:extLst>
              <a:ext uri="{FF2B5EF4-FFF2-40B4-BE49-F238E27FC236}">
                <a16:creationId xmlns="" xmlns:a16="http://schemas.microsoft.com/office/drawing/2014/main" id="{7234AE3B-DBCB-459C-9012-6F178A8EB15F}"/>
              </a:ext>
            </a:extLst>
          </p:cNvPr>
          <p:cNvSpPr/>
          <p:nvPr/>
        </p:nvSpPr>
        <p:spPr>
          <a:xfrm>
            <a:off x="4985601" y="423292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118</a:t>
            </a:r>
          </a:p>
        </p:txBody>
      </p:sp>
      <p:sp>
        <p:nvSpPr>
          <p:cNvPr id="14" name="Rectángulo 11">
            <a:extLst>
              <a:ext uri="{FF2B5EF4-FFF2-40B4-BE49-F238E27FC236}">
                <a16:creationId xmlns="" xmlns:a16="http://schemas.microsoft.com/office/drawing/2014/main" id="{8F714A0D-A263-47B4-837D-7935C3135555}"/>
              </a:ext>
            </a:extLst>
          </p:cNvPr>
          <p:cNvSpPr/>
          <p:nvPr/>
        </p:nvSpPr>
        <p:spPr>
          <a:xfrm>
            <a:off x="5898298" y="595725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120</a:t>
            </a:r>
          </a:p>
        </p:txBody>
      </p:sp>
      <p:sp>
        <p:nvSpPr>
          <p:cNvPr id="15" name="Rectángulo 11">
            <a:extLst>
              <a:ext uri="{FF2B5EF4-FFF2-40B4-BE49-F238E27FC236}">
                <a16:creationId xmlns="" xmlns:a16="http://schemas.microsoft.com/office/drawing/2014/main" id="{3BFB4984-6A7C-4EAA-AACE-14ADE2D72A4D}"/>
              </a:ext>
            </a:extLst>
          </p:cNvPr>
          <p:cNvSpPr/>
          <p:nvPr/>
        </p:nvSpPr>
        <p:spPr>
          <a:xfrm>
            <a:off x="5195209" y="4790107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111</a:t>
            </a:r>
          </a:p>
        </p:txBody>
      </p:sp>
      <p:sp>
        <p:nvSpPr>
          <p:cNvPr id="16" name="Rectángulo 11">
            <a:extLst>
              <a:ext uri="{FF2B5EF4-FFF2-40B4-BE49-F238E27FC236}">
                <a16:creationId xmlns="" xmlns:a16="http://schemas.microsoft.com/office/drawing/2014/main" id="{D0AE4880-98EC-4410-AE2C-903AB1C6F0B1}"/>
              </a:ext>
            </a:extLst>
          </p:cNvPr>
          <p:cNvSpPr/>
          <p:nvPr/>
        </p:nvSpPr>
        <p:spPr>
          <a:xfrm>
            <a:off x="5428304" y="5108587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70</a:t>
            </a:r>
          </a:p>
        </p:txBody>
      </p:sp>
      <p:sp>
        <p:nvSpPr>
          <p:cNvPr id="17" name="Rectángulo 11">
            <a:extLst>
              <a:ext uri="{FF2B5EF4-FFF2-40B4-BE49-F238E27FC236}">
                <a16:creationId xmlns="" xmlns:a16="http://schemas.microsoft.com/office/drawing/2014/main" id="{390C51DC-496D-4D61-96F4-94E4D24A1F60}"/>
              </a:ext>
            </a:extLst>
          </p:cNvPr>
          <p:cNvSpPr/>
          <p:nvPr/>
        </p:nvSpPr>
        <p:spPr>
          <a:xfrm>
            <a:off x="5517519" y="549408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18" name="Rectángulo 11">
            <a:extLst>
              <a:ext uri="{FF2B5EF4-FFF2-40B4-BE49-F238E27FC236}">
                <a16:creationId xmlns="" xmlns:a16="http://schemas.microsoft.com/office/drawing/2014/main" id="{25453A23-D4C7-41C3-88EF-5A09EFD9AA14}"/>
              </a:ext>
            </a:extLst>
          </p:cNvPr>
          <p:cNvSpPr/>
          <p:nvPr/>
        </p:nvSpPr>
        <p:spPr>
          <a:xfrm>
            <a:off x="7979239" y="494394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85</a:t>
            </a:r>
          </a:p>
        </p:txBody>
      </p:sp>
      <p:sp>
        <p:nvSpPr>
          <p:cNvPr id="19" name="Rectángulo 11">
            <a:extLst>
              <a:ext uri="{FF2B5EF4-FFF2-40B4-BE49-F238E27FC236}">
                <a16:creationId xmlns="" xmlns:a16="http://schemas.microsoft.com/office/drawing/2014/main" id="{432A7858-EB35-419C-9099-AFCABCDE0551}"/>
              </a:ext>
            </a:extLst>
          </p:cNvPr>
          <p:cNvSpPr/>
          <p:nvPr/>
        </p:nvSpPr>
        <p:spPr>
          <a:xfrm>
            <a:off x="7223205" y="5259718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101</a:t>
            </a:r>
          </a:p>
        </p:txBody>
      </p:sp>
      <p:sp>
        <p:nvSpPr>
          <p:cNvPr id="20" name="Rectángulo 11">
            <a:extLst>
              <a:ext uri="{FF2B5EF4-FFF2-40B4-BE49-F238E27FC236}">
                <a16:creationId xmlns="" xmlns:a16="http://schemas.microsoft.com/office/drawing/2014/main" id="{64AE6A55-1804-47F0-BCA3-71CA88528CCA}"/>
              </a:ext>
            </a:extLst>
          </p:cNvPr>
          <p:cNvSpPr/>
          <p:nvPr/>
        </p:nvSpPr>
        <p:spPr>
          <a:xfrm>
            <a:off x="6457508" y="397311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99</a:t>
            </a:r>
          </a:p>
        </p:txBody>
      </p:sp>
      <p:sp>
        <p:nvSpPr>
          <p:cNvPr id="21" name="Rectángulo 11">
            <a:extLst>
              <a:ext uri="{FF2B5EF4-FFF2-40B4-BE49-F238E27FC236}">
                <a16:creationId xmlns="" xmlns:a16="http://schemas.microsoft.com/office/drawing/2014/main" id="{7528A32E-46CD-4487-AEB1-80B940423639}"/>
              </a:ext>
            </a:extLst>
          </p:cNvPr>
          <p:cNvSpPr/>
          <p:nvPr/>
        </p:nvSpPr>
        <p:spPr>
          <a:xfrm>
            <a:off x="7392341" y="559265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90</a:t>
            </a:r>
          </a:p>
        </p:txBody>
      </p:sp>
      <p:sp>
        <p:nvSpPr>
          <p:cNvPr id="22" name="Rectángulo 11">
            <a:extLst>
              <a:ext uri="{FF2B5EF4-FFF2-40B4-BE49-F238E27FC236}">
                <a16:creationId xmlns="" xmlns:a16="http://schemas.microsoft.com/office/drawing/2014/main" id="{84D1D623-FBCF-464C-8B09-0CC233F085D3}"/>
              </a:ext>
            </a:extLst>
          </p:cNvPr>
          <p:cNvSpPr/>
          <p:nvPr/>
        </p:nvSpPr>
        <p:spPr>
          <a:xfrm>
            <a:off x="7572637" y="444455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211</a:t>
            </a:r>
          </a:p>
        </p:txBody>
      </p:sp>
      <p:sp>
        <p:nvSpPr>
          <p:cNvPr id="23" name="Rectángulo 11">
            <a:extLst>
              <a:ext uri="{FF2B5EF4-FFF2-40B4-BE49-F238E27FC236}">
                <a16:creationId xmlns="" xmlns:a16="http://schemas.microsoft.com/office/drawing/2014/main" id="{0A2A69B1-E363-40AC-90F5-7A15A69C9E05}"/>
              </a:ext>
            </a:extLst>
          </p:cNvPr>
          <p:cNvSpPr/>
          <p:nvPr/>
        </p:nvSpPr>
        <p:spPr>
          <a:xfrm>
            <a:off x="6746917" y="5469987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138</a:t>
            </a:r>
          </a:p>
        </p:txBody>
      </p:sp>
      <p:sp>
        <p:nvSpPr>
          <p:cNvPr id="24" name="Rectángulo 11">
            <a:extLst>
              <a:ext uri="{FF2B5EF4-FFF2-40B4-BE49-F238E27FC236}">
                <a16:creationId xmlns="" xmlns:a16="http://schemas.microsoft.com/office/drawing/2014/main" id="{AA3D515E-CC9D-4A5B-9BCF-E15A03916B17}"/>
              </a:ext>
            </a:extLst>
          </p:cNvPr>
          <p:cNvSpPr/>
          <p:nvPr/>
        </p:nvSpPr>
        <p:spPr>
          <a:xfrm>
            <a:off x="6291762" y="535558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146</a:t>
            </a:r>
          </a:p>
        </p:txBody>
      </p:sp>
      <p:sp>
        <p:nvSpPr>
          <p:cNvPr id="25" name="Rectángulo 11">
            <a:extLst>
              <a:ext uri="{FF2B5EF4-FFF2-40B4-BE49-F238E27FC236}">
                <a16:creationId xmlns="" xmlns:a16="http://schemas.microsoft.com/office/drawing/2014/main" id="{9EFB9B84-7A40-42AC-97A5-FE36374F7714}"/>
              </a:ext>
            </a:extLst>
          </p:cNvPr>
          <p:cNvSpPr/>
          <p:nvPr/>
        </p:nvSpPr>
        <p:spPr>
          <a:xfrm>
            <a:off x="6457508" y="4905168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97</a:t>
            </a:r>
          </a:p>
        </p:txBody>
      </p:sp>
      <p:sp>
        <p:nvSpPr>
          <p:cNvPr id="26" name="Rectángulo 11">
            <a:extLst>
              <a:ext uri="{FF2B5EF4-FFF2-40B4-BE49-F238E27FC236}">
                <a16:creationId xmlns="" xmlns:a16="http://schemas.microsoft.com/office/drawing/2014/main" id="{30AF8D42-5A6E-4FE6-B485-99B44269F11C}"/>
              </a:ext>
            </a:extLst>
          </p:cNvPr>
          <p:cNvSpPr/>
          <p:nvPr/>
        </p:nvSpPr>
        <p:spPr>
          <a:xfrm>
            <a:off x="5978887" y="428630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80</a:t>
            </a:r>
          </a:p>
        </p:txBody>
      </p:sp>
      <p:sp>
        <p:nvSpPr>
          <p:cNvPr id="27" name="Rectángulo 11">
            <a:extLst>
              <a:ext uri="{FF2B5EF4-FFF2-40B4-BE49-F238E27FC236}">
                <a16:creationId xmlns="" xmlns:a16="http://schemas.microsoft.com/office/drawing/2014/main" id="{7A3AA04B-F1EA-4747-8CFC-6A4A46559B82}"/>
              </a:ext>
            </a:extLst>
          </p:cNvPr>
          <p:cNvSpPr/>
          <p:nvPr/>
        </p:nvSpPr>
        <p:spPr>
          <a:xfrm>
            <a:off x="9359845" y="443225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142</a:t>
            </a:r>
          </a:p>
        </p:txBody>
      </p:sp>
      <p:sp>
        <p:nvSpPr>
          <p:cNvPr id="28" name="Rectángulo 11">
            <a:extLst>
              <a:ext uri="{FF2B5EF4-FFF2-40B4-BE49-F238E27FC236}">
                <a16:creationId xmlns="" xmlns:a16="http://schemas.microsoft.com/office/drawing/2014/main" id="{CACB2EC2-E7AC-4FDC-9A1B-F71ECACA6D9B}"/>
              </a:ext>
            </a:extLst>
          </p:cNvPr>
          <p:cNvSpPr/>
          <p:nvPr/>
        </p:nvSpPr>
        <p:spPr>
          <a:xfrm>
            <a:off x="9292984" y="5189817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86</a:t>
            </a:r>
          </a:p>
        </p:txBody>
      </p:sp>
      <p:sp>
        <p:nvSpPr>
          <p:cNvPr id="29" name="Rectángulo 11">
            <a:extLst>
              <a:ext uri="{FF2B5EF4-FFF2-40B4-BE49-F238E27FC236}">
                <a16:creationId xmlns="" xmlns:a16="http://schemas.microsoft.com/office/drawing/2014/main" id="{42F609C1-2BD3-40F2-A9CC-2A0186364662}"/>
              </a:ext>
            </a:extLst>
          </p:cNvPr>
          <p:cNvSpPr/>
          <p:nvPr/>
        </p:nvSpPr>
        <p:spPr>
          <a:xfrm>
            <a:off x="9176668" y="353461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92</a:t>
            </a:r>
          </a:p>
        </p:txBody>
      </p:sp>
      <p:sp>
        <p:nvSpPr>
          <p:cNvPr id="30" name="Rectángulo 11">
            <a:extLst>
              <a:ext uri="{FF2B5EF4-FFF2-40B4-BE49-F238E27FC236}">
                <a16:creationId xmlns="" xmlns:a16="http://schemas.microsoft.com/office/drawing/2014/main" id="{F64C5CFB-E5AE-420C-83E6-393D00AA5D83}"/>
              </a:ext>
            </a:extLst>
          </p:cNvPr>
          <p:cNvSpPr/>
          <p:nvPr/>
        </p:nvSpPr>
        <p:spPr>
          <a:xfrm>
            <a:off x="8332330" y="333192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87</a:t>
            </a:r>
          </a:p>
        </p:txBody>
      </p:sp>
      <p:sp>
        <p:nvSpPr>
          <p:cNvPr id="31" name="Rectángulo 11">
            <a:extLst>
              <a:ext uri="{FF2B5EF4-FFF2-40B4-BE49-F238E27FC236}">
                <a16:creationId xmlns="" xmlns:a16="http://schemas.microsoft.com/office/drawing/2014/main" id="{80D3CBD1-F233-44AF-B2F6-DFF6D8BB70B8}"/>
              </a:ext>
            </a:extLst>
          </p:cNvPr>
          <p:cNvSpPr/>
          <p:nvPr/>
        </p:nvSpPr>
        <p:spPr>
          <a:xfrm>
            <a:off x="8729588" y="495803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98</a:t>
            </a:r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639394" y="2194418"/>
            <a:ext cx="7270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 err="1"/>
              <a:t>Greedy</a:t>
            </a:r>
            <a:r>
              <a:rPr lang="es-CO" b="1" dirty="0"/>
              <a:t> </a:t>
            </a:r>
            <a:r>
              <a:rPr lang="es-CO" b="1" dirty="0" err="1" smtClean="0"/>
              <a:t>search</a:t>
            </a:r>
            <a:endParaRPr lang="es-CO" b="1" dirty="0" smtClean="0"/>
          </a:p>
          <a:p>
            <a:r>
              <a:rPr lang="es-CO" b="1" dirty="0"/>
              <a:t>	</a:t>
            </a:r>
            <a:r>
              <a:rPr lang="es-CO" dirty="0" smtClean="0"/>
              <a:t>Minimizar el costo estimado para alcanzar el objetivo</a:t>
            </a:r>
            <a:endParaRPr lang="es-CO" dirty="0"/>
          </a:p>
        </p:txBody>
      </p:sp>
      <p:sp>
        <p:nvSpPr>
          <p:cNvPr id="33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6568308" y="876486"/>
            <a:ext cx="41112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En este ejemplo, </a:t>
            </a:r>
            <a:r>
              <a:rPr lang="es-CO" b="1" i="1" dirty="0" smtClean="0"/>
              <a:t>h</a:t>
            </a:r>
            <a:r>
              <a:rPr lang="es-CO" dirty="0" smtClean="0"/>
              <a:t> es la distancia en línea recta entre una ciudad cualquiera y la ciudad objetivo.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6372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229624" y="1637889"/>
            <a:ext cx="4451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</a:t>
            </a:r>
            <a:r>
              <a:rPr lang="es-CO" sz="2200" b="1" dirty="0" smtClean="0"/>
              <a:t>informada</a:t>
            </a:r>
            <a:endParaRPr lang="es-CO" sz="2200" b="1" dirty="0"/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445953" y="6226805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639394" y="2194418"/>
            <a:ext cx="7270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 smtClean="0"/>
              <a:t>A* </a:t>
            </a:r>
            <a:r>
              <a:rPr lang="es-CO" b="1" dirty="0" err="1" smtClean="0"/>
              <a:t>search</a:t>
            </a:r>
            <a:endParaRPr lang="es-CO" b="1" dirty="0" smtClean="0"/>
          </a:p>
          <a:p>
            <a:r>
              <a:rPr lang="es-CO" b="1" dirty="0"/>
              <a:t>	</a:t>
            </a:r>
            <a:r>
              <a:rPr lang="es-CO" dirty="0" smtClean="0"/>
              <a:t>Minimizar el costo total de la ruta para alcanzar el objetivo</a:t>
            </a:r>
            <a:endParaRPr lang="es-CO" dirty="0"/>
          </a:p>
        </p:txBody>
      </p:sp>
      <p:sp>
        <p:nvSpPr>
          <p:cNvPr id="33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6537194" y="1180839"/>
            <a:ext cx="50338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 smtClean="0"/>
              <a:t> f = g + h</a:t>
            </a:r>
            <a:r>
              <a:rPr lang="es-CO" dirty="0" smtClean="0"/>
              <a:t>, donde</a:t>
            </a:r>
          </a:p>
          <a:p>
            <a:pPr algn="ctr"/>
            <a:r>
              <a:rPr lang="es-CO" dirty="0" smtClean="0"/>
              <a:t> g(ruta) = </a:t>
            </a:r>
            <a:r>
              <a:rPr lang="es-CO" i="1" dirty="0" smtClean="0"/>
              <a:t>costo de la ruta</a:t>
            </a:r>
          </a:p>
          <a:p>
            <a:pPr algn="ctr"/>
            <a:r>
              <a:rPr lang="es-CO" dirty="0"/>
              <a:t> </a:t>
            </a:r>
            <a:r>
              <a:rPr lang="es-CO" dirty="0" smtClean="0"/>
              <a:t>h(ruta) = h(e) = </a:t>
            </a:r>
            <a:r>
              <a:rPr lang="es-CO" i="1" dirty="0" smtClean="0"/>
              <a:t>distancia estimada al objetivo</a:t>
            </a:r>
            <a:endParaRPr lang="es-CO" i="1" dirty="0"/>
          </a:p>
        </p:txBody>
      </p:sp>
      <p:sp>
        <p:nvSpPr>
          <p:cNvPr id="34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2941794" y="4085983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S</a:t>
            </a:r>
            <a:endParaRPr lang="es-CO" dirty="0"/>
          </a:p>
        </p:txBody>
      </p:sp>
      <p:sp>
        <p:nvSpPr>
          <p:cNvPr id="35" name="Elipse 34"/>
          <p:cNvSpPr/>
          <p:nvPr/>
        </p:nvSpPr>
        <p:spPr>
          <a:xfrm>
            <a:off x="2948515" y="4021689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6537194" y="4083602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G</a:t>
            </a:r>
          </a:p>
        </p:txBody>
      </p:sp>
      <p:sp>
        <p:nvSpPr>
          <p:cNvPr id="37" name="Elipse 36"/>
          <p:cNvSpPr/>
          <p:nvPr/>
        </p:nvSpPr>
        <p:spPr>
          <a:xfrm>
            <a:off x="6543915" y="4019308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4728344" y="4316552"/>
            <a:ext cx="504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X</a:t>
            </a:r>
          </a:p>
        </p:txBody>
      </p:sp>
      <p:sp>
        <p:nvSpPr>
          <p:cNvPr id="39" name="Elipse 38"/>
          <p:cNvSpPr/>
          <p:nvPr/>
        </p:nvSpPr>
        <p:spPr>
          <a:xfrm>
            <a:off x="4735065" y="4252258"/>
            <a:ext cx="495300" cy="52387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Forma libre 3"/>
          <p:cNvSpPr/>
          <p:nvPr/>
        </p:nvSpPr>
        <p:spPr>
          <a:xfrm>
            <a:off x="3454400" y="4294401"/>
            <a:ext cx="1294566" cy="296072"/>
          </a:xfrm>
          <a:custGeom>
            <a:avLst/>
            <a:gdLst>
              <a:gd name="connsiteX0" fmla="*/ 0 w 1294566"/>
              <a:gd name="connsiteY0" fmla="*/ 55926 h 296072"/>
              <a:gd name="connsiteX1" fmla="*/ 304800 w 1294566"/>
              <a:gd name="connsiteY1" fmla="*/ 28217 h 296072"/>
              <a:gd name="connsiteX2" fmla="*/ 360218 w 1294566"/>
              <a:gd name="connsiteY2" fmla="*/ 65163 h 296072"/>
              <a:gd name="connsiteX3" fmla="*/ 415636 w 1294566"/>
              <a:gd name="connsiteY3" fmla="*/ 157526 h 296072"/>
              <a:gd name="connsiteX4" fmla="*/ 434109 w 1294566"/>
              <a:gd name="connsiteY4" fmla="*/ 185235 h 296072"/>
              <a:gd name="connsiteX5" fmla="*/ 489527 w 1294566"/>
              <a:gd name="connsiteY5" fmla="*/ 240654 h 296072"/>
              <a:gd name="connsiteX6" fmla="*/ 508000 w 1294566"/>
              <a:gd name="connsiteY6" fmla="*/ 268363 h 296072"/>
              <a:gd name="connsiteX7" fmla="*/ 563418 w 1294566"/>
              <a:gd name="connsiteY7" fmla="*/ 286835 h 296072"/>
              <a:gd name="connsiteX8" fmla="*/ 591127 w 1294566"/>
              <a:gd name="connsiteY8" fmla="*/ 296072 h 296072"/>
              <a:gd name="connsiteX9" fmla="*/ 748145 w 1294566"/>
              <a:gd name="connsiteY9" fmla="*/ 286835 h 296072"/>
              <a:gd name="connsiteX10" fmla="*/ 775855 w 1294566"/>
              <a:gd name="connsiteY10" fmla="*/ 259126 h 296072"/>
              <a:gd name="connsiteX11" fmla="*/ 831273 w 1294566"/>
              <a:gd name="connsiteY11" fmla="*/ 231417 h 296072"/>
              <a:gd name="connsiteX12" fmla="*/ 849745 w 1294566"/>
              <a:gd name="connsiteY12" fmla="*/ 203708 h 296072"/>
              <a:gd name="connsiteX13" fmla="*/ 914400 w 1294566"/>
              <a:gd name="connsiteY13" fmla="*/ 194472 h 296072"/>
              <a:gd name="connsiteX14" fmla="*/ 951345 w 1294566"/>
              <a:gd name="connsiteY14" fmla="*/ 185235 h 296072"/>
              <a:gd name="connsiteX15" fmla="*/ 1228436 w 1294566"/>
              <a:gd name="connsiteY15" fmla="*/ 194472 h 296072"/>
              <a:gd name="connsiteX16" fmla="*/ 1283855 w 1294566"/>
              <a:gd name="connsiteY16" fmla="*/ 203708 h 29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94566" h="296072">
                <a:moveTo>
                  <a:pt x="0" y="55926"/>
                </a:moveTo>
                <a:cubicBezTo>
                  <a:pt x="114490" y="-20400"/>
                  <a:pt x="71230" y="-7173"/>
                  <a:pt x="304800" y="28217"/>
                </a:cubicBezTo>
                <a:cubicBezTo>
                  <a:pt x="326751" y="31543"/>
                  <a:pt x="360218" y="65163"/>
                  <a:pt x="360218" y="65163"/>
                </a:cubicBezTo>
                <a:cubicBezTo>
                  <a:pt x="388854" y="136751"/>
                  <a:pt x="364956" y="89952"/>
                  <a:pt x="415636" y="157526"/>
                </a:cubicBezTo>
                <a:cubicBezTo>
                  <a:pt x="422296" y="166407"/>
                  <a:pt x="426734" y="176938"/>
                  <a:pt x="434109" y="185235"/>
                </a:cubicBezTo>
                <a:cubicBezTo>
                  <a:pt x="451465" y="204761"/>
                  <a:pt x="475036" y="218917"/>
                  <a:pt x="489527" y="240654"/>
                </a:cubicBezTo>
                <a:cubicBezTo>
                  <a:pt x="495685" y="249890"/>
                  <a:pt x="498587" y="262480"/>
                  <a:pt x="508000" y="268363"/>
                </a:cubicBezTo>
                <a:cubicBezTo>
                  <a:pt x="524512" y="278683"/>
                  <a:pt x="544945" y="280677"/>
                  <a:pt x="563418" y="286835"/>
                </a:cubicBezTo>
                <a:lnTo>
                  <a:pt x="591127" y="296072"/>
                </a:lnTo>
                <a:cubicBezTo>
                  <a:pt x="643466" y="292993"/>
                  <a:pt x="696733" y="297117"/>
                  <a:pt x="748145" y="286835"/>
                </a:cubicBezTo>
                <a:cubicBezTo>
                  <a:pt x="760954" y="284273"/>
                  <a:pt x="765820" y="267488"/>
                  <a:pt x="775855" y="259126"/>
                </a:cubicBezTo>
                <a:cubicBezTo>
                  <a:pt x="799727" y="239233"/>
                  <a:pt x="803503" y="240674"/>
                  <a:pt x="831273" y="231417"/>
                </a:cubicBezTo>
                <a:cubicBezTo>
                  <a:pt x="837430" y="222181"/>
                  <a:pt x="839601" y="208216"/>
                  <a:pt x="849745" y="203708"/>
                </a:cubicBezTo>
                <a:cubicBezTo>
                  <a:pt x="869639" y="194866"/>
                  <a:pt x="892981" y="198366"/>
                  <a:pt x="914400" y="194472"/>
                </a:cubicBezTo>
                <a:cubicBezTo>
                  <a:pt x="926889" y="192201"/>
                  <a:pt x="939030" y="188314"/>
                  <a:pt x="951345" y="185235"/>
                </a:cubicBezTo>
                <a:cubicBezTo>
                  <a:pt x="1043709" y="188314"/>
                  <a:pt x="1136190" y="188881"/>
                  <a:pt x="1228436" y="194472"/>
                </a:cubicBezTo>
                <a:cubicBezTo>
                  <a:pt x="1429020" y="206629"/>
                  <a:pt x="1090712" y="203708"/>
                  <a:pt x="1283855" y="203708"/>
                </a:cubicBez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Forma libre 4"/>
          <p:cNvSpPr/>
          <p:nvPr/>
        </p:nvSpPr>
        <p:spPr>
          <a:xfrm>
            <a:off x="5209309" y="4312391"/>
            <a:ext cx="1302327" cy="241136"/>
          </a:xfrm>
          <a:custGeom>
            <a:avLst/>
            <a:gdLst>
              <a:gd name="connsiteX0" fmla="*/ 0 w 1302327"/>
              <a:gd name="connsiteY0" fmla="*/ 241136 h 241136"/>
              <a:gd name="connsiteX1" fmla="*/ 64655 w 1302327"/>
              <a:gd name="connsiteY1" fmla="*/ 231900 h 241136"/>
              <a:gd name="connsiteX2" fmla="*/ 92364 w 1302327"/>
              <a:gd name="connsiteY2" fmla="*/ 204191 h 241136"/>
              <a:gd name="connsiteX3" fmla="*/ 184727 w 1302327"/>
              <a:gd name="connsiteY3" fmla="*/ 167245 h 241136"/>
              <a:gd name="connsiteX4" fmla="*/ 249382 w 1302327"/>
              <a:gd name="connsiteY4" fmla="*/ 139536 h 241136"/>
              <a:gd name="connsiteX5" fmla="*/ 498764 w 1302327"/>
              <a:gd name="connsiteY5" fmla="*/ 167245 h 241136"/>
              <a:gd name="connsiteX6" fmla="*/ 526473 w 1302327"/>
              <a:gd name="connsiteY6" fmla="*/ 176482 h 241136"/>
              <a:gd name="connsiteX7" fmla="*/ 674255 w 1302327"/>
              <a:gd name="connsiteY7" fmla="*/ 167245 h 241136"/>
              <a:gd name="connsiteX8" fmla="*/ 775855 w 1302327"/>
              <a:gd name="connsiteY8" fmla="*/ 148773 h 241136"/>
              <a:gd name="connsiteX9" fmla="*/ 905164 w 1302327"/>
              <a:gd name="connsiteY9" fmla="*/ 111827 h 241136"/>
              <a:gd name="connsiteX10" fmla="*/ 988291 w 1302327"/>
              <a:gd name="connsiteY10" fmla="*/ 74882 h 241136"/>
              <a:gd name="connsiteX11" fmla="*/ 1062182 w 1302327"/>
              <a:gd name="connsiteY11" fmla="*/ 56409 h 241136"/>
              <a:gd name="connsiteX12" fmla="*/ 1126836 w 1302327"/>
              <a:gd name="connsiteY12" fmla="*/ 28700 h 241136"/>
              <a:gd name="connsiteX13" fmla="*/ 1154546 w 1302327"/>
              <a:gd name="connsiteY13" fmla="*/ 19464 h 241136"/>
              <a:gd name="connsiteX14" fmla="*/ 1200727 w 1302327"/>
              <a:gd name="connsiteY14" fmla="*/ 10227 h 241136"/>
              <a:gd name="connsiteX15" fmla="*/ 1228436 w 1302327"/>
              <a:gd name="connsiteY15" fmla="*/ 991 h 241136"/>
              <a:gd name="connsiteX16" fmla="*/ 1302327 w 1302327"/>
              <a:gd name="connsiteY16" fmla="*/ 991 h 24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02327" h="241136">
                <a:moveTo>
                  <a:pt x="0" y="241136"/>
                </a:moveTo>
                <a:cubicBezTo>
                  <a:pt x="21552" y="238057"/>
                  <a:pt x="44442" y="239985"/>
                  <a:pt x="64655" y="231900"/>
                </a:cubicBezTo>
                <a:cubicBezTo>
                  <a:pt x="76783" y="227049"/>
                  <a:pt x="81163" y="210911"/>
                  <a:pt x="92364" y="204191"/>
                </a:cubicBezTo>
                <a:cubicBezTo>
                  <a:pt x="240261" y="115452"/>
                  <a:pt x="103925" y="207646"/>
                  <a:pt x="184727" y="167245"/>
                </a:cubicBezTo>
                <a:cubicBezTo>
                  <a:pt x="248511" y="135353"/>
                  <a:pt x="172492" y="158760"/>
                  <a:pt x="249382" y="139536"/>
                </a:cubicBezTo>
                <a:cubicBezTo>
                  <a:pt x="332509" y="148772"/>
                  <a:pt x="415859" y="156191"/>
                  <a:pt x="498764" y="167245"/>
                </a:cubicBezTo>
                <a:cubicBezTo>
                  <a:pt x="508415" y="168532"/>
                  <a:pt x="516737" y="176482"/>
                  <a:pt x="526473" y="176482"/>
                </a:cubicBezTo>
                <a:cubicBezTo>
                  <a:pt x="575830" y="176482"/>
                  <a:pt x="624994" y="170324"/>
                  <a:pt x="674255" y="167245"/>
                </a:cubicBezTo>
                <a:cubicBezTo>
                  <a:pt x="683558" y="165694"/>
                  <a:pt x="762947" y="153076"/>
                  <a:pt x="775855" y="148773"/>
                </a:cubicBezTo>
                <a:cubicBezTo>
                  <a:pt x="902856" y="106440"/>
                  <a:pt x="777988" y="129996"/>
                  <a:pt x="905164" y="111827"/>
                </a:cubicBezTo>
                <a:cubicBezTo>
                  <a:pt x="1048130" y="64171"/>
                  <a:pt x="900474" y="118790"/>
                  <a:pt x="988291" y="74882"/>
                </a:cubicBezTo>
                <a:cubicBezTo>
                  <a:pt x="1009409" y="64323"/>
                  <a:pt x="1041095" y="61680"/>
                  <a:pt x="1062182" y="56409"/>
                </a:cubicBezTo>
                <a:cubicBezTo>
                  <a:pt x="1096843" y="47744"/>
                  <a:pt x="1089824" y="44562"/>
                  <a:pt x="1126836" y="28700"/>
                </a:cubicBezTo>
                <a:cubicBezTo>
                  <a:pt x="1135785" y="24865"/>
                  <a:pt x="1145100" y="21825"/>
                  <a:pt x="1154546" y="19464"/>
                </a:cubicBezTo>
                <a:cubicBezTo>
                  <a:pt x="1169776" y="15656"/>
                  <a:pt x="1185497" y="14035"/>
                  <a:pt x="1200727" y="10227"/>
                </a:cubicBezTo>
                <a:cubicBezTo>
                  <a:pt x="1210172" y="7866"/>
                  <a:pt x="1218740" y="1872"/>
                  <a:pt x="1228436" y="991"/>
                </a:cubicBezTo>
                <a:cubicBezTo>
                  <a:pt x="1252965" y="-1239"/>
                  <a:pt x="1277697" y="991"/>
                  <a:pt x="1302327" y="991"/>
                </a:cubicBezTo>
              </a:path>
            </a:pathLst>
          </a:cu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704186" y="4131886"/>
            <a:ext cx="8230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 smtClean="0"/>
              <a:t> g</a:t>
            </a:r>
            <a:endParaRPr lang="es-CO" dirty="0" smtClean="0"/>
          </a:p>
        </p:txBody>
      </p:sp>
      <p:sp>
        <p:nvSpPr>
          <p:cNvPr id="41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410404" y="4107749"/>
            <a:ext cx="8230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 smtClean="0"/>
              <a:t> h</a:t>
            </a:r>
            <a:endParaRPr lang="es-CO" dirty="0" smtClean="0"/>
          </a:p>
        </p:txBody>
      </p:sp>
      <p:sp>
        <p:nvSpPr>
          <p:cNvPr id="4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8039824" y="3944142"/>
            <a:ext cx="31261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 La idea es minimizar tanto a </a:t>
            </a:r>
            <a:r>
              <a:rPr lang="es-CO" b="1" i="1" dirty="0" smtClean="0"/>
              <a:t>g </a:t>
            </a:r>
            <a:r>
              <a:rPr lang="es-CO" dirty="0" smtClean="0"/>
              <a:t>como a </a:t>
            </a:r>
            <a:r>
              <a:rPr lang="es-CO" b="1" i="1" dirty="0" smtClean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76382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229624" y="1637889"/>
            <a:ext cx="4451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</a:t>
            </a:r>
            <a:r>
              <a:rPr lang="es-CO" sz="2200" b="1" dirty="0" smtClean="0"/>
              <a:t>informada</a:t>
            </a:r>
            <a:endParaRPr lang="es-CO" sz="2200" b="1" dirty="0"/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445953" y="6226805"/>
            <a:ext cx="7270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Problema: </a:t>
            </a:r>
            <a:r>
              <a:rPr lang="es-CO" dirty="0"/>
              <a:t>Encontrar la ruta entre Arad y Bucarest.</a:t>
            </a:r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639394" y="2194418"/>
            <a:ext cx="7270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 smtClean="0"/>
              <a:t>A* </a:t>
            </a:r>
            <a:r>
              <a:rPr lang="es-CO" b="1" dirty="0" err="1" smtClean="0"/>
              <a:t>search</a:t>
            </a:r>
            <a:endParaRPr lang="es-CO" b="1" dirty="0" smtClean="0"/>
          </a:p>
          <a:p>
            <a:r>
              <a:rPr lang="es-CO" b="1" dirty="0"/>
              <a:t>	</a:t>
            </a:r>
            <a:r>
              <a:rPr lang="es-CO" dirty="0" smtClean="0"/>
              <a:t>Minimizar el costo total de la ruta para alcanzar el objetivo</a:t>
            </a:r>
            <a:endParaRPr lang="es-CO" dirty="0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887" y="1864677"/>
            <a:ext cx="1762559" cy="4271096"/>
          </a:xfrm>
          <a:prstGeom prst="rect">
            <a:avLst/>
          </a:prstGeom>
        </p:spPr>
      </p:pic>
      <p:pic>
        <p:nvPicPr>
          <p:cNvPr id="18" name="Content Placeholder 7" descr="A close up of a map&#10;&#10;Description generated with high confidence">
            <a:extLst>
              <a:ext uri="{FF2B5EF4-FFF2-40B4-BE49-F238E27FC236}">
                <a16:creationId xmlns="" xmlns:a16="http://schemas.microsoft.com/office/drawing/2014/main" id="{7E590FDD-AA6E-47CB-9FD3-F73A40DF3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270" y="2959577"/>
            <a:ext cx="5001642" cy="3266378"/>
          </a:xfrm>
        </p:spPr>
      </p:pic>
      <p:sp>
        <p:nvSpPr>
          <p:cNvPr id="19" name="Rectángulo 11">
            <a:extLst>
              <a:ext uri="{FF2B5EF4-FFF2-40B4-BE49-F238E27FC236}">
                <a16:creationId xmlns="" xmlns:a16="http://schemas.microsoft.com/office/drawing/2014/main" id="{AA01F58C-210C-42EA-8802-DE1019CB61EB}"/>
              </a:ext>
            </a:extLst>
          </p:cNvPr>
          <p:cNvSpPr/>
          <p:nvPr/>
        </p:nvSpPr>
        <p:spPr>
          <a:xfrm>
            <a:off x="5077447" y="3708932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20" name="Rectángulo 11">
            <a:extLst>
              <a:ext uri="{FF2B5EF4-FFF2-40B4-BE49-F238E27FC236}">
                <a16:creationId xmlns="" xmlns:a16="http://schemas.microsoft.com/office/drawing/2014/main" id="{6B5224BC-8C8E-4B8B-B0ED-3723C53F6561}"/>
              </a:ext>
            </a:extLst>
          </p:cNvPr>
          <p:cNvSpPr/>
          <p:nvPr/>
        </p:nvSpPr>
        <p:spPr>
          <a:xfrm>
            <a:off x="5285831" y="317374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71</a:t>
            </a:r>
          </a:p>
        </p:txBody>
      </p:sp>
      <p:sp>
        <p:nvSpPr>
          <p:cNvPr id="21" name="Rectángulo 11">
            <a:extLst>
              <a:ext uri="{FF2B5EF4-FFF2-40B4-BE49-F238E27FC236}">
                <a16:creationId xmlns="" xmlns:a16="http://schemas.microsoft.com/office/drawing/2014/main" id="{DE0D364D-2FC0-45D0-B0B3-17FFB87657B7}"/>
              </a:ext>
            </a:extLst>
          </p:cNvPr>
          <p:cNvSpPr/>
          <p:nvPr/>
        </p:nvSpPr>
        <p:spPr>
          <a:xfrm>
            <a:off x="5523507" y="415525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140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="" xmlns:a16="http://schemas.microsoft.com/office/drawing/2014/main" id="{2E6AE2A9-2E71-41A9-AEC1-0BCF240A92C4}"/>
              </a:ext>
            </a:extLst>
          </p:cNvPr>
          <p:cNvSpPr/>
          <p:nvPr/>
        </p:nvSpPr>
        <p:spPr>
          <a:xfrm>
            <a:off x="5898299" y="363125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151</a:t>
            </a:r>
          </a:p>
        </p:txBody>
      </p:sp>
      <p:sp>
        <p:nvSpPr>
          <p:cNvPr id="23" name="Rectángulo 11">
            <a:extLst>
              <a:ext uri="{FF2B5EF4-FFF2-40B4-BE49-F238E27FC236}">
                <a16:creationId xmlns="" xmlns:a16="http://schemas.microsoft.com/office/drawing/2014/main" id="{7234AE3B-DBCB-459C-9012-6F178A8EB15F}"/>
              </a:ext>
            </a:extLst>
          </p:cNvPr>
          <p:cNvSpPr/>
          <p:nvPr/>
        </p:nvSpPr>
        <p:spPr>
          <a:xfrm>
            <a:off x="4985601" y="423292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118</a:t>
            </a:r>
          </a:p>
        </p:txBody>
      </p:sp>
      <p:sp>
        <p:nvSpPr>
          <p:cNvPr id="24" name="Rectángulo 11">
            <a:extLst>
              <a:ext uri="{FF2B5EF4-FFF2-40B4-BE49-F238E27FC236}">
                <a16:creationId xmlns="" xmlns:a16="http://schemas.microsoft.com/office/drawing/2014/main" id="{8F714A0D-A263-47B4-837D-7935C3135555}"/>
              </a:ext>
            </a:extLst>
          </p:cNvPr>
          <p:cNvSpPr/>
          <p:nvPr/>
        </p:nvSpPr>
        <p:spPr>
          <a:xfrm>
            <a:off x="5898298" y="595725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120</a:t>
            </a:r>
          </a:p>
        </p:txBody>
      </p:sp>
      <p:sp>
        <p:nvSpPr>
          <p:cNvPr id="25" name="Rectángulo 11">
            <a:extLst>
              <a:ext uri="{FF2B5EF4-FFF2-40B4-BE49-F238E27FC236}">
                <a16:creationId xmlns="" xmlns:a16="http://schemas.microsoft.com/office/drawing/2014/main" id="{3BFB4984-6A7C-4EAA-AACE-14ADE2D72A4D}"/>
              </a:ext>
            </a:extLst>
          </p:cNvPr>
          <p:cNvSpPr/>
          <p:nvPr/>
        </p:nvSpPr>
        <p:spPr>
          <a:xfrm>
            <a:off x="5195209" y="4790107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111</a:t>
            </a:r>
          </a:p>
        </p:txBody>
      </p:sp>
      <p:sp>
        <p:nvSpPr>
          <p:cNvPr id="26" name="Rectángulo 11">
            <a:extLst>
              <a:ext uri="{FF2B5EF4-FFF2-40B4-BE49-F238E27FC236}">
                <a16:creationId xmlns="" xmlns:a16="http://schemas.microsoft.com/office/drawing/2014/main" id="{D0AE4880-98EC-4410-AE2C-903AB1C6F0B1}"/>
              </a:ext>
            </a:extLst>
          </p:cNvPr>
          <p:cNvSpPr/>
          <p:nvPr/>
        </p:nvSpPr>
        <p:spPr>
          <a:xfrm>
            <a:off x="5428304" y="5108587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70</a:t>
            </a:r>
          </a:p>
        </p:txBody>
      </p:sp>
      <p:sp>
        <p:nvSpPr>
          <p:cNvPr id="27" name="Rectángulo 11">
            <a:extLst>
              <a:ext uri="{FF2B5EF4-FFF2-40B4-BE49-F238E27FC236}">
                <a16:creationId xmlns="" xmlns:a16="http://schemas.microsoft.com/office/drawing/2014/main" id="{390C51DC-496D-4D61-96F4-94E4D24A1F60}"/>
              </a:ext>
            </a:extLst>
          </p:cNvPr>
          <p:cNvSpPr/>
          <p:nvPr/>
        </p:nvSpPr>
        <p:spPr>
          <a:xfrm>
            <a:off x="5517519" y="549408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75</a:t>
            </a:r>
          </a:p>
        </p:txBody>
      </p:sp>
      <p:sp>
        <p:nvSpPr>
          <p:cNvPr id="28" name="Rectángulo 11">
            <a:extLst>
              <a:ext uri="{FF2B5EF4-FFF2-40B4-BE49-F238E27FC236}">
                <a16:creationId xmlns="" xmlns:a16="http://schemas.microsoft.com/office/drawing/2014/main" id="{25453A23-D4C7-41C3-88EF-5A09EFD9AA14}"/>
              </a:ext>
            </a:extLst>
          </p:cNvPr>
          <p:cNvSpPr/>
          <p:nvPr/>
        </p:nvSpPr>
        <p:spPr>
          <a:xfrm>
            <a:off x="7979239" y="494394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85</a:t>
            </a:r>
          </a:p>
        </p:txBody>
      </p:sp>
      <p:sp>
        <p:nvSpPr>
          <p:cNvPr id="29" name="Rectángulo 11">
            <a:extLst>
              <a:ext uri="{FF2B5EF4-FFF2-40B4-BE49-F238E27FC236}">
                <a16:creationId xmlns="" xmlns:a16="http://schemas.microsoft.com/office/drawing/2014/main" id="{432A7858-EB35-419C-9099-AFCABCDE0551}"/>
              </a:ext>
            </a:extLst>
          </p:cNvPr>
          <p:cNvSpPr/>
          <p:nvPr/>
        </p:nvSpPr>
        <p:spPr>
          <a:xfrm>
            <a:off x="7223205" y="5259718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101</a:t>
            </a:r>
          </a:p>
        </p:txBody>
      </p:sp>
      <p:sp>
        <p:nvSpPr>
          <p:cNvPr id="30" name="Rectángulo 11">
            <a:extLst>
              <a:ext uri="{FF2B5EF4-FFF2-40B4-BE49-F238E27FC236}">
                <a16:creationId xmlns="" xmlns:a16="http://schemas.microsoft.com/office/drawing/2014/main" id="{64AE6A55-1804-47F0-BCA3-71CA88528CCA}"/>
              </a:ext>
            </a:extLst>
          </p:cNvPr>
          <p:cNvSpPr/>
          <p:nvPr/>
        </p:nvSpPr>
        <p:spPr>
          <a:xfrm>
            <a:off x="6457508" y="397311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99</a:t>
            </a:r>
          </a:p>
        </p:txBody>
      </p:sp>
      <p:sp>
        <p:nvSpPr>
          <p:cNvPr id="31" name="Rectángulo 11">
            <a:extLst>
              <a:ext uri="{FF2B5EF4-FFF2-40B4-BE49-F238E27FC236}">
                <a16:creationId xmlns="" xmlns:a16="http://schemas.microsoft.com/office/drawing/2014/main" id="{7528A32E-46CD-4487-AEB1-80B940423639}"/>
              </a:ext>
            </a:extLst>
          </p:cNvPr>
          <p:cNvSpPr/>
          <p:nvPr/>
        </p:nvSpPr>
        <p:spPr>
          <a:xfrm>
            <a:off x="7392341" y="5592653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90</a:t>
            </a:r>
          </a:p>
        </p:txBody>
      </p:sp>
      <p:sp>
        <p:nvSpPr>
          <p:cNvPr id="43" name="Rectángulo 11">
            <a:extLst>
              <a:ext uri="{FF2B5EF4-FFF2-40B4-BE49-F238E27FC236}">
                <a16:creationId xmlns="" xmlns:a16="http://schemas.microsoft.com/office/drawing/2014/main" id="{84D1D623-FBCF-464C-8B09-0CC233F085D3}"/>
              </a:ext>
            </a:extLst>
          </p:cNvPr>
          <p:cNvSpPr/>
          <p:nvPr/>
        </p:nvSpPr>
        <p:spPr>
          <a:xfrm>
            <a:off x="7572637" y="444455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211</a:t>
            </a:r>
          </a:p>
        </p:txBody>
      </p:sp>
      <p:sp>
        <p:nvSpPr>
          <p:cNvPr id="44" name="Rectángulo 11">
            <a:extLst>
              <a:ext uri="{FF2B5EF4-FFF2-40B4-BE49-F238E27FC236}">
                <a16:creationId xmlns="" xmlns:a16="http://schemas.microsoft.com/office/drawing/2014/main" id="{0A2A69B1-E363-40AC-90F5-7A15A69C9E05}"/>
              </a:ext>
            </a:extLst>
          </p:cNvPr>
          <p:cNvSpPr/>
          <p:nvPr/>
        </p:nvSpPr>
        <p:spPr>
          <a:xfrm>
            <a:off x="6746917" y="5469987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138</a:t>
            </a:r>
          </a:p>
        </p:txBody>
      </p:sp>
      <p:sp>
        <p:nvSpPr>
          <p:cNvPr id="45" name="Rectángulo 11">
            <a:extLst>
              <a:ext uri="{FF2B5EF4-FFF2-40B4-BE49-F238E27FC236}">
                <a16:creationId xmlns="" xmlns:a16="http://schemas.microsoft.com/office/drawing/2014/main" id="{AA3D515E-CC9D-4A5B-9BCF-E15A03916B17}"/>
              </a:ext>
            </a:extLst>
          </p:cNvPr>
          <p:cNvSpPr/>
          <p:nvPr/>
        </p:nvSpPr>
        <p:spPr>
          <a:xfrm>
            <a:off x="6291762" y="5355584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146</a:t>
            </a:r>
          </a:p>
        </p:txBody>
      </p:sp>
      <p:sp>
        <p:nvSpPr>
          <p:cNvPr id="46" name="Rectángulo 11">
            <a:extLst>
              <a:ext uri="{FF2B5EF4-FFF2-40B4-BE49-F238E27FC236}">
                <a16:creationId xmlns="" xmlns:a16="http://schemas.microsoft.com/office/drawing/2014/main" id="{9EFB9B84-7A40-42AC-97A5-FE36374F7714}"/>
              </a:ext>
            </a:extLst>
          </p:cNvPr>
          <p:cNvSpPr/>
          <p:nvPr/>
        </p:nvSpPr>
        <p:spPr>
          <a:xfrm>
            <a:off x="6457508" y="4905168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97</a:t>
            </a:r>
          </a:p>
        </p:txBody>
      </p:sp>
      <p:sp>
        <p:nvSpPr>
          <p:cNvPr id="47" name="Rectángulo 11">
            <a:extLst>
              <a:ext uri="{FF2B5EF4-FFF2-40B4-BE49-F238E27FC236}">
                <a16:creationId xmlns="" xmlns:a16="http://schemas.microsoft.com/office/drawing/2014/main" id="{30AF8D42-5A6E-4FE6-B485-99B44269F11C}"/>
              </a:ext>
            </a:extLst>
          </p:cNvPr>
          <p:cNvSpPr/>
          <p:nvPr/>
        </p:nvSpPr>
        <p:spPr>
          <a:xfrm>
            <a:off x="5978887" y="428630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80</a:t>
            </a:r>
          </a:p>
        </p:txBody>
      </p:sp>
      <p:sp>
        <p:nvSpPr>
          <p:cNvPr id="48" name="Rectángulo 11">
            <a:extLst>
              <a:ext uri="{FF2B5EF4-FFF2-40B4-BE49-F238E27FC236}">
                <a16:creationId xmlns="" xmlns:a16="http://schemas.microsoft.com/office/drawing/2014/main" id="{7A3AA04B-F1EA-4747-8CFC-6A4A46559B82}"/>
              </a:ext>
            </a:extLst>
          </p:cNvPr>
          <p:cNvSpPr/>
          <p:nvPr/>
        </p:nvSpPr>
        <p:spPr>
          <a:xfrm>
            <a:off x="9359845" y="4432255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142</a:t>
            </a:r>
          </a:p>
        </p:txBody>
      </p:sp>
      <p:sp>
        <p:nvSpPr>
          <p:cNvPr id="49" name="Rectángulo 11">
            <a:extLst>
              <a:ext uri="{FF2B5EF4-FFF2-40B4-BE49-F238E27FC236}">
                <a16:creationId xmlns="" xmlns:a16="http://schemas.microsoft.com/office/drawing/2014/main" id="{CACB2EC2-E7AC-4FDC-9A1B-F71ECACA6D9B}"/>
              </a:ext>
            </a:extLst>
          </p:cNvPr>
          <p:cNvSpPr/>
          <p:nvPr/>
        </p:nvSpPr>
        <p:spPr>
          <a:xfrm>
            <a:off x="9292984" y="5189817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86</a:t>
            </a:r>
          </a:p>
        </p:txBody>
      </p:sp>
      <p:sp>
        <p:nvSpPr>
          <p:cNvPr id="50" name="Rectángulo 11">
            <a:extLst>
              <a:ext uri="{FF2B5EF4-FFF2-40B4-BE49-F238E27FC236}">
                <a16:creationId xmlns="" xmlns:a16="http://schemas.microsoft.com/office/drawing/2014/main" id="{42F609C1-2BD3-40F2-A9CC-2A0186364662}"/>
              </a:ext>
            </a:extLst>
          </p:cNvPr>
          <p:cNvSpPr/>
          <p:nvPr/>
        </p:nvSpPr>
        <p:spPr>
          <a:xfrm>
            <a:off x="9176668" y="3534616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92</a:t>
            </a:r>
          </a:p>
        </p:txBody>
      </p:sp>
      <p:sp>
        <p:nvSpPr>
          <p:cNvPr id="51" name="Rectángulo 11">
            <a:extLst>
              <a:ext uri="{FF2B5EF4-FFF2-40B4-BE49-F238E27FC236}">
                <a16:creationId xmlns="" xmlns:a16="http://schemas.microsoft.com/office/drawing/2014/main" id="{F64C5CFB-E5AE-420C-83E6-393D00AA5D83}"/>
              </a:ext>
            </a:extLst>
          </p:cNvPr>
          <p:cNvSpPr/>
          <p:nvPr/>
        </p:nvSpPr>
        <p:spPr>
          <a:xfrm>
            <a:off x="8332330" y="333192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87</a:t>
            </a:r>
          </a:p>
        </p:txBody>
      </p:sp>
      <p:sp>
        <p:nvSpPr>
          <p:cNvPr id="52" name="Rectángulo 11">
            <a:extLst>
              <a:ext uri="{FF2B5EF4-FFF2-40B4-BE49-F238E27FC236}">
                <a16:creationId xmlns="" xmlns:a16="http://schemas.microsoft.com/office/drawing/2014/main" id="{80D3CBD1-F233-44AF-B2F6-DFF6D8BB70B8}"/>
              </a:ext>
            </a:extLst>
          </p:cNvPr>
          <p:cNvSpPr/>
          <p:nvPr/>
        </p:nvSpPr>
        <p:spPr>
          <a:xfrm>
            <a:off x="8729588" y="4958039"/>
            <a:ext cx="9399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98</a:t>
            </a:r>
          </a:p>
        </p:txBody>
      </p:sp>
      <p:sp>
        <p:nvSpPr>
          <p:cNvPr id="53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6568308" y="876486"/>
            <a:ext cx="41112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En este ejemplo, </a:t>
            </a:r>
            <a:r>
              <a:rPr lang="es-CO" b="1" i="1" dirty="0" smtClean="0"/>
              <a:t>h</a:t>
            </a:r>
            <a:r>
              <a:rPr lang="es-CO" dirty="0" smtClean="0"/>
              <a:t> es la distancia en línea recta entre una ciudad cualquiera y la ciudad objetivo.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69457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229624" y="1637889"/>
            <a:ext cx="44514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Estrategias de búsqueda </a:t>
            </a:r>
            <a:r>
              <a:rPr lang="es-CO" sz="2200" b="1" dirty="0" smtClean="0"/>
              <a:t>informada</a:t>
            </a:r>
            <a:endParaRPr lang="es-CO" sz="2200" b="1" dirty="0"/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639394" y="2194418"/>
            <a:ext cx="727046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 smtClean="0"/>
              <a:t>A* </a:t>
            </a:r>
            <a:r>
              <a:rPr lang="es-CO" b="1" dirty="0" err="1" smtClean="0"/>
              <a:t>search</a:t>
            </a:r>
            <a:endParaRPr lang="es-CO" b="1" dirty="0" smtClean="0"/>
          </a:p>
          <a:p>
            <a:r>
              <a:rPr lang="es-CO" b="1" dirty="0"/>
              <a:t>	</a:t>
            </a:r>
            <a:r>
              <a:rPr lang="es-CO" dirty="0" smtClean="0"/>
              <a:t>Minimizar el costo total de la ruta para alcanzar el objetivo</a:t>
            </a:r>
          </a:p>
          <a:p>
            <a:r>
              <a:rPr lang="es-CO" dirty="0"/>
              <a:t>	</a:t>
            </a:r>
            <a:endParaRPr lang="es-CO" dirty="0" smtClean="0"/>
          </a:p>
          <a:p>
            <a:r>
              <a:rPr lang="es-CO" dirty="0"/>
              <a:t>	</a:t>
            </a:r>
            <a:r>
              <a:rPr lang="es-CO" dirty="0" smtClean="0"/>
              <a:t>Esta estrategia encuentra el la solución más óptima si:</a:t>
            </a:r>
          </a:p>
          <a:p>
            <a:r>
              <a:rPr lang="es-CO" dirty="0" smtClean="0"/>
              <a:t>	- h(e) &lt; verdadero costo</a:t>
            </a:r>
          </a:p>
          <a:p>
            <a:r>
              <a:rPr lang="es-CO" dirty="0"/>
              <a:t>	- h(e) </a:t>
            </a:r>
            <a:r>
              <a:rPr lang="es-CO" dirty="0" smtClean="0"/>
              <a:t>&gt; 0</a:t>
            </a:r>
            <a:endParaRPr lang="es-CO" dirty="0"/>
          </a:p>
          <a:p>
            <a:r>
              <a:rPr lang="es-CO" dirty="0"/>
              <a:t>	</a:t>
            </a:r>
            <a:r>
              <a:rPr lang="es-CO" dirty="0" smtClean="0"/>
              <a:t>- </a:t>
            </a:r>
            <a:r>
              <a:rPr lang="es-CO" b="1" i="1" dirty="0" smtClean="0"/>
              <a:t>h</a:t>
            </a:r>
            <a:r>
              <a:rPr lang="es-CO" dirty="0" smtClean="0"/>
              <a:t> nunca sobrestime el costo</a:t>
            </a:r>
          </a:p>
          <a:p>
            <a:r>
              <a:rPr lang="es-CO" dirty="0"/>
              <a:t>	</a:t>
            </a:r>
            <a:r>
              <a:rPr lang="es-CO" dirty="0" smtClean="0"/>
              <a:t>- </a:t>
            </a:r>
            <a:r>
              <a:rPr lang="es-CO" b="1" i="1" dirty="0"/>
              <a:t>h</a:t>
            </a:r>
            <a:r>
              <a:rPr lang="es-CO" dirty="0"/>
              <a:t> </a:t>
            </a:r>
            <a:r>
              <a:rPr lang="es-CO" dirty="0" smtClean="0"/>
              <a:t>optimista</a:t>
            </a:r>
            <a:endParaRPr lang="es-CO" dirty="0"/>
          </a:p>
          <a:p>
            <a:r>
              <a:rPr lang="es-CO" dirty="0"/>
              <a:t>	- </a:t>
            </a:r>
            <a:r>
              <a:rPr lang="es-CO" b="1" i="1" dirty="0"/>
              <a:t>h</a:t>
            </a:r>
            <a:r>
              <a:rPr lang="es-CO" dirty="0"/>
              <a:t> </a:t>
            </a:r>
            <a:r>
              <a:rPr lang="es-CO" dirty="0" smtClean="0"/>
              <a:t>admisible</a:t>
            </a:r>
            <a:endParaRPr lang="es-CO" dirty="0"/>
          </a:p>
          <a:p>
            <a:endParaRPr lang="es-CO" dirty="0" smtClean="0"/>
          </a:p>
        </p:txBody>
      </p:sp>
    </p:spTree>
    <p:extLst>
      <p:ext uri="{BB962C8B-B14F-4D97-AF65-F5344CB8AC3E}">
        <p14:creationId xmlns:p14="http://schemas.microsoft.com/office/powerpoint/2010/main" val="396504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37451" y="1637889"/>
            <a:ext cx="32357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Búsqueda con adversarios</a:t>
            </a:r>
            <a:endParaRPr lang="es-CO" sz="2200" b="1" dirty="0"/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267466" y="2212891"/>
            <a:ext cx="90218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Teoría de juegos: Juegos como problemas de búsqueda</a:t>
            </a:r>
            <a:endParaRPr lang="es-CO" dirty="0"/>
          </a:p>
          <a:p>
            <a:endParaRPr lang="es-CO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702" y="3424566"/>
            <a:ext cx="3848100" cy="2012399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4203572" y="5356645"/>
            <a:ext cx="59387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>
                <a:solidFill>
                  <a:srgbClr val="FF0000"/>
                </a:solidFill>
              </a:rPr>
              <a:t>En este juego, el oponente introduce incertidumbre</a:t>
            </a:r>
          </a:p>
        </p:txBody>
      </p:sp>
      <p:sp>
        <p:nvSpPr>
          <p:cNvPr id="7" name="Rectángulo 6"/>
          <p:cNvSpPr/>
          <p:nvPr/>
        </p:nvSpPr>
        <p:spPr>
          <a:xfrm>
            <a:off x="5778387" y="3553935"/>
            <a:ext cx="59387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Completamente observable</a:t>
            </a:r>
          </a:p>
        </p:txBody>
      </p:sp>
      <p:sp>
        <p:nvSpPr>
          <p:cNvPr id="8" name="Rectángulo 7"/>
          <p:cNvSpPr/>
          <p:nvPr/>
        </p:nvSpPr>
        <p:spPr>
          <a:xfrm>
            <a:off x="5778387" y="4021274"/>
            <a:ext cx="59387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Determinístico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2005333" y="6033672"/>
            <a:ext cx="76004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Lo que realmente caracteriza a los juegos, es que son </a:t>
            </a:r>
            <a:r>
              <a:rPr lang="es-CO" b="1" i="1" dirty="0" smtClean="0"/>
              <a:t>difíciles</a:t>
            </a:r>
            <a:r>
              <a:rPr lang="es-CO" dirty="0" smtClean="0"/>
              <a:t> de resolver!</a:t>
            </a:r>
          </a:p>
        </p:txBody>
      </p:sp>
    </p:spTree>
    <p:extLst>
      <p:ext uri="{BB962C8B-B14F-4D97-AF65-F5344CB8AC3E}">
        <p14:creationId xmlns:p14="http://schemas.microsoft.com/office/powerpoint/2010/main" val="252939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37451" y="1637889"/>
            <a:ext cx="32357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Búsqueda con adversarios</a:t>
            </a:r>
            <a:endParaRPr lang="es-CO" sz="2200" b="1" dirty="0"/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267466" y="2212891"/>
            <a:ext cx="90218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Teoría de juegos: Juegos como problemas de búsqueda</a:t>
            </a:r>
            <a:endParaRPr lang="es-CO" dirty="0"/>
          </a:p>
          <a:p>
            <a:endParaRPr lang="es-CO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702" y="3369150"/>
            <a:ext cx="3848100" cy="2012399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4443733" y="5078979"/>
            <a:ext cx="760048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La incertidumbre propia de los juegos tiene que ver con el oponente: No se puede predecir completamente las consecuencias de los actos en un momento dado. </a:t>
            </a:r>
            <a:r>
              <a:rPr lang="es-CO" b="1" dirty="0" smtClean="0"/>
              <a:t>Son problemas más cercanos a la realidad!</a:t>
            </a:r>
          </a:p>
          <a:p>
            <a:endParaRPr lang="es-CO" b="1" dirty="0"/>
          </a:p>
          <a:p>
            <a:r>
              <a:rPr lang="es-CO" dirty="0" smtClean="0"/>
              <a:t>Requieren un buen uso del tiempo para tomar decisiones.</a:t>
            </a:r>
          </a:p>
        </p:txBody>
      </p:sp>
    </p:spTree>
    <p:extLst>
      <p:ext uri="{BB962C8B-B14F-4D97-AF65-F5344CB8AC3E}">
        <p14:creationId xmlns:p14="http://schemas.microsoft.com/office/powerpoint/2010/main" val="2141945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37451" y="1637889"/>
            <a:ext cx="32357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Búsqueda con adversarios</a:t>
            </a:r>
            <a:endParaRPr lang="es-CO" sz="2200" b="1" dirty="0"/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267466" y="2212891"/>
            <a:ext cx="90218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Juego de </a:t>
            </a:r>
            <a:r>
              <a:rPr lang="es-CO" b="1" i="1" dirty="0" err="1" smtClean="0"/>
              <a:t>triqui</a:t>
            </a:r>
            <a:endParaRPr lang="es-CO" b="1" i="1" dirty="0"/>
          </a:p>
          <a:p>
            <a:endParaRPr lang="es-CO" dirty="0" smtClean="0"/>
          </a:p>
        </p:txBody>
      </p:sp>
      <p:pic>
        <p:nvPicPr>
          <p:cNvPr id="1026" name="Picture 2" descr="Game tree of Tic-Tac-Toe with the possible combinations of the first two moves Â 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266" y="2859222"/>
            <a:ext cx="57150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8280377" y="4420617"/>
            <a:ext cx="287463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Jugador A </a:t>
            </a:r>
            <a:r>
              <a:rPr lang="es-CO" dirty="0" smtClean="0">
                <a:sym typeface="Wingdings" panose="05000000000000000000" pitchFamily="2" charset="2"/>
              </a:rPr>
              <a:t> Debe emplear el árbol de búsqueda para llegar al estado terminal </a:t>
            </a:r>
            <a:r>
              <a:rPr lang="es-CO" b="1" dirty="0" smtClean="0">
                <a:sym typeface="Wingdings" panose="05000000000000000000" pitchFamily="2" charset="2"/>
              </a:rPr>
              <a:t>“ganando”.</a:t>
            </a:r>
          </a:p>
          <a:p>
            <a:endParaRPr lang="es-CO" b="1" dirty="0" smtClean="0"/>
          </a:p>
          <a:p>
            <a:r>
              <a:rPr lang="es-CO" dirty="0" smtClean="0"/>
              <a:t>Jugador B </a:t>
            </a:r>
            <a:r>
              <a:rPr lang="es-CO" dirty="0" smtClean="0">
                <a:sym typeface="Wingdings" panose="05000000000000000000" pitchFamily="2" charset="2"/>
              </a:rPr>
              <a:t> Pone las ‘o’</a:t>
            </a:r>
            <a:endParaRPr lang="es-CO" dirty="0"/>
          </a:p>
        </p:txBody>
      </p:sp>
      <p:sp>
        <p:nvSpPr>
          <p:cNvPr id="10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7372155" y="1935891"/>
            <a:ext cx="287463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/>
              <a:t>Definiciones:</a:t>
            </a:r>
          </a:p>
          <a:p>
            <a:r>
              <a:rPr lang="es-CO" i="1" dirty="0" smtClean="0"/>
              <a:t>Estado Inicial</a:t>
            </a:r>
          </a:p>
          <a:p>
            <a:r>
              <a:rPr lang="es-CO" i="1" dirty="0" smtClean="0"/>
              <a:t>Conjunto de operadores</a:t>
            </a:r>
          </a:p>
          <a:p>
            <a:r>
              <a:rPr lang="es-CO" i="1" dirty="0" smtClean="0"/>
              <a:t>Prueba terminal</a:t>
            </a:r>
          </a:p>
          <a:p>
            <a:r>
              <a:rPr lang="es-CO" i="1" dirty="0" smtClean="0"/>
              <a:t>Función de utilidad</a:t>
            </a:r>
            <a:endParaRPr lang="es-CO" i="1" dirty="0"/>
          </a:p>
        </p:txBody>
      </p:sp>
    </p:spTree>
    <p:extLst>
      <p:ext uri="{BB962C8B-B14F-4D97-AF65-F5344CB8AC3E}">
        <p14:creationId xmlns:p14="http://schemas.microsoft.com/office/powerpoint/2010/main" val="289307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37451" y="1637889"/>
            <a:ext cx="32357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Búsqueda con adversarios</a:t>
            </a:r>
            <a:endParaRPr lang="es-CO" sz="2200" b="1" dirty="0"/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267466" y="2212891"/>
            <a:ext cx="90218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Algoritmo </a:t>
            </a:r>
            <a:r>
              <a:rPr lang="es-CO" b="1" i="1" dirty="0" err="1" smtClean="0"/>
              <a:t>minimax</a:t>
            </a:r>
            <a:r>
              <a:rPr lang="es-CO" b="1" i="1" dirty="0" smtClean="0"/>
              <a:t>: </a:t>
            </a:r>
            <a:r>
              <a:rPr lang="es-CO" dirty="0" smtClean="0"/>
              <a:t>Empleemos un juego más simple para su descripción.</a:t>
            </a:r>
            <a:endParaRPr lang="es-CO" dirty="0"/>
          </a:p>
          <a:p>
            <a:endParaRPr lang="es-CO" dirty="0" smtClean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951" y="3074489"/>
            <a:ext cx="6011585" cy="1982854"/>
          </a:xfrm>
          <a:prstGeom prst="rect">
            <a:avLst/>
          </a:prstGeom>
        </p:spPr>
      </p:pic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651860" y="5057343"/>
            <a:ext cx="72704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i="1" dirty="0" smtClean="0"/>
              <a:t>Tomado de “Artificial </a:t>
            </a:r>
            <a:r>
              <a:rPr lang="es-CO" sz="1200" i="1" dirty="0" err="1" smtClean="0"/>
              <a:t>Intelligence</a:t>
            </a:r>
            <a:r>
              <a:rPr lang="es-CO" sz="1200" i="1" dirty="0" smtClean="0"/>
              <a:t>: A </a:t>
            </a:r>
            <a:r>
              <a:rPr lang="es-CO" sz="1200" i="1" dirty="0" err="1" smtClean="0"/>
              <a:t>modern</a:t>
            </a:r>
            <a:r>
              <a:rPr lang="es-CO" sz="1200" i="1" dirty="0" smtClean="0"/>
              <a:t> </a:t>
            </a:r>
            <a:r>
              <a:rPr lang="es-CO" sz="1200" i="1" dirty="0" err="1" smtClean="0"/>
              <a:t>approach</a:t>
            </a:r>
            <a:r>
              <a:rPr lang="es-CO" sz="1200" i="1" dirty="0" smtClean="0"/>
              <a:t>”, S.J. Russell and P. </a:t>
            </a:r>
            <a:r>
              <a:rPr lang="es-CO" sz="1200" i="1" dirty="0" err="1" smtClean="0"/>
              <a:t>Norvig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53594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37451" y="1637889"/>
            <a:ext cx="32357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Búsqueda con adversarios</a:t>
            </a:r>
            <a:endParaRPr lang="es-CO" sz="2200" b="1" dirty="0"/>
          </a:p>
        </p:txBody>
      </p:sp>
      <p:sp>
        <p:nvSpPr>
          <p:cNvPr id="32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267466" y="2212891"/>
            <a:ext cx="90218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Algoritmo </a:t>
            </a:r>
            <a:r>
              <a:rPr lang="es-CO" b="1" i="1" dirty="0" err="1" smtClean="0"/>
              <a:t>minimax</a:t>
            </a:r>
            <a:endParaRPr lang="es-CO" dirty="0" smtClean="0"/>
          </a:p>
        </p:txBody>
      </p:sp>
      <p:sp>
        <p:nvSpPr>
          <p:cNvPr id="8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267466" y="2859222"/>
            <a:ext cx="902184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El algoritmo consiste de 5 pasos:</a:t>
            </a:r>
          </a:p>
          <a:p>
            <a:endParaRPr lang="es-CO" dirty="0"/>
          </a:p>
          <a:p>
            <a:pPr marL="342900" indent="-342900">
              <a:buAutoNum type="arabicPeriod"/>
            </a:pPr>
            <a:r>
              <a:rPr lang="es-CO" dirty="0" smtClean="0"/>
              <a:t>Generar todo el árbol de estados</a:t>
            </a:r>
          </a:p>
          <a:p>
            <a:pPr marL="342900" indent="-342900">
              <a:buAutoNum type="arabicPeriod"/>
            </a:pPr>
            <a:r>
              <a:rPr lang="es-CO" dirty="0" smtClean="0"/>
              <a:t>Aplicar la función de utilidad para cada estado terminal para obtener su valor.</a:t>
            </a:r>
          </a:p>
          <a:p>
            <a:pPr marL="342900" indent="-342900">
              <a:buAutoNum type="arabicPeriod"/>
            </a:pPr>
            <a:r>
              <a:rPr lang="es-CO" dirty="0" smtClean="0"/>
              <a:t>Use la utilidad de los estados terminales para determinar la utilidad de los estados un nivel superior.</a:t>
            </a:r>
          </a:p>
          <a:p>
            <a:pPr marL="342900" indent="-342900">
              <a:buAutoNum type="arabicPeriod"/>
            </a:pPr>
            <a:r>
              <a:rPr lang="es-CO" dirty="0" smtClean="0"/>
              <a:t>Aplique el paso 3 en los niveles superiores.</a:t>
            </a:r>
          </a:p>
          <a:p>
            <a:pPr marL="342900" indent="-342900">
              <a:buAutoNum type="arabicPeriod"/>
            </a:pPr>
            <a:r>
              <a:rPr lang="es-CO" dirty="0" smtClean="0"/>
              <a:t>Cuando llegue a la parte superior del árbol, el jugador A ejecuta la acción que le va a dar la mayor utilidad final.</a:t>
            </a:r>
          </a:p>
          <a:p>
            <a:pPr marL="342900" indent="-342900">
              <a:buAutoNum type="arabicPeriod"/>
            </a:pPr>
            <a:endParaRPr lang="es-CO" dirty="0"/>
          </a:p>
          <a:p>
            <a:endParaRPr lang="es-CO" dirty="0" smtClean="0"/>
          </a:p>
        </p:txBody>
      </p:sp>
    </p:spTree>
    <p:extLst>
      <p:ext uri="{BB962C8B-B14F-4D97-AF65-F5344CB8AC3E}">
        <p14:creationId xmlns:p14="http://schemas.microsoft.com/office/powerpoint/2010/main" val="1613668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670" y="2825180"/>
            <a:ext cx="7327787" cy="3424366"/>
          </a:xfrm>
          <a:prstGeom prst="rect">
            <a:avLst/>
          </a:prstGeom>
        </p:spPr>
      </p:pic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37451" y="1637889"/>
            <a:ext cx="32357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Búsqueda con adversarios</a:t>
            </a:r>
            <a:endParaRPr lang="es-CO" sz="2200" b="1" dirty="0"/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267466" y="2212891"/>
            <a:ext cx="90218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Algoritmo </a:t>
            </a:r>
            <a:r>
              <a:rPr lang="es-CO" b="1" i="1" dirty="0" err="1" smtClean="0"/>
              <a:t>minimax</a:t>
            </a:r>
            <a:r>
              <a:rPr lang="es-CO" b="1" i="1" dirty="0" smtClean="0"/>
              <a:t>: </a:t>
            </a:r>
            <a:r>
              <a:rPr lang="es-CO" dirty="0" smtClean="0"/>
              <a:t>pseudocódigo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3859351" y="6249546"/>
            <a:ext cx="72704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i="1" dirty="0" smtClean="0"/>
              <a:t>Tomado de “Artificial </a:t>
            </a:r>
            <a:r>
              <a:rPr lang="es-CO" sz="1200" i="1" dirty="0" err="1" smtClean="0"/>
              <a:t>Intelligence</a:t>
            </a:r>
            <a:r>
              <a:rPr lang="es-CO" sz="1200" i="1" dirty="0" smtClean="0"/>
              <a:t>: A </a:t>
            </a:r>
            <a:r>
              <a:rPr lang="es-CO" sz="1200" i="1" dirty="0" err="1" smtClean="0"/>
              <a:t>modern</a:t>
            </a:r>
            <a:r>
              <a:rPr lang="es-CO" sz="1200" i="1" dirty="0" smtClean="0"/>
              <a:t> </a:t>
            </a:r>
            <a:r>
              <a:rPr lang="es-CO" sz="1200" i="1" dirty="0" err="1" smtClean="0"/>
              <a:t>approach</a:t>
            </a:r>
            <a:r>
              <a:rPr lang="es-CO" sz="1200" i="1" dirty="0" smtClean="0"/>
              <a:t>”, S.J. Russell and P. </a:t>
            </a:r>
            <a:r>
              <a:rPr lang="es-CO" sz="1200" i="1" dirty="0" err="1" smtClean="0"/>
              <a:t>Norvig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67492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37451" y="1637889"/>
            <a:ext cx="32357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Búsqueda con adversarios</a:t>
            </a:r>
            <a:endParaRPr lang="es-CO" sz="2200" b="1" dirty="0"/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267466" y="2212891"/>
            <a:ext cx="902184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La implementación del </a:t>
            </a:r>
            <a:r>
              <a:rPr lang="es-CO" b="1" i="1" dirty="0" err="1" smtClean="0"/>
              <a:t>minimax</a:t>
            </a:r>
            <a:r>
              <a:rPr lang="es-CO" dirty="0" smtClean="0"/>
              <a:t> suele ser impráctica, una modificación considera:</a:t>
            </a:r>
          </a:p>
          <a:p>
            <a:endParaRPr lang="es-CO" dirty="0"/>
          </a:p>
          <a:p>
            <a:pPr marL="342900" indent="-342900">
              <a:buAutoNum type="arabicPeriod"/>
            </a:pPr>
            <a:r>
              <a:rPr lang="es-CO" dirty="0" smtClean="0"/>
              <a:t>Una función de evaluación heurística (EVAL).</a:t>
            </a:r>
          </a:p>
          <a:p>
            <a:pPr marL="342900" indent="-342900">
              <a:buAutoNum type="arabicPeriod"/>
            </a:pPr>
            <a:r>
              <a:rPr lang="es-CO" dirty="0" smtClean="0"/>
              <a:t>Prueba de corte.</a:t>
            </a:r>
          </a:p>
          <a:p>
            <a:pPr marL="342900" indent="-342900">
              <a:buAutoNum type="arabicPeriod"/>
            </a:pPr>
            <a:endParaRPr lang="es-CO" dirty="0" smtClean="0"/>
          </a:p>
        </p:txBody>
      </p:sp>
    </p:spTree>
    <p:extLst>
      <p:ext uri="{BB962C8B-B14F-4D97-AF65-F5344CB8AC3E}">
        <p14:creationId xmlns:p14="http://schemas.microsoft.com/office/powerpoint/2010/main" val="247148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37451" y="1637889"/>
            <a:ext cx="32357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Búsqueda con adversarios</a:t>
            </a:r>
            <a:endParaRPr lang="es-CO" sz="2200" b="1" dirty="0"/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267466" y="2212891"/>
            <a:ext cx="90218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La implementación del </a:t>
            </a:r>
            <a:r>
              <a:rPr lang="es-CO" b="1" i="1" dirty="0" err="1" smtClean="0"/>
              <a:t>minimax</a:t>
            </a:r>
            <a:r>
              <a:rPr lang="es-CO" dirty="0" smtClean="0"/>
              <a:t> suele ser impráctica, una modificación considera:</a:t>
            </a:r>
          </a:p>
          <a:p>
            <a:endParaRPr lang="es-CO" dirty="0"/>
          </a:p>
          <a:p>
            <a:pPr marL="342900" indent="-342900">
              <a:buAutoNum type="arabicPeriod"/>
            </a:pPr>
            <a:r>
              <a:rPr lang="es-CO" dirty="0" smtClean="0"/>
              <a:t>Una función de evaluación heurística (EVAL).</a:t>
            </a:r>
          </a:p>
          <a:p>
            <a:endParaRPr lang="es-CO" dirty="0" smtClean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198" y="3690219"/>
            <a:ext cx="1642837" cy="165763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804" y="3690219"/>
            <a:ext cx="1648973" cy="1657637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793" y="3690220"/>
            <a:ext cx="1657636" cy="1657636"/>
          </a:xfrm>
          <a:prstGeom prst="rect">
            <a:avLst/>
          </a:prstGeom>
        </p:spPr>
      </p:pic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551643" y="5482271"/>
            <a:ext cx="4629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Además, darle valor a cada pieza del tablero.</a:t>
            </a:r>
          </a:p>
          <a:p>
            <a:pPr marL="342900" indent="-342900">
              <a:buAutoNum type="arabicPeriod"/>
            </a:pPr>
            <a:endParaRPr lang="es-CO" dirty="0" smtClean="0"/>
          </a:p>
        </p:txBody>
      </p:sp>
      <p:sp>
        <p:nvSpPr>
          <p:cNvPr id="10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7005715" y="4424526"/>
            <a:ext cx="46296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>
                <a:solidFill>
                  <a:srgbClr val="FF0000"/>
                </a:solidFill>
              </a:rPr>
              <a:t>La victoria o la derrota depende en gran medida de la EVAL.</a:t>
            </a:r>
          </a:p>
          <a:p>
            <a:pPr marL="342900" indent="-342900">
              <a:buAutoNum type="arabicPeriod"/>
            </a:pPr>
            <a:endParaRPr lang="es-CO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137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37451" y="1637889"/>
            <a:ext cx="32357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Búsqueda con adversarios</a:t>
            </a:r>
            <a:endParaRPr lang="es-CO" sz="2200" b="1" dirty="0"/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267466" y="2212891"/>
            <a:ext cx="902184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La implementación del </a:t>
            </a:r>
            <a:r>
              <a:rPr lang="es-CO" b="1" i="1" dirty="0" err="1" smtClean="0"/>
              <a:t>minimax</a:t>
            </a:r>
            <a:r>
              <a:rPr lang="es-CO" dirty="0" smtClean="0"/>
              <a:t> suele ser impráctica, una modificación considera:</a:t>
            </a:r>
          </a:p>
          <a:p>
            <a:endParaRPr lang="es-CO" dirty="0"/>
          </a:p>
          <a:p>
            <a:pPr marL="342900" indent="-342900">
              <a:buAutoNum type="arabicPeriod"/>
            </a:pPr>
            <a:r>
              <a:rPr lang="es-CO" dirty="0" err="1" smtClean="0">
                <a:solidFill>
                  <a:schemeClr val="bg1"/>
                </a:solidFill>
              </a:rPr>
              <a:t>Sa</a:t>
            </a:r>
            <a:endParaRPr lang="es-CO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s-CO" dirty="0" smtClean="0"/>
              <a:t>Prueba de corte.</a:t>
            </a:r>
          </a:p>
          <a:p>
            <a:pPr marL="342900" indent="-342900">
              <a:buAutoNum type="arabicPeriod"/>
            </a:pPr>
            <a:endParaRPr lang="es-CO" dirty="0" smtClean="0"/>
          </a:p>
        </p:txBody>
      </p:sp>
      <p:pic>
        <p:nvPicPr>
          <p:cNvPr id="2050" name="Picture 2" descr="Resultado de imagen para tree search cut-of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880" y="3690219"/>
            <a:ext cx="4827232" cy="1997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5483866" y="5980592"/>
            <a:ext cx="90218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err="1" smtClean="0"/>
              <a:t>Iterative</a:t>
            </a:r>
            <a:r>
              <a:rPr lang="es-CO" b="1" i="1" dirty="0" smtClean="0"/>
              <a:t> </a:t>
            </a:r>
            <a:r>
              <a:rPr lang="es-CO" b="1" i="1" dirty="0" err="1" smtClean="0"/>
              <a:t>deepening</a:t>
            </a:r>
            <a:r>
              <a:rPr lang="es-CO" b="1" i="1" dirty="0" smtClean="0"/>
              <a:t> </a:t>
            </a:r>
            <a:r>
              <a:rPr lang="es-CO" b="1" i="1" dirty="0" err="1" smtClean="0"/>
              <a:t>search</a:t>
            </a:r>
            <a:r>
              <a:rPr lang="es-CO" b="1" i="1" dirty="0" smtClean="0"/>
              <a:t> </a:t>
            </a:r>
            <a:r>
              <a:rPr lang="es-CO" dirty="0" smtClean="0"/>
              <a:t>podría ser útil!</a:t>
            </a:r>
          </a:p>
          <a:p>
            <a:pPr marL="342900" indent="-342900">
              <a:buAutoNum type="arabicPeriod"/>
            </a:pPr>
            <a:endParaRPr lang="es-CO" dirty="0" smtClean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641" y="2566676"/>
            <a:ext cx="3258765" cy="2980795"/>
          </a:xfrm>
          <a:prstGeom prst="rect">
            <a:avLst/>
          </a:prstGeom>
        </p:spPr>
      </p:pic>
      <p:cxnSp>
        <p:nvCxnSpPr>
          <p:cNvPr id="4" name="Conector recto de flecha 3"/>
          <p:cNvCxnSpPr/>
          <p:nvPr/>
        </p:nvCxnSpPr>
        <p:spPr>
          <a:xfrm flipH="1" flipV="1">
            <a:off x="9153236" y="5024582"/>
            <a:ext cx="544945" cy="25648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94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37451" y="1637889"/>
            <a:ext cx="32357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Búsqueda con adversarios</a:t>
            </a:r>
            <a:endParaRPr lang="es-CO" sz="2200" b="1" dirty="0"/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267466" y="2212891"/>
            <a:ext cx="902184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err="1" smtClean="0"/>
              <a:t>minimax</a:t>
            </a:r>
            <a:r>
              <a:rPr lang="es-CO" b="1" i="1" dirty="0" smtClean="0"/>
              <a:t> </a:t>
            </a:r>
            <a:r>
              <a:rPr lang="es-CO" dirty="0" smtClean="0"/>
              <a:t>(otra modificación): </a:t>
            </a:r>
            <a:r>
              <a:rPr lang="el-GR" b="1" i="1" dirty="0" smtClean="0"/>
              <a:t>α</a:t>
            </a:r>
            <a:r>
              <a:rPr lang="es-CO" b="1" i="1" dirty="0" smtClean="0"/>
              <a:t>-</a:t>
            </a:r>
            <a:r>
              <a:rPr lang="el-GR" b="1" i="1" dirty="0" smtClean="0"/>
              <a:t>β</a:t>
            </a:r>
            <a:r>
              <a:rPr lang="es-CO" b="1" i="1" dirty="0" smtClean="0"/>
              <a:t> </a:t>
            </a:r>
            <a:r>
              <a:rPr lang="es-CO" b="1" i="1" dirty="0" err="1" smtClean="0"/>
              <a:t>pruning</a:t>
            </a:r>
            <a:endParaRPr lang="es-CO" b="1" i="1" dirty="0" smtClean="0"/>
          </a:p>
          <a:p>
            <a:endParaRPr lang="es-CO" b="1" i="1" dirty="0"/>
          </a:p>
          <a:p>
            <a:r>
              <a:rPr lang="es-CO" i="1" dirty="0" smtClean="0"/>
              <a:t>Es posible calcular la decisión correcta del agente sin mirar a todos los nodos en el árbol.</a:t>
            </a:r>
            <a:endParaRPr lang="es-CO" dirty="0"/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834175" y="3678596"/>
            <a:ext cx="90218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i="1" dirty="0" smtClean="0"/>
              <a:t>Miremos que pasa con A</a:t>
            </a:r>
            <a:r>
              <a:rPr lang="es-CO" i="1" baseline="-25000" dirty="0" smtClean="0"/>
              <a:t>2</a:t>
            </a:r>
            <a:endParaRPr lang="es-CO" baseline="-25000" dirty="0" smtClean="0"/>
          </a:p>
          <a:p>
            <a:pPr marL="342900" indent="-342900">
              <a:buAutoNum type="arabicPeriod"/>
            </a:pPr>
            <a:endParaRPr lang="es-CO" dirty="0" smtClean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175" y="4094125"/>
            <a:ext cx="6602484" cy="205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9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37451" y="1637889"/>
            <a:ext cx="32357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Búsqueda con adversarios</a:t>
            </a:r>
            <a:endParaRPr lang="es-CO" sz="2200" b="1" dirty="0"/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267466" y="2212891"/>
            <a:ext cx="902184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err="1" smtClean="0"/>
              <a:t>minimax</a:t>
            </a:r>
            <a:r>
              <a:rPr lang="es-CO" b="1" i="1" dirty="0" smtClean="0"/>
              <a:t> </a:t>
            </a:r>
            <a:r>
              <a:rPr lang="es-CO" dirty="0" smtClean="0"/>
              <a:t>(otra modificación): </a:t>
            </a:r>
            <a:r>
              <a:rPr lang="el-GR" b="1" i="1" dirty="0" smtClean="0"/>
              <a:t>α</a:t>
            </a:r>
            <a:r>
              <a:rPr lang="es-CO" b="1" i="1" dirty="0" smtClean="0"/>
              <a:t>-</a:t>
            </a:r>
            <a:r>
              <a:rPr lang="el-GR" b="1" i="1" dirty="0" smtClean="0"/>
              <a:t>β</a:t>
            </a:r>
            <a:r>
              <a:rPr lang="es-CO" b="1" i="1" dirty="0" smtClean="0"/>
              <a:t> </a:t>
            </a:r>
            <a:r>
              <a:rPr lang="es-CO" b="1" i="1" dirty="0" err="1" smtClean="0"/>
              <a:t>pruning</a:t>
            </a:r>
            <a:endParaRPr lang="es-CO" b="1" i="1" dirty="0" smtClean="0"/>
          </a:p>
          <a:p>
            <a:endParaRPr lang="es-CO" b="1" i="1" dirty="0"/>
          </a:p>
          <a:p>
            <a:r>
              <a:rPr lang="es-CO" i="1" dirty="0" smtClean="0"/>
              <a:t>Es posible calcular la decisión correcta del agente sin mirar a todos los nodos en el árbol.</a:t>
            </a:r>
            <a:endParaRPr 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81" y="3280336"/>
            <a:ext cx="7280474" cy="3229195"/>
          </a:xfrm>
          <a:prstGeom prst="rect">
            <a:avLst/>
          </a:prstGeom>
        </p:spPr>
      </p:pic>
      <p:sp>
        <p:nvSpPr>
          <p:cNvPr id="8" name="Rectángulo 11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8031374" y="5256272"/>
            <a:ext cx="39204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Considerar que </a:t>
            </a:r>
            <a:r>
              <a:rPr lang="es-CO" b="1" i="1" dirty="0" err="1" smtClean="0"/>
              <a:t>minimax</a:t>
            </a:r>
            <a:r>
              <a:rPr lang="es-CO" b="1" i="1" dirty="0" smtClean="0"/>
              <a:t> </a:t>
            </a:r>
            <a:r>
              <a:rPr lang="es-CO" dirty="0" smtClean="0"/>
              <a:t>es una búsqueda tipo </a:t>
            </a:r>
            <a:r>
              <a:rPr lang="es-CO" b="1" i="1" dirty="0" smtClean="0"/>
              <a:t>DFS!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5194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76810" y="1790289"/>
            <a:ext cx="153779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Referencias</a:t>
            </a:r>
            <a:endParaRPr lang="es-CO" sz="2200" b="1" dirty="0"/>
          </a:p>
        </p:txBody>
      </p:sp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3C1ABD8E-10D4-405D-85BC-BE2742D353AC}"/>
              </a:ext>
            </a:extLst>
          </p:cNvPr>
          <p:cNvSpPr/>
          <p:nvPr/>
        </p:nvSpPr>
        <p:spPr>
          <a:xfrm>
            <a:off x="1178206" y="2438166"/>
            <a:ext cx="90897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i="1" dirty="0" smtClean="0"/>
              <a:t>“Artificial </a:t>
            </a:r>
            <a:r>
              <a:rPr lang="es-CO" sz="2000" i="1" dirty="0" err="1" smtClean="0"/>
              <a:t>Intelligence</a:t>
            </a:r>
            <a:r>
              <a:rPr lang="es-CO" sz="2000" i="1" dirty="0" smtClean="0"/>
              <a:t>: A </a:t>
            </a:r>
            <a:r>
              <a:rPr lang="es-CO" sz="2000" i="1" dirty="0" err="1" smtClean="0"/>
              <a:t>modern</a:t>
            </a:r>
            <a:r>
              <a:rPr lang="es-CO" sz="2000" i="1" dirty="0" smtClean="0"/>
              <a:t> </a:t>
            </a:r>
            <a:r>
              <a:rPr lang="es-CO" sz="2000" i="1" dirty="0" err="1" smtClean="0"/>
              <a:t>approach</a:t>
            </a:r>
            <a:r>
              <a:rPr lang="es-CO" sz="2000" i="1" dirty="0" smtClean="0"/>
              <a:t>”, </a:t>
            </a:r>
            <a:r>
              <a:rPr lang="es-CO" sz="2000" dirty="0" smtClean="0"/>
              <a:t>S.J. Russell and P. </a:t>
            </a:r>
            <a:r>
              <a:rPr lang="es-CO" sz="2000" dirty="0" err="1" smtClean="0"/>
              <a:t>Norvig</a:t>
            </a:r>
            <a:r>
              <a:rPr lang="es-CO" sz="2000" dirty="0" smtClean="0"/>
              <a:t>. Capítulos 3 y 4.</a:t>
            </a:r>
          </a:p>
          <a:p>
            <a:endParaRPr lang="es-CO" sz="2000" dirty="0"/>
          </a:p>
        </p:txBody>
      </p:sp>
      <p:sp>
        <p:nvSpPr>
          <p:cNvPr id="7" name="Rectángulo 23">
            <a:extLst>
              <a:ext uri="{FF2B5EF4-FFF2-40B4-BE49-F238E27FC236}">
                <a16:creationId xmlns="" xmlns:a16="http://schemas.microsoft.com/office/drawing/2014/main" id="{95295EE0-F9F3-4149-A8CB-FA5E3A8F8C29}"/>
              </a:ext>
            </a:extLst>
          </p:cNvPr>
          <p:cNvSpPr/>
          <p:nvPr/>
        </p:nvSpPr>
        <p:spPr>
          <a:xfrm>
            <a:off x="1178206" y="2962932"/>
            <a:ext cx="49396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dirty="0"/>
              <a:t>https://classroom.udacity.com/courses/cs271</a:t>
            </a:r>
          </a:p>
        </p:txBody>
      </p:sp>
    </p:spTree>
    <p:extLst>
      <p:ext uri="{BB962C8B-B14F-4D97-AF65-F5344CB8AC3E}">
        <p14:creationId xmlns:p14="http://schemas.microsoft.com/office/powerpoint/2010/main" val="162168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</TotalTime>
  <Words>2298</Words>
  <Application>Microsoft Office PowerPoint</Application>
  <PresentationFormat>Panorámica</PresentationFormat>
  <Paragraphs>600</Paragraphs>
  <Slides>57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57</vt:i4>
      </vt:variant>
    </vt:vector>
  </HeadingPairs>
  <TitlesOfParts>
    <vt:vector size="62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Carlos Alejandro Trujillo Anaya</cp:lastModifiedBy>
  <cp:revision>208</cp:revision>
  <dcterms:created xsi:type="dcterms:W3CDTF">2017-07-31T19:21:32Z</dcterms:created>
  <dcterms:modified xsi:type="dcterms:W3CDTF">2019-02-21T00:30:34Z</dcterms:modified>
</cp:coreProperties>
</file>
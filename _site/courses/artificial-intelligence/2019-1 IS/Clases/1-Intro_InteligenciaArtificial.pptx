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258" r:id="rId2"/>
    <p:sldId id="259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1" autoAdjust="0"/>
    <p:restoredTop sz="94610" autoAdjust="0"/>
  </p:normalViewPr>
  <p:slideViewPr>
    <p:cSldViewPr snapToGrid="0">
      <p:cViewPr>
        <p:scale>
          <a:sx n="100" d="100"/>
          <a:sy n="100" d="100"/>
        </p:scale>
        <p:origin x="45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73413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Introducción a la inteligencia </a:t>
            </a:r>
            <a:r>
              <a:rPr lang="es-CO" sz="3600" dirty="0" smtClean="0"/>
              <a:t>Artificial</a:t>
            </a:r>
          </a:p>
          <a:p>
            <a:r>
              <a:rPr lang="es-CO" sz="2400" dirty="0" smtClean="0"/>
              <a:t>Febrero 2 de 2019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22400" y="3265438"/>
            <a:ext cx="10287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 smtClean="0"/>
              <a:t>Carlos </a:t>
            </a:r>
            <a:r>
              <a:rPr lang="es-CO" sz="2400" dirty="0"/>
              <a:t>Alejandro Trujillo Anaya – </a:t>
            </a:r>
            <a:r>
              <a:rPr lang="es-CO" sz="2400" b="1" dirty="0"/>
              <a:t>carlostrujillo@itm.edu.co</a:t>
            </a:r>
            <a:endParaRPr lang="es-CO" sz="2400" b="1" dirty="0">
              <a:solidFill>
                <a:schemeClr val="bg1"/>
              </a:solidFill>
            </a:endParaRPr>
          </a:p>
          <a:p>
            <a:r>
              <a:rPr lang="es-CO" sz="2400" dirty="0" smtClean="0"/>
              <a:t>Departamento de sistemas de Información</a:t>
            </a:r>
          </a:p>
          <a:p>
            <a:r>
              <a:rPr lang="es-CO" sz="2400" dirty="0"/>
              <a:t>Departamento de </a:t>
            </a:r>
            <a:r>
              <a:rPr lang="es-CO" sz="2400" dirty="0" smtClean="0"/>
              <a:t>electrónica y telecomunicaciones</a:t>
            </a:r>
            <a:endParaRPr lang="es-CO" sz="2400" dirty="0"/>
          </a:p>
          <a:p>
            <a:r>
              <a:rPr lang="es-CO" sz="2400" dirty="0" smtClean="0"/>
              <a:t>Asignatura perteneciente a Ingeniería de Sistemas</a:t>
            </a:r>
          </a:p>
          <a:p>
            <a:r>
              <a:rPr lang="es-CO" sz="2400" dirty="0" smtClean="0"/>
              <a:t>Lunes y Miércoles 20-22</a:t>
            </a:r>
          </a:p>
          <a:p>
            <a:r>
              <a:rPr lang="es-CO" sz="2400" dirty="0" smtClean="0"/>
              <a:t>N404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/>
        </p:nvSpPr>
        <p:spPr>
          <a:xfrm>
            <a:off x="823722" y="164897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dirty="0" smtClean="0"/>
              <a:t>Nos vamos a dedicar a construir agentes inteligentes…</a:t>
            </a:r>
            <a:endParaRPr lang="es-CO" sz="2000" dirty="0"/>
          </a:p>
        </p:txBody>
      </p:sp>
      <p:sp>
        <p:nvSpPr>
          <p:cNvPr id="20" name="Rectángulo 19"/>
          <p:cNvSpPr/>
          <p:nvPr/>
        </p:nvSpPr>
        <p:spPr>
          <a:xfrm>
            <a:off x="1278636" y="5896737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Agente inteligente: Todo sistema que emplee inteligencia artificial.</a:t>
            </a:r>
            <a:endParaRPr lang="es-CO" sz="20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 rot="19410033">
            <a:off x="5779770" y="3683585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Ambiente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1929384" y="3072384"/>
            <a:ext cx="1399032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970913" y="2672274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Agente</a:t>
            </a:r>
            <a:endParaRPr lang="es-CO" sz="2000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970913" y="3331442"/>
            <a:ext cx="13159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3871722" y="4698566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Sensores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54577" y="2782914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Actuadores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6364047" y="6411044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31" name="Rectángulo 30"/>
          <p:cNvSpPr/>
          <p:nvPr/>
        </p:nvSpPr>
        <p:spPr>
          <a:xfrm>
            <a:off x="3137241" y="3510883"/>
            <a:ext cx="30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 smtClean="0">
                <a:solidFill>
                  <a:schemeClr val="accent6">
                    <a:lumMod val="75000"/>
                  </a:schemeClr>
                </a:solidFill>
              </a:rPr>
              <a:t>Ciclo de percepción-acción</a:t>
            </a:r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Resultado de imagen para fin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850" y="2104874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7336536" y="527914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/>
              <a:t>http://www.poolegroup.com.au/needing-finance-plan-ahead/</a:t>
            </a:r>
            <a:endParaRPr lang="es-CO" sz="1200" dirty="0"/>
          </a:p>
        </p:txBody>
      </p:sp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5843322" y="3464102"/>
            <a:ext cx="13159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 smtClean="0"/>
              <a:t>Bolsa,</a:t>
            </a:r>
          </a:p>
          <a:p>
            <a:pPr algn="ctr"/>
            <a:r>
              <a:rPr lang="es-CO" sz="1600" dirty="0" smtClean="0"/>
              <a:t>Productos Básicos, etc.</a:t>
            </a:r>
            <a:endParaRPr lang="es-CO" sz="1600" dirty="0"/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373262" y="2673468"/>
            <a:ext cx="2331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Agente comercial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640165" y="4942982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Tarifas y/o noticias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54577" y="2782914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Negocios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Finanzas</a:t>
            </a:r>
            <a:endParaRPr lang="es-CO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50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ob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366" y="2394775"/>
            <a:ext cx="4960867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7193131" y="515317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https://www.juguetronica.com/robot-maze-breaker</a:t>
            </a:r>
            <a:endParaRPr lang="es-CO" sz="1200" dirty="0"/>
          </a:p>
        </p:txBody>
      </p:sp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5843322" y="3464102"/>
            <a:ext cx="131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 smtClean="0"/>
              <a:t>Ambiente</a:t>
            </a:r>
            <a:endParaRPr lang="es-CO" sz="1600" dirty="0" smtClean="0"/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373262" y="2673468"/>
            <a:ext cx="2331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Robot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640165" y="4942982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Cámaras y micrófonos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35567" y="2650291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Motores </a:t>
            </a:r>
          </a:p>
          <a:p>
            <a:pPr algn="ctr"/>
            <a:r>
              <a:rPr lang="es-CO" sz="1400" b="1" dirty="0" smtClean="0"/>
              <a:t>Voz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Robótica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34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alekhines gun screensh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069" y="2128347"/>
            <a:ext cx="4716339" cy="2651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882806" y="4910961"/>
            <a:ext cx="4382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https://techraptor.net/content/cold-war-spy-stealth-game-alekhines-gun-delayed-to-2016</a:t>
            </a:r>
            <a:endParaRPr lang="es-CO" sz="1200" dirty="0"/>
          </a:p>
        </p:txBody>
      </p:sp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5843322" y="3464102"/>
            <a:ext cx="131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 smtClean="0"/>
              <a:t>Nosotros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373262" y="2673468"/>
            <a:ext cx="2331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Agente de juego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640165" y="4942982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Nuestros movimientos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35567" y="2650291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Movimientos del robot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Juegos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961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712" y="2014547"/>
            <a:ext cx="1153133" cy="1277358"/>
          </a:xfrm>
          <a:prstGeom prst="rect">
            <a:avLst/>
          </a:prstGeom>
        </p:spPr>
      </p:pic>
      <p:pic>
        <p:nvPicPr>
          <p:cNvPr id="6146" name="Picture 2" descr="Resultado de imagen para human simple draf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102" y="3824296"/>
            <a:ext cx="1302752" cy="195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084970" y="2692100"/>
            <a:ext cx="25644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Agente de diagnóstico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264999" y="5127955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Signos vitales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Medicina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18" name="Flecha doblada 17"/>
          <p:cNvSpPr/>
          <p:nvPr/>
        </p:nvSpPr>
        <p:spPr>
          <a:xfrm rot="7188387">
            <a:off x="6126518" y="3577860"/>
            <a:ext cx="673393" cy="518925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3890577" y="2758485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Diagnóstico</a:t>
            </a:r>
            <a:endParaRPr lang="es-CO" sz="1400" b="1" dirty="0"/>
          </a:p>
        </p:txBody>
      </p:sp>
    </p:spTree>
    <p:extLst>
      <p:ext uri="{BB962C8B-B14F-4D97-AF65-F5344CB8AC3E}">
        <p14:creationId xmlns:p14="http://schemas.microsoft.com/office/powerpoint/2010/main" val="1972320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1. Completamente vs parcialmente observable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16" name="Forma libre 15"/>
          <p:cNvSpPr/>
          <p:nvPr/>
        </p:nvSpPr>
        <p:spPr>
          <a:xfrm>
            <a:off x="5744338" y="3135743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 rot="19410033">
            <a:off x="5827396" y="4150310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Ambiente</a:t>
            </a:r>
            <a:endParaRPr lang="es-CO" sz="2000" dirty="0"/>
          </a:p>
        </p:txBody>
      </p:sp>
      <p:sp>
        <p:nvSpPr>
          <p:cNvPr id="19" name="Rectángulo 18"/>
          <p:cNvSpPr/>
          <p:nvPr/>
        </p:nvSpPr>
        <p:spPr>
          <a:xfrm>
            <a:off x="1977010" y="3539109"/>
            <a:ext cx="1399032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/>
          <p:cNvSpPr/>
          <p:nvPr/>
        </p:nvSpPr>
        <p:spPr>
          <a:xfrm>
            <a:off x="2018539" y="3138999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Agente</a:t>
            </a:r>
            <a:endParaRPr lang="es-CO" sz="2000" dirty="0"/>
          </a:p>
        </p:txBody>
      </p:sp>
      <p:sp>
        <p:nvSpPr>
          <p:cNvPr id="30" name="Flecha doblada 29"/>
          <p:cNvSpPr/>
          <p:nvPr/>
        </p:nvSpPr>
        <p:spPr>
          <a:xfrm rot="12131240">
            <a:off x="3691930" y="4732985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2018539" y="3798167"/>
            <a:ext cx="13159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32" name="Rectángulo 31"/>
          <p:cNvSpPr/>
          <p:nvPr/>
        </p:nvSpPr>
        <p:spPr>
          <a:xfrm>
            <a:off x="3919348" y="5165291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Sensores</a:t>
            </a:r>
            <a:endParaRPr lang="es-CO" sz="1400" b="1" dirty="0"/>
          </a:p>
        </p:txBody>
      </p:sp>
      <p:sp>
        <p:nvSpPr>
          <p:cNvPr id="33" name="Rectángulo 32"/>
          <p:cNvSpPr/>
          <p:nvPr/>
        </p:nvSpPr>
        <p:spPr>
          <a:xfrm>
            <a:off x="3902203" y="3249639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Actuadores</a:t>
            </a:r>
            <a:endParaRPr lang="es-CO" sz="1400" b="1" dirty="0"/>
          </a:p>
        </p:txBody>
      </p:sp>
      <p:sp>
        <p:nvSpPr>
          <p:cNvPr id="34" name="Rectángulo 33"/>
          <p:cNvSpPr/>
          <p:nvPr/>
        </p:nvSpPr>
        <p:spPr>
          <a:xfrm>
            <a:off x="3184867" y="3977608"/>
            <a:ext cx="30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 smtClean="0">
                <a:solidFill>
                  <a:schemeClr val="accent6">
                    <a:lumMod val="75000"/>
                  </a:schemeClr>
                </a:solidFill>
              </a:rPr>
              <a:t>Ciclo de percepción-acción</a:t>
            </a:r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Flecha doblada 34"/>
          <p:cNvSpPr/>
          <p:nvPr/>
        </p:nvSpPr>
        <p:spPr>
          <a:xfrm rot="1668952">
            <a:off x="3819531" y="2720554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" name="Flecha curvada hacia arriba 1"/>
          <p:cNvSpPr/>
          <p:nvPr/>
        </p:nvSpPr>
        <p:spPr>
          <a:xfrm rot="13093468">
            <a:off x="7002658" y="3076417"/>
            <a:ext cx="657225" cy="654220"/>
          </a:xfrm>
          <a:prstGeom prst="curved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7" name="Rectángulo 36"/>
          <p:cNvSpPr/>
          <p:nvPr/>
        </p:nvSpPr>
        <p:spPr>
          <a:xfrm rot="1898356">
            <a:off x="7215231" y="3021964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Estado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772059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018166"/>
            <a:ext cx="3848100" cy="2012399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1. Completamente vs parcialmente observable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Completamente observable cuando el agente puede observar totalmente el estado del ambiente</a:t>
            </a:r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1588515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1. Completamente vs parcialmente observable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Parcialmente observable cuando el agente </a:t>
            </a:r>
            <a:r>
              <a:rPr lang="es-CO" sz="2000" b="1" dirty="0" smtClean="0"/>
              <a:t>NO</a:t>
            </a:r>
            <a:r>
              <a:rPr lang="es-CO" sz="2000" dirty="0" smtClean="0"/>
              <a:t> puede observar totalmente el estado del ambiente</a:t>
            </a:r>
            <a:endParaRPr lang="es-CO" sz="2000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262" y="2866968"/>
            <a:ext cx="3557588" cy="19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03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2. Determinístico vs estocástico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018166"/>
            <a:ext cx="3848100" cy="201239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Determinístico cuando las acciones del agente determinan únicamente la salida</a:t>
            </a:r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3993039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2. Determinístico vs estocástico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Estocástico cuando las acciones del agente </a:t>
            </a:r>
            <a:r>
              <a:rPr lang="es-CO" sz="2000" b="1" dirty="0" smtClean="0"/>
              <a:t>NO</a:t>
            </a:r>
            <a:r>
              <a:rPr lang="es-CO" sz="2000" dirty="0" smtClean="0"/>
              <a:t> determinan únicamente la salida</a:t>
            </a:r>
            <a:endParaRPr lang="es-CO" sz="2000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3022481"/>
            <a:ext cx="2886075" cy="192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96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3</a:t>
            </a:r>
            <a:r>
              <a:rPr lang="es-CO" sz="2000" b="1" dirty="0" smtClean="0">
                <a:solidFill>
                  <a:srgbClr val="FF0000"/>
                </a:solidFill>
              </a:rPr>
              <a:t>. Discreto vs continuo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2920775"/>
            <a:ext cx="3848100" cy="201239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Discreto si el número de acciones que se pueden llevar a cabo es finito</a:t>
            </a:r>
            <a:endParaRPr lang="es-CO" sz="2000" dirty="0" smtClean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387" y="2827459"/>
            <a:ext cx="3557588" cy="19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9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3</a:t>
            </a:r>
            <a:r>
              <a:rPr lang="es-CO" sz="2000" b="1" dirty="0" smtClean="0">
                <a:solidFill>
                  <a:srgbClr val="FF0000"/>
                </a:solidFill>
              </a:rPr>
              <a:t>. Discreto vs continuo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Continuo si el número de acciones que se pueden llevar a cabo es infinito</a:t>
            </a:r>
            <a:endParaRPr lang="es-CO" sz="2000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11" y="2712063"/>
            <a:ext cx="4223514" cy="230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71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4. Benigno vs adversario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254633" y="5604400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Benigno si el objetivo del ambiente no va en contraposición al del agente</a:t>
            </a:r>
            <a:endParaRPr lang="es-CO" sz="2000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2835141"/>
            <a:ext cx="3862388" cy="276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58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4. Benigno vs adversario</a:t>
            </a:r>
            <a:endParaRPr lang="es-CO" sz="2000" b="1" dirty="0" smtClean="0">
              <a:solidFill>
                <a:srgbClr val="FF0000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Adversario si el objetivo del ambiente está en contra del objetivo del agente</a:t>
            </a:r>
            <a:endParaRPr lang="es-CO" sz="2000" dirty="0" smtClean="0"/>
          </a:p>
        </p:txBody>
      </p:sp>
      <p:pic>
        <p:nvPicPr>
          <p:cNvPr id="14338" name="Picture 2" descr="Resultado de imagen para check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0" y="2905972"/>
            <a:ext cx="28575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023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En resumen…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078053" y="2269680"/>
            <a:ext cx="10520934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La inteligencia artificial se puede entender como el manejo de la incertidumbre.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La inteligencia artificial es lo que hacemos que las máquinas hagan cuándo no sabemos qué hacer.</a:t>
            </a:r>
          </a:p>
          <a:p>
            <a:pPr>
              <a:spcAft>
                <a:spcPts val="600"/>
              </a:spcAft>
            </a:pPr>
            <a:r>
              <a:rPr lang="es-CO" sz="2000" dirty="0"/>
              <a:t> </a:t>
            </a:r>
            <a:r>
              <a:rPr lang="es-CO" sz="2000" dirty="0" smtClean="0"/>
              <a:t/>
            </a:r>
            <a:br>
              <a:rPr lang="es-CO" sz="2000" dirty="0" smtClean="0"/>
            </a:br>
            <a:r>
              <a:rPr lang="es-CO" sz="2000" dirty="0" smtClean="0"/>
              <a:t>      </a:t>
            </a:r>
            <a:r>
              <a:rPr lang="es-CO" sz="2000" b="1" dirty="0" smtClean="0"/>
              <a:t>Causas de la incertidumbre (de los datos):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Límites de los sensores.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Adversarios.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Pereza.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Ambientes estocásticos.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Ignorancia.</a:t>
            </a:r>
          </a:p>
          <a:p>
            <a:pPr marL="342900" indent="-342900">
              <a:buFontTx/>
              <a:buChar char="-"/>
            </a:pPr>
            <a:endParaRPr lang="es-CO" sz="2000" dirty="0" smtClean="0"/>
          </a:p>
          <a:p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2557566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401</Words>
  <Application>Microsoft Office PowerPoint</Application>
  <PresentationFormat>Panorámica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94</cp:revision>
  <dcterms:created xsi:type="dcterms:W3CDTF">2017-07-31T19:21:32Z</dcterms:created>
  <dcterms:modified xsi:type="dcterms:W3CDTF">2019-02-07T00:32:20Z</dcterms:modified>
</cp:coreProperties>
</file>
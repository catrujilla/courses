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0"/>
  </p:handoutMasterIdLst>
  <p:sldIdLst>
    <p:sldId id="258" r:id="rId2"/>
    <p:sldId id="288" r:id="rId3"/>
    <p:sldId id="289" r:id="rId4"/>
    <p:sldId id="290" r:id="rId5"/>
    <p:sldId id="291" r:id="rId6"/>
    <p:sldId id="292" r:id="rId7"/>
    <p:sldId id="294" r:id="rId8"/>
    <p:sldId id="295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296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6" r:id="rId2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1" autoAdjust="0"/>
    <p:restoredTop sz="94610" autoAdjust="0"/>
  </p:normalViewPr>
  <p:slideViewPr>
    <p:cSldViewPr snapToGrid="0">
      <p:cViewPr varScale="1">
        <p:scale>
          <a:sx n="106" d="100"/>
          <a:sy n="106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08/03/2019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08/03/2019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08/03/2019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08/03/2019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08/03/2019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08/03/2019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08/03/2019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08/03/2019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08/03/2019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08/03/2019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08/03/2019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carlostrujillo@itm.edu.c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60536" y="1928733"/>
            <a:ext cx="7599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600" dirty="0" smtClean="0"/>
              <a:t>Extracción y selección de características</a:t>
            </a:r>
            <a:endParaRPr lang="es-CO" sz="3600" dirty="0"/>
          </a:p>
          <a:p>
            <a:r>
              <a:rPr lang="es-CO" sz="2400" dirty="0" smtClean="0"/>
              <a:t>Marzo 1 </a:t>
            </a:r>
            <a:r>
              <a:rPr lang="es-CO" sz="2400" dirty="0"/>
              <a:t>de 2019 </a:t>
            </a:r>
            <a:endParaRPr lang="es-CO" sz="3600" dirty="0">
              <a:solidFill>
                <a:srgbClr val="FF000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1409700" y="3140822"/>
            <a:ext cx="10287000" cy="261610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400" dirty="0"/>
              <a:t>Carlos Alejandro Trujillo Anaya – </a:t>
            </a:r>
            <a:r>
              <a:rPr lang="es-CO" sz="2400" b="1" dirty="0">
                <a:hlinkClick r:id="rId2"/>
              </a:rPr>
              <a:t>carlostrujillo@itm.edu.co</a:t>
            </a:r>
            <a:endParaRPr lang="es-CO" sz="2400" b="1" dirty="0"/>
          </a:p>
          <a:p>
            <a:r>
              <a:rPr lang="es-CO" sz="2000" dirty="0"/>
              <a:t>M212</a:t>
            </a:r>
          </a:p>
          <a:p>
            <a:r>
              <a:rPr lang="es-CO" sz="2400" dirty="0"/>
              <a:t>Departamento de electrónica y telecomunicaciones</a:t>
            </a:r>
          </a:p>
          <a:p>
            <a:r>
              <a:rPr lang="es-CO" sz="2400" dirty="0"/>
              <a:t>Inteligencia Artificial I</a:t>
            </a:r>
          </a:p>
          <a:p>
            <a:r>
              <a:rPr lang="es-CO" sz="2400" dirty="0"/>
              <a:t>Asignatura perteneciente a Ingeniería electrónica</a:t>
            </a:r>
          </a:p>
          <a:p>
            <a:r>
              <a:rPr lang="es-CO" sz="2400" dirty="0"/>
              <a:t>Viernes 16-18</a:t>
            </a:r>
          </a:p>
          <a:p>
            <a:r>
              <a:rPr lang="es-CO" sz="2400" dirty="0"/>
              <a:t>O2</a:t>
            </a:r>
          </a:p>
        </p:txBody>
      </p:sp>
    </p:spTree>
    <p:extLst>
      <p:ext uri="{BB962C8B-B14F-4D97-AF65-F5344CB8AC3E}">
        <p14:creationId xmlns:p14="http://schemas.microsoft.com/office/powerpoint/2010/main" val="114055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Construcción de las características</a:t>
            </a:r>
            <a:endParaRPr lang="es-CO" sz="2000" b="1" dirty="0"/>
          </a:p>
        </p:txBody>
      </p:sp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26249" y="2244207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Característica = atributo = variable de entrada</a:t>
            </a:r>
            <a:endParaRPr lang="es-CO" sz="2000" dirty="0"/>
          </a:p>
        </p:txBody>
      </p:sp>
      <p:sp>
        <p:nvSpPr>
          <p:cNvPr id="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26249" y="5525288"/>
            <a:ext cx="81122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Ejemplo: El diagnóstico médico.</a:t>
            </a:r>
          </a:p>
          <a:p>
            <a:endParaRPr lang="es-CO" sz="2000" dirty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5298522" y="3278519"/>
            <a:ext cx="378442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Características: Los síntomas.</a:t>
            </a:r>
          </a:p>
          <a:p>
            <a:endParaRPr lang="es-CO" sz="2000" dirty="0"/>
          </a:p>
          <a:p>
            <a:r>
              <a:rPr lang="es-CO" sz="2000" dirty="0" smtClean="0"/>
              <a:t>Glucosa</a:t>
            </a:r>
          </a:p>
          <a:p>
            <a:r>
              <a:rPr lang="es-CO" sz="2000" dirty="0" smtClean="0"/>
              <a:t>Herencia</a:t>
            </a:r>
          </a:p>
          <a:p>
            <a:r>
              <a:rPr lang="es-CO" sz="2000" dirty="0" smtClean="0"/>
              <a:t>Dolor de cabeza?</a:t>
            </a:r>
          </a:p>
          <a:p>
            <a:r>
              <a:rPr lang="es-CO" sz="2000" dirty="0" smtClean="0"/>
              <a:t>Entre otras…</a:t>
            </a:r>
          </a:p>
          <a:p>
            <a:endParaRPr lang="es-CO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16" y="3121050"/>
            <a:ext cx="3159316" cy="231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47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Construcción de las características</a:t>
            </a:r>
            <a:endParaRPr lang="es-CO" sz="2000" b="1" dirty="0"/>
          </a:p>
        </p:txBody>
      </p:sp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Métodos automáticos para la construcción de características</a:t>
            </a:r>
            <a:endParaRPr lang="es-CO" sz="2000" b="1" i="1" dirty="0"/>
          </a:p>
        </p:txBody>
      </p:sp>
      <p:sp>
        <p:nvSpPr>
          <p:cNvPr id="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2889289" y="3695364"/>
            <a:ext cx="81122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Características originales</a:t>
            </a:r>
          </a:p>
          <a:p>
            <a:endParaRPr lang="es-CO" sz="2000" dirty="0"/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245905"/>
              </p:ext>
            </p:extLst>
          </p:nvPr>
        </p:nvGraphicFramePr>
        <p:xfrm>
          <a:off x="2123515" y="2919412"/>
          <a:ext cx="3584326" cy="863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0" name="Equation" r:id="rId3" imgW="1054080" imgH="253800" progId="Equation.DSMT4">
                  <p:embed/>
                </p:oleObj>
              </mc:Choice>
              <mc:Fallback>
                <p:oleObj name="Equation" r:id="rId3" imgW="10540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3515" y="2919412"/>
                        <a:ext cx="3584326" cy="8636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5860371" y="3194091"/>
            <a:ext cx="34403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 n dimensiones</a:t>
            </a:r>
          </a:p>
          <a:p>
            <a:endParaRPr lang="es-CO" sz="2000" dirty="0"/>
          </a:p>
        </p:txBody>
      </p:sp>
      <p:sp>
        <p:nvSpPr>
          <p:cNvPr id="3" name="Flecha abajo 2"/>
          <p:cNvSpPr/>
          <p:nvPr/>
        </p:nvSpPr>
        <p:spPr>
          <a:xfrm>
            <a:off x="3256112" y="4288076"/>
            <a:ext cx="336632" cy="430228"/>
          </a:xfrm>
          <a:prstGeom prst="downArrow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2123514" y="4869332"/>
            <a:ext cx="80354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Construir un </a:t>
            </a:r>
            <a:r>
              <a:rPr lang="es-CO" sz="2000" b="1" i="1" dirty="0" smtClean="0"/>
              <a:t>x’ </a:t>
            </a:r>
            <a:r>
              <a:rPr lang="es-CO" sz="2000" dirty="0" smtClean="0"/>
              <a:t>con </a:t>
            </a:r>
            <a:r>
              <a:rPr lang="es-CO" sz="2000" b="1" i="1" dirty="0" smtClean="0"/>
              <a:t>n’ </a:t>
            </a:r>
            <a:r>
              <a:rPr lang="es-CO" sz="2000" dirty="0" smtClean="0"/>
              <a:t>dimensiones de características transformadas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80786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Transformaciones de pre-procesamiento</a:t>
            </a:r>
            <a:endParaRPr lang="es-CO" sz="2000" b="1" dirty="0"/>
          </a:p>
        </p:txBody>
      </p:sp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Estandarización</a:t>
            </a:r>
            <a:endParaRPr lang="es-CO" sz="2000" b="1" i="1" dirty="0"/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07242" y="2836450"/>
            <a:ext cx="64474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Las características pueden tener diferentes escalas!</a:t>
            </a:r>
          </a:p>
          <a:p>
            <a:endParaRPr lang="es-CO" sz="2000" dirty="0"/>
          </a:p>
        </p:txBody>
      </p:sp>
      <p:graphicFrame>
        <p:nvGraphicFramePr>
          <p:cNvPr id="11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891071"/>
              </p:ext>
            </p:extLst>
          </p:nvPr>
        </p:nvGraphicFramePr>
        <p:xfrm>
          <a:off x="2298931" y="3444304"/>
          <a:ext cx="23320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5" name="Equation" r:id="rId3" imgW="685800" imgH="253800" progId="Equation.DSMT4">
                  <p:embed/>
                </p:oleObj>
              </mc:Choice>
              <mc:Fallback>
                <p:oleObj name="Equation" r:id="rId3" imgW="6858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98931" y="3444304"/>
                        <a:ext cx="2332038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5522658" y="3544336"/>
            <a:ext cx="64474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 x</a:t>
            </a:r>
            <a:r>
              <a:rPr lang="es-CO" sz="2000" b="1" i="1" baseline="-25000" dirty="0" smtClean="0"/>
              <a:t>1</a:t>
            </a:r>
            <a:r>
              <a:rPr lang="es-CO" sz="2000" dirty="0" smtClean="0"/>
              <a:t>: centímetros</a:t>
            </a:r>
          </a:p>
          <a:p>
            <a:r>
              <a:rPr lang="es-CO" sz="2000" dirty="0" smtClean="0"/>
              <a:t> </a:t>
            </a:r>
            <a:r>
              <a:rPr lang="es-CO" sz="2000" b="1" i="1" dirty="0" smtClean="0"/>
              <a:t>x</a:t>
            </a:r>
            <a:r>
              <a:rPr lang="es-CO" sz="2000" b="1" i="1" baseline="-25000" dirty="0" smtClean="0"/>
              <a:t>2</a:t>
            </a:r>
            <a:r>
              <a:rPr lang="es-CO" sz="2000" dirty="0" smtClean="0"/>
              <a:t>: metros</a:t>
            </a:r>
          </a:p>
          <a:p>
            <a:endParaRPr lang="es-CO" sz="2000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840980"/>
              </p:ext>
            </p:extLst>
          </p:nvPr>
        </p:nvGraphicFramePr>
        <p:xfrm>
          <a:off x="3025827" y="4915758"/>
          <a:ext cx="1605142" cy="957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6" name="Equation" r:id="rId5" imgW="723600" imgH="431640" progId="Equation.DSMT4">
                  <p:embed/>
                </p:oleObj>
              </mc:Choice>
              <mc:Fallback>
                <p:oleObj name="Equation" r:id="rId5" imgW="723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25827" y="4915758"/>
                        <a:ext cx="1605142" cy="9574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lecha abajo 12"/>
          <p:cNvSpPr/>
          <p:nvPr/>
        </p:nvSpPr>
        <p:spPr>
          <a:xfrm>
            <a:off x="3539576" y="4392200"/>
            <a:ext cx="336632" cy="430228"/>
          </a:xfrm>
          <a:prstGeom prst="downArrow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5595892" y="4913942"/>
            <a:ext cx="64474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 smtClean="0"/>
              <a:t>Desviación estándar</a:t>
            </a:r>
            <a:endParaRPr lang="es-CO" sz="2000" dirty="0" smtClean="0"/>
          </a:p>
          <a:p>
            <a:endParaRPr lang="es-CO" sz="2000" dirty="0"/>
          </a:p>
        </p:txBody>
      </p:sp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247139"/>
              </p:ext>
            </p:extLst>
          </p:nvPr>
        </p:nvGraphicFramePr>
        <p:xfrm>
          <a:off x="5282840" y="4930332"/>
          <a:ext cx="274637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7" name="Equation" r:id="rId7" imgW="177480" imgH="228600" progId="Equation.DSMT4">
                  <p:embed/>
                </p:oleObj>
              </mc:Choice>
              <mc:Fallback>
                <p:oleObj name="Equation" r:id="rId7" imgW="177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82840" y="4930332"/>
                        <a:ext cx="274637" cy="354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584086"/>
              </p:ext>
            </p:extLst>
          </p:nvPr>
        </p:nvGraphicFramePr>
        <p:xfrm>
          <a:off x="5244425" y="5267885"/>
          <a:ext cx="299125" cy="414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8" name="Equation" r:id="rId9" imgW="164880" imgH="228600" progId="Equation.DSMT4">
                  <p:embed/>
                </p:oleObj>
              </mc:Choice>
              <mc:Fallback>
                <p:oleObj name="Equation" r:id="rId9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44425" y="5267885"/>
                        <a:ext cx="299125" cy="4141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5595892" y="5284345"/>
            <a:ext cx="64474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 smtClean="0"/>
              <a:t>Media</a:t>
            </a:r>
            <a:endParaRPr lang="es-CO" sz="2000" dirty="0" smtClean="0"/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410787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Transformaciones de pre-procesamiento</a:t>
            </a:r>
            <a:endParaRPr lang="es-CO" sz="2000" b="1" dirty="0"/>
          </a:p>
        </p:txBody>
      </p:sp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Normalización</a:t>
            </a:r>
            <a:endParaRPr lang="es-CO" sz="2000" b="1" i="1" dirty="0"/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2517306" y="5992161"/>
            <a:ext cx="728506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De esta forma se elimina la dependencia del tamaño de la imagen.</a:t>
            </a:r>
          </a:p>
          <a:p>
            <a:endParaRPr lang="es-CO" sz="2000" dirty="0"/>
          </a:p>
        </p:txBody>
      </p:sp>
      <p:graphicFrame>
        <p:nvGraphicFramePr>
          <p:cNvPr id="11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030657"/>
              </p:ext>
            </p:extLst>
          </p:nvPr>
        </p:nvGraphicFramePr>
        <p:xfrm>
          <a:off x="1675137" y="2784782"/>
          <a:ext cx="168433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2" name="Equation" r:id="rId3" imgW="495000" imgH="253800" progId="Equation.DSMT4">
                  <p:embed/>
                </p:oleObj>
              </mc:Choice>
              <mc:Fallback>
                <p:oleObj name="Equation" r:id="rId3" imgW="495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5137" y="2784782"/>
                        <a:ext cx="1684337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91848" y="3449203"/>
            <a:ext cx="64474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 smtClean="0"/>
              <a:t>Imagen</a:t>
            </a:r>
            <a:endParaRPr lang="es-CO" sz="2000" dirty="0" smtClean="0"/>
          </a:p>
          <a:p>
            <a:endParaRPr lang="es-CO" sz="2000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913991"/>
              </p:ext>
            </p:extLst>
          </p:nvPr>
        </p:nvGraphicFramePr>
        <p:xfrm>
          <a:off x="2293948" y="4691390"/>
          <a:ext cx="1127125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3" name="Equation" r:id="rId5" imgW="507960" imgH="444240" progId="Equation.DSMT4">
                  <p:embed/>
                </p:oleObj>
              </mc:Choice>
              <mc:Fallback>
                <p:oleObj name="Equation" r:id="rId5" imgW="5079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93948" y="4691390"/>
                        <a:ext cx="1127125" cy="985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lecha abajo 12"/>
          <p:cNvSpPr/>
          <p:nvPr/>
        </p:nvSpPr>
        <p:spPr>
          <a:xfrm>
            <a:off x="2689195" y="4191517"/>
            <a:ext cx="336632" cy="430228"/>
          </a:xfrm>
          <a:prstGeom prst="downArrow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3421073" y="5229575"/>
            <a:ext cx="64474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 smtClean="0"/>
              <a:t>Número total de muestras</a:t>
            </a:r>
            <a:endParaRPr lang="es-CO" sz="2000" dirty="0" smtClean="0"/>
          </a:p>
          <a:p>
            <a:endParaRPr lang="es-CO" sz="2000" dirty="0"/>
          </a:p>
        </p:txBody>
      </p:sp>
      <p:sp>
        <p:nvSpPr>
          <p:cNvPr id="1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2781630" y="3547309"/>
            <a:ext cx="64474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 smtClean="0"/>
              <a:t>Número de pixeles del color </a:t>
            </a:r>
            <a:r>
              <a:rPr lang="es-CO" sz="2000" b="1" i="1" dirty="0" smtClean="0"/>
              <a:t>i</a:t>
            </a:r>
            <a:endParaRPr lang="es-CO" sz="2000" b="1" dirty="0" smtClean="0"/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408072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Transformaciones de pre-procesamiento</a:t>
            </a:r>
            <a:endParaRPr lang="es-CO" sz="2000" b="1" dirty="0"/>
          </a:p>
        </p:txBody>
      </p:sp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Mejoramiento de la señal</a:t>
            </a:r>
            <a:endParaRPr lang="es-CO" sz="2000" b="1" i="1" dirty="0"/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60859" y="2784782"/>
            <a:ext cx="728506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Mejorar la relación señal ruido aplicando </a:t>
            </a:r>
            <a:r>
              <a:rPr lang="es-CO" sz="2000" b="1" i="1" dirty="0" smtClean="0"/>
              <a:t>filtros</a:t>
            </a:r>
          </a:p>
          <a:p>
            <a:endParaRPr lang="es-CO" sz="2000" dirty="0"/>
          </a:p>
        </p:txBody>
      </p:sp>
      <p:sp>
        <p:nvSpPr>
          <p:cNvPr id="1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60859" y="3511678"/>
            <a:ext cx="728506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Eliminación </a:t>
            </a:r>
            <a:r>
              <a:rPr lang="es-CO" sz="2000" dirty="0"/>
              <a:t>de línea de </a:t>
            </a:r>
            <a:r>
              <a:rPr lang="es-CO" sz="2000" dirty="0" smtClean="0"/>
              <a:t>base (</a:t>
            </a:r>
            <a:r>
              <a:rPr lang="es-CO" sz="2000" i="1" dirty="0" err="1" smtClean="0"/>
              <a:t>baseline</a:t>
            </a:r>
            <a:r>
              <a:rPr lang="es-CO" sz="2000" i="1" dirty="0" smtClean="0"/>
              <a:t> </a:t>
            </a:r>
            <a:r>
              <a:rPr lang="es-CO" sz="2000" i="1" dirty="0" err="1" smtClean="0"/>
              <a:t>removal</a:t>
            </a:r>
            <a:r>
              <a:rPr lang="es-CO" sz="2000" dirty="0" smtClean="0"/>
              <a:t>)</a:t>
            </a:r>
          </a:p>
          <a:p>
            <a:r>
              <a:rPr lang="es-CO" sz="2000" dirty="0" smtClean="0"/>
              <a:t>Eliminación del fondo (</a:t>
            </a:r>
            <a:r>
              <a:rPr lang="es-CO" sz="2000" i="1" dirty="0" err="1" smtClean="0"/>
              <a:t>background</a:t>
            </a:r>
            <a:r>
              <a:rPr lang="es-CO" sz="2000" i="1" dirty="0" smtClean="0"/>
              <a:t> </a:t>
            </a:r>
            <a:r>
              <a:rPr lang="es-CO" sz="2000" i="1" dirty="0" err="1" smtClean="0"/>
              <a:t>removal</a:t>
            </a:r>
            <a:r>
              <a:rPr lang="es-CO" sz="2000" dirty="0" smtClean="0"/>
              <a:t>)</a:t>
            </a:r>
          </a:p>
          <a:p>
            <a:r>
              <a:rPr lang="es-CO" sz="2000" dirty="0" smtClean="0"/>
              <a:t>Eliminación de ruido (</a:t>
            </a:r>
            <a:r>
              <a:rPr lang="es-CO" sz="2000" i="1" dirty="0" err="1" smtClean="0"/>
              <a:t>denoising</a:t>
            </a:r>
            <a:r>
              <a:rPr lang="es-CO" sz="2000" dirty="0" smtClean="0"/>
              <a:t>)</a:t>
            </a:r>
          </a:p>
          <a:p>
            <a:r>
              <a:rPr lang="es-CO" sz="2000" dirty="0" smtClean="0"/>
              <a:t>Suavizado (</a:t>
            </a:r>
            <a:r>
              <a:rPr lang="es-CO" sz="2000" i="1" dirty="0" err="1" smtClean="0"/>
              <a:t>smoothing</a:t>
            </a:r>
            <a:r>
              <a:rPr lang="es-CO" sz="2000" dirty="0" smtClean="0"/>
              <a:t>)</a:t>
            </a:r>
          </a:p>
          <a:p>
            <a:r>
              <a:rPr lang="es-CO" sz="2000" dirty="0" smtClean="0"/>
              <a:t>Agudizamiento (</a:t>
            </a:r>
            <a:r>
              <a:rPr lang="es-CO" sz="2000" i="1" dirty="0" err="1" smtClean="0"/>
              <a:t>sharpening</a:t>
            </a:r>
            <a:r>
              <a:rPr lang="es-CO" sz="2000" dirty="0" smtClean="0"/>
              <a:t>)</a:t>
            </a:r>
          </a:p>
          <a:p>
            <a:endParaRPr lang="es-CO" sz="2000" dirty="0"/>
          </a:p>
          <a:p>
            <a:r>
              <a:rPr lang="es-CO" sz="2000" dirty="0" smtClean="0"/>
              <a:t>Transformada de Fourier</a:t>
            </a:r>
          </a:p>
          <a:p>
            <a:r>
              <a:rPr lang="es-CO" sz="2000" dirty="0" smtClean="0"/>
              <a:t>Transformada de onditas (</a:t>
            </a:r>
            <a:r>
              <a:rPr lang="es-CO" sz="2000" i="1" dirty="0" smtClean="0"/>
              <a:t>wavelet </a:t>
            </a:r>
            <a:r>
              <a:rPr lang="es-CO" sz="2000" i="1" dirty="0" err="1" smtClean="0"/>
              <a:t>transform</a:t>
            </a:r>
            <a:r>
              <a:rPr lang="es-CO" sz="2000" dirty="0" smtClean="0"/>
              <a:t>)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531085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Transformaciones de pre-procesamiento</a:t>
            </a:r>
            <a:endParaRPr lang="es-CO" sz="2000" b="1" dirty="0"/>
          </a:p>
        </p:txBody>
      </p:sp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Métodos de integración espacial: lineales y no lineales</a:t>
            </a:r>
            <a:endParaRPr lang="es-CO" sz="2000" b="1" i="1" dirty="0"/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49674" y="2865078"/>
            <a:ext cx="72850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Fundamentalmente trabajan la reducción de </a:t>
            </a:r>
            <a:r>
              <a:rPr lang="es-CO" sz="2000" dirty="0" err="1" smtClean="0"/>
              <a:t>dimensionalidad</a:t>
            </a:r>
            <a:r>
              <a:rPr lang="es-CO" sz="2000" dirty="0" smtClean="0"/>
              <a:t>: </a:t>
            </a:r>
          </a:p>
          <a:p>
            <a:endParaRPr lang="es-CO" sz="2000" b="1" i="1" dirty="0" smtClean="0"/>
          </a:p>
          <a:p>
            <a:r>
              <a:rPr lang="es-CO" sz="2000" dirty="0" smtClean="0"/>
              <a:t>Análisis de componente principales </a:t>
            </a:r>
            <a:r>
              <a:rPr lang="es-CO" sz="2000" b="1" i="1" dirty="0" smtClean="0"/>
              <a:t>PCA</a:t>
            </a:r>
          </a:p>
          <a:p>
            <a:endParaRPr lang="es-CO" sz="2000" b="1" i="1" dirty="0" smtClean="0"/>
          </a:p>
          <a:p>
            <a:r>
              <a:rPr lang="es-CO" sz="2000" dirty="0" smtClean="0"/>
              <a:t>Escalamiento multidimensional </a:t>
            </a:r>
            <a:r>
              <a:rPr lang="es-CO" sz="2000" b="1" i="1" dirty="0" smtClean="0"/>
              <a:t>MDS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94121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Transformaciones de pre-procesamiento</a:t>
            </a:r>
            <a:endParaRPr lang="es-CO" sz="2000" b="1" dirty="0"/>
          </a:p>
        </p:txBody>
      </p:sp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Métodos de integración espacial: lineales y no lineales</a:t>
            </a:r>
            <a:endParaRPr lang="es-CO" sz="2000" b="1" i="1" dirty="0"/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49674" y="2865078"/>
            <a:ext cx="72850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Análisis de componente principales </a:t>
            </a:r>
            <a:r>
              <a:rPr lang="es-CO" sz="2000" b="1" i="1" dirty="0" smtClean="0"/>
              <a:t>PCA</a:t>
            </a:r>
          </a:p>
        </p:txBody>
      </p:sp>
      <p:sp>
        <p:nvSpPr>
          <p:cNvPr id="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2700380" y="6243165"/>
            <a:ext cx="21102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 err="1" smtClean="0"/>
              <a:t>Dataset</a:t>
            </a:r>
            <a:r>
              <a:rPr lang="es-CO" sz="2000" i="1" dirty="0" smtClean="0"/>
              <a:t> ejemplo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964" y="344944"/>
            <a:ext cx="4009879" cy="2685081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055" y="3257374"/>
            <a:ext cx="3004705" cy="2441864"/>
          </a:xfrm>
          <a:prstGeom prst="rect">
            <a:avLst/>
          </a:prstGeom>
        </p:spPr>
      </p:pic>
      <p:sp>
        <p:nvSpPr>
          <p:cNvPr id="13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5938175" y="5963368"/>
            <a:ext cx="4523450" cy="643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La idea es determinar cuáles de esas características son más relevantes</a:t>
            </a:r>
            <a:endParaRPr lang="es-CO" sz="2000" b="1" i="1" dirty="0" smtClean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665" y="3265188"/>
            <a:ext cx="3757044" cy="301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4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Transformaciones de pre-procesamiento</a:t>
            </a:r>
            <a:endParaRPr lang="es-CO" sz="2000" b="1" dirty="0"/>
          </a:p>
        </p:txBody>
      </p:sp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Métodos de integración espacial: lineales y no lineales</a:t>
            </a:r>
            <a:endParaRPr lang="es-CO" sz="2000" b="1" i="1" dirty="0"/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49674" y="2865078"/>
            <a:ext cx="72850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Análisis de componente principales </a:t>
            </a:r>
            <a:r>
              <a:rPr lang="es-CO" sz="2000" b="1" i="1" dirty="0" smtClean="0"/>
              <a:t>PCA</a:t>
            </a:r>
          </a:p>
        </p:txBody>
      </p:sp>
      <p:sp>
        <p:nvSpPr>
          <p:cNvPr id="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2232547" y="6150114"/>
            <a:ext cx="21102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 smtClean="0"/>
              <a:t>Encontramos la posición promedio</a:t>
            </a:r>
          </a:p>
        </p:txBody>
      </p:sp>
      <p:sp>
        <p:nvSpPr>
          <p:cNvPr id="13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5459710" y="6027163"/>
            <a:ext cx="45234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 smtClean="0"/>
              <a:t>Centramos los datos de acuerdo a la posición </a:t>
            </a:r>
            <a:r>
              <a:rPr lang="es-CO" sz="2000" i="1" dirty="0" err="1" smtClean="0"/>
              <a:t>entontrada</a:t>
            </a:r>
            <a:endParaRPr lang="es-CO" sz="2000" b="1" i="1" dirty="0" smtClean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674" y="3635507"/>
            <a:ext cx="3113060" cy="260765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199" y="3948240"/>
            <a:ext cx="3205537" cy="2004940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229" y="1281189"/>
            <a:ext cx="3753790" cy="2433133"/>
          </a:xfrm>
          <a:prstGeom prst="rect">
            <a:avLst/>
          </a:prstGeom>
        </p:spPr>
      </p:pic>
      <p:sp>
        <p:nvSpPr>
          <p:cNvPr id="1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642484" y="3678114"/>
            <a:ext cx="339853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 smtClean="0"/>
              <a:t>Encontramos la recta que mejor se ajusta a los datos</a:t>
            </a:r>
            <a:endParaRPr lang="es-CO" sz="2000" b="1" i="1" dirty="0" smtClean="0"/>
          </a:p>
        </p:txBody>
      </p:sp>
      <p:sp>
        <p:nvSpPr>
          <p:cNvPr id="18" name="Flecha derecha 17"/>
          <p:cNvSpPr/>
          <p:nvPr/>
        </p:nvSpPr>
        <p:spPr>
          <a:xfrm>
            <a:off x="5071730" y="4742121"/>
            <a:ext cx="387980" cy="446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 derecha 18"/>
          <p:cNvSpPr/>
          <p:nvPr/>
        </p:nvSpPr>
        <p:spPr>
          <a:xfrm rot="19801186">
            <a:off x="7959936" y="4265975"/>
            <a:ext cx="387980" cy="446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517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Transformaciones de pre-procesamiento</a:t>
            </a:r>
            <a:endParaRPr lang="es-CO" sz="2000" b="1" dirty="0"/>
          </a:p>
        </p:txBody>
      </p:sp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Métodos de integración espacial: lineales y no lineales</a:t>
            </a:r>
            <a:endParaRPr lang="es-CO" sz="2000" b="1" i="1" dirty="0"/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49674" y="2865078"/>
            <a:ext cx="72850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Análisis de componente principales </a:t>
            </a:r>
            <a:r>
              <a:rPr lang="es-CO" sz="2000" b="1" i="1" dirty="0" smtClean="0"/>
              <a:t>PCA</a:t>
            </a:r>
          </a:p>
        </p:txBody>
      </p:sp>
      <p:sp>
        <p:nvSpPr>
          <p:cNvPr id="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542261" y="6150114"/>
            <a:ext cx="55927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 smtClean="0"/>
              <a:t>Cómo determinamos la recta que mejor se ajusta?</a:t>
            </a:r>
          </a:p>
        </p:txBody>
      </p:sp>
      <p:sp>
        <p:nvSpPr>
          <p:cNvPr id="13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6647655" y="4642251"/>
            <a:ext cx="45234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 smtClean="0"/>
              <a:t>Se determinan las distancias de las proyecciones al centro</a:t>
            </a:r>
            <a:endParaRPr lang="es-CO" sz="2000" b="1" i="1" dirty="0" smtClean="0"/>
          </a:p>
        </p:txBody>
      </p:sp>
      <p:sp>
        <p:nvSpPr>
          <p:cNvPr id="1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275446" y="3156311"/>
            <a:ext cx="339853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 smtClean="0">
                <a:solidFill>
                  <a:srgbClr val="FF0000"/>
                </a:solidFill>
              </a:rPr>
              <a:t>Se máxima la suma de todas las distancias elevadas al cuadrado!</a:t>
            </a:r>
            <a:endParaRPr lang="es-CO" sz="2000" b="1" i="1" dirty="0" smtClean="0">
              <a:solidFill>
                <a:srgbClr val="FF0000"/>
              </a:solidFill>
            </a:endParaRPr>
          </a:p>
        </p:txBody>
      </p:sp>
      <p:sp>
        <p:nvSpPr>
          <p:cNvPr id="18" name="Flecha derecha 17"/>
          <p:cNvSpPr/>
          <p:nvPr/>
        </p:nvSpPr>
        <p:spPr>
          <a:xfrm rot="19441001">
            <a:off x="8008996" y="4244871"/>
            <a:ext cx="387980" cy="446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 derecha 18"/>
          <p:cNvSpPr/>
          <p:nvPr/>
        </p:nvSpPr>
        <p:spPr>
          <a:xfrm rot="19801186">
            <a:off x="6199050" y="5172899"/>
            <a:ext cx="387980" cy="446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158" y="3618221"/>
            <a:ext cx="4098593" cy="2576259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9508286" y="2823415"/>
            <a:ext cx="15854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>
                <a:solidFill>
                  <a:srgbClr val="FF0000"/>
                </a:solidFill>
              </a:rPr>
              <a:t>PC1</a:t>
            </a:r>
          </a:p>
        </p:txBody>
      </p:sp>
    </p:spTree>
    <p:extLst>
      <p:ext uri="{BB962C8B-B14F-4D97-AF65-F5344CB8AC3E}">
        <p14:creationId xmlns:p14="http://schemas.microsoft.com/office/powerpoint/2010/main" val="2475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Transformaciones de pre-procesamiento</a:t>
            </a:r>
            <a:endParaRPr lang="es-CO" sz="2000" b="1" dirty="0"/>
          </a:p>
        </p:txBody>
      </p:sp>
      <p:sp>
        <p:nvSpPr>
          <p:cNvPr id="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Métodos de integración espacial: lineales y no lineales</a:t>
            </a:r>
            <a:endParaRPr lang="es-CO" sz="2000" b="1" i="1" dirty="0"/>
          </a:p>
        </p:txBody>
      </p:sp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49674" y="2865078"/>
            <a:ext cx="72850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Análisis de componente principales </a:t>
            </a:r>
            <a:r>
              <a:rPr lang="es-CO" sz="2000" b="1" i="1" dirty="0" smtClean="0"/>
              <a:t>PCA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923" y="3265188"/>
            <a:ext cx="4267026" cy="3242458"/>
          </a:xfrm>
          <a:prstGeom prst="rect">
            <a:avLst/>
          </a:prstGeom>
        </p:spPr>
      </p:pic>
      <p:sp>
        <p:nvSpPr>
          <p:cNvPr id="10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3830604" y="4187059"/>
            <a:ext cx="72850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Ahora podemos obtener el </a:t>
            </a:r>
            <a:r>
              <a:rPr lang="es-CO" sz="2000" b="1" i="1" dirty="0" err="1" smtClean="0"/>
              <a:t>eigenvector</a:t>
            </a:r>
            <a:r>
              <a:rPr lang="es-CO" sz="2000" dirty="0" smtClean="0"/>
              <a:t> de </a:t>
            </a:r>
            <a:r>
              <a:rPr lang="es-CO" sz="2000" b="1" dirty="0" smtClean="0"/>
              <a:t>PC1</a:t>
            </a:r>
            <a:endParaRPr lang="es-CO" sz="2000" b="1" i="1" dirty="0" smtClean="0"/>
          </a:p>
        </p:txBody>
      </p:sp>
      <p:sp>
        <p:nvSpPr>
          <p:cNvPr id="11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6420378" y="4847320"/>
            <a:ext cx="28087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Consideremos:</a:t>
            </a:r>
          </a:p>
          <a:p>
            <a:r>
              <a:rPr lang="es-CO" sz="2000" i="1" dirty="0" smtClean="0"/>
              <a:t>0.97</a:t>
            </a:r>
          </a:p>
          <a:p>
            <a:r>
              <a:rPr lang="es-CO" sz="2000" i="1" dirty="0" smtClean="0"/>
              <a:t>0.242</a:t>
            </a:r>
          </a:p>
        </p:txBody>
      </p:sp>
      <p:sp>
        <p:nvSpPr>
          <p:cNvPr id="12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6908758" y="5953857"/>
            <a:ext cx="72850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dirty="0" smtClean="0"/>
              <a:t>Puntajes de carga</a:t>
            </a:r>
            <a:endParaRPr lang="es-CO" sz="1600" b="1" i="1" dirty="0" smtClean="0"/>
          </a:p>
        </p:txBody>
      </p:sp>
    </p:spTree>
    <p:extLst>
      <p:ext uri="{BB962C8B-B14F-4D97-AF65-F5344CB8AC3E}">
        <p14:creationId xmlns:p14="http://schemas.microsoft.com/office/powerpoint/2010/main" val="348069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Transformaciones de pre-procesamiento</a:t>
            </a:r>
            <a:endParaRPr lang="es-CO" sz="2000" b="1" dirty="0"/>
          </a:p>
        </p:txBody>
      </p:sp>
      <p:sp>
        <p:nvSpPr>
          <p:cNvPr id="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Métodos de integración espacial: lineales y no lineales</a:t>
            </a:r>
            <a:endParaRPr lang="es-CO" sz="2000" b="1" i="1" dirty="0"/>
          </a:p>
        </p:txBody>
      </p:sp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49674" y="2865078"/>
            <a:ext cx="72850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Análisis de componente principales </a:t>
            </a:r>
            <a:r>
              <a:rPr lang="es-CO" sz="2000" b="1" i="1" dirty="0" smtClean="0"/>
              <a:t>PCA</a:t>
            </a:r>
          </a:p>
        </p:txBody>
      </p:sp>
      <p:sp>
        <p:nvSpPr>
          <p:cNvPr id="10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6531274" y="3656144"/>
            <a:ext cx="72850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Podemos obtener el </a:t>
            </a:r>
            <a:r>
              <a:rPr lang="es-CO" sz="2000" i="1" dirty="0" err="1" smtClean="0"/>
              <a:t>eigenvector</a:t>
            </a:r>
            <a:r>
              <a:rPr lang="es-CO" sz="2000" dirty="0" smtClean="0"/>
              <a:t> de </a:t>
            </a:r>
            <a:r>
              <a:rPr lang="es-CO" sz="2000" b="1" dirty="0" smtClean="0"/>
              <a:t>PC2</a:t>
            </a:r>
            <a:endParaRPr lang="es-CO" sz="2000" b="1" i="1" dirty="0" smtClean="0"/>
          </a:p>
        </p:txBody>
      </p:sp>
      <p:sp>
        <p:nvSpPr>
          <p:cNvPr id="11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6792518" y="4185599"/>
            <a:ext cx="28087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Consideremos:</a:t>
            </a:r>
          </a:p>
          <a:p>
            <a:r>
              <a:rPr lang="es-CO" sz="2000" i="1" dirty="0" smtClean="0"/>
              <a:t>0.97</a:t>
            </a:r>
          </a:p>
          <a:p>
            <a:r>
              <a:rPr lang="es-CO" sz="2000" i="1" dirty="0" smtClean="0"/>
              <a:t>-0.242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49" y="3430582"/>
            <a:ext cx="4591629" cy="2833475"/>
          </a:xfrm>
          <a:prstGeom prst="rect">
            <a:avLst/>
          </a:prstGeom>
        </p:spPr>
      </p:pic>
      <p:sp>
        <p:nvSpPr>
          <p:cNvPr id="12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2100918" y="4372596"/>
            <a:ext cx="122749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 smtClean="0"/>
              <a:t>Línea recta perpendicular a PC1 (PC2)</a:t>
            </a:r>
            <a:endParaRPr lang="es-CO" sz="1400" b="1" i="1" dirty="0" smtClean="0"/>
          </a:p>
        </p:txBody>
      </p:sp>
      <p:sp>
        <p:nvSpPr>
          <p:cNvPr id="13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7457398" y="5234878"/>
            <a:ext cx="72850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dirty="0" smtClean="0"/>
              <a:t>Puntajes de carga</a:t>
            </a:r>
            <a:endParaRPr lang="es-CO" sz="1600" b="1" i="1" dirty="0" smtClean="0"/>
          </a:p>
        </p:txBody>
      </p:sp>
    </p:spTree>
    <p:extLst>
      <p:ext uri="{BB962C8B-B14F-4D97-AF65-F5344CB8AC3E}">
        <p14:creationId xmlns:p14="http://schemas.microsoft.com/office/powerpoint/2010/main" val="288999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826" y="3484603"/>
            <a:ext cx="4028982" cy="2662134"/>
          </a:xfrm>
          <a:prstGeom prst="rect">
            <a:avLst/>
          </a:prstGeom>
        </p:spPr>
      </p:pic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Transformaciones de pre-procesamiento</a:t>
            </a:r>
            <a:endParaRPr lang="es-CO" sz="2000" b="1" dirty="0"/>
          </a:p>
        </p:txBody>
      </p:sp>
      <p:sp>
        <p:nvSpPr>
          <p:cNvPr id="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Métodos de integración espacial: lineales y no lineales</a:t>
            </a:r>
            <a:endParaRPr lang="es-CO" sz="2000" b="1" i="1" dirty="0"/>
          </a:p>
        </p:txBody>
      </p:sp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49674" y="2865078"/>
            <a:ext cx="72850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Análisis de componente principales </a:t>
            </a:r>
            <a:r>
              <a:rPr lang="es-CO" sz="2000" b="1" i="1" dirty="0" smtClean="0"/>
              <a:t>PCA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430" y="3484603"/>
            <a:ext cx="3975894" cy="2440463"/>
          </a:xfrm>
          <a:prstGeom prst="rect">
            <a:avLst/>
          </a:prstGeom>
        </p:spPr>
      </p:pic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905595" y="6260275"/>
            <a:ext cx="72850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dirty="0" smtClean="0"/>
              <a:t>Esta es la descomposición en componentes principales</a:t>
            </a:r>
            <a:endParaRPr lang="es-CO" sz="1600" b="1" i="1" dirty="0" smtClean="0"/>
          </a:p>
        </p:txBody>
      </p:sp>
      <p:sp>
        <p:nvSpPr>
          <p:cNvPr id="10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6818254" y="2909155"/>
            <a:ext cx="39650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dirty="0" smtClean="0">
                <a:solidFill>
                  <a:srgbClr val="FF0000"/>
                </a:solidFill>
              </a:rPr>
              <a:t>Ahora calculemos la variación total de cada componente y la variación total</a:t>
            </a:r>
            <a:endParaRPr lang="es-CO" sz="1600" b="1" i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99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516" y="3556320"/>
            <a:ext cx="6020732" cy="2430767"/>
          </a:xfrm>
          <a:prstGeom prst="rect">
            <a:avLst/>
          </a:prstGeom>
        </p:spPr>
      </p:pic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Transformaciones de pre-procesamiento</a:t>
            </a:r>
            <a:endParaRPr lang="es-CO" sz="2000" b="1" dirty="0"/>
          </a:p>
        </p:txBody>
      </p:sp>
      <p:sp>
        <p:nvSpPr>
          <p:cNvPr id="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Métodos de integración espacial: lineales y no lineales</a:t>
            </a:r>
            <a:endParaRPr lang="es-CO" sz="2000" b="1" i="1" dirty="0"/>
          </a:p>
        </p:txBody>
      </p:sp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49674" y="2865078"/>
            <a:ext cx="72850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Análisis de componente principales </a:t>
            </a:r>
            <a:r>
              <a:rPr lang="es-CO" sz="2000" b="1" i="1" dirty="0" smtClean="0"/>
              <a:t>PCA</a:t>
            </a:r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905595" y="6260275"/>
            <a:ext cx="72850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dirty="0" smtClean="0"/>
              <a:t>Obtenemos finalmente el </a:t>
            </a:r>
            <a:r>
              <a:rPr lang="es-CO" sz="1600" i="1" dirty="0" err="1" smtClean="0"/>
              <a:t>scree</a:t>
            </a:r>
            <a:r>
              <a:rPr lang="es-CO" sz="1600" i="1" dirty="0" smtClean="0"/>
              <a:t> </a:t>
            </a:r>
            <a:r>
              <a:rPr lang="es-CO" sz="1600" i="1" dirty="0" err="1" smtClean="0"/>
              <a:t>graph</a:t>
            </a:r>
            <a:endParaRPr lang="es-CO" sz="1600" b="1" i="1" dirty="0" smtClean="0"/>
          </a:p>
        </p:txBody>
      </p:sp>
    </p:spTree>
    <p:extLst>
      <p:ext uri="{BB962C8B-B14F-4D97-AF65-F5344CB8AC3E}">
        <p14:creationId xmlns:p14="http://schemas.microsoft.com/office/powerpoint/2010/main" val="285996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Transformaciones de pre-procesamiento</a:t>
            </a:r>
            <a:endParaRPr lang="es-CO" sz="2000" b="1" dirty="0"/>
          </a:p>
        </p:txBody>
      </p:sp>
      <p:sp>
        <p:nvSpPr>
          <p:cNvPr id="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Métodos de integración espacial: lineales y no lineales</a:t>
            </a:r>
            <a:endParaRPr lang="es-CO" sz="2000" b="1" i="1" dirty="0"/>
          </a:p>
        </p:txBody>
      </p:sp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49674" y="2865078"/>
            <a:ext cx="72850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Análisis de componente principales </a:t>
            </a:r>
            <a:r>
              <a:rPr lang="es-CO" sz="2000" b="1" i="1" dirty="0" smtClean="0"/>
              <a:t>PCA</a:t>
            </a:r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3473187" y="3358895"/>
            <a:ext cx="41122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b="1" i="1" dirty="0" smtClean="0">
                <a:solidFill>
                  <a:srgbClr val="FF0000"/>
                </a:solidFill>
              </a:rPr>
              <a:t>Para las demás dimensiones (características)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10" y="3943696"/>
            <a:ext cx="2908260" cy="2179973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763" y="4080704"/>
            <a:ext cx="3189742" cy="1905955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284" y="3760379"/>
            <a:ext cx="3873872" cy="2452161"/>
          </a:xfrm>
          <a:prstGeom prst="rect">
            <a:avLst/>
          </a:prstGeom>
        </p:spPr>
      </p:pic>
      <p:sp>
        <p:nvSpPr>
          <p:cNvPr id="16" name="Flecha derecha 15"/>
          <p:cNvSpPr/>
          <p:nvPr/>
        </p:nvSpPr>
        <p:spPr>
          <a:xfrm>
            <a:off x="3137647" y="5145741"/>
            <a:ext cx="176116" cy="242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 derecha 16"/>
          <p:cNvSpPr/>
          <p:nvPr/>
        </p:nvSpPr>
        <p:spPr>
          <a:xfrm>
            <a:off x="6590836" y="5145741"/>
            <a:ext cx="176116" cy="242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7466542" y="1887430"/>
            <a:ext cx="72850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dirty="0" smtClean="0"/>
              <a:t>Ahora tendremos 3 puntajes de carga</a:t>
            </a:r>
            <a:endParaRPr lang="es-CO" sz="1600" b="1" i="1" dirty="0" smtClean="0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507" y="2328440"/>
            <a:ext cx="1833425" cy="946285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7932" y="2353832"/>
            <a:ext cx="1821596" cy="89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79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Transformaciones de pre-procesamiento</a:t>
            </a:r>
            <a:endParaRPr lang="es-CO" sz="2000" b="1" dirty="0"/>
          </a:p>
        </p:txBody>
      </p:sp>
      <p:sp>
        <p:nvSpPr>
          <p:cNvPr id="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Métodos de integración espacial: lineales y no lineales</a:t>
            </a:r>
            <a:endParaRPr lang="es-CO" sz="2000" b="1" i="1" dirty="0"/>
          </a:p>
        </p:txBody>
      </p:sp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49674" y="2865078"/>
            <a:ext cx="72850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Análisis de componente principales </a:t>
            </a:r>
            <a:r>
              <a:rPr lang="es-CO" sz="2000" b="1" i="1" dirty="0" smtClean="0"/>
              <a:t>PCA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294" y="3433751"/>
            <a:ext cx="5052329" cy="273369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294" y="3740113"/>
            <a:ext cx="2205434" cy="1314152"/>
          </a:xfrm>
          <a:prstGeom prst="rect">
            <a:avLst/>
          </a:prstGeom>
        </p:spPr>
      </p:pic>
      <p:sp>
        <p:nvSpPr>
          <p:cNvPr id="11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725475" y="3340003"/>
            <a:ext cx="72850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>
                <a:solidFill>
                  <a:srgbClr val="FF0000"/>
                </a:solidFill>
              </a:rPr>
              <a:t>Cuidado!</a:t>
            </a:r>
          </a:p>
        </p:txBody>
      </p:sp>
    </p:spTree>
    <p:extLst>
      <p:ext uri="{BB962C8B-B14F-4D97-AF65-F5344CB8AC3E}">
        <p14:creationId xmlns:p14="http://schemas.microsoft.com/office/powerpoint/2010/main" val="4168293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Transformaciones de pre-procesamiento</a:t>
            </a:r>
            <a:endParaRPr lang="es-CO" sz="2000" b="1" dirty="0"/>
          </a:p>
        </p:txBody>
      </p:sp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/>
              <a:t>Expansiones no lineales</a:t>
            </a:r>
            <a:endParaRPr lang="es-CO" sz="2000" b="1" i="1" dirty="0"/>
          </a:p>
        </p:txBody>
      </p:sp>
      <p:sp>
        <p:nvSpPr>
          <p:cNvPr id="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49674" y="2865078"/>
            <a:ext cx="72850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Algunas veces aumentar la </a:t>
            </a:r>
            <a:r>
              <a:rPr lang="es-CO" sz="2000" dirty="0" err="1" smtClean="0"/>
              <a:t>dimensionalidad</a:t>
            </a:r>
            <a:r>
              <a:rPr lang="es-CO" sz="2000" dirty="0" smtClean="0"/>
              <a:t> de los datos puede ser beneficioso.</a:t>
            </a:r>
          </a:p>
          <a:p>
            <a:endParaRPr lang="es-CO" sz="2000" b="1" i="1" dirty="0"/>
          </a:p>
          <a:p>
            <a:r>
              <a:rPr lang="es-CO" sz="2000" b="1" i="1" dirty="0" smtClean="0"/>
              <a:t>Aumenta la complejidad computacional</a:t>
            </a:r>
          </a:p>
          <a:p>
            <a:endParaRPr lang="es-CO" sz="2000" b="1" i="1" dirty="0"/>
          </a:p>
          <a:p>
            <a:r>
              <a:rPr lang="es-CO" sz="2000" b="1" i="1" dirty="0" smtClean="0"/>
              <a:t>Aumenta la precisión de clasificación</a:t>
            </a:r>
          </a:p>
        </p:txBody>
      </p:sp>
    </p:spTree>
    <p:extLst>
      <p:ext uri="{BB962C8B-B14F-4D97-AF65-F5344CB8AC3E}">
        <p14:creationId xmlns:p14="http://schemas.microsoft.com/office/powerpoint/2010/main" val="130581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Transformaciones de pre-procesamiento</a:t>
            </a:r>
            <a:endParaRPr lang="es-CO" sz="2000" b="1" dirty="0"/>
          </a:p>
        </p:txBody>
      </p:sp>
      <p:sp>
        <p:nvSpPr>
          <p:cNvPr id="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16832" y="2173836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err="1" smtClean="0"/>
              <a:t>Discretización</a:t>
            </a:r>
            <a:r>
              <a:rPr lang="es-CO" sz="2000" b="1" i="1" dirty="0" smtClean="0"/>
              <a:t> de características</a:t>
            </a:r>
            <a:endParaRPr lang="es-CO" sz="2000" b="1" i="1" dirty="0"/>
          </a:p>
        </p:txBody>
      </p:sp>
      <p:sp>
        <p:nvSpPr>
          <p:cNvPr id="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349674" y="2865078"/>
            <a:ext cx="72850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err="1" smtClean="0"/>
              <a:t>Discretizar</a:t>
            </a:r>
            <a:r>
              <a:rPr lang="es-CO" sz="2000" dirty="0" smtClean="0"/>
              <a:t> valores continuos</a:t>
            </a:r>
          </a:p>
          <a:p>
            <a:endParaRPr lang="es-CO" sz="2000" dirty="0"/>
          </a:p>
          <a:p>
            <a:r>
              <a:rPr lang="es-CO" sz="1600" b="1" i="1" dirty="0" smtClean="0"/>
              <a:t>Mejora la implementación de ciertos algoritmos</a:t>
            </a:r>
          </a:p>
          <a:p>
            <a:endParaRPr lang="es-CO" sz="1600" b="1" i="1" dirty="0" smtClean="0"/>
          </a:p>
          <a:p>
            <a:r>
              <a:rPr lang="es-CO" sz="1600" b="1" i="1" dirty="0" smtClean="0"/>
              <a:t>Descripción de los datos</a:t>
            </a:r>
          </a:p>
          <a:p>
            <a:endParaRPr lang="es-CO" sz="1600" b="1" i="1" dirty="0" smtClean="0"/>
          </a:p>
          <a:p>
            <a:r>
              <a:rPr lang="es-CO" sz="1600" b="1" i="1" dirty="0" smtClean="0"/>
              <a:t>Entendimiento de los datos</a:t>
            </a:r>
          </a:p>
        </p:txBody>
      </p:sp>
    </p:spTree>
    <p:extLst>
      <p:ext uri="{BB962C8B-B14F-4D97-AF65-F5344CB8AC3E}">
        <p14:creationId xmlns:p14="http://schemas.microsoft.com/office/powerpoint/2010/main" val="60755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err="1" smtClean="0"/>
              <a:t>Dimensionalidad</a:t>
            </a:r>
            <a:r>
              <a:rPr lang="es-CO" sz="2000" b="1" dirty="0" smtClean="0"/>
              <a:t> del espacio de características</a:t>
            </a:r>
            <a:endParaRPr lang="es-CO" sz="2000" b="1" dirty="0"/>
          </a:p>
        </p:txBody>
      </p:sp>
      <p:sp>
        <p:nvSpPr>
          <p:cNvPr id="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877625" y="3537431"/>
            <a:ext cx="158544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 smtClean="0"/>
              <a:t>Métodos de integración del espacio. </a:t>
            </a:r>
            <a:r>
              <a:rPr lang="es-CO" sz="2000" dirty="0" err="1" smtClean="0"/>
              <a:t>Ej</a:t>
            </a:r>
            <a:r>
              <a:rPr lang="es-CO" sz="2000" dirty="0" smtClean="0"/>
              <a:t>: PCA</a:t>
            </a:r>
            <a:endParaRPr lang="es-CO" sz="1600" b="1" i="1" dirty="0" smtClean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4322988" y="3578623"/>
            <a:ext cx="232682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 smtClean="0"/>
              <a:t>Mejoramiento de la señal</a:t>
            </a:r>
          </a:p>
          <a:p>
            <a:pPr algn="ctr"/>
            <a:r>
              <a:rPr lang="es-CO" sz="2000" dirty="0" smtClean="0"/>
              <a:t>Normalización</a:t>
            </a:r>
          </a:p>
          <a:p>
            <a:pPr algn="ctr"/>
            <a:r>
              <a:rPr lang="es-CO" sz="2000" dirty="0" smtClean="0"/>
              <a:t>Estandarización</a:t>
            </a:r>
            <a:endParaRPr lang="es-CO" sz="1600" dirty="0" smtClean="0"/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7650896" y="3537429"/>
            <a:ext cx="232682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 smtClean="0"/>
              <a:t>Expansiones no lineales</a:t>
            </a:r>
          </a:p>
          <a:p>
            <a:pPr algn="ctr"/>
            <a:r>
              <a:rPr lang="es-CO" sz="2000" dirty="0" err="1" smtClean="0"/>
              <a:t>Discretización</a:t>
            </a:r>
            <a:r>
              <a:rPr lang="es-CO" sz="2000" dirty="0" smtClean="0"/>
              <a:t> de características</a:t>
            </a:r>
            <a:endParaRPr lang="es-CO" sz="1600" dirty="0" smtClean="0"/>
          </a:p>
        </p:txBody>
      </p:sp>
      <p:sp>
        <p:nvSpPr>
          <p:cNvPr id="2" name="Elipse 1"/>
          <p:cNvSpPr/>
          <p:nvPr/>
        </p:nvSpPr>
        <p:spPr>
          <a:xfrm>
            <a:off x="4222375" y="3182471"/>
            <a:ext cx="2492188" cy="207084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/>
          <p:cNvSpPr/>
          <p:nvPr/>
        </p:nvSpPr>
        <p:spPr>
          <a:xfrm>
            <a:off x="7728689" y="3257853"/>
            <a:ext cx="2059659" cy="188258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1819247" y="3358465"/>
            <a:ext cx="1702197" cy="1555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936002" y="5140441"/>
            <a:ext cx="15854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b="1" i="1" dirty="0" smtClean="0"/>
              <a:t>Lo reducen</a:t>
            </a:r>
            <a:endParaRPr lang="es-CO" sz="1600" b="1" i="1" dirty="0" smtClean="0"/>
          </a:p>
        </p:txBody>
      </p:sp>
      <p:sp>
        <p:nvSpPr>
          <p:cNvPr id="13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4693677" y="5340496"/>
            <a:ext cx="15854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b="1" i="1" dirty="0" smtClean="0"/>
              <a:t>No lo afecta</a:t>
            </a:r>
            <a:endParaRPr lang="es-CO" sz="1600" b="1" i="1" dirty="0" smtClean="0"/>
          </a:p>
        </p:txBody>
      </p:sp>
      <p:sp>
        <p:nvSpPr>
          <p:cNvPr id="1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021585" y="5253318"/>
            <a:ext cx="15854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b="1" i="1" dirty="0" smtClean="0"/>
              <a:t>Lo alarga</a:t>
            </a:r>
            <a:endParaRPr lang="es-CO" sz="1600" b="1" i="1" dirty="0" smtClean="0"/>
          </a:p>
        </p:txBody>
      </p:sp>
    </p:spTree>
    <p:extLst>
      <p:ext uri="{BB962C8B-B14F-4D97-AF65-F5344CB8AC3E}">
        <p14:creationId xmlns:p14="http://schemas.microsoft.com/office/powerpoint/2010/main" val="34091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Construcción de características</a:t>
            </a:r>
            <a:endParaRPr lang="es-CO" sz="2000" b="1" dirty="0"/>
          </a:p>
        </p:txBody>
      </p:sp>
      <p:sp>
        <p:nvSpPr>
          <p:cNvPr id="1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2111675" y="3286419"/>
            <a:ext cx="33030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 smtClean="0"/>
              <a:t>La construcción de características condiciona el éxito de los anteriores métodos</a:t>
            </a:r>
            <a:endParaRPr lang="es-CO" sz="1600" b="1" i="1" dirty="0" smtClean="0"/>
          </a:p>
        </p:txBody>
      </p:sp>
      <p:cxnSp>
        <p:nvCxnSpPr>
          <p:cNvPr id="4" name="Conector recto de flecha 3"/>
          <p:cNvCxnSpPr/>
          <p:nvPr/>
        </p:nvCxnSpPr>
        <p:spPr>
          <a:xfrm flipV="1">
            <a:off x="6140824" y="2859741"/>
            <a:ext cx="1317811" cy="5647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>
            <a:off x="6140824" y="4230527"/>
            <a:ext cx="1317811" cy="610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7732547" y="2332492"/>
            <a:ext cx="33030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 smtClean="0"/>
              <a:t>Aprendizaje estadístico</a:t>
            </a:r>
            <a:endParaRPr lang="es-CO" sz="1600" b="1" i="1" dirty="0" smtClean="0"/>
          </a:p>
        </p:txBody>
      </p:sp>
      <p:sp>
        <p:nvSpPr>
          <p:cNvPr id="1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7831158" y="4640886"/>
            <a:ext cx="33030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 smtClean="0"/>
              <a:t>Aprendizaje de máquina</a:t>
            </a:r>
            <a:endParaRPr lang="es-CO" sz="1600" b="1" i="1" dirty="0" smtClean="0"/>
          </a:p>
        </p:txBody>
      </p:sp>
      <p:sp>
        <p:nvSpPr>
          <p:cNvPr id="1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851699" y="5510462"/>
            <a:ext cx="33030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b="1" i="1" dirty="0" smtClean="0">
                <a:solidFill>
                  <a:srgbClr val="FF0000"/>
                </a:solidFill>
              </a:rPr>
              <a:t>La idea: No perder información relevante en la etapa de construcción</a:t>
            </a:r>
            <a:endParaRPr lang="es-CO" sz="1600" b="1" i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71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Construcción de características</a:t>
            </a:r>
            <a:endParaRPr lang="es-CO" sz="2000" b="1" dirty="0"/>
          </a:p>
        </p:txBody>
      </p:sp>
      <p:sp>
        <p:nvSpPr>
          <p:cNvPr id="1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215203" y="3280437"/>
            <a:ext cx="92107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Estrategia propuesta: En todo momento, compare los resultados con y sin pre-procesamiento.</a:t>
            </a:r>
            <a:endParaRPr lang="es-CO" sz="1600" b="1" i="1" dirty="0" smtClean="0"/>
          </a:p>
        </p:txBody>
      </p:sp>
      <p:sp>
        <p:nvSpPr>
          <p:cNvPr id="1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412427" y="2149127"/>
            <a:ext cx="33030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b="1" i="1" dirty="0" smtClean="0">
                <a:solidFill>
                  <a:srgbClr val="FF0000"/>
                </a:solidFill>
              </a:rPr>
              <a:t>La idea: No perder información relevante en la etapa de construcción</a:t>
            </a:r>
            <a:endParaRPr lang="es-CO" sz="1600" b="1" i="1" dirty="0" smtClean="0">
              <a:solidFill>
                <a:srgbClr val="FF0000"/>
              </a:solidFill>
            </a:endParaRPr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641485" y="4324538"/>
            <a:ext cx="71528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b="1" i="1" dirty="0" smtClean="0">
                <a:solidFill>
                  <a:srgbClr val="FF0000"/>
                </a:solidFill>
              </a:rPr>
              <a:t>Es mejor pecar por ser demasiado inclusivo y no por arriesgarse a perder información valiosa.</a:t>
            </a:r>
            <a:endParaRPr lang="es-CO" sz="1600" b="1" i="1" dirty="0" smtClean="0">
              <a:solidFill>
                <a:srgbClr val="FF0000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1641485" y="6419661"/>
            <a:ext cx="9817669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400" dirty="0"/>
              <a:t>https://machinelearningmastery.com/discover-feature-engineering-how-to-engineer-features-and-how-to-get-good-at-it/</a:t>
            </a:r>
          </a:p>
        </p:txBody>
      </p:sp>
      <p:sp>
        <p:nvSpPr>
          <p:cNvPr id="11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56189" y="5138927"/>
            <a:ext cx="99446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Ahora bien… al incrementar la </a:t>
            </a:r>
            <a:r>
              <a:rPr lang="es-CO" sz="2000" dirty="0" err="1" smtClean="0"/>
              <a:t>dimensionalidad</a:t>
            </a:r>
            <a:r>
              <a:rPr lang="es-CO" sz="2000" dirty="0" smtClean="0"/>
              <a:t> de los patrones, pueden aparecer: ruido, información irrelevante o características redundantes.</a:t>
            </a:r>
            <a:endParaRPr lang="es-CO" sz="1600" dirty="0" smtClean="0"/>
          </a:p>
        </p:txBody>
      </p:sp>
    </p:spTree>
    <p:extLst>
      <p:ext uri="{BB962C8B-B14F-4D97-AF65-F5344CB8AC3E}">
        <p14:creationId xmlns:p14="http://schemas.microsoft.com/office/powerpoint/2010/main" val="1909178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551" y="4165644"/>
            <a:ext cx="1517479" cy="1426431"/>
          </a:xfrm>
          <a:prstGeom prst="rect">
            <a:avLst/>
          </a:prstGeom>
        </p:spPr>
      </p:pic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Selección de características</a:t>
            </a:r>
            <a:endParaRPr lang="es-CO" sz="2000" b="1" dirty="0"/>
          </a:p>
        </p:txBody>
      </p:sp>
      <p:sp>
        <p:nvSpPr>
          <p:cNvPr id="1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242635" y="2247165"/>
            <a:ext cx="92107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 smtClean="0"/>
              <a:t>Entonces… cuándo (cómo) sabemos que una característica es relevante (provee información útil)?</a:t>
            </a:r>
            <a:endParaRPr lang="es-CO" sz="1600" i="1" dirty="0" smtClean="0"/>
          </a:p>
        </p:txBody>
      </p:sp>
      <p:sp>
        <p:nvSpPr>
          <p:cNvPr id="8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4737090" y="3638015"/>
            <a:ext cx="174398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 smtClean="0"/>
              <a:t>Extracción de características</a:t>
            </a:r>
            <a:endParaRPr lang="es-CO" sz="1600" b="1" i="1" dirty="0" smtClean="0"/>
          </a:p>
        </p:txBody>
      </p:sp>
      <p:sp>
        <p:nvSpPr>
          <p:cNvPr id="10" name="Elipse 9"/>
          <p:cNvSpPr/>
          <p:nvPr/>
        </p:nvSpPr>
        <p:spPr>
          <a:xfrm>
            <a:off x="4736183" y="3414765"/>
            <a:ext cx="1702197" cy="116893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2562011" y="5189447"/>
            <a:ext cx="191838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 smtClean="0"/>
              <a:t>Construcción de características</a:t>
            </a:r>
            <a:endParaRPr lang="es-CO" sz="1600" b="1" i="1" dirty="0" smtClean="0"/>
          </a:p>
        </p:txBody>
      </p:sp>
      <p:sp>
        <p:nvSpPr>
          <p:cNvPr id="13" name="Elipse 12"/>
          <p:cNvSpPr/>
          <p:nvPr/>
        </p:nvSpPr>
        <p:spPr>
          <a:xfrm>
            <a:off x="2497004" y="5021914"/>
            <a:ext cx="2059659" cy="966065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6641183" y="5132715"/>
            <a:ext cx="17439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 smtClean="0"/>
              <a:t>Selección de características</a:t>
            </a:r>
            <a:endParaRPr lang="es-CO" sz="1600" b="1" i="1" dirty="0" smtClean="0"/>
          </a:p>
        </p:txBody>
      </p:sp>
      <p:sp>
        <p:nvSpPr>
          <p:cNvPr id="16" name="Elipse 15"/>
          <p:cNvSpPr/>
          <p:nvPr/>
        </p:nvSpPr>
        <p:spPr>
          <a:xfrm>
            <a:off x="6556073" y="4955322"/>
            <a:ext cx="1872417" cy="1062672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7" name="Conector recto de flecha 16"/>
          <p:cNvCxnSpPr>
            <a:endCxn id="16" idx="1"/>
          </p:cNvCxnSpPr>
          <p:nvPr/>
        </p:nvCxnSpPr>
        <p:spPr>
          <a:xfrm>
            <a:off x="6196272" y="4447611"/>
            <a:ext cx="634010" cy="6633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>
            <a:endCxn id="13" idx="7"/>
          </p:cNvCxnSpPr>
          <p:nvPr/>
        </p:nvCxnSpPr>
        <p:spPr>
          <a:xfrm flipH="1">
            <a:off x="4255033" y="4435941"/>
            <a:ext cx="681036" cy="7274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" name="AutoShape 2" descr="Resultado de imagen para check sig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060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Selección de características</a:t>
            </a:r>
            <a:endParaRPr lang="es-CO" sz="2000" b="1" dirty="0"/>
          </a:p>
        </p:txBody>
      </p:sp>
      <p:sp>
        <p:nvSpPr>
          <p:cNvPr id="1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242635" y="2247165"/>
            <a:ext cx="92107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 smtClean="0"/>
              <a:t>Para qué llevamos a cabo la selección de características?</a:t>
            </a:r>
            <a:endParaRPr lang="es-CO" sz="1600" i="1" dirty="0" smtClean="0"/>
          </a:p>
        </p:txBody>
      </p:sp>
      <p:sp>
        <p:nvSpPr>
          <p:cNvPr id="5" name="AutoShape 2" descr="Resultado de imagen para check sig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242635" y="3161565"/>
            <a:ext cx="921075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s-CO" sz="2000" dirty="0" smtClean="0"/>
              <a:t>Reducción de datos.</a:t>
            </a:r>
          </a:p>
          <a:p>
            <a:pPr lvl="1"/>
            <a:r>
              <a:rPr lang="es-CO" sz="1600" dirty="0" smtClean="0"/>
              <a:t>Almacenamiento.</a:t>
            </a:r>
          </a:p>
          <a:p>
            <a:pPr lvl="1"/>
            <a:r>
              <a:rPr lang="es-CO" sz="1600" dirty="0" smtClean="0"/>
              <a:t>Velocidad.</a:t>
            </a:r>
          </a:p>
          <a:p>
            <a:pPr lvl="1"/>
            <a:endParaRPr lang="es-CO" sz="1600" dirty="0" smtClean="0"/>
          </a:p>
          <a:p>
            <a:pPr marL="800100" lvl="1" indent="-342900">
              <a:buAutoNum type="arabicPeriod"/>
            </a:pPr>
            <a:endParaRPr lang="es-CO" sz="1600" dirty="0" smtClean="0"/>
          </a:p>
          <a:p>
            <a:pPr lvl="1"/>
            <a:endParaRPr lang="es-CO" sz="1600" dirty="0"/>
          </a:p>
        </p:txBody>
      </p:sp>
      <p:sp>
        <p:nvSpPr>
          <p:cNvPr id="20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242635" y="4255260"/>
            <a:ext cx="921075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2</a:t>
            </a:r>
            <a:r>
              <a:rPr lang="es-CO" sz="2000" dirty="0"/>
              <a:t>. </a:t>
            </a:r>
            <a:r>
              <a:rPr lang="es-CO" sz="2000" dirty="0" smtClean="0"/>
              <a:t>    Reducción </a:t>
            </a:r>
            <a:r>
              <a:rPr lang="es-CO" sz="2000" dirty="0"/>
              <a:t>del conjunto de </a:t>
            </a:r>
            <a:r>
              <a:rPr lang="es-CO" sz="2000" dirty="0" smtClean="0"/>
              <a:t>características.</a:t>
            </a:r>
          </a:p>
          <a:p>
            <a:pPr lvl="1"/>
            <a:endParaRPr lang="es-CO" sz="1600" dirty="0" smtClean="0"/>
          </a:p>
          <a:p>
            <a:pPr marL="800100" lvl="1" indent="-342900">
              <a:buAutoNum type="arabicPeriod"/>
            </a:pPr>
            <a:endParaRPr lang="es-CO" sz="1600" dirty="0" smtClean="0"/>
          </a:p>
          <a:p>
            <a:pPr lvl="1"/>
            <a:endParaRPr lang="es-CO" sz="1600" dirty="0"/>
          </a:p>
        </p:txBody>
      </p:sp>
      <p:sp>
        <p:nvSpPr>
          <p:cNvPr id="21" name="Rectángulo 20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242635" y="4792781"/>
            <a:ext cx="921075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/>
              <a:t>3</a:t>
            </a:r>
            <a:r>
              <a:rPr lang="es-CO" sz="2000" dirty="0" smtClean="0"/>
              <a:t>.     Mejoramiento del desempeño.</a:t>
            </a:r>
          </a:p>
          <a:p>
            <a:pPr lvl="1"/>
            <a:endParaRPr lang="es-CO" sz="1600" dirty="0" smtClean="0"/>
          </a:p>
          <a:p>
            <a:pPr marL="800100" lvl="1" indent="-342900">
              <a:buAutoNum type="arabicPeriod"/>
            </a:pPr>
            <a:endParaRPr lang="es-CO" sz="1600" dirty="0" smtClean="0"/>
          </a:p>
          <a:p>
            <a:pPr lvl="1"/>
            <a:endParaRPr lang="es-CO" sz="1600" dirty="0"/>
          </a:p>
        </p:txBody>
      </p:sp>
      <p:sp>
        <p:nvSpPr>
          <p:cNvPr id="22" name="Rectángulo 21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242635" y="5330302"/>
            <a:ext cx="921075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 startAt="4"/>
            </a:pPr>
            <a:r>
              <a:rPr lang="es-CO" sz="2000" dirty="0" smtClean="0"/>
              <a:t>Entendimiento de los datos</a:t>
            </a:r>
          </a:p>
          <a:p>
            <a:pPr lvl="1"/>
            <a:r>
              <a:rPr lang="es-CO" sz="1600" dirty="0" smtClean="0"/>
              <a:t>Conocimiento acerca de los procesos para generar datos.</a:t>
            </a:r>
          </a:p>
          <a:p>
            <a:pPr lvl="1"/>
            <a:r>
              <a:rPr lang="es-CO" sz="1600" dirty="0" smtClean="0"/>
              <a:t>Visualización de los datos.</a:t>
            </a:r>
          </a:p>
          <a:p>
            <a:pPr lvl="1"/>
            <a:endParaRPr lang="es-CO" sz="1600" dirty="0" smtClean="0"/>
          </a:p>
          <a:p>
            <a:pPr marL="800100" lvl="1" indent="-342900">
              <a:buAutoNum type="arabicPeriod"/>
            </a:pPr>
            <a:endParaRPr lang="es-CO" sz="1600" dirty="0" smtClean="0"/>
          </a:p>
          <a:p>
            <a:pPr lvl="1"/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85713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Selección de características</a:t>
            </a:r>
            <a:endParaRPr lang="es-CO" sz="2000" b="1" dirty="0"/>
          </a:p>
        </p:txBody>
      </p:sp>
      <p:sp>
        <p:nvSpPr>
          <p:cNvPr id="1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242635" y="2247165"/>
            <a:ext cx="92107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Técnicas: Métodos de filtro.</a:t>
            </a:r>
            <a:endParaRPr lang="es-CO" sz="1600" dirty="0" smtClean="0"/>
          </a:p>
        </p:txBody>
      </p:sp>
      <p:sp>
        <p:nvSpPr>
          <p:cNvPr id="5" name="AutoShape 2" descr="Resultado de imagen para check sig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242635" y="2820906"/>
            <a:ext cx="921075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/>
              <a:t>Los métodos de selección de características de filtro aplican una medida </a:t>
            </a:r>
            <a:r>
              <a:rPr lang="es-CO" sz="2000" b="1" i="1" dirty="0"/>
              <a:t>estadística</a:t>
            </a:r>
            <a:r>
              <a:rPr lang="es-CO" sz="2000" dirty="0"/>
              <a:t> para asignar una puntuación a cada característica</a:t>
            </a:r>
            <a:r>
              <a:rPr lang="es-CO" sz="2000" dirty="0" smtClean="0"/>
              <a:t>.</a:t>
            </a:r>
          </a:p>
          <a:p>
            <a:endParaRPr lang="es-CO" sz="2000" dirty="0"/>
          </a:p>
          <a:p>
            <a:r>
              <a:rPr lang="es-CO" b="1" i="1" dirty="0" smtClean="0"/>
              <a:t>Ejemplos: </a:t>
            </a:r>
          </a:p>
          <a:p>
            <a:r>
              <a:rPr lang="en-US" b="1" i="1" dirty="0" smtClean="0"/>
              <a:t>-   Chi </a:t>
            </a:r>
            <a:r>
              <a:rPr lang="en-US" b="1" i="1" dirty="0"/>
              <a:t>squared </a:t>
            </a:r>
            <a:r>
              <a:rPr lang="en-US" b="1" i="1" dirty="0" smtClean="0"/>
              <a:t>test.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T-test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F-test</a:t>
            </a:r>
            <a:endParaRPr lang="es-CO" dirty="0" smtClean="0"/>
          </a:p>
        </p:txBody>
      </p:sp>
      <p:sp>
        <p:nvSpPr>
          <p:cNvPr id="2" name="Rectángulo 1"/>
          <p:cNvSpPr/>
          <p:nvPr/>
        </p:nvSpPr>
        <p:spPr>
          <a:xfrm>
            <a:off x="1242635" y="581317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400" dirty="0"/>
              <a:t>https://machinelearningmastery.com/chi-squared-test-for-machine-learning/</a:t>
            </a:r>
          </a:p>
        </p:txBody>
      </p:sp>
    </p:spTree>
    <p:extLst>
      <p:ext uri="{BB962C8B-B14F-4D97-AF65-F5344CB8AC3E}">
        <p14:creationId xmlns:p14="http://schemas.microsoft.com/office/powerpoint/2010/main" val="226427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Selección de características</a:t>
            </a:r>
            <a:endParaRPr lang="es-CO" sz="2000" b="1" dirty="0"/>
          </a:p>
        </p:txBody>
      </p:sp>
      <p:sp>
        <p:nvSpPr>
          <p:cNvPr id="1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242635" y="2247165"/>
            <a:ext cx="92107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Técnicas: Métodos </a:t>
            </a:r>
            <a:r>
              <a:rPr lang="es-CO" sz="2000" dirty="0" err="1" smtClean="0"/>
              <a:t>Wrapper</a:t>
            </a:r>
            <a:r>
              <a:rPr lang="es-CO" sz="2000" dirty="0" smtClean="0"/>
              <a:t>.</a:t>
            </a:r>
            <a:endParaRPr lang="es-CO" sz="1600" dirty="0" smtClean="0"/>
          </a:p>
        </p:txBody>
      </p:sp>
      <p:sp>
        <p:nvSpPr>
          <p:cNvPr id="5" name="AutoShape 2" descr="Resultado de imagen para check sig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242634" y="2820906"/>
            <a:ext cx="10743177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/>
              <a:t>Los métodos de </a:t>
            </a:r>
            <a:r>
              <a:rPr lang="es-CO" sz="2000" b="1" i="1" dirty="0"/>
              <a:t>envoltura</a:t>
            </a:r>
            <a:r>
              <a:rPr lang="es-CO" sz="2000" dirty="0"/>
              <a:t> consideran la selección de un conjunto de características como un problema de búsqueda, donde se preparan, evalúan y comparan diferentes combinaciones con otras combinaciones. </a:t>
            </a:r>
            <a:endParaRPr lang="es-CO" sz="2000" dirty="0" smtClean="0"/>
          </a:p>
          <a:p>
            <a:endParaRPr lang="es-CO" sz="2000" dirty="0" smtClean="0"/>
          </a:p>
          <a:p>
            <a:r>
              <a:rPr lang="es-CO" sz="2000" dirty="0" smtClean="0"/>
              <a:t>Un </a:t>
            </a:r>
            <a:r>
              <a:rPr lang="es-CO" sz="2000" dirty="0"/>
              <a:t>modelo predictivo </a:t>
            </a:r>
            <a:r>
              <a:rPr lang="es-CO" sz="2000" dirty="0" smtClean="0"/>
              <a:t>es empleado para </a:t>
            </a:r>
            <a:r>
              <a:rPr lang="es-CO" sz="2000" dirty="0"/>
              <a:t>evaluar una combinación de características y asignar una puntuación basada en la precisión del modelo</a:t>
            </a:r>
            <a:r>
              <a:rPr lang="es-CO" sz="2000" dirty="0" smtClean="0"/>
              <a:t>.</a:t>
            </a:r>
          </a:p>
          <a:p>
            <a:endParaRPr lang="es-CO" sz="2000" dirty="0"/>
          </a:p>
          <a:p>
            <a:r>
              <a:rPr lang="es-CO" b="1" i="1" dirty="0" smtClean="0"/>
              <a:t>Ejemplo: </a:t>
            </a:r>
            <a:endParaRPr lang="es-CO" b="1" i="1" dirty="0" smtClean="0"/>
          </a:p>
          <a:p>
            <a:r>
              <a:rPr lang="en-US" b="1" i="1" dirty="0" smtClean="0"/>
              <a:t>-   </a:t>
            </a:r>
            <a:r>
              <a:rPr lang="en-US" b="1" i="1" dirty="0" err="1" smtClean="0"/>
              <a:t>Eliminación</a:t>
            </a:r>
            <a:r>
              <a:rPr lang="en-US" b="1" i="1" dirty="0" smtClean="0"/>
              <a:t> de </a:t>
            </a:r>
            <a:r>
              <a:rPr lang="en-US" b="1" i="1" dirty="0" err="1" smtClean="0"/>
              <a:t>características</a:t>
            </a:r>
            <a:r>
              <a:rPr lang="en-US" b="1" i="1" dirty="0" smtClean="0"/>
              <a:t> </a:t>
            </a:r>
            <a:r>
              <a:rPr lang="en-US" b="1" i="1" dirty="0" err="1" smtClean="0"/>
              <a:t>recursiva</a:t>
            </a:r>
            <a:r>
              <a:rPr lang="en-US" b="1" i="1" dirty="0" smtClean="0"/>
              <a:t>.</a:t>
            </a:r>
            <a:endParaRPr lang="en-US" b="1" i="1" dirty="0" smtClean="0"/>
          </a:p>
        </p:txBody>
      </p:sp>
      <p:sp>
        <p:nvSpPr>
          <p:cNvPr id="2" name="Rectángulo 1"/>
          <p:cNvSpPr/>
          <p:nvPr/>
        </p:nvSpPr>
        <p:spPr>
          <a:xfrm>
            <a:off x="1242633" y="6180728"/>
            <a:ext cx="930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https://scikit-learn.org/stable/modules/generated/sklearn.feature_selection.RFE.html#sklearn.feature_selection.RFE</a:t>
            </a:r>
          </a:p>
        </p:txBody>
      </p:sp>
    </p:spTree>
    <p:extLst>
      <p:ext uri="{BB962C8B-B14F-4D97-AF65-F5344CB8AC3E}">
        <p14:creationId xmlns:p14="http://schemas.microsoft.com/office/powerpoint/2010/main" val="64844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Selección de características</a:t>
            </a:r>
            <a:endParaRPr lang="es-CO" sz="2000" b="1" dirty="0"/>
          </a:p>
        </p:txBody>
      </p:sp>
      <p:sp>
        <p:nvSpPr>
          <p:cNvPr id="1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242635" y="2247165"/>
            <a:ext cx="92107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Técnicas: Métodos </a:t>
            </a:r>
            <a:r>
              <a:rPr lang="es-CO" sz="2000" dirty="0" smtClean="0"/>
              <a:t>integrados</a:t>
            </a:r>
            <a:r>
              <a:rPr lang="es-CO" sz="2000" dirty="0" smtClean="0"/>
              <a:t>.</a:t>
            </a:r>
            <a:endParaRPr lang="es-CO" sz="1600" dirty="0" smtClean="0"/>
          </a:p>
        </p:txBody>
      </p:sp>
      <p:sp>
        <p:nvSpPr>
          <p:cNvPr id="5" name="AutoShape 2" descr="Resultado de imagen para check sig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242634" y="2820906"/>
            <a:ext cx="10743177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/>
              <a:t>Los métodos integrados aprenden qué características contribuyen mejor a la precisión del modelo mientras se crea el </a:t>
            </a:r>
            <a:r>
              <a:rPr lang="es-CO" sz="2000" dirty="0" smtClean="0"/>
              <a:t>modelo.</a:t>
            </a:r>
          </a:p>
          <a:p>
            <a:endParaRPr lang="es-CO" sz="2000" dirty="0"/>
          </a:p>
          <a:p>
            <a:r>
              <a:rPr lang="es-CO" b="1" i="1" dirty="0" smtClean="0"/>
              <a:t>Ejemplo: </a:t>
            </a:r>
            <a:endParaRPr lang="es-CO" b="1" i="1" dirty="0" smtClean="0"/>
          </a:p>
          <a:p>
            <a:pPr marL="285750" indent="-285750">
              <a:buFontTx/>
              <a:buChar char="-"/>
            </a:pPr>
            <a:r>
              <a:rPr lang="es-CO" dirty="0" err="1" smtClean="0"/>
              <a:t>Random</a:t>
            </a:r>
            <a:r>
              <a:rPr lang="es-CO" dirty="0" smtClean="0"/>
              <a:t> </a:t>
            </a:r>
            <a:r>
              <a:rPr lang="es-CO" dirty="0" err="1"/>
              <a:t>Forest</a:t>
            </a:r>
            <a:r>
              <a:rPr lang="en-US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n-US" b="1" i="1" dirty="0"/>
              <a:t>Extra </a:t>
            </a:r>
            <a:r>
              <a:rPr lang="en-US" b="1" i="1" dirty="0" smtClean="0"/>
              <a:t>Trees.</a:t>
            </a:r>
            <a:endParaRPr lang="en-US" b="1" i="1" dirty="0" smtClean="0"/>
          </a:p>
        </p:txBody>
      </p:sp>
      <p:sp>
        <p:nvSpPr>
          <p:cNvPr id="2" name="Rectángulo 1"/>
          <p:cNvSpPr/>
          <p:nvPr/>
        </p:nvSpPr>
        <p:spPr>
          <a:xfrm>
            <a:off x="1242633" y="6180728"/>
            <a:ext cx="930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https://scikit-learn.org/stable/modules/generated/sklearn.feature_selection.RFE.html#sklearn.feature_selection.RFE</a:t>
            </a:r>
          </a:p>
        </p:txBody>
      </p:sp>
    </p:spTree>
    <p:extLst>
      <p:ext uri="{BB962C8B-B14F-4D97-AF65-F5344CB8AC3E}">
        <p14:creationId xmlns:p14="http://schemas.microsoft.com/office/powerpoint/2010/main" val="3687300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Selección de características</a:t>
            </a:r>
            <a:endParaRPr lang="es-CO" sz="2000" b="1" dirty="0"/>
          </a:p>
        </p:txBody>
      </p:sp>
      <p:sp>
        <p:nvSpPr>
          <p:cNvPr id="1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242635" y="2247165"/>
            <a:ext cx="92107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Técnicas: </a:t>
            </a:r>
            <a:r>
              <a:rPr lang="es-CO" sz="2000" dirty="0" smtClean="0"/>
              <a:t>Métodos clásicos.</a:t>
            </a:r>
            <a:endParaRPr lang="es-CO" sz="1600" dirty="0" smtClean="0"/>
          </a:p>
        </p:txBody>
      </p:sp>
      <p:sp>
        <p:nvSpPr>
          <p:cNvPr id="5" name="AutoShape 2" descr="Resultado de imagen para check sig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9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242635" y="2820906"/>
            <a:ext cx="853786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Métodos basados directamente en estrategias implementadas en estadística clásica y en aprendizaje de máquina.</a:t>
            </a:r>
          </a:p>
          <a:p>
            <a:endParaRPr lang="es-CO" sz="2000" dirty="0"/>
          </a:p>
          <a:p>
            <a:r>
              <a:rPr lang="es-CO" b="1" i="1" dirty="0" smtClean="0"/>
              <a:t>Ejemplo: </a:t>
            </a:r>
            <a:endParaRPr lang="es-CO" b="1" i="1" dirty="0" smtClean="0"/>
          </a:p>
          <a:p>
            <a:pPr marL="285750" indent="-285750">
              <a:buFontTx/>
              <a:buChar char="-"/>
            </a:pPr>
            <a:r>
              <a:rPr lang="es-CO" dirty="0" smtClean="0"/>
              <a:t>Pruebas de hipótesis</a:t>
            </a:r>
            <a:r>
              <a:rPr lang="en-US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 err="1" smtClean="0"/>
              <a:t>Validación</a:t>
            </a:r>
            <a:r>
              <a:rPr lang="en-US" dirty="0" smtClean="0"/>
              <a:t> </a:t>
            </a:r>
            <a:r>
              <a:rPr lang="en-US" dirty="0" err="1" smtClean="0"/>
              <a:t>cruzada</a:t>
            </a:r>
            <a:r>
              <a:rPr lang="en-US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 err="1" smtClean="0"/>
              <a:t>Diseño</a:t>
            </a:r>
            <a:r>
              <a:rPr lang="en-US" dirty="0" smtClean="0"/>
              <a:t> experimental.</a:t>
            </a:r>
          </a:p>
        </p:txBody>
      </p:sp>
    </p:spTree>
    <p:extLst>
      <p:ext uri="{BB962C8B-B14F-4D97-AF65-F5344CB8AC3E}">
        <p14:creationId xmlns:p14="http://schemas.microsoft.com/office/powerpoint/2010/main" val="150505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852508" y="1562890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Problema global de optimización</a:t>
            </a:r>
            <a:endParaRPr lang="es-CO" sz="2000" b="1" dirty="0"/>
          </a:p>
        </p:txBody>
      </p:sp>
      <p:sp>
        <p:nvSpPr>
          <p:cNvPr id="15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2665030" y="3161564"/>
            <a:ext cx="32283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Construcción de características</a:t>
            </a:r>
            <a:endParaRPr lang="es-CO" sz="1600" dirty="0" smtClean="0"/>
          </a:p>
        </p:txBody>
      </p:sp>
      <p:sp>
        <p:nvSpPr>
          <p:cNvPr id="5" name="AutoShape 2" descr="Resultado de imagen para check sig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6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6477267" y="3141559"/>
            <a:ext cx="2668026" cy="440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Selección de características</a:t>
            </a:r>
            <a:endParaRPr lang="es-CO" sz="1600" dirty="0" smtClean="0"/>
          </a:p>
        </p:txBody>
      </p:sp>
      <p:cxnSp>
        <p:nvCxnSpPr>
          <p:cNvPr id="3" name="Conector recto de flecha 2"/>
          <p:cNvCxnSpPr/>
          <p:nvPr/>
        </p:nvCxnSpPr>
        <p:spPr>
          <a:xfrm>
            <a:off x="5136776" y="3361619"/>
            <a:ext cx="83371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/>
          <p:cNvCxnSpPr/>
          <p:nvPr/>
        </p:nvCxnSpPr>
        <p:spPr>
          <a:xfrm flipH="1" flipV="1">
            <a:off x="5136776" y="3643844"/>
            <a:ext cx="833719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9">
            <a:extLst>
              <a:ext uri="{FF2B5EF4-FFF2-40B4-BE49-F238E27FC236}">
                <a16:creationId xmlns=""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4673124" y="4360128"/>
            <a:ext cx="32283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i="1" dirty="0" smtClean="0">
                <a:solidFill>
                  <a:srgbClr val="FF0000"/>
                </a:solidFill>
              </a:rPr>
              <a:t>Simultáneamente?</a:t>
            </a:r>
            <a:endParaRPr lang="es-CO" sz="1600" b="1" i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67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983</Words>
  <Application>Microsoft Office PowerPoint</Application>
  <PresentationFormat>Panorámica</PresentationFormat>
  <Paragraphs>201</Paragraphs>
  <Slides>28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Tema de Office</vt:lpstr>
      <vt:lpstr>Equation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Carlos Alejandro Trujillo Anaya</cp:lastModifiedBy>
  <cp:revision>239</cp:revision>
  <dcterms:created xsi:type="dcterms:W3CDTF">2017-07-31T19:21:32Z</dcterms:created>
  <dcterms:modified xsi:type="dcterms:W3CDTF">2019-03-08T20:47:30Z</dcterms:modified>
</cp:coreProperties>
</file>
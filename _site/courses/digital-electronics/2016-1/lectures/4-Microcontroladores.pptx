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4"/>
  </p:notesMasterIdLst>
  <p:sldIdLst>
    <p:sldId id="256" r:id="rId2"/>
    <p:sldId id="257" r:id="rId3"/>
    <p:sldId id="259" r:id="rId4"/>
    <p:sldId id="268" r:id="rId5"/>
    <p:sldId id="258" r:id="rId6"/>
    <p:sldId id="262" r:id="rId7"/>
    <p:sldId id="260" r:id="rId8"/>
    <p:sldId id="261" r:id="rId9"/>
    <p:sldId id="265" r:id="rId10"/>
    <p:sldId id="263" r:id="rId11"/>
    <p:sldId id="264" r:id="rId12"/>
    <p:sldId id="266" r:id="rId1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9"/>
            <p14:sldId id="268"/>
            <p14:sldId id="258"/>
            <p14:sldId id="262"/>
            <p14:sldId id="260"/>
            <p14:sldId id="261"/>
            <p14:sldId id="265"/>
            <p14:sldId id="263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7/03/2016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7/03/2016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4</a:t>
            </a:r>
            <a:r>
              <a:rPr lang="es-ES" sz="5600" dirty="0" smtClean="0">
                <a:effectLst/>
              </a:rPr>
              <a:t>. </a:t>
            </a:r>
            <a:r>
              <a:rPr lang="es-ES" sz="5600" dirty="0" err="1" smtClean="0">
                <a:effectLst/>
              </a:rPr>
              <a:t>Microcontroladores</a:t>
            </a:r>
            <a:r>
              <a:rPr lang="es-ES" sz="5600" dirty="0" smtClean="0">
                <a:effectLst/>
              </a:rPr>
              <a:t>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 fontScale="70000" lnSpcReduction="20000"/>
          </a:bodyPr>
          <a:lstStyle/>
          <a:p>
            <a:r>
              <a:rPr lang="es-CO" dirty="0"/>
              <a:t>4.1. ¿Qué es un </a:t>
            </a:r>
            <a:r>
              <a:rPr lang="es-CO" dirty="0" err="1"/>
              <a:t>microcontrolador</a:t>
            </a:r>
            <a:r>
              <a:rPr lang="es-CO" dirty="0" smtClean="0"/>
              <a:t>?</a:t>
            </a:r>
          </a:p>
          <a:p>
            <a:r>
              <a:rPr lang="es-ES" dirty="0"/>
              <a:t>4.2. </a:t>
            </a:r>
            <a:r>
              <a:rPr lang="es-CO" dirty="0"/>
              <a:t>Procedimiento para hacer funcionar un </a:t>
            </a:r>
            <a:r>
              <a:rPr lang="es-CO" dirty="0" err="1" smtClean="0"/>
              <a:t>microcontrolador</a:t>
            </a:r>
            <a:r>
              <a:rPr lang="es-CO" dirty="0" smtClean="0"/>
              <a:t>.</a:t>
            </a:r>
          </a:p>
          <a:p>
            <a:r>
              <a:rPr lang="es-ES" dirty="0"/>
              <a:t>4.3. Estructura de un </a:t>
            </a:r>
            <a:r>
              <a:rPr lang="es-ES" dirty="0" err="1"/>
              <a:t>microcontrolador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4.4. </a:t>
            </a:r>
            <a:r>
              <a:rPr lang="es-ES" dirty="0"/>
              <a:t>CPU del </a:t>
            </a:r>
            <a:r>
              <a:rPr lang="es-ES" dirty="0" err="1" smtClean="0"/>
              <a:t>microcontrolador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4.5. </a:t>
            </a:r>
            <a:r>
              <a:rPr lang="es-ES" dirty="0" err="1"/>
              <a:t>Resgistros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4.6. </a:t>
            </a:r>
            <a:r>
              <a:rPr lang="es-ES" dirty="0"/>
              <a:t>Puertos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4.7</a:t>
            </a:r>
            <a:r>
              <a:rPr lang="es-ES" dirty="0"/>
              <a:t>. Memorias</a:t>
            </a:r>
            <a:r>
              <a:rPr lang="es-ES" dirty="0" smtClean="0"/>
              <a:t>.</a:t>
            </a:r>
          </a:p>
          <a:p>
            <a:r>
              <a:rPr lang="es-ES" dirty="0"/>
              <a:t>4.8. Osciladores.</a:t>
            </a:r>
            <a:endParaRPr lang="es-ES" dirty="0" smtClean="0"/>
          </a:p>
          <a:p>
            <a:r>
              <a:rPr lang="es-ES" dirty="0"/>
              <a:t>4.9. </a:t>
            </a:r>
            <a:r>
              <a:rPr lang="es-ES" dirty="0" err="1"/>
              <a:t>Arquitecura</a:t>
            </a:r>
            <a:r>
              <a:rPr lang="es-ES" dirty="0"/>
              <a:t> interna</a:t>
            </a:r>
            <a:r>
              <a:rPr lang="es-ES" dirty="0" smtClean="0"/>
              <a:t>.</a:t>
            </a:r>
          </a:p>
          <a:p>
            <a:r>
              <a:rPr lang="es-ES" dirty="0"/>
              <a:t>4.10. </a:t>
            </a:r>
            <a:r>
              <a:rPr lang="es-CO" dirty="0"/>
              <a:t>Tipos de </a:t>
            </a:r>
            <a:r>
              <a:rPr lang="es-CO" dirty="0" err="1"/>
              <a:t>microntroladores</a:t>
            </a:r>
            <a:r>
              <a:rPr lang="es-ES" dirty="0" smtClean="0"/>
              <a:t>.</a:t>
            </a:r>
          </a:p>
          <a:p>
            <a:r>
              <a:rPr lang="es-ES" dirty="0"/>
              <a:t>4.11. PIC16F88X.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7 </a:t>
            </a:r>
            <a:r>
              <a:rPr lang="es-ES" i="1" dirty="0" smtClean="0">
                <a:effectLst/>
              </a:rPr>
              <a:t>de </a:t>
            </a:r>
            <a:r>
              <a:rPr lang="es-ES" i="1" dirty="0" smtClean="0">
                <a:effectLst/>
              </a:rPr>
              <a:t>2016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alelo\Dropbox\Taller V 2013-02\Clases\Imagen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233439"/>
            <a:ext cx="4419601" cy="294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pPr marL="0" indent="0"/>
            <a:r>
              <a:rPr lang="es-CO" sz="4000" dirty="0" smtClean="0"/>
              <a:t>4.1. ¿Qué </a:t>
            </a:r>
            <a:r>
              <a:rPr lang="es-CO" sz="4000" dirty="0"/>
              <a:t>es un </a:t>
            </a:r>
            <a:r>
              <a:rPr lang="es-CO" sz="4000" dirty="0" err="1"/>
              <a:t>microcontrolador</a:t>
            </a:r>
            <a:r>
              <a:rPr lang="es-CO" sz="4000" dirty="0"/>
              <a:t>?</a:t>
            </a:r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51520" y="2420887"/>
            <a:ext cx="2796480" cy="2569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Es un pequeño «computador» dentro de un circuito integrado que tiene un procesador, memoria y periféricos programables de entrada y salida.</a:t>
            </a:r>
            <a:endParaRPr lang="es-CO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5111676"/>
            <a:ext cx="1920213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2 Subtítulo"/>
          <p:cNvSpPr txBox="1">
            <a:spLocks/>
          </p:cNvSpPr>
          <p:nvPr/>
        </p:nvSpPr>
        <p:spPr>
          <a:xfrm>
            <a:off x="3491880" y="5559762"/>
            <a:ext cx="2796480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600" b="1" i="1" dirty="0" smtClean="0"/>
              <a:t>μ</a:t>
            </a:r>
            <a:r>
              <a:rPr lang="es-CO" sz="2600" b="1" i="1" dirty="0" smtClean="0"/>
              <a:t>C - </a:t>
            </a:r>
            <a:r>
              <a:rPr lang="es-CO" sz="2600" b="1" i="1" dirty="0" err="1" smtClean="0"/>
              <a:t>uC</a:t>
            </a:r>
            <a:r>
              <a:rPr lang="es-CO" sz="2600" b="1" i="1" dirty="0" smtClean="0"/>
              <a:t> - MCU</a:t>
            </a:r>
            <a:endParaRPr lang="es-CO" sz="2600" b="1" i="1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4.2. </a:t>
            </a:r>
            <a:r>
              <a:rPr lang="es-CO" sz="4000" dirty="0"/>
              <a:t>Procedimiento para hacer funcionar un </a:t>
            </a:r>
            <a:r>
              <a:rPr lang="es-CO" sz="4000" dirty="0" err="1" smtClean="0"/>
              <a:t>microcontrolador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7"/>
            <a:ext cx="6696744" cy="46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4.2. </a:t>
            </a:r>
            <a:r>
              <a:rPr lang="es-CO" sz="4000" dirty="0"/>
              <a:t>Procedimiento para hacer funcionar un </a:t>
            </a:r>
            <a:r>
              <a:rPr lang="es-CO" sz="4000" dirty="0" err="1" smtClean="0"/>
              <a:t>microcontrolador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132" y="2100624"/>
            <a:ext cx="6970252" cy="456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4.3. Estructura de un </a:t>
            </a:r>
            <a:r>
              <a:rPr lang="es-ES" sz="4000" dirty="0" err="1" smtClean="0"/>
              <a:t>microcontrolador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84" y="2276872"/>
            <a:ext cx="5530320" cy="4065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977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4.4. CPU del </a:t>
            </a:r>
            <a:r>
              <a:rPr lang="es-ES" sz="4000" dirty="0" err="1" smtClean="0"/>
              <a:t>microcontrolador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2856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«Cerebro»</a:t>
            </a:r>
          </a:p>
          <a:p>
            <a:pPr marL="0" indent="0" algn="ctr">
              <a:buNone/>
            </a:pPr>
            <a:r>
              <a:rPr lang="es-CO" sz="3000" b="1" i="1" dirty="0" smtClean="0"/>
              <a:t>Unidad Central de Procesamiento CPU</a:t>
            </a:r>
            <a:endParaRPr lang="es-CO" sz="3000" b="1" i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3339627"/>
            <a:ext cx="7822923" cy="2753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235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4.5. Registros.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8731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«Configuración del micro»</a:t>
            </a:r>
          </a:p>
          <a:p>
            <a:pPr marL="0" indent="0" algn="ctr">
              <a:buNone/>
            </a:pPr>
            <a:r>
              <a:rPr lang="es-CO" sz="2600" b="1" i="1" dirty="0" smtClean="0"/>
              <a:t>Registros SFR (</a:t>
            </a:r>
            <a:r>
              <a:rPr lang="es-CO" sz="2600" b="1" i="1" dirty="0" err="1" smtClean="0"/>
              <a:t>Special</a:t>
            </a:r>
            <a:r>
              <a:rPr lang="es-CO" sz="2600" b="1" i="1" dirty="0" smtClean="0"/>
              <a:t> </a:t>
            </a:r>
            <a:r>
              <a:rPr lang="es-CO" sz="2600" b="1" i="1" dirty="0" err="1" smtClean="0"/>
              <a:t>Function</a:t>
            </a:r>
            <a:r>
              <a:rPr lang="es-CO" sz="2600" b="1" i="1" dirty="0" smtClean="0"/>
              <a:t> </a:t>
            </a:r>
            <a:r>
              <a:rPr lang="es-CO" sz="2600" b="1" i="1" dirty="0" err="1" smtClean="0"/>
              <a:t>Registers</a:t>
            </a:r>
            <a:r>
              <a:rPr lang="es-CO" sz="2600" b="1" i="1" dirty="0" smtClean="0"/>
              <a:t>)</a:t>
            </a:r>
            <a:endParaRPr lang="es-CO" sz="2600" b="1" i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3" y="3420469"/>
            <a:ext cx="4555648" cy="2173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88" y="3271614"/>
            <a:ext cx="40005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32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4.6. Puertos.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204864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Comunicación con el mundo exterior</a:t>
            </a:r>
            <a:endParaRPr lang="es-CO" sz="3000" b="1" i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328" y="2924944"/>
            <a:ext cx="5742000" cy="371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219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4.7. Memorias.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334322" y="2708920"/>
            <a:ext cx="460851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Memorias en el Micro:</a:t>
            </a:r>
            <a:endParaRPr lang="es-CO" sz="3000" b="1" i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08920"/>
            <a:ext cx="3476188" cy="34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Subtítulo"/>
          <p:cNvSpPr txBox="1">
            <a:spLocks/>
          </p:cNvSpPr>
          <p:nvPr/>
        </p:nvSpPr>
        <p:spPr>
          <a:xfrm>
            <a:off x="4357554" y="3751762"/>
            <a:ext cx="4462918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Memoria ROM (Flash)</a:t>
            </a:r>
          </a:p>
          <a:p>
            <a:pPr marL="0" indent="0" algn="ctr">
              <a:buNone/>
            </a:pPr>
            <a:r>
              <a:rPr lang="es-CO" sz="2200" b="1" i="1" dirty="0" smtClean="0"/>
              <a:t>Memoria RAM</a:t>
            </a:r>
          </a:p>
          <a:p>
            <a:pPr marL="0" indent="0" algn="ctr">
              <a:buNone/>
            </a:pPr>
            <a:r>
              <a:rPr lang="es-CO" sz="2200" b="1" i="1" dirty="0" smtClean="0"/>
              <a:t>Memoria EEPROM</a:t>
            </a:r>
            <a:endParaRPr lang="es-CO" sz="2200" b="1" i="1" dirty="0"/>
          </a:p>
        </p:txBody>
      </p:sp>
    </p:spTree>
    <p:extLst>
      <p:ext uri="{BB962C8B-B14F-4D97-AF65-F5344CB8AC3E}">
        <p14:creationId xmlns:p14="http://schemas.microsoft.com/office/powerpoint/2010/main" val="382062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4.8. Osciladores.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70956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Determinan la velocidad a la que funciona el </a:t>
            </a:r>
            <a:r>
              <a:rPr lang="es-CO" sz="3000" b="1" i="1" dirty="0" err="1" smtClean="0"/>
              <a:t>microcontrolador</a:t>
            </a:r>
            <a:endParaRPr lang="es-CO" sz="3000" b="1" i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40" y="3217383"/>
            <a:ext cx="4390910" cy="3424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547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4.9. </a:t>
            </a:r>
            <a:r>
              <a:rPr lang="es-ES" sz="4000" dirty="0" err="1" smtClean="0"/>
              <a:t>Arquitecura</a:t>
            </a:r>
            <a:r>
              <a:rPr lang="es-ES" sz="4000" dirty="0" smtClean="0"/>
              <a:t> interna.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3154314"/>
            <a:ext cx="381800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/>
              <a:t>Arquitectura de von-Neumann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05" y="4073053"/>
            <a:ext cx="2482076" cy="245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192" y="4073053"/>
            <a:ext cx="3433224" cy="2231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2 Subtítulo"/>
          <p:cNvSpPr txBox="1">
            <a:spLocks/>
          </p:cNvSpPr>
          <p:nvPr/>
        </p:nvSpPr>
        <p:spPr>
          <a:xfrm>
            <a:off x="4716016" y="3298330"/>
            <a:ext cx="381800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Arquitectura de Harvard</a:t>
            </a:r>
            <a:endParaRPr lang="es-CO" sz="2200" b="1" i="1" dirty="0"/>
          </a:p>
        </p:txBody>
      </p:sp>
      <p:sp>
        <p:nvSpPr>
          <p:cNvPr id="9" name="2 Subtítulo"/>
          <p:cNvSpPr txBox="1">
            <a:spLocks/>
          </p:cNvSpPr>
          <p:nvPr/>
        </p:nvSpPr>
        <p:spPr>
          <a:xfrm>
            <a:off x="683568" y="2204864"/>
            <a:ext cx="7850450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Formas distintas de intercambio de datos entre la CPU y la memoria</a:t>
            </a:r>
            <a:endParaRPr lang="es-CO" sz="2600" b="1" i="1" dirty="0"/>
          </a:p>
        </p:txBody>
      </p:sp>
      <p:sp>
        <p:nvSpPr>
          <p:cNvPr id="3" name="2 Elipse"/>
          <p:cNvSpPr/>
          <p:nvPr/>
        </p:nvSpPr>
        <p:spPr>
          <a:xfrm>
            <a:off x="4716016" y="3222130"/>
            <a:ext cx="3818002" cy="55869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570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4.10. </a:t>
            </a:r>
            <a:r>
              <a:rPr lang="es-CO" sz="4000" dirty="0"/>
              <a:t>Tipos de </a:t>
            </a:r>
            <a:r>
              <a:rPr lang="es-CO" sz="4000" dirty="0" err="1" smtClean="0"/>
              <a:t>microntroladores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2856"/>
            <a:ext cx="7636004" cy="40150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Algunos son:</a:t>
            </a:r>
          </a:p>
          <a:p>
            <a:pPr marL="0" indent="0">
              <a:buNone/>
            </a:pPr>
            <a:endParaRPr lang="es-CO" sz="2000" b="1" i="1" dirty="0" smtClean="0"/>
          </a:p>
          <a:p>
            <a:pPr marL="0" indent="0">
              <a:buNone/>
            </a:pPr>
            <a:r>
              <a:rPr lang="es-CO" sz="2000" b="1" i="1" dirty="0"/>
              <a:t> </a:t>
            </a:r>
            <a:r>
              <a:rPr lang="es-CO" sz="2000" b="1" i="1" dirty="0" smtClean="0"/>
              <a:t>   * </a:t>
            </a:r>
            <a:r>
              <a:rPr lang="es-CO" sz="2000" b="1" i="1" dirty="0"/>
              <a:t>Intel </a:t>
            </a:r>
            <a:r>
              <a:rPr lang="es-CO" sz="2000" b="1" i="1" dirty="0" smtClean="0"/>
              <a:t>8051</a:t>
            </a:r>
          </a:p>
          <a:p>
            <a:pPr marL="0" indent="0">
              <a:buNone/>
            </a:pPr>
            <a:r>
              <a:rPr lang="es-CO" sz="2000" b="1" i="1" dirty="0" smtClean="0"/>
              <a:t>    * PIC </a:t>
            </a:r>
            <a:r>
              <a:rPr lang="es-CO" sz="2000" b="1" i="1" dirty="0"/>
              <a:t>(8-bit PIC16, PIC18, 16-bit dsPIC33 / PIC24)</a:t>
            </a:r>
          </a:p>
          <a:p>
            <a:pPr marL="0" indent="0">
              <a:buNone/>
            </a:pPr>
            <a:r>
              <a:rPr lang="es-CO" sz="2000" b="1" i="1" dirty="0"/>
              <a:t>    * </a:t>
            </a:r>
            <a:r>
              <a:rPr lang="es-CO" sz="2000" b="1" i="1" dirty="0" err="1"/>
              <a:t>Silicon</a:t>
            </a:r>
            <a:r>
              <a:rPr lang="es-CO" sz="2000" b="1" i="1" dirty="0"/>
              <a:t> </a:t>
            </a:r>
            <a:r>
              <a:rPr lang="es-CO" sz="2000" b="1" i="1" dirty="0" err="1"/>
              <a:t>Laboratories</a:t>
            </a:r>
            <a:r>
              <a:rPr lang="es-CO" sz="2000" b="1" i="1" dirty="0"/>
              <a:t> </a:t>
            </a:r>
            <a:r>
              <a:rPr lang="es-CO" sz="2000" b="1" i="1" dirty="0" err="1"/>
              <a:t>Pipelined</a:t>
            </a:r>
            <a:r>
              <a:rPr lang="es-CO" sz="2000" b="1" i="1" dirty="0"/>
              <a:t> 8051 </a:t>
            </a:r>
            <a:r>
              <a:rPr lang="es-CO" sz="2000" b="1" i="1" dirty="0" err="1"/>
              <a:t>Microcontrollers</a:t>
            </a:r>
            <a:endParaRPr lang="es-CO" sz="2000" b="1" i="1" dirty="0"/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s-CO" sz="2000" b="1" i="1" dirty="0" err="1"/>
              <a:t>Atmel</a:t>
            </a:r>
            <a:r>
              <a:rPr lang="es-CO" sz="2000" b="1" i="1" dirty="0"/>
              <a:t> AVR (8-bit), AVR32 (32-bit), and AT91SAM (32-bit)</a:t>
            </a:r>
          </a:p>
          <a:p>
            <a:pPr marL="0" indent="0">
              <a:buNone/>
            </a:pPr>
            <a:r>
              <a:rPr lang="es-CO" sz="2000" b="1" i="1" dirty="0" smtClean="0"/>
              <a:t>    * Hitachi H8, Hitachi </a:t>
            </a:r>
            <a:r>
              <a:rPr lang="es-CO" sz="2000" b="1" i="1" dirty="0" err="1" smtClean="0"/>
              <a:t>SuperH</a:t>
            </a:r>
            <a:r>
              <a:rPr lang="es-CO" sz="2000" b="1" i="1" dirty="0" smtClean="0"/>
              <a:t> (32-bit)</a:t>
            </a:r>
            <a:endParaRPr lang="es-CO" sz="2000" b="1" i="1" dirty="0"/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n-US" sz="2000" b="1" i="1" dirty="0" err="1"/>
              <a:t>Freescale</a:t>
            </a:r>
            <a:r>
              <a:rPr lang="en-US" sz="2000" b="1" i="1" dirty="0"/>
              <a:t> </a:t>
            </a:r>
            <a:r>
              <a:rPr lang="en-US" sz="2000" b="1" i="1" dirty="0" err="1"/>
              <a:t>ColdFire</a:t>
            </a:r>
            <a:r>
              <a:rPr lang="en-US" sz="2000" b="1" i="1" dirty="0"/>
              <a:t> (32-bit) and S08 (8-bit</a:t>
            </a:r>
            <a:r>
              <a:rPr lang="en-US" sz="2000" b="1" i="1" dirty="0" smtClean="0"/>
              <a:t>)</a:t>
            </a:r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s-CO" sz="2000" b="1" i="1" dirty="0"/>
              <a:t>Toshiba TLCS-870 (8-bit/16-bit)</a:t>
            </a:r>
          </a:p>
          <a:p>
            <a:pPr marL="0" indent="0">
              <a:buNone/>
            </a:pPr>
            <a:r>
              <a:rPr lang="es-CO" sz="2000" b="1" i="1" dirty="0" smtClean="0"/>
              <a:t>    </a:t>
            </a:r>
            <a:r>
              <a:rPr lang="es-CO" sz="2000" b="1" i="1" dirty="0"/>
              <a:t>* Texas Instruments </a:t>
            </a:r>
            <a:r>
              <a:rPr lang="es-CO" sz="2000" b="1" i="1" dirty="0" err="1"/>
              <a:t>Microcontrollers</a:t>
            </a:r>
            <a:r>
              <a:rPr lang="es-CO" sz="2000" b="1" i="1" dirty="0"/>
              <a:t> MSP430 (16-bit), C2000 (32-bit), and </a:t>
            </a:r>
            <a:r>
              <a:rPr lang="es-CO" sz="2000" b="1" i="1" dirty="0" err="1"/>
              <a:t>Stellaris</a:t>
            </a:r>
            <a:r>
              <a:rPr lang="es-CO" sz="2000" b="1" i="1" dirty="0"/>
              <a:t> (32-bit)</a:t>
            </a:r>
          </a:p>
          <a:p>
            <a:pPr marL="0" indent="0">
              <a:buNone/>
            </a:pPr>
            <a:r>
              <a:rPr lang="es-CO" sz="2000" b="1" i="1" dirty="0"/>
              <a:t>    </a:t>
            </a:r>
            <a:r>
              <a:rPr lang="es-CO" sz="2000" b="1" i="1" dirty="0" smtClean="0"/>
              <a:t>    </a:t>
            </a:r>
            <a:endParaRPr lang="es-CO" sz="2000" b="1" i="1" dirty="0"/>
          </a:p>
        </p:txBody>
      </p:sp>
      <p:sp>
        <p:nvSpPr>
          <p:cNvPr id="3" name="2 Elipse"/>
          <p:cNvSpPr/>
          <p:nvPr/>
        </p:nvSpPr>
        <p:spPr>
          <a:xfrm>
            <a:off x="0" y="5533775"/>
            <a:ext cx="8712968" cy="6903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8 Elipse"/>
          <p:cNvSpPr/>
          <p:nvPr/>
        </p:nvSpPr>
        <p:spPr>
          <a:xfrm>
            <a:off x="228600" y="4716163"/>
            <a:ext cx="6363816" cy="432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1000" y="3267619"/>
            <a:ext cx="6999312" cy="432048"/>
          </a:xfrm>
          <a:prstGeom prst="ellipse">
            <a:avLst/>
          </a:prstGeom>
          <a:noFill/>
          <a:ln w="57150"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5 Conector recto de flecha"/>
          <p:cNvCxnSpPr/>
          <p:nvPr/>
        </p:nvCxnSpPr>
        <p:spPr>
          <a:xfrm flipH="1">
            <a:off x="6697960" y="4932187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2 Subtítulo"/>
          <p:cNvSpPr txBox="1">
            <a:spLocks/>
          </p:cNvSpPr>
          <p:nvPr/>
        </p:nvSpPr>
        <p:spPr>
          <a:xfrm>
            <a:off x="7545338" y="4730872"/>
            <a:ext cx="1538485" cy="436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>
                <a:solidFill>
                  <a:srgbClr val="FF0000"/>
                </a:solidFill>
              </a:rPr>
              <a:t>Motorola</a:t>
            </a:r>
            <a:endParaRPr lang="es-CO" b="1" i="1" dirty="0">
              <a:solidFill>
                <a:srgbClr val="FF0000"/>
              </a:solidFill>
            </a:endParaRPr>
          </a:p>
        </p:txBody>
      </p:sp>
      <p:cxnSp>
        <p:nvCxnSpPr>
          <p:cNvPr id="15" name="14 Conector recto de flecha"/>
          <p:cNvCxnSpPr/>
          <p:nvPr/>
        </p:nvCxnSpPr>
        <p:spPr>
          <a:xfrm flipH="1">
            <a:off x="6774160" y="2911771"/>
            <a:ext cx="792088" cy="288032"/>
          </a:xfrm>
          <a:prstGeom prst="straightConnector1">
            <a:avLst/>
          </a:prstGeom>
          <a:ln w="38100">
            <a:solidFill>
              <a:srgbClr val="2819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2 Subtítulo"/>
          <p:cNvSpPr txBox="1">
            <a:spLocks/>
          </p:cNvSpPr>
          <p:nvPr/>
        </p:nvSpPr>
        <p:spPr>
          <a:xfrm>
            <a:off x="7596336" y="2691555"/>
            <a:ext cx="1728192" cy="508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b="1" i="1" dirty="0" smtClean="0">
                <a:solidFill>
                  <a:srgbClr val="281997"/>
                </a:solidFill>
              </a:rPr>
              <a:t>El nuestro!</a:t>
            </a:r>
            <a:endParaRPr lang="es-CO" sz="2200" b="1" i="1" dirty="0">
              <a:solidFill>
                <a:srgbClr val="2819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00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110</TotalTime>
  <Words>341</Words>
  <Application>Microsoft Office PowerPoint</Application>
  <PresentationFormat>Presentación en pantalla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Book Antiqua</vt:lpstr>
      <vt:lpstr>Calibri</vt:lpstr>
      <vt:lpstr>Times New Roman</vt:lpstr>
      <vt:lpstr>Wingdings</vt:lpstr>
      <vt:lpstr>3-Sistemas Secuenciales</vt:lpstr>
      <vt:lpstr>4. Microcontroladores.</vt:lpstr>
      <vt:lpstr>4.1. ¿Qué es un microcontrolador?</vt:lpstr>
      <vt:lpstr>4.2. Procedimiento para hacer funcionar un microcontrolador</vt:lpstr>
      <vt:lpstr>4.2. Procedimiento para hacer funcionar un microcontrolador</vt:lpstr>
      <vt:lpstr>4.3. Estructura de un microcontrolador.</vt:lpstr>
      <vt:lpstr>4.4. CPU del microcontrolador.</vt:lpstr>
      <vt:lpstr>4.5. Registros.</vt:lpstr>
      <vt:lpstr>4.6. Puertos.</vt:lpstr>
      <vt:lpstr>4.7. Memorias.</vt:lpstr>
      <vt:lpstr>4.8. Osciladores.</vt:lpstr>
      <vt:lpstr>4.9. Arquitecura interna.</vt:lpstr>
      <vt:lpstr>4.10. Tipos de microntroladores.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Optodigital</cp:lastModifiedBy>
  <cp:revision>48</cp:revision>
  <dcterms:created xsi:type="dcterms:W3CDTF">2011-02-14T00:22:22Z</dcterms:created>
  <dcterms:modified xsi:type="dcterms:W3CDTF">2016-03-07T12:51:38Z</dcterms:modified>
</cp:coreProperties>
</file>
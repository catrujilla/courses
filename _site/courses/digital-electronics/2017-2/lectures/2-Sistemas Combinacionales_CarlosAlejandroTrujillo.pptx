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31"/>
  </p:notesMasterIdLst>
  <p:sldIdLst>
    <p:sldId id="256" r:id="rId2"/>
    <p:sldId id="257" r:id="rId3"/>
    <p:sldId id="258" r:id="rId4"/>
    <p:sldId id="264" r:id="rId5"/>
    <p:sldId id="259" r:id="rId6"/>
    <p:sldId id="260" r:id="rId7"/>
    <p:sldId id="261" r:id="rId8"/>
    <p:sldId id="263" r:id="rId9"/>
    <p:sldId id="262" r:id="rId10"/>
    <p:sldId id="265" r:id="rId11"/>
    <p:sldId id="266" r:id="rId12"/>
    <p:sldId id="267" r:id="rId13"/>
    <p:sldId id="268" r:id="rId14"/>
    <p:sldId id="269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</p:sldIdLst>
  <p:sldSz cx="9144000" cy="6858000" type="screen4x3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1076"/>
    <a:srgbClr val="990033"/>
    <a:srgbClr val="840A3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26" autoAdjust="0"/>
    <p:restoredTop sz="94660"/>
  </p:normalViewPr>
  <p:slideViewPr>
    <p:cSldViewPr>
      <p:cViewPr varScale="1">
        <p:scale>
          <a:sx n="110" d="100"/>
          <a:sy n="110" d="100"/>
        </p:scale>
        <p:origin x="1668" y="3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image" Target="../media/image19.wmf"/><Relationship Id="rId1" Type="http://schemas.openxmlformats.org/officeDocument/2006/relationships/image" Target="../media/image18.wmf"/><Relationship Id="rId4" Type="http://schemas.openxmlformats.org/officeDocument/2006/relationships/image" Target="../media/image2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D4DB5F-8441-46BC-A2C2-D8C77AB445A6}" type="datetimeFigureOut">
              <a:rPr lang="es-CO" smtClean="0"/>
              <a:t>31/07/2017</a:t>
            </a:fld>
            <a:endParaRPr lang="es-CO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987BBB-A4C9-40A5-B74E-E45C8F58547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658375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15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159917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16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159917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17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159917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18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159917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19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159917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20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159917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21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159917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22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159917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23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159917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24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159917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25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159917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26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159917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27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159917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28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1599175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29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159917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020" y="1769541"/>
            <a:ext cx="7080026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020" y="3598339"/>
            <a:ext cx="7080026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31/07/2017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86239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31/07/2017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76276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1761068"/>
            <a:ext cx="7192913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3589879"/>
            <a:ext cx="7192913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31/07/2017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18066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7" y="1732449"/>
            <a:ext cx="3795373" cy="4058750"/>
          </a:xfrm>
        </p:spPr>
        <p:txBody>
          <a:bodyPr anchor="t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2169" y="1732450"/>
            <a:ext cx="3798499" cy="4058751"/>
          </a:xfrm>
        </p:spPr>
        <p:txBody>
          <a:bodyPr anchor="t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31/07/2017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0365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345" y="1770323"/>
            <a:ext cx="3787423" cy="4112953"/>
          </a:xfrm>
          <a:prstGeom prst="rect">
            <a:avLst/>
          </a:prstGeom>
        </p:spPr>
      </p:pic>
      <p:pic>
        <p:nvPicPr>
          <p:cNvPr id="14" name="Picture 13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3245" y="1770323"/>
            <a:ext cx="3787423" cy="411295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404" y="1835254"/>
            <a:ext cx="3657258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404" y="2380138"/>
            <a:ext cx="365725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21225" y="1835255"/>
            <a:ext cx="3671498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21225" y="2380138"/>
            <a:ext cx="367149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31/07/2017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56020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31/07/2017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333905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31/07/2017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11390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0"/>
            <a:ext cx="2780167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41725" y="609600"/>
            <a:ext cx="4808943" cy="5181600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1518"/>
            <a:ext cx="2780167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31/07/2017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353977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late-V2-S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4987" y="609923"/>
            <a:ext cx="3428146" cy="520547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923"/>
            <a:ext cx="3924676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976728" y="743989"/>
            <a:ext cx="3165375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9261"/>
            <a:ext cx="3924676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31/07/2017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97392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late-V2-S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95" y="540085"/>
            <a:ext cx="7656010" cy="383437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4" y="4565255"/>
            <a:ext cx="7766495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26217" y="695010"/>
            <a:ext cx="7285600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5108728"/>
            <a:ext cx="776532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31/07/2017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27516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8437"/>
            <a:ext cx="776532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295180"/>
            <a:ext cx="7765322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31/07/2017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29980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3"/>
            <a:ext cx="6564224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304353"/>
            <a:ext cx="7765322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31/07/2017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sp>
        <p:nvSpPr>
          <p:cNvPr id="11" name="TextBox 10"/>
          <p:cNvSpPr txBox="1"/>
          <p:nvPr/>
        </p:nvSpPr>
        <p:spPr>
          <a:xfrm>
            <a:off x="627459" y="87391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28359" y="2933245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187315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2126943"/>
            <a:ext cx="7765322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9" y="4650556"/>
            <a:ext cx="776414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31/07/2017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236875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5033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7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4929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4929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31/07/2017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042348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239" y="1826045"/>
            <a:ext cx="2529046" cy="1833558"/>
          </a:xfrm>
          <a:prstGeom prst="rect">
            <a:avLst/>
          </a:prstGeom>
        </p:spPr>
      </p:pic>
      <p:pic>
        <p:nvPicPr>
          <p:cNvPr id="28" name="Picture 27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3813" y="1826045"/>
            <a:ext cx="2529046" cy="1833558"/>
          </a:xfrm>
          <a:prstGeom prst="rect">
            <a:avLst/>
          </a:prstGeom>
        </p:spPr>
      </p:pic>
      <p:pic>
        <p:nvPicPr>
          <p:cNvPr id="29" name="Picture 28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1715" y="1826045"/>
            <a:ext cx="2529046" cy="1833558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6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763577" y="1938918"/>
            <a:ext cx="2319276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6" y="4480369"/>
            <a:ext cx="2475738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91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09307" y="1939094"/>
            <a:ext cx="2319276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75" y="4480368"/>
            <a:ext cx="2476753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5023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056774" y="1934432"/>
            <a:ext cx="2319276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4929" y="4480366"/>
            <a:ext cx="2475738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31/07/2017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797972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31/07/2017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830590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37302" y="609600"/>
            <a:ext cx="1713365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7" y="609600"/>
            <a:ext cx="5937654" cy="5181601"/>
          </a:xfrm>
        </p:spPr>
        <p:txBody>
          <a:bodyPr vert="eaVert" anchor="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31/07/2017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07130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1732450"/>
            <a:ext cx="776532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61571ED-39D6-443C-9EF8-3AD8EC129B98}" type="datetimeFigureOut">
              <a:rPr lang="es-CO" smtClean="0"/>
              <a:pPr/>
              <a:t>31/07/2017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7" y="5883276"/>
            <a:ext cx="500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677717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  <p:sldLayoutId id="214748374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1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.bin"/><Relationship Id="rId13" Type="http://schemas.openxmlformats.org/officeDocument/2006/relationships/image" Target="../media/image20.wmf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12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25.png"/><Relationship Id="rId11" Type="http://schemas.openxmlformats.org/officeDocument/2006/relationships/image" Target="../media/image19.wmf"/><Relationship Id="rId5" Type="http://schemas.openxmlformats.org/officeDocument/2006/relationships/image" Target="../media/image24.png"/><Relationship Id="rId15" Type="http://schemas.openxmlformats.org/officeDocument/2006/relationships/image" Target="../media/image21.wmf"/><Relationship Id="rId10" Type="http://schemas.openxmlformats.org/officeDocument/2006/relationships/oleObject" Target="../embeddings/oleObject3.bin"/><Relationship Id="rId4" Type="http://schemas.openxmlformats.org/officeDocument/2006/relationships/image" Target="../media/image23.png"/><Relationship Id="rId9" Type="http://schemas.openxmlformats.org/officeDocument/2006/relationships/image" Target="../media/image18.wmf"/><Relationship Id="rId14" Type="http://schemas.openxmlformats.org/officeDocument/2006/relationships/oleObject" Target="../embeddings/oleObject5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3568" y="908720"/>
            <a:ext cx="7772400" cy="1827634"/>
          </a:xfrm>
        </p:spPr>
        <p:txBody>
          <a:bodyPr>
            <a:normAutofit/>
          </a:bodyPr>
          <a:lstStyle/>
          <a:p>
            <a:r>
              <a:rPr lang="es-ES" dirty="0" smtClean="0">
                <a:effectLst/>
              </a:rPr>
              <a:t>2. Sistemas </a:t>
            </a:r>
            <a:r>
              <a:rPr lang="es-ES" dirty="0" err="1" smtClean="0">
                <a:effectLst/>
              </a:rPr>
              <a:t>Combinacionales</a:t>
            </a:r>
            <a:r>
              <a:rPr lang="es-ES" dirty="0" smtClean="0">
                <a:effectLst/>
              </a:rPr>
              <a:t>.</a:t>
            </a:r>
            <a:endParaRPr lang="es-CO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403648" y="3573017"/>
            <a:ext cx="6400800" cy="3024336"/>
          </a:xfrm>
        </p:spPr>
        <p:txBody>
          <a:bodyPr>
            <a:normAutofit fontScale="92500" lnSpcReduction="20000"/>
          </a:bodyPr>
          <a:lstStyle/>
          <a:p>
            <a:r>
              <a:rPr lang="es-ES" dirty="0">
                <a:effectLst/>
              </a:rPr>
              <a:t>2.1. Compuertas Básicas.</a:t>
            </a:r>
            <a:endParaRPr lang="es-CO" dirty="0">
              <a:effectLst/>
            </a:endParaRPr>
          </a:p>
          <a:p>
            <a:r>
              <a:rPr lang="es-ES" dirty="0">
                <a:effectLst/>
              </a:rPr>
              <a:t>2.2  Familias TTL y CMOS.</a:t>
            </a:r>
            <a:endParaRPr lang="es-CO" dirty="0">
              <a:effectLst/>
            </a:endParaRPr>
          </a:p>
          <a:p>
            <a:r>
              <a:rPr lang="es-ES" dirty="0">
                <a:effectLst/>
              </a:rPr>
              <a:t>2.3. Algebra de Boole.</a:t>
            </a:r>
            <a:endParaRPr lang="es-CO" dirty="0">
              <a:effectLst/>
            </a:endParaRPr>
          </a:p>
          <a:p>
            <a:r>
              <a:rPr lang="es-ES" dirty="0">
                <a:effectLst/>
              </a:rPr>
              <a:t>2.4. Síntesis lógica de circuitos combinatorios.</a:t>
            </a:r>
            <a:endParaRPr lang="es-CO" dirty="0">
              <a:effectLst/>
            </a:endParaRPr>
          </a:p>
          <a:p>
            <a:r>
              <a:rPr lang="es-ES" dirty="0" smtClean="0">
                <a:effectLst/>
              </a:rPr>
              <a:t>2.5. Codificadores </a:t>
            </a:r>
            <a:r>
              <a:rPr lang="es-ES" dirty="0">
                <a:effectLst/>
              </a:rPr>
              <a:t>y Decodificadores</a:t>
            </a:r>
            <a:r>
              <a:rPr lang="es-ES" dirty="0" smtClean="0">
                <a:effectLst/>
              </a:rPr>
              <a:t>.</a:t>
            </a:r>
            <a:endParaRPr lang="es-CO" dirty="0">
              <a:effectLst/>
            </a:endParaRPr>
          </a:p>
          <a:p>
            <a:r>
              <a:rPr lang="es-ES" dirty="0">
                <a:effectLst/>
              </a:rPr>
              <a:t>2.6</a:t>
            </a:r>
            <a:r>
              <a:rPr lang="es-ES" dirty="0" smtClean="0">
                <a:effectLst/>
              </a:rPr>
              <a:t>. </a:t>
            </a:r>
            <a:r>
              <a:rPr lang="es-ES" dirty="0">
                <a:effectLst/>
              </a:rPr>
              <a:t>Multiplexores y </a:t>
            </a:r>
            <a:r>
              <a:rPr lang="es-ES" dirty="0" err="1">
                <a:effectLst/>
              </a:rPr>
              <a:t>demultiplexores</a:t>
            </a:r>
            <a:r>
              <a:rPr lang="es-ES" dirty="0" smtClean="0">
                <a:effectLst/>
              </a:rPr>
              <a:t>.</a:t>
            </a:r>
          </a:p>
          <a:p>
            <a:r>
              <a:rPr lang="es-ES" dirty="0" smtClean="0">
                <a:effectLst/>
              </a:rPr>
              <a:t>2.7. Circuitos aritméticos.</a:t>
            </a:r>
          </a:p>
          <a:p>
            <a:r>
              <a:rPr lang="es-ES" dirty="0" smtClean="0">
                <a:effectLst/>
              </a:rPr>
              <a:t>2.8. </a:t>
            </a:r>
            <a:r>
              <a:rPr lang="es-ES" dirty="0">
                <a:effectLst/>
              </a:rPr>
              <a:t>Unidad Aritmética y lógica ALU.</a:t>
            </a:r>
            <a:endParaRPr lang="es-CO" dirty="0">
              <a:effectLst/>
            </a:endParaRPr>
          </a:p>
        </p:txBody>
      </p:sp>
      <p:sp>
        <p:nvSpPr>
          <p:cNvPr id="4" name="3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5" name="2 Subtítulo"/>
          <p:cNvSpPr txBox="1">
            <a:spLocks/>
          </p:cNvSpPr>
          <p:nvPr/>
        </p:nvSpPr>
        <p:spPr>
          <a:xfrm>
            <a:off x="-108520" y="476672"/>
            <a:ext cx="4032448" cy="576064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2400" kern="1200">
                <a:solidFill>
                  <a:schemeClr val="tx1"/>
                </a:solidFill>
                <a:effectLst>
                  <a:outerShdw blurRad="34925" dist="12700" dir="14400000" rotWithShape="0">
                    <a:prstClr val="black">
                      <a:alpha val="21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i="1" dirty="0" smtClean="0">
                <a:effectLst/>
              </a:rPr>
              <a:t>Agosto 2 </a:t>
            </a:r>
            <a:r>
              <a:rPr lang="es-ES" i="1" dirty="0" smtClean="0">
                <a:effectLst/>
              </a:rPr>
              <a:t>de 2017  Taller V UNALMED</a:t>
            </a:r>
          </a:p>
        </p:txBody>
      </p:sp>
    </p:spTree>
    <p:extLst>
      <p:ext uri="{BB962C8B-B14F-4D97-AF65-F5344CB8AC3E}">
        <p14:creationId xmlns:p14="http://schemas.microsoft.com/office/powerpoint/2010/main" val="4087379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70156"/>
            <a:ext cx="7987965" cy="1054250"/>
          </a:xfrm>
        </p:spPr>
        <p:txBody>
          <a:bodyPr/>
          <a:lstStyle/>
          <a:p>
            <a:r>
              <a:rPr lang="es-ES" sz="4000" dirty="0"/>
              <a:t>2.1. Compuertas Básicas.</a:t>
            </a:r>
            <a:endParaRPr lang="es-CO" sz="400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5580112" y="3789040"/>
            <a:ext cx="2520280" cy="532581"/>
          </a:xfrm>
        </p:spPr>
        <p:txBody>
          <a:bodyPr>
            <a:normAutofit/>
          </a:bodyPr>
          <a:lstStyle/>
          <a:p>
            <a:pPr algn="ctr"/>
            <a:r>
              <a:rPr lang="es-ES" dirty="0" smtClean="0"/>
              <a:t>Empaque</a:t>
            </a:r>
            <a:endParaRPr lang="es-ES" dirty="0"/>
          </a:p>
        </p:txBody>
      </p:sp>
      <p:sp>
        <p:nvSpPr>
          <p:cNvPr id="13" name="2 Marcador de contenido"/>
          <p:cNvSpPr txBox="1">
            <a:spLocks/>
          </p:cNvSpPr>
          <p:nvPr/>
        </p:nvSpPr>
        <p:spPr>
          <a:xfrm>
            <a:off x="899592" y="3783596"/>
            <a:ext cx="3408274" cy="4605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dirty="0" smtClean="0"/>
              <a:t>Representación</a:t>
            </a:r>
            <a:endParaRPr lang="es-ES" dirty="0"/>
          </a:p>
        </p:txBody>
      </p:sp>
      <p:sp>
        <p:nvSpPr>
          <p:cNvPr id="14" name="2 Marcador de contenido"/>
          <p:cNvSpPr txBox="1">
            <a:spLocks/>
          </p:cNvSpPr>
          <p:nvPr/>
        </p:nvSpPr>
        <p:spPr>
          <a:xfrm>
            <a:off x="971600" y="2204864"/>
            <a:ext cx="4536504" cy="13681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1600" dirty="0" smtClean="0"/>
              <a:t>Medio para llevar a cabo funciones lógicas:</a:t>
            </a:r>
          </a:p>
          <a:p>
            <a:pPr>
              <a:buFontTx/>
              <a:buChar char="-"/>
            </a:pPr>
            <a:r>
              <a:rPr lang="es-ES" sz="1600" dirty="0" smtClean="0"/>
              <a:t>Inversión, negación o complemento.</a:t>
            </a:r>
          </a:p>
          <a:p>
            <a:pPr>
              <a:buFontTx/>
              <a:buChar char="-"/>
            </a:pPr>
            <a:r>
              <a:rPr lang="es-ES" sz="1600" dirty="0" smtClean="0"/>
              <a:t>Suma booleana o conjunción.</a:t>
            </a:r>
          </a:p>
          <a:p>
            <a:pPr>
              <a:buFontTx/>
              <a:buChar char="-"/>
            </a:pPr>
            <a:r>
              <a:rPr lang="es-ES" sz="1600" dirty="0"/>
              <a:t>Multiplicación booleana o </a:t>
            </a:r>
            <a:r>
              <a:rPr lang="es-ES" sz="1600" dirty="0" smtClean="0"/>
              <a:t>disyunción.</a:t>
            </a:r>
          </a:p>
          <a:p>
            <a:pPr>
              <a:buFontTx/>
              <a:buChar char="-"/>
            </a:pPr>
            <a:r>
              <a:rPr lang="es-ES" sz="1600" dirty="0" smtClean="0"/>
              <a:t>Y otras operaciones que resultan de estas </a:t>
            </a:r>
          </a:p>
          <a:p>
            <a:endParaRPr lang="es-ES" sz="16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91680" y="4359660"/>
            <a:ext cx="2286857" cy="1008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91680" y="5583796"/>
            <a:ext cx="2304256" cy="10135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364088" y="4365104"/>
            <a:ext cx="1296144" cy="12961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020272" y="4365104"/>
            <a:ext cx="1224136" cy="12241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300192" y="5733256"/>
            <a:ext cx="1114425" cy="904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2 Marcador de contenido"/>
          <p:cNvSpPr txBox="1">
            <a:spLocks/>
          </p:cNvSpPr>
          <p:nvPr/>
        </p:nvSpPr>
        <p:spPr>
          <a:xfrm>
            <a:off x="5220072" y="2204864"/>
            <a:ext cx="3384376" cy="151216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/>
          <a:p>
            <a:pPr marL="365760" marR="0" lvl="0" indent="-365760" algn="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tabLst/>
              <a:defRPr/>
            </a:pPr>
            <a:r>
              <a:rPr lang="es-ES" sz="2400" b="1" i="1" noProof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¡Se componen principalmente de Transistores, construidos con semiconductores! </a:t>
            </a:r>
            <a:endParaRPr kumimoji="0" lang="es-ES" sz="2400" b="1" i="1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14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2488654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70156"/>
            <a:ext cx="7987965" cy="1054250"/>
          </a:xfrm>
        </p:spPr>
        <p:txBody>
          <a:bodyPr/>
          <a:lstStyle/>
          <a:p>
            <a:r>
              <a:rPr lang="es-ES" sz="4000" dirty="0"/>
              <a:t>2.1. Compuertas Básicas.</a:t>
            </a:r>
            <a:endParaRPr lang="es-CO" sz="4000" dirty="0"/>
          </a:p>
        </p:txBody>
      </p:sp>
      <p:sp>
        <p:nvSpPr>
          <p:cNvPr id="14" name="2 Marcador de contenido"/>
          <p:cNvSpPr txBox="1">
            <a:spLocks/>
          </p:cNvSpPr>
          <p:nvPr/>
        </p:nvSpPr>
        <p:spPr>
          <a:xfrm>
            <a:off x="827584" y="2636912"/>
            <a:ext cx="3384376" cy="504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 smtClean="0"/>
              <a:t>Compuerta NOT</a:t>
            </a:r>
          </a:p>
        </p:txBody>
      </p:sp>
      <p:grpSp>
        <p:nvGrpSpPr>
          <p:cNvPr id="23" name="22 Grupo"/>
          <p:cNvGrpSpPr/>
          <p:nvPr/>
        </p:nvGrpSpPr>
        <p:grpSpPr>
          <a:xfrm>
            <a:off x="4860032" y="3789041"/>
            <a:ext cx="3842182" cy="2880320"/>
            <a:chOff x="5436096" y="4941168"/>
            <a:chExt cx="3410134" cy="1746337"/>
          </a:xfrm>
        </p:grpSpPr>
        <p:sp>
          <p:nvSpPr>
            <p:cNvPr id="18" name="17 Rectángulo"/>
            <p:cNvSpPr/>
            <p:nvPr/>
          </p:nvSpPr>
          <p:spPr>
            <a:xfrm>
              <a:off x="5436096" y="4941168"/>
              <a:ext cx="3384376" cy="165618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7" name="2 Marcador de contenido"/>
            <p:cNvSpPr txBox="1">
              <a:spLocks/>
            </p:cNvSpPr>
            <p:nvPr/>
          </p:nvSpPr>
          <p:spPr>
            <a:xfrm>
              <a:off x="5461854" y="5031321"/>
              <a:ext cx="3384376" cy="1656184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92500" lnSpcReduction="10000"/>
            </a:bodyPr>
            <a:lstStyle>
              <a:lvl1pPr marL="365760" indent="-36576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24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77240" indent="-36576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"/>
                <a:defRPr sz="22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36576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20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508760" indent="-32004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18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indent="-32004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14884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46888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78892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10896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buNone/>
              </a:pPr>
              <a:r>
                <a:rPr lang="es-ES" sz="2600" b="1" i="1" dirty="0" smtClean="0"/>
                <a:t>Tabla de verdad: </a:t>
              </a:r>
              <a:r>
                <a:rPr lang="es-ES" b="1" i="1" dirty="0" smtClean="0"/>
                <a:t>Es una representación tabulada de una operación lógica que </a:t>
              </a:r>
              <a:r>
                <a:rPr lang="es-ES" b="1" i="1" dirty="0"/>
                <a:t>define completamente la </a:t>
              </a:r>
              <a:r>
                <a:rPr lang="es-ES" b="1" i="1" dirty="0" smtClean="0"/>
                <a:t>operación. El número de salidas que tiene una tabla de verdad con n entradas es 2</a:t>
              </a:r>
              <a:r>
                <a:rPr lang="es-ES" b="1" i="1" baseline="30000" dirty="0" smtClean="0"/>
                <a:t>n</a:t>
              </a:r>
              <a:r>
                <a:rPr lang="es-ES" b="1" i="1" dirty="0" smtClean="0"/>
                <a:t>.</a:t>
              </a:r>
            </a:p>
          </p:txBody>
        </p:sp>
      </p:grp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220072" y="2780928"/>
            <a:ext cx="2219325" cy="819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2 Marcador de contenido"/>
          <p:cNvSpPr txBox="1">
            <a:spLocks/>
          </p:cNvSpPr>
          <p:nvPr/>
        </p:nvSpPr>
        <p:spPr>
          <a:xfrm>
            <a:off x="7524328" y="2996952"/>
            <a:ext cx="1260648" cy="4320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s-ES" sz="1600" dirty="0" smtClean="0"/>
              <a:t>Salida </a:t>
            </a:r>
            <a:r>
              <a:rPr lang="es-ES" sz="1600" dirty="0" smtClean="0"/>
              <a:t>=  </a:t>
            </a:r>
            <a:endParaRPr lang="es-ES" sz="1600" dirty="0" smtClean="0"/>
          </a:p>
        </p:txBody>
      </p:sp>
      <p:sp>
        <p:nvSpPr>
          <p:cNvPr id="12" name="11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234" y="3284984"/>
            <a:ext cx="3724275" cy="3057525"/>
          </a:xfrm>
          <a:prstGeom prst="rect">
            <a:avLst/>
          </a:prstGeom>
        </p:spPr>
      </p:pic>
      <p:sp>
        <p:nvSpPr>
          <p:cNvPr id="4" name="Rectángulo 3"/>
          <p:cNvSpPr/>
          <p:nvPr/>
        </p:nvSpPr>
        <p:spPr>
          <a:xfrm>
            <a:off x="395536" y="6372295"/>
            <a:ext cx="4572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CO" sz="1400" dirty="0"/>
              <a:t>http://www.electronics-tutorials.ws/logic/logic_4.html</a:t>
            </a:r>
          </a:p>
        </p:txBody>
      </p:sp>
      <p:graphicFrame>
        <p:nvGraphicFramePr>
          <p:cNvPr id="5" name="Objeto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7742369"/>
              </p:ext>
            </p:extLst>
          </p:nvPr>
        </p:nvGraphicFramePr>
        <p:xfrm>
          <a:off x="8331927" y="3000375"/>
          <a:ext cx="2159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" name="Equation" r:id="rId5" imgW="215640" imgH="279360" progId="Equation.DSMT4">
                  <p:embed/>
                </p:oleObj>
              </mc:Choice>
              <mc:Fallback>
                <p:oleObj name="Equation" r:id="rId5" imgW="21564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331927" y="3000375"/>
                        <a:ext cx="2159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88654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70156"/>
            <a:ext cx="7987965" cy="1054250"/>
          </a:xfrm>
        </p:spPr>
        <p:txBody>
          <a:bodyPr/>
          <a:lstStyle/>
          <a:p>
            <a:r>
              <a:rPr lang="es-ES" sz="4000" dirty="0"/>
              <a:t>2.1. Compuertas Básicas.</a:t>
            </a:r>
            <a:endParaRPr lang="es-CO" sz="4000" dirty="0"/>
          </a:p>
        </p:txBody>
      </p:sp>
      <p:sp>
        <p:nvSpPr>
          <p:cNvPr id="13" name="2 Marcador de contenido"/>
          <p:cNvSpPr txBox="1">
            <a:spLocks/>
          </p:cNvSpPr>
          <p:nvPr/>
        </p:nvSpPr>
        <p:spPr>
          <a:xfrm>
            <a:off x="467544" y="2996952"/>
            <a:ext cx="3840322" cy="5325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 smtClean="0"/>
              <a:t>Compuertas AND</a:t>
            </a:r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63888" y="2643789"/>
            <a:ext cx="3927709" cy="15777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707904" y="4947119"/>
            <a:ext cx="3570645" cy="14282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2 Marcador de contenido"/>
          <p:cNvSpPr txBox="1">
            <a:spLocks/>
          </p:cNvSpPr>
          <p:nvPr/>
        </p:nvSpPr>
        <p:spPr>
          <a:xfrm>
            <a:off x="539552" y="5416699"/>
            <a:ext cx="3840322" cy="5325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 smtClean="0"/>
              <a:t>Compuertas OR</a:t>
            </a:r>
            <a:endParaRPr lang="es-ES" dirty="0"/>
          </a:p>
        </p:txBody>
      </p:sp>
      <p:sp>
        <p:nvSpPr>
          <p:cNvPr id="7" name="2 Marcador de contenido"/>
          <p:cNvSpPr txBox="1">
            <a:spLocks/>
          </p:cNvSpPr>
          <p:nvPr/>
        </p:nvSpPr>
        <p:spPr>
          <a:xfrm>
            <a:off x="1475656" y="3573015"/>
            <a:ext cx="1440160" cy="6484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s-ES" sz="1600" dirty="0" smtClean="0"/>
              <a:t>Salida </a:t>
            </a:r>
            <a:r>
              <a:rPr lang="es-ES" sz="1600" dirty="0" smtClean="0"/>
              <a:t>= </a:t>
            </a:r>
            <a:r>
              <a:rPr lang="es-ES" sz="1800" b="1" dirty="0" smtClean="0"/>
              <a:t>A∙</a:t>
            </a:r>
            <a:r>
              <a:rPr lang="en-US" sz="1800" b="1" dirty="0" smtClean="0"/>
              <a:t>B</a:t>
            </a:r>
            <a:endParaRPr lang="es-ES" sz="1800" b="1" dirty="0" smtClean="0"/>
          </a:p>
        </p:txBody>
      </p:sp>
      <p:sp>
        <p:nvSpPr>
          <p:cNvPr id="12" name="11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pic>
        <p:nvPicPr>
          <p:cNvPr id="1026" name="Picture 2" descr="https://upload.wikimedia.org/wikipedia/commons/7/7e/TransistorANDgate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4328" y="2364130"/>
            <a:ext cx="1474429" cy="2144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s://upload.wikimedia.org/wikipedia/commons/0/01/Transistor_OR_Gate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1597" y="4541128"/>
            <a:ext cx="1504776" cy="2150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2 Marcador de contenido"/>
          <p:cNvSpPr txBox="1">
            <a:spLocks/>
          </p:cNvSpPr>
          <p:nvPr/>
        </p:nvSpPr>
        <p:spPr>
          <a:xfrm>
            <a:off x="1475656" y="5933973"/>
            <a:ext cx="1440160" cy="6484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s-ES" sz="1600" dirty="0" smtClean="0"/>
              <a:t>Salida </a:t>
            </a:r>
            <a:r>
              <a:rPr lang="es-ES" sz="1600" dirty="0" smtClean="0"/>
              <a:t>= </a:t>
            </a:r>
            <a:r>
              <a:rPr lang="es-ES" sz="1800" b="1" dirty="0" smtClean="0"/>
              <a:t>A+</a:t>
            </a:r>
            <a:r>
              <a:rPr lang="en-US" sz="1800" b="1" dirty="0" smtClean="0"/>
              <a:t>B</a:t>
            </a:r>
            <a:endParaRPr lang="es-ES" sz="1800" b="1" dirty="0" smtClean="0"/>
          </a:p>
        </p:txBody>
      </p:sp>
    </p:spTree>
    <p:extLst>
      <p:ext uri="{BB962C8B-B14F-4D97-AF65-F5344CB8AC3E}">
        <p14:creationId xmlns:p14="http://schemas.microsoft.com/office/powerpoint/2010/main" val="2488654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70156"/>
            <a:ext cx="7987965" cy="1054250"/>
          </a:xfrm>
        </p:spPr>
        <p:txBody>
          <a:bodyPr/>
          <a:lstStyle/>
          <a:p>
            <a:r>
              <a:rPr lang="es-ES" sz="4000" dirty="0"/>
              <a:t>2.1. Compuertas Básicas.</a:t>
            </a:r>
            <a:endParaRPr lang="es-CO" sz="4000" dirty="0"/>
          </a:p>
        </p:txBody>
      </p:sp>
      <p:sp>
        <p:nvSpPr>
          <p:cNvPr id="14" name="2 Marcador de contenido"/>
          <p:cNvSpPr txBox="1">
            <a:spLocks/>
          </p:cNvSpPr>
          <p:nvPr/>
        </p:nvSpPr>
        <p:spPr>
          <a:xfrm>
            <a:off x="395536" y="2204864"/>
            <a:ext cx="7704856" cy="504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 smtClean="0"/>
              <a:t>Otras compuertas derivadas de las anteriores…</a:t>
            </a:r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24439" y="2921258"/>
            <a:ext cx="3155473" cy="13696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83568" y="4863309"/>
            <a:ext cx="3096344" cy="13740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9" name="Picture 7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788024" y="4837401"/>
            <a:ext cx="2952328" cy="13279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11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grpSp>
        <p:nvGrpSpPr>
          <p:cNvPr id="5" name="4 Grupo"/>
          <p:cNvGrpSpPr/>
          <p:nvPr/>
        </p:nvGrpSpPr>
        <p:grpSpPr>
          <a:xfrm>
            <a:off x="4716016" y="2878694"/>
            <a:ext cx="3240360" cy="1403691"/>
            <a:chOff x="4716016" y="2878694"/>
            <a:chExt cx="3240360" cy="1403691"/>
          </a:xfrm>
        </p:grpSpPr>
        <p:pic>
          <p:nvPicPr>
            <p:cNvPr id="3078" name="Picture 6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4716016" y="2878694"/>
              <a:ext cx="3240360" cy="14036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73932" y="3017774"/>
              <a:ext cx="1247035" cy="354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5" name="2 Marcador de contenido"/>
          <p:cNvSpPr txBox="1">
            <a:spLocks/>
          </p:cNvSpPr>
          <p:nvPr/>
        </p:nvSpPr>
        <p:spPr>
          <a:xfrm>
            <a:off x="5273932" y="4010438"/>
            <a:ext cx="561284" cy="271947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b="1" i="1" dirty="0" smtClean="0">
                <a:solidFill>
                  <a:schemeClr val="accent5">
                    <a:lumMod val="50000"/>
                  </a:schemeClr>
                </a:solidFill>
              </a:rPr>
              <a:t>XOR</a:t>
            </a:r>
          </a:p>
        </p:txBody>
      </p:sp>
      <p:sp>
        <p:nvSpPr>
          <p:cNvPr id="16" name="2 Marcador de contenido"/>
          <p:cNvSpPr txBox="1">
            <a:spLocks/>
          </p:cNvSpPr>
          <p:nvPr/>
        </p:nvSpPr>
        <p:spPr>
          <a:xfrm>
            <a:off x="5245543" y="5885779"/>
            <a:ext cx="747068" cy="271947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b="1" i="1" dirty="0" smtClean="0">
                <a:solidFill>
                  <a:schemeClr val="accent5">
                    <a:lumMod val="50000"/>
                  </a:schemeClr>
                </a:solidFill>
              </a:rPr>
              <a:t>XNOR</a:t>
            </a:r>
          </a:p>
        </p:txBody>
      </p:sp>
      <p:graphicFrame>
        <p:nvGraphicFramePr>
          <p:cNvPr id="17" name="Objeto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7546844"/>
              </p:ext>
            </p:extLst>
          </p:nvPr>
        </p:nvGraphicFramePr>
        <p:xfrm>
          <a:off x="1903725" y="4351033"/>
          <a:ext cx="5969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2" name="Equation" r:id="rId8" imgW="596880" imgH="342720" progId="Equation.DSMT4">
                  <p:embed/>
                </p:oleObj>
              </mc:Choice>
              <mc:Fallback>
                <p:oleObj name="Equation" r:id="rId8" imgW="5968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903725" y="4351033"/>
                        <a:ext cx="5969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to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040821"/>
              </p:ext>
            </p:extLst>
          </p:nvPr>
        </p:nvGraphicFramePr>
        <p:xfrm>
          <a:off x="5953038" y="4408183"/>
          <a:ext cx="6223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3" name="Equation" r:id="rId10" imgW="622080" imgH="228600" progId="Equation.DSMT4">
                  <p:embed/>
                </p:oleObj>
              </mc:Choice>
              <mc:Fallback>
                <p:oleObj name="Equation" r:id="rId10" imgW="6220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953038" y="4408183"/>
                        <a:ext cx="6223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to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7244652"/>
              </p:ext>
            </p:extLst>
          </p:nvPr>
        </p:nvGraphicFramePr>
        <p:xfrm>
          <a:off x="1967225" y="6318512"/>
          <a:ext cx="4699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4" name="Equation" r:id="rId12" imgW="469800" imgH="342720" progId="Equation.DSMT4">
                  <p:embed/>
                </p:oleObj>
              </mc:Choice>
              <mc:Fallback>
                <p:oleObj name="Equation" r:id="rId12" imgW="46980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967225" y="6318512"/>
                        <a:ext cx="4699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to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7051441"/>
              </p:ext>
            </p:extLst>
          </p:nvPr>
        </p:nvGraphicFramePr>
        <p:xfrm>
          <a:off x="5470438" y="6157726"/>
          <a:ext cx="15875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5" name="Equation" r:id="rId14" imgW="1587240" imgH="342720" progId="Equation.DSMT4">
                  <p:embed/>
                </p:oleObj>
              </mc:Choice>
              <mc:Fallback>
                <p:oleObj name="Equation" r:id="rId14" imgW="158724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5470438" y="6157726"/>
                        <a:ext cx="15875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88654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 Título"/>
          <p:cNvSpPr>
            <a:spLocks noGrp="1"/>
          </p:cNvSpPr>
          <p:nvPr>
            <p:ph type="title"/>
          </p:nvPr>
        </p:nvSpPr>
        <p:spPr>
          <a:xfrm>
            <a:off x="683568" y="692696"/>
            <a:ext cx="7987965" cy="1054250"/>
          </a:xfrm>
        </p:spPr>
        <p:txBody>
          <a:bodyPr/>
          <a:lstStyle/>
          <a:p>
            <a:r>
              <a:rPr lang="es-ES" sz="4000" dirty="0" smtClean="0"/>
              <a:t>2.2. </a:t>
            </a:r>
            <a:r>
              <a:rPr lang="es-ES" sz="4000" dirty="0"/>
              <a:t>Familias TTL y CMOS.</a:t>
            </a:r>
            <a:endParaRPr lang="es-CO" sz="400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652407" y="2132856"/>
            <a:ext cx="3847585" cy="478996"/>
          </a:xfrm>
        </p:spPr>
        <p:txBody>
          <a:bodyPr>
            <a:noAutofit/>
          </a:bodyPr>
          <a:lstStyle/>
          <a:p>
            <a:r>
              <a:rPr lang="es-CO" sz="2800" b="1" dirty="0"/>
              <a:t>Familia TTL (Lógica de Transistor - Transistor) </a:t>
            </a:r>
            <a:r>
              <a:rPr lang="es-CO" sz="2800" b="1" dirty="0" smtClean="0"/>
              <a:t>.</a:t>
            </a:r>
            <a:endParaRPr lang="es-CO" sz="28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3861048"/>
            <a:ext cx="3208649" cy="19043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2 Marcador de contenido"/>
          <p:cNvSpPr txBox="1">
            <a:spLocks/>
          </p:cNvSpPr>
          <p:nvPr/>
        </p:nvSpPr>
        <p:spPr>
          <a:xfrm>
            <a:off x="5076056" y="2151279"/>
            <a:ext cx="2958679" cy="46057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2200" b="1" dirty="0"/>
              <a:t>Circuitos Lógicos CMOS (Metal Óxido Semiconductor Complementario</a:t>
            </a:r>
            <a:r>
              <a:rPr lang="es-CO" sz="2200" b="1" dirty="0" smtClean="0"/>
              <a:t>).</a:t>
            </a:r>
            <a:endParaRPr lang="es-CO" sz="2200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8981" y="4079597"/>
            <a:ext cx="3572828" cy="19043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6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690496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 Título"/>
          <p:cNvSpPr>
            <a:spLocks noGrp="1"/>
          </p:cNvSpPr>
          <p:nvPr>
            <p:ph type="title"/>
          </p:nvPr>
        </p:nvSpPr>
        <p:spPr>
          <a:xfrm>
            <a:off x="683568" y="358526"/>
            <a:ext cx="7987965" cy="1054250"/>
          </a:xfrm>
        </p:spPr>
        <p:txBody>
          <a:bodyPr/>
          <a:lstStyle/>
          <a:p>
            <a:r>
              <a:rPr lang="es-ES" sz="4000" dirty="0" smtClean="0"/>
              <a:t>2.3. Algebra de </a:t>
            </a:r>
            <a:r>
              <a:rPr lang="es-ES" sz="4000" dirty="0" err="1" smtClean="0"/>
              <a:t>Boole</a:t>
            </a:r>
            <a:r>
              <a:rPr lang="es-ES" sz="4000" dirty="0" smtClean="0"/>
              <a:t>.</a:t>
            </a:r>
            <a:endParaRPr lang="es-CO" sz="400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652407" y="2276872"/>
            <a:ext cx="7592001" cy="504056"/>
          </a:xfrm>
        </p:spPr>
        <p:txBody>
          <a:bodyPr>
            <a:noAutofit/>
          </a:bodyPr>
          <a:lstStyle/>
          <a:p>
            <a:r>
              <a:rPr lang="es-CO" dirty="0" smtClean="0"/>
              <a:t>Teoría matemática que se aplica a la lógica digital.</a:t>
            </a:r>
            <a:endParaRPr lang="es-CO" dirty="0"/>
          </a:p>
        </p:txBody>
      </p:sp>
      <p:grpSp>
        <p:nvGrpSpPr>
          <p:cNvPr id="23" name="22 Grupo"/>
          <p:cNvGrpSpPr/>
          <p:nvPr/>
        </p:nvGrpSpPr>
        <p:grpSpPr>
          <a:xfrm>
            <a:off x="580399" y="3068960"/>
            <a:ext cx="8024049" cy="2952328"/>
            <a:chOff x="580399" y="2636912"/>
            <a:chExt cx="8127218" cy="2376264"/>
          </a:xfrm>
        </p:grpSpPr>
        <p:sp>
          <p:nvSpPr>
            <p:cNvPr id="20" name="19 Rectángulo"/>
            <p:cNvSpPr/>
            <p:nvPr/>
          </p:nvSpPr>
          <p:spPr>
            <a:xfrm>
              <a:off x="3523041" y="2996952"/>
              <a:ext cx="1872208" cy="1728192"/>
            </a:xfrm>
            <a:prstGeom prst="rect">
              <a:avLst/>
            </a:prstGeom>
            <a:noFill/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9" name="18 Rectángulo"/>
            <p:cNvSpPr/>
            <p:nvPr/>
          </p:nvSpPr>
          <p:spPr>
            <a:xfrm>
              <a:off x="6732240" y="2852936"/>
              <a:ext cx="1944216" cy="2088232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6" name="15 Rectángulo"/>
            <p:cNvSpPr/>
            <p:nvPr/>
          </p:nvSpPr>
          <p:spPr>
            <a:xfrm>
              <a:off x="827584" y="2636912"/>
              <a:ext cx="1368152" cy="2376264"/>
            </a:xfrm>
            <a:prstGeom prst="rect">
              <a:avLst/>
            </a:prstGeom>
            <a:noFill/>
            <a:ln w="571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0" name="2 Marcador de contenido"/>
            <p:cNvSpPr txBox="1">
              <a:spLocks/>
            </p:cNvSpPr>
            <p:nvPr/>
          </p:nvSpPr>
          <p:spPr>
            <a:xfrm>
              <a:off x="580399" y="2708920"/>
              <a:ext cx="1615337" cy="1008112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/>
            <a:p>
              <a:pPr marL="365760" marR="0" lvl="0" indent="-365760" algn="l" defTabSz="9144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>
                  <a:schemeClr val="accent1"/>
                </a:buClr>
                <a:buSzTx/>
                <a:tabLst/>
                <a:defRPr/>
              </a:pPr>
              <a:r>
                <a:rPr kumimoji="0" lang="es-CO" sz="2200" b="0" i="1" u="none" strike="noStrike" kern="1200" cap="none" spc="0" normalizeH="0" baseline="0" noProof="0" dirty="0" smtClean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     A, B</a:t>
              </a:r>
              <a:r>
                <a:rPr lang="es-CO" sz="2200" i="1" dirty="0" smtClean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,</a:t>
              </a:r>
              <a:r>
                <a:rPr kumimoji="0" lang="es-CO" sz="2200" b="0" i="1" u="none" strike="noStrike" kern="1200" cap="none" spc="0" normalizeH="0" noProof="0" dirty="0" smtClean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C y D son entradas; pueden tener dos estados:1 o 0.</a:t>
              </a:r>
              <a:endParaRPr kumimoji="0" lang="es-CO" sz="2200" b="0" i="1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cxnSp>
          <p:nvCxnSpPr>
            <p:cNvPr id="13" name="12 Conector recto de flecha"/>
            <p:cNvCxnSpPr/>
            <p:nvPr/>
          </p:nvCxnSpPr>
          <p:spPr>
            <a:xfrm>
              <a:off x="2339752" y="3707060"/>
              <a:ext cx="108012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14 Conector recto de flecha"/>
            <p:cNvCxnSpPr/>
            <p:nvPr/>
          </p:nvCxnSpPr>
          <p:spPr>
            <a:xfrm>
              <a:off x="2339752" y="3859460"/>
              <a:ext cx="108012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2 Marcador de contenido"/>
            <p:cNvSpPr txBox="1">
              <a:spLocks/>
            </p:cNvSpPr>
            <p:nvPr/>
          </p:nvSpPr>
          <p:spPr>
            <a:xfrm>
              <a:off x="3131840" y="3068960"/>
              <a:ext cx="2335417" cy="1008112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/>
            <a:p>
              <a:pPr marL="365760" marR="0" lvl="0" indent="-365760" algn="l" defTabSz="9144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>
                  <a:schemeClr val="accent1"/>
                </a:buClr>
                <a:buSzTx/>
                <a:tabLst/>
                <a:defRPr/>
              </a:pPr>
              <a:r>
                <a:rPr kumimoji="0" lang="es-CO" sz="2200" b="0" i="1" u="none" strike="noStrike" kern="1200" cap="none" spc="0" normalizeH="0" baseline="0" noProof="0" dirty="0" smtClean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     Una configuración de compuertas</a:t>
              </a:r>
              <a:r>
                <a:rPr kumimoji="0" lang="es-CO" sz="2200" b="0" i="1" u="none" strike="noStrike" kern="1200" cap="none" spc="0" normalizeH="0" noProof="0" dirty="0" smtClean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con estas entradas….</a:t>
              </a:r>
              <a:endParaRPr kumimoji="0" lang="es-CO" sz="2200" b="0" i="1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2 Marcador de contenido"/>
            <p:cNvSpPr txBox="1">
              <a:spLocks/>
            </p:cNvSpPr>
            <p:nvPr/>
          </p:nvSpPr>
          <p:spPr>
            <a:xfrm>
              <a:off x="6372200" y="2924944"/>
              <a:ext cx="2335417" cy="1008112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/>
            <a:p>
              <a:pPr marL="365760" marR="0" lvl="0" indent="-365760" algn="l" defTabSz="9144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>
                  <a:schemeClr val="accent1"/>
                </a:buClr>
                <a:buSzTx/>
                <a:tabLst/>
                <a:defRPr/>
              </a:pPr>
              <a:r>
                <a:rPr kumimoji="0" lang="es-CO" sz="2100" b="0" i="1" u="none" strike="noStrike" kern="1200" cap="none" spc="0" normalizeH="0" baseline="0" noProof="0" dirty="0" smtClean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     Da como resultados un</a:t>
              </a:r>
              <a:r>
                <a:rPr kumimoji="0" lang="es-CO" sz="2100" b="0" i="1" u="none" strike="noStrike" kern="1200" cap="none" spc="0" normalizeH="0" noProof="0" dirty="0" smtClean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estado lógico que depende de la configuración de las compuertas.</a:t>
              </a:r>
              <a:endParaRPr kumimoji="0" lang="es-CO" sz="2100" b="0" i="1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cxnSp>
          <p:nvCxnSpPr>
            <p:cNvPr id="21" name="20 Conector recto de flecha"/>
            <p:cNvCxnSpPr/>
            <p:nvPr/>
          </p:nvCxnSpPr>
          <p:spPr>
            <a:xfrm>
              <a:off x="5508104" y="3717032"/>
              <a:ext cx="108012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21 Conector recto de flecha"/>
            <p:cNvCxnSpPr/>
            <p:nvPr/>
          </p:nvCxnSpPr>
          <p:spPr>
            <a:xfrm>
              <a:off x="5508104" y="3869432"/>
              <a:ext cx="108012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23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690496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 Título"/>
          <p:cNvSpPr>
            <a:spLocks noGrp="1"/>
          </p:cNvSpPr>
          <p:nvPr>
            <p:ph type="title"/>
          </p:nvPr>
        </p:nvSpPr>
        <p:spPr>
          <a:xfrm>
            <a:off x="683568" y="574550"/>
            <a:ext cx="7987965" cy="1054250"/>
          </a:xfrm>
        </p:spPr>
        <p:txBody>
          <a:bodyPr/>
          <a:lstStyle/>
          <a:p>
            <a:r>
              <a:rPr lang="es-ES" sz="4000" dirty="0" smtClean="0"/>
              <a:t>2.3. Algebra de </a:t>
            </a:r>
            <a:r>
              <a:rPr lang="es-ES" sz="4000" dirty="0" err="1" smtClean="0"/>
              <a:t>Boole</a:t>
            </a:r>
            <a:r>
              <a:rPr lang="es-ES" sz="4000" dirty="0" smtClean="0"/>
              <a:t>.</a:t>
            </a:r>
            <a:endParaRPr lang="es-CO" sz="4000" dirty="0"/>
          </a:p>
        </p:txBody>
      </p:sp>
      <p:sp>
        <p:nvSpPr>
          <p:cNvPr id="26" name="2 Marcador de contenido"/>
          <p:cNvSpPr>
            <a:spLocks noGrp="1"/>
          </p:cNvSpPr>
          <p:nvPr>
            <p:ph idx="1"/>
          </p:nvPr>
        </p:nvSpPr>
        <p:spPr>
          <a:xfrm>
            <a:off x="652407" y="3645024"/>
            <a:ext cx="7592001" cy="504056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s-CO" i="1" dirty="0" smtClean="0"/>
              <a:t>…Circuitos combinatorios… la salida sólo depende de los estados de las entradas… 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59832" y="4797152"/>
            <a:ext cx="5667375" cy="1247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2 Marcador de contenido"/>
          <p:cNvSpPr txBox="1">
            <a:spLocks/>
          </p:cNvSpPr>
          <p:nvPr/>
        </p:nvSpPr>
        <p:spPr>
          <a:xfrm>
            <a:off x="395536" y="5013176"/>
            <a:ext cx="2831089" cy="504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65760" marR="0" lvl="0" indent="-36576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tabLst/>
              <a:defRPr/>
            </a:pPr>
            <a:r>
              <a:rPr kumimoji="0" lang="es-CO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Esquema de un sistema lógico</a:t>
            </a:r>
            <a:endParaRPr kumimoji="0" lang="es-CO" sz="2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24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409156" y="2420888"/>
            <a:ext cx="3467100" cy="1028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5" name="2 Marcador de contenido"/>
          <p:cNvSpPr txBox="1">
            <a:spLocks/>
          </p:cNvSpPr>
          <p:nvPr/>
        </p:nvSpPr>
        <p:spPr>
          <a:xfrm>
            <a:off x="1691680" y="2657500"/>
            <a:ext cx="1728192" cy="504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65760" marR="0" lvl="0" indent="-36576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tabLst/>
              <a:defRPr/>
            </a:pPr>
            <a:r>
              <a:rPr kumimoji="0" lang="es-CO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Ejemplo:</a:t>
            </a:r>
            <a:endParaRPr kumimoji="0" lang="es-CO" sz="2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8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690496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 Título"/>
          <p:cNvSpPr>
            <a:spLocks noGrp="1"/>
          </p:cNvSpPr>
          <p:nvPr>
            <p:ph type="title"/>
          </p:nvPr>
        </p:nvSpPr>
        <p:spPr>
          <a:xfrm>
            <a:off x="683568" y="692696"/>
            <a:ext cx="7987965" cy="1054250"/>
          </a:xfrm>
        </p:spPr>
        <p:txBody>
          <a:bodyPr>
            <a:normAutofit fontScale="90000"/>
          </a:bodyPr>
          <a:lstStyle/>
          <a:p>
            <a:r>
              <a:rPr lang="es-ES" sz="4000" dirty="0" smtClean="0"/>
              <a:t>2.4. Síntesis lógica de circuitos combinatorios.</a:t>
            </a:r>
            <a:endParaRPr lang="es-CO" sz="400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23528" y="2132856"/>
            <a:ext cx="3199513" cy="108012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s-CO" sz="2200" dirty="0" smtClean="0"/>
              <a:t>A partir de una descripción del sistema que se requiere…. construir una tabla de verdad:</a:t>
            </a:r>
            <a:endParaRPr lang="es-CO" sz="22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2075" y="3966170"/>
            <a:ext cx="1609725" cy="2343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2 Marcador de contenido"/>
          <p:cNvSpPr txBox="1">
            <a:spLocks/>
          </p:cNvSpPr>
          <p:nvPr/>
        </p:nvSpPr>
        <p:spPr>
          <a:xfrm>
            <a:off x="4572000" y="2204864"/>
            <a:ext cx="4254823" cy="93610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CO" dirty="0" smtClean="0"/>
              <a:t>Y con ésta obtener una expresión lógica…</a:t>
            </a:r>
            <a:endParaRPr lang="es-CO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2527" y="3079087"/>
            <a:ext cx="5258944" cy="4219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1 Rectángulo"/>
          <p:cNvSpPr/>
          <p:nvPr/>
        </p:nvSpPr>
        <p:spPr>
          <a:xfrm>
            <a:off x="4000008" y="3573016"/>
            <a:ext cx="494398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2400" dirty="0" smtClean="0"/>
              <a:t>…para </a:t>
            </a:r>
            <a:r>
              <a:rPr lang="es-CO" sz="2400" dirty="0"/>
              <a:t>construir un circuito lógico:</a:t>
            </a: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7984" y="4149080"/>
            <a:ext cx="3934001" cy="24938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8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690496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 Título"/>
          <p:cNvSpPr>
            <a:spLocks noGrp="1"/>
          </p:cNvSpPr>
          <p:nvPr>
            <p:ph type="title"/>
          </p:nvPr>
        </p:nvSpPr>
        <p:spPr>
          <a:xfrm>
            <a:off x="683568" y="502542"/>
            <a:ext cx="7987965" cy="1054250"/>
          </a:xfrm>
        </p:spPr>
        <p:txBody>
          <a:bodyPr>
            <a:normAutofit fontScale="90000"/>
          </a:bodyPr>
          <a:lstStyle/>
          <a:p>
            <a:r>
              <a:rPr lang="es-ES" sz="3800" dirty="0" smtClean="0"/>
              <a:t>2.4.1. </a:t>
            </a:r>
            <a:r>
              <a:rPr lang="es-ES" sz="3800" dirty="0"/>
              <a:t>Representación por suma de productos y por producto de sumas</a:t>
            </a:r>
            <a:r>
              <a:rPr lang="es-ES" sz="3800" dirty="0" smtClean="0"/>
              <a:t>.</a:t>
            </a:r>
            <a:endParaRPr lang="es-CO" sz="380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23528" y="2060848"/>
            <a:ext cx="3199513" cy="108012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s-CO" sz="2000" dirty="0" smtClean="0"/>
              <a:t>Supongamos un sistema con 3 sensores (A, B, C); cuando 2 o 3 sensores estén activados la salida del sistema debe ser alta, en caso contrario baja.</a:t>
            </a:r>
            <a:endParaRPr lang="es-CO" sz="20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2075" y="4110186"/>
            <a:ext cx="1609725" cy="2343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2 Marcador de contenido"/>
          <p:cNvSpPr txBox="1">
            <a:spLocks/>
          </p:cNvSpPr>
          <p:nvPr/>
        </p:nvSpPr>
        <p:spPr>
          <a:xfrm>
            <a:off x="3851920" y="2204864"/>
            <a:ext cx="5036488" cy="93610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s-CO" sz="2200" dirty="0" smtClean="0"/>
              <a:t>…obtenemos una expresión lógica por medio de la suma de productos….</a:t>
            </a:r>
            <a:endParaRPr lang="es-CO" sz="22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6820" y="2996952"/>
            <a:ext cx="2720404" cy="25370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2 Marcador de contenido"/>
          <p:cNvSpPr txBox="1">
            <a:spLocks/>
          </p:cNvSpPr>
          <p:nvPr/>
        </p:nvSpPr>
        <p:spPr>
          <a:xfrm>
            <a:off x="3275856" y="5517232"/>
            <a:ext cx="5690911" cy="93610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CO" sz="2200" dirty="0" smtClean="0"/>
              <a:t>… unimos estas expresiones por un «</a:t>
            </a:r>
            <a:r>
              <a:rPr lang="es-CO" sz="2200" dirty="0" err="1" smtClean="0"/>
              <a:t>or</a:t>
            </a:r>
            <a:r>
              <a:rPr lang="es-CO" sz="2200" dirty="0" smtClean="0"/>
              <a:t>»…</a:t>
            </a:r>
            <a:endParaRPr lang="es-CO" sz="2200" dirty="0"/>
          </a:p>
        </p:txBody>
      </p:sp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9520" y="6021288"/>
            <a:ext cx="5258944" cy="4219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8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2125072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 Título"/>
          <p:cNvSpPr>
            <a:spLocks noGrp="1"/>
          </p:cNvSpPr>
          <p:nvPr>
            <p:ph type="title"/>
          </p:nvPr>
        </p:nvSpPr>
        <p:spPr>
          <a:xfrm>
            <a:off x="683568" y="502542"/>
            <a:ext cx="7987965" cy="1054250"/>
          </a:xfrm>
        </p:spPr>
        <p:txBody>
          <a:bodyPr>
            <a:normAutofit fontScale="90000"/>
          </a:bodyPr>
          <a:lstStyle/>
          <a:p>
            <a:r>
              <a:rPr lang="es-ES" sz="3800" dirty="0" smtClean="0"/>
              <a:t>2.4.1. </a:t>
            </a:r>
            <a:r>
              <a:rPr lang="es-ES" sz="3800" dirty="0"/>
              <a:t>Representación por suma de productos y por producto de sumas</a:t>
            </a:r>
            <a:r>
              <a:rPr lang="es-ES" sz="3800" dirty="0" smtClean="0"/>
              <a:t>.</a:t>
            </a:r>
            <a:endParaRPr lang="es-CO" sz="380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683568" y="2132856"/>
            <a:ext cx="7632848" cy="1080120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s-CO" sz="2800" dirty="0" smtClean="0"/>
              <a:t>Ahora, solucionemos por producto de sumas… </a:t>
            </a:r>
            <a:endParaRPr lang="es-CO" sz="2800" dirty="0"/>
          </a:p>
        </p:txBody>
      </p:sp>
      <p:sp>
        <p:nvSpPr>
          <p:cNvPr id="10" name="2 Marcador de contenido"/>
          <p:cNvSpPr txBox="1">
            <a:spLocks/>
          </p:cNvSpPr>
          <p:nvPr/>
        </p:nvSpPr>
        <p:spPr>
          <a:xfrm>
            <a:off x="1115616" y="5445224"/>
            <a:ext cx="6840760" cy="4680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2600" dirty="0" smtClean="0"/>
              <a:t>… unimos estas expresiones por un «and»…</a:t>
            </a:r>
            <a:endParaRPr lang="es-CO" sz="26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5856" y="2738398"/>
            <a:ext cx="2696268" cy="26642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5949280"/>
            <a:ext cx="7761461" cy="5749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7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3143709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 Título"/>
          <p:cNvSpPr>
            <a:spLocks noGrp="1"/>
          </p:cNvSpPr>
          <p:nvPr>
            <p:ph type="title"/>
          </p:nvPr>
        </p:nvSpPr>
        <p:spPr>
          <a:xfrm>
            <a:off x="683568" y="502542"/>
            <a:ext cx="7987965" cy="1054250"/>
          </a:xfrm>
        </p:spPr>
        <p:txBody>
          <a:bodyPr/>
          <a:lstStyle/>
          <a:p>
            <a:r>
              <a:rPr lang="es-ES" sz="3800" dirty="0" smtClean="0"/>
              <a:t>2.4.2. Mapas de </a:t>
            </a:r>
            <a:r>
              <a:rPr lang="es-ES" sz="3800" dirty="0" err="1" smtClean="0"/>
              <a:t>Karnaugh</a:t>
            </a:r>
            <a:r>
              <a:rPr lang="es-ES" sz="3800" dirty="0" smtClean="0"/>
              <a:t>.</a:t>
            </a:r>
            <a:endParaRPr lang="es-CO" sz="3800" dirty="0"/>
          </a:p>
        </p:txBody>
      </p:sp>
      <p:sp>
        <p:nvSpPr>
          <p:cNvPr id="10" name="2 Marcador de contenido"/>
          <p:cNvSpPr txBox="1">
            <a:spLocks/>
          </p:cNvSpPr>
          <p:nvPr/>
        </p:nvSpPr>
        <p:spPr>
          <a:xfrm>
            <a:off x="1115616" y="5481228"/>
            <a:ext cx="6840760" cy="4680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2600" dirty="0" smtClean="0"/>
              <a:t>Agrupamos los unos a partir de unas condiciones…</a:t>
            </a:r>
            <a:endParaRPr lang="es-CO" sz="26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2465" y="2278496"/>
            <a:ext cx="4907061" cy="29507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417084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 Título"/>
          <p:cNvSpPr>
            <a:spLocks noGrp="1"/>
          </p:cNvSpPr>
          <p:nvPr>
            <p:ph type="title"/>
          </p:nvPr>
        </p:nvSpPr>
        <p:spPr>
          <a:xfrm>
            <a:off x="683568" y="502542"/>
            <a:ext cx="7987965" cy="1054250"/>
          </a:xfrm>
        </p:spPr>
        <p:txBody>
          <a:bodyPr/>
          <a:lstStyle/>
          <a:p>
            <a:r>
              <a:rPr lang="es-ES" sz="3800" dirty="0" smtClean="0"/>
              <a:t>2.4.2. Mapas de </a:t>
            </a:r>
            <a:r>
              <a:rPr lang="es-ES" sz="3800" dirty="0" err="1" smtClean="0"/>
              <a:t>Karnaugh</a:t>
            </a:r>
            <a:r>
              <a:rPr lang="es-ES" sz="3800" dirty="0" smtClean="0"/>
              <a:t>.</a:t>
            </a:r>
            <a:endParaRPr lang="es-CO" sz="3800" dirty="0"/>
          </a:p>
        </p:txBody>
      </p:sp>
      <p:sp>
        <p:nvSpPr>
          <p:cNvPr id="10" name="2 Marcador de contenido"/>
          <p:cNvSpPr txBox="1">
            <a:spLocks/>
          </p:cNvSpPr>
          <p:nvPr/>
        </p:nvSpPr>
        <p:spPr>
          <a:xfrm>
            <a:off x="3275856" y="2204864"/>
            <a:ext cx="5544616" cy="40712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Char char="-"/>
            </a:pPr>
            <a:r>
              <a:rPr lang="es-CO" sz="2500" dirty="0" smtClean="0"/>
              <a:t>No se utilizan los ceros.</a:t>
            </a:r>
          </a:p>
          <a:p>
            <a:pPr>
              <a:buFontTx/>
              <a:buChar char="-"/>
            </a:pPr>
            <a:r>
              <a:rPr lang="es-CO" sz="2500" dirty="0" smtClean="0"/>
              <a:t>Los grupos deben consistir de 2, 4, 8 elementos.</a:t>
            </a:r>
          </a:p>
          <a:p>
            <a:pPr>
              <a:buFontTx/>
              <a:buChar char="-"/>
            </a:pPr>
            <a:r>
              <a:rPr lang="es-CO" sz="2500" dirty="0" smtClean="0"/>
              <a:t>Los elementos de un grupo deben estar en posiciones vecinas.</a:t>
            </a:r>
          </a:p>
          <a:p>
            <a:pPr>
              <a:buFontTx/>
              <a:buChar char="-"/>
            </a:pPr>
            <a:r>
              <a:rPr lang="es-CO" sz="2500" dirty="0" smtClean="0"/>
              <a:t>Se puede usar un uno más de una vez.</a:t>
            </a:r>
          </a:p>
          <a:p>
            <a:pPr>
              <a:buFontTx/>
              <a:buChar char="-"/>
            </a:pPr>
            <a:r>
              <a:rPr lang="es-CO" sz="2500" dirty="0" smtClean="0"/>
              <a:t>La idea es obtener la menor cantidad de grupos posibles.</a:t>
            </a:r>
          </a:p>
          <a:p>
            <a:pPr>
              <a:buFontTx/>
              <a:buChar char="-"/>
            </a:pPr>
            <a:r>
              <a:rPr lang="es-CO" sz="2500" dirty="0" smtClean="0"/>
              <a:t>La fila superior puede agrupar a la inferior.</a:t>
            </a:r>
          </a:p>
          <a:p>
            <a:pPr>
              <a:buFontTx/>
              <a:buChar char="-"/>
            </a:pPr>
            <a:endParaRPr lang="es-CO" sz="25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2616161"/>
            <a:ext cx="2209800" cy="3343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1600716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 Título"/>
          <p:cNvSpPr>
            <a:spLocks noGrp="1"/>
          </p:cNvSpPr>
          <p:nvPr>
            <p:ph type="title"/>
          </p:nvPr>
        </p:nvSpPr>
        <p:spPr>
          <a:xfrm>
            <a:off x="683568" y="502542"/>
            <a:ext cx="7987965" cy="1054250"/>
          </a:xfrm>
        </p:spPr>
        <p:txBody>
          <a:bodyPr/>
          <a:lstStyle/>
          <a:p>
            <a:r>
              <a:rPr lang="es-ES" sz="3800" dirty="0" smtClean="0"/>
              <a:t>2.4.2. Mapas de </a:t>
            </a:r>
            <a:r>
              <a:rPr lang="es-ES" sz="3800" dirty="0" err="1" smtClean="0"/>
              <a:t>Karnaugh</a:t>
            </a:r>
            <a:r>
              <a:rPr lang="es-ES" sz="3800" dirty="0" smtClean="0"/>
              <a:t>.</a:t>
            </a:r>
            <a:endParaRPr lang="es-CO" sz="3800" dirty="0"/>
          </a:p>
        </p:txBody>
      </p:sp>
      <p:sp>
        <p:nvSpPr>
          <p:cNvPr id="10" name="2 Marcador de contenido"/>
          <p:cNvSpPr txBox="1">
            <a:spLocks/>
          </p:cNvSpPr>
          <p:nvPr/>
        </p:nvSpPr>
        <p:spPr>
          <a:xfrm>
            <a:off x="342934" y="4715172"/>
            <a:ext cx="4013042" cy="13311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s-CO" dirty="0" smtClean="0"/>
              <a:t>En cada columna las letras iguales se mantienen, las diferentes se cancelan.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201" y="2334475"/>
            <a:ext cx="3432727" cy="21696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5976" y="2428717"/>
            <a:ext cx="4343400" cy="198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2 Marcador de contenido"/>
          <p:cNvSpPr txBox="1">
            <a:spLocks/>
          </p:cNvSpPr>
          <p:nvPr/>
        </p:nvSpPr>
        <p:spPr>
          <a:xfrm>
            <a:off x="4572000" y="4720183"/>
            <a:ext cx="4031084" cy="10801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CO" dirty="0" smtClean="0"/>
              <a:t>Los términos resultantes se unen con «</a:t>
            </a:r>
            <a:r>
              <a:rPr lang="es-CO" dirty="0" err="1" smtClean="0"/>
              <a:t>or</a:t>
            </a:r>
            <a:r>
              <a:rPr lang="es-CO" dirty="0" smtClean="0"/>
              <a:t>»:</a:t>
            </a:r>
          </a:p>
        </p:txBody>
      </p:sp>
      <p:pic>
        <p:nvPicPr>
          <p:cNvPr id="6150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3221" y="5656287"/>
            <a:ext cx="1743075" cy="5810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7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2604917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 Título"/>
          <p:cNvSpPr>
            <a:spLocks noGrp="1"/>
          </p:cNvSpPr>
          <p:nvPr>
            <p:ph type="title"/>
          </p:nvPr>
        </p:nvSpPr>
        <p:spPr>
          <a:xfrm>
            <a:off x="683568" y="502542"/>
            <a:ext cx="7987965" cy="1054250"/>
          </a:xfrm>
        </p:spPr>
        <p:txBody>
          <a:bodyPr/>
          <a:lstStyle/>
          <a:p>
            <a:r>
              <a:rPr lang="es-ES" sz="3800" dirty="0" smtClean="0"/>
              <a:t>2.4.2. Mapas de </a:t>
            </a:r>
            <a:r>
              <a:rPr lang="es-ES" sz="3800" dirty="0" err="1" smtClean="0"/>
              <a:t>Karnaugh</a:t>
            </a:r>
            <a:r>
              <a:rPr lang="es-ES" sz="3800" dirty="0" smtClean="0"/>
              <a:t>.</a:t>
            </a:r>
            <a:endParaRPr lang="es-CO" sz="3800" dirty="0"/>
          </a:p>
        </p:txBody>
      </p:sp>
      <p:sp>
        <p:nvSpPr>
          <p:cNvPr id="7" name="2 Marcador de contenido"/>
          <p:cNvSpPr txBox="1">
            <a:spLocks/>
          </p:cNvSpPr>
          <p:nvPr/>
        </p:nvSpPr>
        <p:spPr>
          <a:xfrm>
            <a:off x="539552" y="2276872"/>
            <a:ext cx="7848872" cy="10801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CO" sz="2500" dirty="0" smtClean="0"/>
              <a:t>Los mapas de </a:t>
            </a:r>
            <a:r>
              <a:rPr lang="es-CO" sz="2500" dirty="0" err="1" smtClean="0"/>
              <a:t>Karnaugh</a:t>
            </a:r>
            <a:r>
              <a:rPr lang="es-CO" sz="2500" dirty="0" smtClean="0"/>
              <a:t> se pueden utilizar con el fin solucionar sistemas con 4 variables o más. Además, se puede agrupar los ceros.</a:t>
            </a:r>
          </a:p>
        </p:txBody>
      </p:sp>
      <p:sp>
        <p:nvSpPr>
          <p:cNvPr id="18" name="2 Marcador de contenido"/>
          <p:cNvSpPr txBox="1">
            <a:spLocks/>
          </p:cNvSpPr>
          <p:nvPr/>
        </p:nvSpPr>
        <p:spPr>
          <a:xfrm>
            <a:off x="3563888" y="5127789"/>
            <a:ext cx="5364088" cy="6342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2600" i="1" dirty="0" smtClean="0"/>
              <a:t>Solución al agrupar los ceros:</a:t>
            </a:r>
          </a:p>
        </p:txBody>
      </p:sp>
      <p:sp>
        <p:nvSpPr>
          <p:cNvPr id="2" name="1 Rectángulo"/>
          <p:cNvSpPr/>
          <p:nvPr/>
        </p:nvSpPr>
        <p:spPr>
          <a:xfrm>
            <a:off x="4248472" y="3472552"/>
            <a:ext cx="4572000" cy="892552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s-CO" sz="2600" i="1" dirty="0"/>
          </a:p>
          <a:p>
            <a:r>
              <a:rPr lang="es-CO" sz="2600" i="1" dirty="0"/>
              <a:t>Solución al agrupar los </a:t>
            </a:r>
            <a:r>
              <a:rPr lang="es-CO" sz="2600" i="1" dirty="0" smtClean="0"/>
              <a:t>unos:</a:t>
            </a:r>
            <a:endParaRPr lang="es-CO" sz="2600" i="1" dirty="0"/>
          </a:p>
        </p:txBody>
      </p:sp>
      <p:pic>
        <p:nvPicPr>
          <p:cNvPr id="7179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3742099"/>
            <a:ext cx="2790825" cy="2714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4" name="2 Marcador de contenido"/>
          <p:cNvSpPr txBox="1">
            <a:spLocks/>
          </p:cNvSpPr>
          <p:nvPr/>
        </p:nvSpPr>
        <p:spPr>
          <a:xfrm>
            <a:off x="3563888" y="4364533"/>
            <a:ext cx="5364088" cy="5766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2800" b="1" dirty="0" smtClean="0"/>
              <a:t>F = </a:t>
            </a:r>
            <a:r>
              <a:rPr lang="es-CO" sz="2800" b="1" dirty="0" smtClean="0">
                <a:solidFill>
                  <a:srgbClr val="FF0000"/>
                </a:solidFill>
              </a:rPr>
              <a:t>AC’</a:t>
            </a:r>
            <a:r>
              <a:rPr lang="es-CO" sz="2800" b="1" dirty="0" smtClean="0">
                <a:solidFill>
                  <a:srgbClr val="990033"/>
                </a:solidFill>
              </a:rPr>
              <a:t> </a:t>
            </a:r>
            <a:r>
              <a:rPr lang="es-CO" sz="2800" b="1" dirty="0" smtClean="0"/>
              <a:t>+ </a:t>
            </a:r>
            <a:r>
              <a:rPr lang="es-CO" sz="2800" b="1" dirty="0" smtClean="0">
                <a:solidFill>
                  <a:srgbClr val="00B050"/>
                </a:solidFill>
              </a:rPr>
              <a:t>AB’ </a:t>
            </a:r>
            <a:r>
              <a:rPr lang="es-CO" sz="2800" b="1" dirty="0" smtClean="0"/>
              <a:t>+ </a:t>
            </a:r>
            <a:r>
              <a:rPr lang="es-CO" sz="2800" b="1" dirty="0" smtClean="0">
                <a:solidFill>
                  <a:srgbClr val="151076"/>
                </a:solidFill>
              </a:rPr>
              <a:t>BCD’</a:t>
            </a:r>
          </a:p>
        </p:txBody>
      </p:sp>
      <p:sp>
        <p:nvSpPr>
          <p:cNvPr id="25" name="2 Marcador de contenido"/>
          <p:cNvSpPr txBox="1">
            <a:spLocks/>
          </p:cNvSpPr>
          <p:nvPr/>
        </p:nvSpPr>
        <p:spPr>
          <a:xfrm>
            <a:off x="3923928" y="5588669"/>
            <a:ext cx="4932039" cy="5766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2800" b="1" dirty="0" smtClean="0"/>
              <a:t>F = </a:t>
            </a:r>
            <a:r>
              <a:rPr lang="es-CO" sz="2800" b="1" dirty="0" smtClean="0">
                <a:solidFill>
                  <a:srgbClr val="990033"/>
                </a:solidFill>
              </a:rPr>
              <a:t>(A+B)</a:t>
            </a:r>
            <a:r>
              <a:rPr lang="es-CO" sz="2800" b="1" dirty="0" smtClean="0">
                <a:solidFill>
                  <a:schemeClr val="accent3">
                    <a:lumMod val="75000"/>
                  </a:schemeClr>
                </a:solidFill>
              </a:rPr>
              <a:t>(A+C)</a:t>
            </a:r>
            <a:r>
              <a:rPr lang="es-CO" sz="2800" b="1" dirty="0" smtClean="0">
                <a:solidFill>
                  <a:srgbClr val="151076"/>
                </a:solidFill>
              </a:rPr>
              <a:t>(B’+C’+D’)</a:t>
            </a:r>
          </a:p>
        </p:txBody>
      </p:sp>
      <p:sp>
        <p:nvSpPr>
          <p:cNvPr id="9" name="8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4022941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 Título"/>
          <p:cNvSpPr>
            <a:spLocks noGrp="1"/>
          </p:cNvSpPr>
          <p:nvPr>
            <p:ph type="title"/>
          </p:nvPr>
        </p:nvSpPr>
        <p:spPr>
          <a:xfrm>
            <a:off x="683568" y="502542"/>
            <a:ext cx="7987965" cy="1054250"/>
          </a:xfrm>
        </p:spPr>
        <p:txBody>
          <a:bodyPr>
            <a:normAutofit fontScale="90000"/>
          </a:bodyPr>
          <a:lstStyle/>
          <a:p>
            <a:r>
              <a:rPr lang="es-ES" sz="4000" dirty="0"/>
              <a:t>2.5 Codificadores y </a:t>
            </a:r>
            <a:r>
              <a:rPr lang="es-ES" sz="4000" dirty="0" smtClean="0"/>
              <a:t>Decodificadores.</a:t>
            </a:r>
            <a:endParaRPr lang="es-CO" sz="3800" dirty="0"/>
          </a:p>
        </p:txBody>
      </p:sp>
      <p:sp>
        <p:nvSpPr>
          <p:cNvPr id="7" name="2 Marcador de contenido"/>
          <p:cNvSpPr txBox="1">
            <a:spLocks/>
          </p:cNvSpPr>
          <p:nvPr/>
        </p:nvSpPr>
        <p:spPr>
          <a:xfrm>
            <a:off x="179512" y="2685746"/>
            <a:ext cx="2116022" cy="10801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2300" b="1" i="1" dirty="0" smtClean="0"/>
              <a:t>Decodificador: </a:t>
            </a:r>
            <a:r>
              <a:rPr lang="es-CO" sz="2300" dirty="0" smtClean="0"/>
              <a:t>Circuito lógico </a:t>
            </a:r>
            <a:r>
              <a:rPr lang="es-CO" sz="2300" dirty="0" err="1" smtClean="0"/>
              <a:t>combinacional</a:t>
            </a:r>
            <a:r>
              <a:rPr lang="es-CO" sz="2300" dirty="0" smtClean="0"/>
              <a:t> que convierte una entrada lógica codificada en una salida lógica no codificada.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9550" y="2672916"/>
            <a:ext cx="6607715" cy="3708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4011255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 Título"/>
          <p:cNvSpPr>
            <a:spLocks noGrp="1"/>
          </p:cNvSpPr>
          <p:nvPr>
            <p:ph type="title"/>
          </p:nvPr>
        </p:nvSpPr>
        <p:spPr>
          <a:xfrm>
            <a:off x="683568" y="502542"/>
            <a:ext cx="7987965" cy="1054250"/>
          </a:xfrm>
        </p:spPr>
        <p:txBody>
          <a:bodyPr>
            <a:normAutofit fontScale="90000"/>
          </a:bodyPr>
          <a:lstStyle/>
          <a:p>
            <a:r>
              <a:rPr lang="es-ES" sz="4000" dirty="0"/>
              <a:t>2.5 Codificadores y </a:t>
            </a:r>
            <a:r>
              <a:rPr lang="es-ES" sz="4000" dirty="0" smtClean="0"/>
              <a:t>Decodificadores.</a:t>
            </a:r>
            <a:endParaRPr lang="es-CO" sz="3800" dirty="0"/>
          </a:p>
        </p:txBody>
      </p:sp>
      <p:sp>
        <p:nvSpPr>
          <p:cNvPr id="7" name="2 Marcador de contenido"/>
          <p:cNvSpPr txBox="1">
            <a:spLocks/>
          </p:cNvSpPr>
          <p:nvPr/>
        </p:nvSpPr>
        <p:spPr>
          <a:xfrm>
            <a:off x="539552" y="2132856"/>
            <a:ext cx="7848872" cy="10801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CO" dirty="0" smtClean="0"/>
              <a:t>Generalmente, un decodificador tendrá 2</a:t>
            </a:r>
            <a:r>
              <a:rPr lang="es-CO" baseline="30000" dirty="0" smtClean="0"/>
              <a:t>n</a:t>
            </a:r>
            <a:r>
              <a:rPr lang="es-CO" dirty="0" smtClean="0"/>
              <a:t> salidas, donde n es el número de entradas…</a:t>
            </a:r>
          </a:p>
          <a:p>
            <a:pPr marL="0" indent="0">
              <a:buNone/>
            </a:pPr>
            <a:r>
              <a:rPr lang="es-CO" dirty="0" smtClean="0"/>
              <a:t>Además del decodificador binario (que puede ser también de 3 a 8, 4 a 16, etc.) existen otros tipos de decodificadores; un ejemplo es el decodificador BCD a 7 segmentos.</a:t>
            </a:r>
          </a:p>
        </p:txBody>
      </p:sp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7423" y="4539040"/>
            <a:ext cx="4332689" cy="2058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1049114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 Título"/>
          <p:cNvSpPr>
            <a:spLocks noGrp="1"/>
          </p:cNvSpPr>
          <p:nvPr>
            <p:ph type="title"/>
          </p:nvPr>
        </p:nvSpPr>
        <p:spPr>
          <a:xfrm>
            <a:off x="683568" y="502542"/>
            <a:ext cx="7987965" cy="1054250"/>
          </a:xfrm>
        </p:spPr>
        <p:txBody>
          <a:bodyPr>
            <a:normAutofit fontScale="90000"/>
          </a:bodyPr>
          <a:lstStyle/>
          <a:p>
            <a:r>
              <a:rPr lang="es-ES" sz="4000" dirty="0"/>
              <a:t>2.5 Codificadores y </a:t>
            </a:r>
            <a:r>
              <a:rPr lang="es-ES" sz="4000" dirty="0" smtClean="0"/>
              <a:t>Decodificadores.</a:t>
            </a:r>
            <a:endParaRPr lang="es-CO" sz="3800" dirty="0"/>
          </a:p>
        </p:txBody>
      </p:sp>
      <p:sp>
        <p:nvSpPr>
          <p:cNvPr id="7" name="2 Marcador de contenido"/>
          <p:cNvSpPr txBox="1">
            <a:spLocks/>
          </p:cNvSpPr>
          <p:nvPr/>
        </p:nvSpPr>
        <p:spPr>
          <a:xfrm>
            <a:off x="539552" y="2132856"/>
            <a:ext cx="7848872" cy="10801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CO" dirty="0" smtClean="0"/>
              <a:t>Codificador: Circuito lógico </a:t>
            </a:r>
            <a:r>
              <a:rPr lang="es-CO" dirty="0" err="1" smtClean="0"/>
              <a:t>combinacional</a:t>
            </a:r>
            <a:r>
              <a:rPr lang="es-CO" dirty="0" smtClean="0"/>
              <a:t> que convierte una entrada lógica no codificada en una salida lógica codificada. Es el inverso del Decodificador. 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0185" y="4149080"/>
            <a:ext cx="2771775" cy="1885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2 Marcador de contenido"/>
          <p:cNvSpPr txBox="1">
            <a:spLocks/>
          </p:cNvSpPr>
          <p:nvPr/>
        </p:nvSpPr>
        <p:spPr>
          <a:xfrm>
            <a:off x="799964" y="3485059"/>
            <a:ext cx="4060068" cy="5400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CO" sz="2600" b="1" i="1" dirty="0" smtClean="0"/>
              <a:t>Codificador Binario (8/3):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32" y="3882380"/>
            <a:ext cx="3019425" cy="2419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7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4264729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 Título"/>
          <p:cNvSpPr>
            <a:spLocks noGrp="1"/>
          </p:cNvSpPr>
          <p:nvPr>
            <p:ph type="title"/>
          </p:nvPr>
        </p:nvSpPr>
        <p:spPr>
          <a:xfrm>
            <a:off x="683568" y="502542"/>
            <a:ext cx="7987965" cy="1054250"/>
          </a:xfrm>
        </p:spPr>
        <p:txBody>
          <a:bodyPr>
            <a:normAutofit fontScale="90000"/>
          </a:bodyPr>
          <a:lstStyle/>
          <a:p>
            <a:r>
              <a:rPr lang="es-ES" sz="4000" dirty="0"/>
              <a:t>2.5 Codificadores y </a:t>
            </a:r>
            <a:r>
              <a:rPr lang="es-ES" sz="4000" dirty="0" smtClean="0"/>
              <a:t>Decodificadores.</a:t>
            </a:r>
            <a:endParaRPr lang="es-CO" sz="3800" dirty="0"/>
          </a:p>
        </p:txBody>
      </p:sp>
      <p:sp>
        <p:nvSpPr>
          <p:cNvPr id="6" name="2 Marcador de contenido"/>
          <p:cNvSpPr txBox="1">
            <a:spLocks/>
          </p:cNvSpPr>
          <p:nvPr/>
        </p:nvSpPr>
        <p:spPr>
          <a:xfrm>
            <a:off x="2483768" y="2384884"/>
            <a:ext cx="4248472" cy="5400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CO" sz="2600" b="1" i="1" dirty="0" smtClean="0"/>
              <a:t>Codificador Decimal-BCD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3188322"/>
            <a:ext cx="3321679" cy="22040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1920" y="3039452"/>
            <a:ext cx="2209445" cy="25017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0534" y="3188322"/>
            <a:ext cx="2500139" cy="22664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6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1571090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 Título"/>
          <p:cNvSpPr>
            <a:spLocks noGrp="1"/>
          </p:cNvSpPr>
          <p:nvPr>
            <p:ph type="title"/>
          </p:nvPr>
        </p:nvSpPr>
        <p:spPr>
          <a:xfrm>
            <a:off x="683568" y="502542"/>
            <a:ext cx="7987965" cy="1054250"/>
          </a:xfrm>
        </p:spPr>
        <p:txBody>
          <a:bodyPr>
            <a:normAutofit fontScale="90000"/>
          </a:bodyPr>
          <a:lstStyle/>
          <a:p>
            <a:r>
              <a:rPr lang="es-ES" sz="4000" dirty="0"/>
              <a:t>2.6. Multiplexores y </a:t>
            </a:r>
            <a:r>
              <a:rPr lang="es-ES" sz="4000" dirty="0" err="1"/>
              <a:t>demultiplexores</a:t>
            </a:r>
            <a:r>
              <a:rPr lang="es-ES" sz="4000" dirty="0"/>
              <a:t>.</a:t>
            </a:r>
            <a:endParaRPr lang="es-CO" sz="4000" dirty="0"/>
          </a:p>
        </p:txBody>
      </p:sp>
      <p:sp>
        <p:nvSpPr>
          <p:cNvPr id="6" name="2 Marcador de contenido"/>
          <p:cNvSpPr txBox="1">
            <a:spLocks/>
          </p:cNvSpPr>
          <p:nvPr/>
        </p:nvSpPr>
        <p:spPr>
          <a:xfrm>
            <a:off x="359532" y="2204864"/>
            <a:ext cx="8100900" cy="5400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CO" sz="2600" b="1" i="1" dirty="0" smtClean="0"/>
              <a:t>Multiplexor: </a:t>
            </a:r>
            <a:r>
              <a:rPr lang="es-CO" sz="2600" dirty="0" smtClean="0"/>
              <a:t>Circuito </a:t>
            </a:r>
            <a:r>
              <a:rPr lang="es-CO" sz="2600" dirty="0" err="1" smtClean="0"/>
              <a:t>combinacional</a:t>
            </a:r>
            <a:r>
              <a:rPr lang="es-CO" sz="2600" dirty="0" smtClean="0"/>
              <a:t> que hace las veces de conmutador. Se compone de 2</a:t>
            </a:r>
            <a:r>
              <a:rPr lang="es-CO" sz="2600" baseline="30000" dirty="0" smtClean="0"/>
              <a:t>n</a:t>
            </a:r>
            <a:r>
              <a:rPr lang="es-CO" sz="2600" dirty="0" smtClean="0"/>
              <a:t> entradas, n líneas de selección y una salida.</a:t>
            </a:r>
            <a:endParaRPr lang="es-CO" sz="2600" b="1" i="1" dirty="0" smtClean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3861048"/>
            <a:ext cx="4536504" cy="22127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8525" y="4086336"/>
            <a:ext cx="2581275" cy="176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6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115332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 Título"/>
          <p:cNvSpPr>
            <a:spLocks noGrp="1"/>
          </p:cNvSpPr>
          <p:nvPr>
            <p:ph type="title"/>
          </p:nvPr>
        </p:nvSpPr>
        <p:spPr>
          <a:xfrm>
            <a:off x="683568" y="502542"/>
            <a:ext cx="7987965" cy="1054250"/>
          </a:xfrm>
        </p:spPr>
        <p:txBody>
          <a:bodyPr>
            <a:normAutofit fontScale="90000"/>
          </a:bodyPr>
          <a:lstStyle/>
          <a:p>
            <a:r>
              <a:rPr lang="es-ES" sz="4000" dirty="0"/>
              <a:t>2.6. Multiplexores y </a:t>
            </a:r>
            <a:r>
              <a:rPr lang="es-ES" sz="4000" dirty="0" err="1"/>
              <a:t>demultiplexores</a:t>
            </a:r>
            <a:r>
              <a:rPr lang="es-ES" sz="4000" dirty="0"/>
              <a:t>.</a:t>
            </a:r>
            <a:endParaRPr lang="es-CO" sz="4000" dirty="0"/>
          </a:p>
        </p:txBody>
      </p:sp>
      <p:sp>
        <p:nvSpPr>
          <p:cNvPr id="6" name="2 Marcador de contenido"/>
          <p:cNvSpPr txBox="1">
            <a:spLocks/>
          </p:cNvSpPr>
          <p:nvPr/>
        </p:nvSpPr>
        <p:spPr>
          <a:xfrm>
            <a:off x="359532" y="2204864"/>
            <a:ext cx="8100900" cy="5400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CO" sz="2600" b="1" i="1" dirty="0" err="1" smtClean="0"/>
              <a:t>Demultiplexor</a:t>
            </a:r>
            <a:r>
              <a:rPr lang="es-CO" sz="2600" b="1" i="1" dirty="0" smtClean="0"/>
              <a:t>: </a:t>
            </a:r>
            <a:r>
              <a:rPr lang="es-CO" sz="2600" dirty="0" smtClean="0"/>
              <a:t>Circuito </a:t>
            </a:r>
            <a:r>
              <a:rPr lang="es-CO" sz="2600" dirty="0" err="1" smtClean="0"/>
              <a:t>combinacional</a:t>
            </a:r>
            <a:r>
              <a:rPr lang="es-CO" sz="2600" dirty="0"/>
              <a:t> </a:t>
            </a:r>
            <a:r>
              <a:rPr lang="es-CO" sz="2600" dirty="0" smtClean="0"/>
              <a:t>cuya función es la inversa de los multiplexores. Tiene 1 entrada, n líneas de selección y 2</a:t>
            </a:r>
            <a:r>
              <a:rPr lang="es-CO" sz="2600" baseline="30000" dirty="0" smtClean="0"/>
              <a:t>n</a:t>
            </a:r>
            <a:r>
              <a:rPr lang="es-CO" sz="2600" dirty="0" smtClean="0"/>
              <a:t> líneas de salidas.</a:t>
            </a:r>
            <a:endParaRPr lang="es-CO" sz="2600" b="1" i="1" dirty="0" smtClean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786" y="4653136"/>
            <a:ext cx="3396702" cy="15841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128" y="4449549"/>
            <a:ext cx="1872208" cy="19913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2 Marcador de contenido"/>
          <p:cNvSpPr txBox="1">
            <a:spLocks/>
          </p:cNvSpPr>
          <p:nvPr/>
        </p:nvSpPr>
        <p:spPr>
          <a:xfrm>
            <a:off x="511932" y="3717032"/>
            <a:ext cx="4050450" cy="5400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2600" b="1" i="1" dirty="0" smtClean="0"/>
              <a:t>Esquema de un </a:t>
            </a:r>
            <a:r>
              <a:rPr lang="es-CO" sz="2600" b="1" i="1" dirty="0" err="1" smtClean="0"/>
              <a:t>demultiplexor</a:t>
            </a:r>
            <a:r>
              <a:rPr lang="es-CO" sz="2600" b="1" i="1" dirty="0" smtClean="0"/>
              <a:t>.</a:t>
            </a:r>
          </a:p>
        </p:txBody>
      </p:sp>
      <p:sp>
        <p:nvSpPr>
          <p:cNvPr id="8" name="7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1060380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 Título"/>
          <p:cNvSpPr>
            <a:spLocks noGrp="1"/>
          </p:cNvSpPr>
          <p:nvPr>
            <p:ph type="title"/>
          </p:nvPr>
        </p:nvSpPr>
        <p:spPr>
          <a:xfrm>
            <a:off x="683568" y="502542"/>
            <a:ext cx="7987965" cy="1054250"/>
          </a:xfrm>
        </p:spPr>
        <p:txBody>
          <a:bodyPr/>
          <a:lstStyle/>
          <a:p>
            <a:r>
              <a:rPr lang="es-ES" sz="4000" dirty="0"/>
              <a:t>2.7. </a:t>
            </a:r>
            <a:r>
              <a:rPr lang="es-ES" sz="4000" dirty="0" smtClean="0"/>
              <a:t>Circuitos Aritméticos.</a:t>
            </a:r>
            <a:endParaRPr lang="es-CO" sz="4000" dirty="0"/>
          </a:p>
        </p:txBody>
      </p:sp>
      <p:sp>
        <p:nvSpPr>
          <p:cNvPr id="6" name="2 Marcador de contenido"/>
          <p:cNvSpPr txBox="1">
            <a:spLocks/>
          </p:cNvSpPr>
          <p:nvPr/>
        </p:nvSpPr>
        <p:spPr>
          <a:xfrm>
            <a:off x="359532" y="2132856"/>
            <a:ext cx="8100900" cy="5400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s-CO" sz="2800" b="1" i="1" dirty="0" smtClean="0"/>
              <a:t>Circuitos </a:t>
            </a:r>
            <a:r>
              <a:rPr lang="es-CO" sz="2800" b="1" i="1" dirty="0" err="1" smtClean="0"/>
              <a:t>combinacionales</a:t>
            </a:r>
            <a:r>
              <a:rPr lang="es-CO" sz="2800" b="1" i="1" dirty="0" smtClean="0"/>
              <a:t> que llevan a cabo las operaciones aritméticas básicas: La suma y resta de bits.</a:t>
            </a:r>
          </a:p>
        </p:txBody>
      </p:sp>
      <p:sp>
        <p:nvSpPr>
          <p:cNvPr id="8" name="7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5" name="2 Marcador de contenido"/>
          <p:cNvSpPr txBox="1">
            <a:spLocks/>
          </p:cNvSpPr>
          <p:nvPr/>
        </p:nvSpPr>
        <p:spPr>
          <a:xfrm>
            <a:off x="1133618" y="3645024"/>
            <a:ext cx="4014446" cy="15841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2600" b="1" i="1" dirty="0" smtClean="0"/>
              <a:t>Sumador Medio: Suma dos bits y da el acarreo de salida.</a:t>
            </a:r>
          </a:p>
        </p:txBody>
      </p:sp>
      <p:grpSp>
        <p:nvGrpSpPr>
          <p:cNvPr id="10" name="9 Grupo"/>
          <p:cNvGrpSpPr/>
          <p:nvPr/>
        </p:nvGrpSpPr>
        <p:grpSpPr>
          <a:xfrm>
            <a:off x="5341195" y="3645024"/>
            <a:ext cx="2110762" cy="1352069"/>
            <a:chOff x="5580112" y="3861048"/>
            <a:chExt cx="2448272" cy="1512168"/>
          </a:xfrm>
        </p:grpSpPr>
        <p:sp>
          <p:nvSpPr>
            <p:cNvPr id="2" name="1 Rectángulo"/>
            <p:cNvSpPr/>
            <p:nvPr/>
          </p:nvSpPr>
          <p:spPr>
            <a:xfrm>
              <a:off x="5940152" y="3861048"/>
              <a:ext cx="1750722" cy="1512168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cxnSp>
          <p:nvCxnSpPr>
            <p:cNvPr id="9" name="8 Conector recto"/>
            <p:cNvCxnSpPr/>
            <p:nvPr/>
          </p:nvCxnSpPr>
          <p:spPr>
            <a:xfrm flipH="1">
              <a:off x="5580112" y="4293096"/>
              <a:ext cx="360040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10 Conector recto"/>
            <p:cNvCxnSpPr/>
            <p:nvPr/>
          </p:nvCxnSpPr>
          <p:spPr>
            <a:xfrm flipH="1">
              <a:off x="5580112" y="5013176"/>
              <a:ext cx="360040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12 Conector recto"/>
            <p:cNvCxnSpPr/>
            <p:nvPr/>
          </p:nvCxnSpPr>
          <p:spPr>
            <a:xfrm flipH="1">
              <a:off x="7668344" y="5013176"/>
              <a:ext cx="360040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13 Conector recto"/>
            <p:cNvCxnSpPr/>
            <p:nvPr/>
          </p:nvCxnSpPr>
          <p:spPr>
            <a:xfrm flipH="1">
              <a:off x="7668344" y="4293096"/>
              <a:ext cx="360040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2 Marcador de contenido"/>
            <p:cNvSpPr txBox="1">
              <a:spLocks/>
            </p:cNvSpPr>
            <p:nvPr/>
          </p:nvSpPr>
          <p:spPr>
            <a:xfrm>
              <a:off x="6001705" y="4077072"/>
              <a:ext cx="486054" cy="432048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65760" indent="-36576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24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77240" indent="-36576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"/>
                <a:defRPr sz="22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36576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20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508760" indent="-32004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18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indent="-32004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14884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46888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78892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10896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lang="es-CO" sz="2200" b="1" dirty="0" smtClean="0"/>
                <a:t>A</a:t>
              </a:r>
            </a:p>
          </p:txBody>
        </p:sp>
        <p:sp>
          <p:nvSpPr>
            <p:cNvPr id="16" name="2 Marcador de contenido"/>
            <p:cNvSpPr txBox="1">
              <a:spLocks/>
            </p:cNvSpPr>
            <p:nvPr/>
          </p:nvSpPr>
          <p:spPr>
            <a:xfrm>
              <a:off x="6012160" y="4797152"/>
              <a:ext cx="486054" cy="432048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65760" indent="-36576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24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77240" indent="-36576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"/>
                <a:defRPr sz="22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36576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20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508760" indent="-32004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18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indent="-32004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14884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46888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78892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10896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lang="es-CO" sz="2200" b="1" dirty="0"/>
                <a:t>B</a:t>
              </a:r>
              <a:endParaRPr lang="es-CO" sz="2200" b="1" dirty="0" smtClean="0"/>
            </a:p>
          </p:txBody>
        </p:sp>
        <p:sp>
          <p:nvSpPr>
            <p:cNvPr id="17" name="2 Marcador de contenido"/>
            <p:cNvSpPr txBox="1">
              <a:spLocks/>
            </p:cNvSpPr>
            <p:nvPr/>
          </p:nvSpPr>
          <p:spPr>
            <a:xfrm>
              <a:off x="6815513" y="4797152"/>
              <a:ext cx="852831" cy="432048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65760" indent="-36576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24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77240" indent="-36576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"/>
                <a:defRPr sz="22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36576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20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508760" indent="-32004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18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indent="-32004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14884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46888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78892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10896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lang="es-CO" sz="2200" b="1" dirty="0" err="1" smtClean="0"/>
                <a:t>C</a:t>
              </a:r>
              <a:r>
                <a:rPr lang="es-CO" sz="2200" b="1" baseline="-25000" dirty="0" err="1" smtClean="0"/>
                <a:t>out</a:t>
              </a:r>
              <a:endParaRPr lang="es-CO" sz="2200" b="1" baseline="-25000" dirty="0" smtClean="0"/>
            </a:p>
          </p:txBody>
        </p:sp>
        <p:sp>
          <p:nvSpPr>
            <p:cNvPr id="18" name="2 Marcador de contenido"/>
            <p:cNvSpPr txBox="1">
              <a:spLocks/>
            </p:cNvSpPr>
            <p:nvPr/>
          </p:nvSpPr>
          <p:spPr>
            <a:xfrm>
              <a:off x="7094268" y="4077072"/>
              <a:ext cx="486054" cy="432048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65760" indent="-36576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24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77240" indent="-36576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"/>
                <a:defRPr sz="22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36576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20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508760" indent="-32004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18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indent="-32004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14884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46888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78892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10896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lang="es-CO" sz="2200" b="1" dirty="0" smtClean="0"/>
                <a:t>S</a:t>
              </a:r>
            </a:p>
          </p:txBody>
        </p:sp>
      </p:grpSp>
      <p:graphicFrame>
        <p:nvGraphicFramePr>
          <p:cNvPr id="19" name="18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2815879"/>
              </p:ext>
            </p:extLst>
          </p:nvPr>
        </p:nvGraphicFramePr>
        <p:xfrm>
          <a:off x="2049773" y="5059556"/>
          <a:ext cx="2232249" cy="14497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15135"/>
                <a:gridCol w="629608"/>
                <a:gridCol w="572371"/>
                <a:gridCol w="515135"/>
              </a:tblGrid>
              <a:tr h="311257"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</a:t>
                      </a:r>
                      <a:endParaRPr lang="es-CO" sz="20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</a:t>
                      </a:r>
                      <a:endParaRPr lang="es-CO" sz="20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i="0" u="none" strike="noStrike" baseline="0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</a:t>
                      </a:r>
                      <a:r>
                        <a:rPr lang="es-CO" sz="2000" b="1" i="0" u="none" strike="noStrike" baseline="-25000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out</a:t>
                      </a:r>
                      <a:endParaRPr lang="es-CO" sz="20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u="none" strike="noStrike" baseline="0" dirty="0" smtClean="0">
                          <a:effectLst/>
                        </a:rPr>
                        <a:t>S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080" y="5161350"/>
            <a:ext cx="2372527" cy="13988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23982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 Título"/>
          <p:cNvSpPr>
            <a:spLocks noGrp="1"/>
          </p:cNvSpPr>
          <p:nvPr>
            <p:ph type="title"/>
          </p:nvPr>
        </p:nvSpPr>
        <p:spPr>
          <a:xfrm>
            <a:off x="683568" y="502542"/>
            <a:ext cx="7987965" cy="1054250"/>
          </a:xfrm>
        </p:spPr>
        <p:txBody>
          <a:bodyPr/>
          <a:lstStyle/>
          <a:p>
            <a:r>
              <a:rPr lang="es-ES" sz="4000" dirty="0"/>
              <a:t>2.7. </a:t>
            </a:r>
            <a:r>
              <a:rPr lang="es-ES" sz="4000" dirty="0" smtClean="0"/>
              <a:t>Circuitos Aritméticos.</a:t>
            </a:r>
            <a:endParaRPr lang="es-CO" sz="4000" dirty="0"/>
          </a:p>
        </p:txBody>
      </p:sp>
      <p:sp>
        <p:nvSpPr>
          <p:cNvPr id="8" name="7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5" name="2 Marcador de contenido"/>
          <p:cNvSpPr txBox="1">
            <a:spLocks/>
          </p:cNvSpPr>
          <p:nvPr/>
        </p:nvSpPr>
        <p:spPr>
          <a:xfrm>
            <a:off x="395536" y="2154121"/>
            <a:ext cx="8280920" cy="7920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CO" sz="2600" b="1" i="1" dirty="0" smtClean="0"/>
              <a:t>Sumador completo: Suma dos bits teniendo en cuenta el acarreo de entrada y da el acarreo de salida.</a:t>
            </a:r>
          </a:p>
        </p:txBody>
      </p:sp>
      <p:graphicFrame>
        <p:nvGraphicFramePr>
          <p:cNvPr id="19" name="18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7202285"/>
              </p:ext>
            </p:extLst>
          </p:nvPr>
        </p:nvGraphicFramePr>
        <p:xfrm>
          <a:off x="1043607" y="3439675"/>
          <a:ext cx="2952329" cy="258508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1420"/>
                <a:gridCol w="649512"/>
                <a:gridCol w="547260"/>
                <a:gridCol w="692717"/>
                <a:gridCol w="531420"/>
              </a:tblGrid>
              <a:tr h="311257"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</a:t>
                      </a:r>
                      <a:endParaRPr lang="es-CO" sz="20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</a:t>
                      </a:r>
                      <a:endParaRPr lang="es-CO" sz="20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i="0" u="none" strike="noStrike" baseline="0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</a:t>
                      </a:r>
                      <a:r>
                        <a:rPr lang="es-CO" sz="2000" b="1" i="0" u="none" strike="noStrike" baseline="-25000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in</a:t>
                      </a:r>
                      <a:endParaRPr lang="es-CO" sz="20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i="0" u="none" strike="noStrike" baseline="0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</a:t>
                      </a:r>
                      <a:r>
                        <a:rPr lang="es-CO" sz="2000" b="1" i="0" u="none" strike="noStrike" baseline="-25000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out</a:t>
                      </a:r>
                      <a:endParaRPr lang="es-CO" sz="20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u="none" strike="noStrike" baseline="0" dirty="0" smtClean="0">
                          <a:effectLst/>
                        </a:rPr>
                        <a:t>S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6281" y="3140968"/>
            <a:ext cx="1985355" cy="16444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5872" y="4946843"/>
            <a:ext cx="3686175" cy="173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89002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 Título"/>
          <p:cNvSpPr>
            <a:spLocks noGrp="1"/>
          </p:cNvSpPr>
          <p:nvPr>
            <p:ph type="title"/>
          </p:nvPr>
        </p:nvSpPr>
        <p:spPr>
          <a:xfrm>
            <a:off x="683568" y="502542"/>
            <a:ext cx="7987965" cy="1054250"/>
          </a:xfrm>
        </p:spPr>
        <p:txBody>
          <a:bodyPr/>
          <a:lstStyle/>
          <a:p>
            <a:r>
              <a:rPr lang="es-ES" sz="4000" dirty="0"/>
              <a:t>2.7. </a:t>
            </a:r>
            <a:r>
              <a:rPr lang="es-ES" sz="4000" dirty="0" smtClean="0"/>
              <a:t>Circuitos Aritméticos.</a:t>
            </a:r>
            <a:endParaRPr lang="es-CO" sz="4000" dirty="0"/>
          </a:p>
        </p:txBody>
      </p:sp>
      <p:sp>
        <p:nvSpPr>
          <p:cNvPr id="8" name="7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5" name="2 Marcador de contenido"/>
          <p:cNvSpPr txBox="1">
            <a:spLocks/>
          </p:cNvSpPr>
          <p:nvPr/>
        </p:nvSpPr>
        <p:spPr>
          <a:xfrm>
            <a:off x="395536" y="2306350"/>
            <a:ext cx="2592288" cy="7920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CO" sz="2600" b="1" i="1" dirty="0" smtClean="0"/>
              <a:t>Restador medio: </a:t>
            </a:r>
            <a:r>
              <a:rPr lang="es-CO" sz="2600" i="1" dirty="0" smtClean="0"/>
              <a:t>Resta dos bits, da la diferencia y el préstamo.</a:t>
            </a:r>
          </a:p>
        </p:txBody>
      </p:sp>
      <p:graphicFrame>
        <p:nvGraphicFramePr>
          <p:cNvPr id="19" name="18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8539908"/>
              </p:ext>
            </p:extLst>
          </p:nvPr>
        </p:nvGraphicFramePr>
        <p:xfrm>
          <a:off x="3203848" y="4105903"/>
          <a:ext cx="2952329" cy="258508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1420"/>
                <a:gridCol w="649512"/>
                <a:gridCol w="547260"/>
                <a:gridCol w="692717"/>
                <a:gridCol w="531420"/>
              </a:tblGrid>
              <a:tr h="311257"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</a:t>
                      </a:r>
                      <a:endParaRPr lang="es-CO" sz="20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</a:t>
                      </a:r>
                      <a:endParaRPr lang="es-CO" sz="20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</a:t>
                      </a:r>
                      <a:r>
                        <a:rPr lang="es-CO" sz="2000" b="1" i="0" u="none" strike="noStrike" baseline="-250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</a:t>
                      </a:r>
                      <a:endParaRPr lang="es-CO" sz="20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</a:t>
                      </a:r>
                      <a:r>
                        <a:rPr lang="es-CO" sz="2000" b="1" i="0" u="none" strike="noStrike" baseline="-250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i+1</a:t>
                      </a:r>
                      <a:endParaRPr lang="es-CO" sz="20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u="none" strike="noStrike" baseline="0" dirty="0" smtClean="0">
                          <a:effectLst/>
                        </a:rPr>
                        <a:t>D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7493" y="2154598"/>
            <a:ext cx="1537511" cy="19335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9" name="8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8135995"/>
              </p:ext>
            </p:extLst>
          </p:nvPr>
        </p:nvGraphicFramePr>
        <p:xfrm>
          <a:off x="3419872" y="2409485"/>
          <a:ext cx="2232249" cy="14497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15135"/>
                <a:gridCol w="629608"/>
                <a:gridCol w="572371"/>
                <a:gridCol w="515135"/>
              </a:tblGrid>
              <a:tr h="311257"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</a:t>
                      </a:r>
                      <a:endParaRPr lang="es-CO" sz="20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</a:t>
                      </a:r>
                      <a:endParaRPr lang="es-CO" sz="20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</a:t>
                      </a:r>
                      <a:endParaRPr lang="es-CO" sz="20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u="none" strike="noStrike" baseline="0" dirty="0" smtClean="0">
                          <a:effectLst/>
                        </a:rPr>
                        <a:t>D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2 Marcador de contenido"/>
          <p:cNvSpPr txBox="1">
            <a:spLocks/>
          </p:cNvSpPr>
          <p:nvPr/>
        </p:nvSpPr>
        <p:spPr>
          <a:xfrm>
            <a:off x="144016" y="4293096"/>
            <a:ext cx="3131840" cy="7920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CO" b="1" i="1" dirty="0" smtClean="0"/>
              <a:t>Restador Completo: </a:t>
            </a:r>
            <a:r>
              <a:rPr lang="es-CO" i="1" dirty="0" smtClean="0"/>
              <a:t>Resta dos bits considerando el bit previamente prestado, da la diferencia y el préstamo.</a:t>
            </a:r>
          </a:p>
        </p:txBody>
      </p:sp>
      <p:grpSp>
        <p:nvGrpSpPr>
          <p:cNvPr id="2" name="1 Grupo"/>
          <p:cNvGrpSpPr/>
          <p:nvPr/>
        </p:nvGrpSpPr>
        <p:grpSpPr>
          <a:xfrm>
            <a:off x="6428848" y="4689140"/>
            <a:ext cx="2319616" cy="1790700"/>
            <a:chOff x="6341583" y="4689140"/>
            <a:chExt cx="2319616" cy="1790700"/>
          </a:xfrm>
        </p:grpSpPr>
        <p:pic>
          <p:nvPicPr>
            <p:cNvPr id="3076" name="Picture 4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41583" y="4689140"/>
              <a:ext cx="2314575" cy="17907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3" name="2 Marcador de contenido"/>
            <p:cNvSpPr txBox="1">
              <a:spLocks/>
            </p:cNvSpPr>
            <p:nvPr/>
          </p:nvSpPr>
          <p:spPr>
            <a:xfrm>
              <a:off x="7133499" y="4689140"/>
              <a:ext cx="318822" cy="396044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65760" indent="-36576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24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77240" indent="-36576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"/>
                <a:defRPr sz="22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36576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20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508760" indent="-32004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18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indent="-32004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14884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46888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78892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10896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s-CO" sz="1800" b="1" i="1" dirty="0" smtClean="0"/>
                <a:t>A</a:t>
              </a:r>
              <a:endParaRPr lang="es-CO" sz="1800" i="1" dirty="0" smtClean="0"/>
            </a:p>
          </p:txBody>
        </p:sp>
        <p:sp>
          <p:nvSpPr>
            <p:cNvPr id="14" name="2 Marcador de contenido"/>
            <p:cNvSpPr txBox="1">
              <a:spLocks/>
            </p:cNvSpPr>
            <p:nvPr/>
          </p:nvSpPr>
          <p:spPr>
            <a:xfrm>
              <a:off x="7498871" y="4691236"/>
              <a:ext cx="318822" cy="396044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65760" indent="-36576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24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77240" indent="-36576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"/>
                <a:defRPr sz="22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36576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20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508760" indent="-32004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18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indent="-32004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14884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46888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78892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10896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s-CO" sz="1800" b="1" i="1" dirty="0"/>
                <a:t>B</a:t>
              </a:r>
              <a:endParaRPr lang="es-CO" sz="1800" i="1" dirty="0" smtClean="0"/>
            </a:p>
          </p:txBody>
        </p:sp>
        <p:sp>
          <p:nvSpPr>
            <p:cNvPr id="15" name="2 Marcador de contenido"/>
            <p:cNvSpPr txBox="1">
              <a:spLocks/>
            </p:cNvSpPr>
            <p:nvPr/>
          </p:nvSpPr>
          <p:spPr>
            <a:xfrm>
              <a:off x="8140070" y="5220630"/>
              <a:ext cx="521129" cy="396044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65760" indent="-36576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24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77240" indent="-36576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"/>
                <a:defRPr sz="22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36576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20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508760" indent="-32004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18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indent="-32004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14884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46888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78892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10896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s-CO" sz="1800" b="1" i="1" dirty="0" smtClean="0"/>
                <a:t>P</a:t>
              </a:r>
              <a:r>
                <a:rPr lang="es-CO" sz="1800" b="1" i="1" baseline="-25000" dirty="0" smtClean="0"/>
                <a:t>i</a:t>
              </a:r>
            </a:p>
          </p:txBody>
        </p:sp>
        <p:sp>
          <p:nvSpPr>
            <p:cNvPr id="16" name="2 Marcador de contenido"/>
            <p:cNvSpPr txBox="1">
              <a:spLocks/>
            </p:cNvSpPr>
            <p:nvPr/>
          </p:nvSpPr>
          <p:spPr>
            <a:xfrm>
              <a:off x="6372200" y="5219675"/>
              <a:ext cx="600010" cy="396044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65760" indent="-36576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24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77240" indent="-36576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"/>
                <a:defRPr sz="22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36576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20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508760" indent="-32004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18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indent="-32004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14884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46888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78892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10896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s-CO" sz="1800" b="1" i="1" dirty="0" smtClean="0"/>
                <a:t>P</a:t>
              </a:r>
              <a:r>
                <a:rPr lang="es-CO" sz="1800" b="1" i="1" baseline="-25000" dirty="0" smtClean="0"/>
                <a:t>i+1</a:t>
              </a:r>
            </a:p>
          </p:txBody>
        </p:sp>
        <p:sp>
          <p:nvSpPr>
            <p:cNvPr id="17" name="2 Marcador de contenido"/>
            <p:cNvSpPr txBox="1">
              <a:spLocks/>
            </p:cNvSpPr>
            <p:nvPr/>
          </p:nvSpPr>
          <p:spPr>
            <a:xfrm>
              <a:off x="7295424" y="5833839"/>
              <a:ext cx="318822" cy="396044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65760" indent="-36576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24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77240" indent="-36576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"/>
                <a:defRPr sz="22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36576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20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508760" indent="-32004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18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indent="-32004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14884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46888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78892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10896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s-CO" sz="1800" b="1" i="1" dirty="0" smtClean="0"/>
                <a:t>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98193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 Título"/>
          <p:cNvSpPr>
            <a:spLocks noGrp="1"/>
          </p:cNvSpPr>
          <p:nvPr>
            <p:ph type="title"/>
          </p:nvPr>
        </p:nvSpPr>
        <p:spPr>
          <a:xfrm>
            <a:off x="683568" y="502542"/>
            <a:ext cx="7987965" cy="1054250"/>
          </a:xfrm>
        </p:spPr>
        <p:txBody>
          <a:bodyPr>
            <a:normAutofit fontScale="90000"/>
          </a:bodyPr>
          <a:lstStyle/>
          <a:p>
            <a:r>
              <a:rPr lang="es-ES" sz="4000" dirty="0"/>
              <a:t>2.8. Unidad Aritmética y lógica ALU.</a:t>
            </a:r>
            <a:endParaRPr lang="es-CO" sz="4000" dirty="0"/>
          </a:p>
        </p:txBody>
      </p:sp>
      <p:sp>
        <p:nvSpPr>
          <p:cNvPr id="6" name="2 Marcador de contenido"/>
          <p:cNvSpPr txBox="1">
            <a:spLocks/>
          </p:cNvSpPr>
          <p:nvPr/>
        </p:nvSpPr>
        <p:spPr>
          <a:xfrm>
            <a:off x="359532" y="2132856"/>
            <a:ext cx="8100900" cy="5400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s-CO" b="1" i="1" dirty="0" smtClean="0"/>
              <a:t>Circuito </a:t>
            </a:r>
            <a:r>
              <a:rPr lang="es-CO" b="1" i="1" dirty="0" err="1" smtClean="0"/>
              <a:t>combinacional</a:t>
            </a:r>
            <a:r>
              <a:rPr lang="es-CO" b="1" i="1" dirty="0" smtClean="0"/>
              <a:t> robusto que puede realizar operaciones tanto aritméticas como lógicas dependiendo de la selección de la operación.</a:t>
            </a:r>
          </a:p>
        </p:txBody>
      </p:sp>
      <p:sp>
        <p:nvSpPr>
          <p:cNvPr id="8" name="7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410" y="3717032"/>
            <a:ext cx="2762250" cy="2419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1" name="2 Marcador de contenido"/>
          <p:cNvSpPr txBox="1">
            <a:spLocks/>
          </p:cNvSpPr>
          <p:nvPr/>
        </p:nvSpPr>
        <p:spPr>
          <a:xfrm>
            <a:off x="4409982" y="3717032"/>
            <a:ext cx="4338482" cy="5400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s-CO" b="1" i="1" dirty="0" smtClean="0"/>
              <a:t>A y B: </a:t>
            </a:r>
            <a:r>
              <a:rPr lang="es-CO" sz="2200" b="1" i="1" dirty="0" smtClean="0"/>
              <a:t>Conjuntos de datos sobre los que se realiza la operación.</a:t>
            </a:r>
          </a:p>
          <a:p>
            <a:pPr marL="0" indent="0" algn="just">
              <a:buNone/>
            </a:pPr>
            <a:r>
              <a:rPr lang="es-CO" b="1" i="1" dirty="0" smtClean="0"/>
              <a:t>F: </a:t>
            </a:r>
            <a:r>
              <a:rPr lang="es-CO" sz="2200" b="1" i="1" dirty="0" smtClean="0"/>
              <a:t>Selección de la operación.</a:t>
            </a:r>
          </a:p>
          <a:p>
            <a:pPr marL="0" indent="0" algn="just">
              <a:buNone/>
            </a:pPr>
            <a:r>
              <a:rPr lang="es-CO" b="1" i="1" dirty="0" smtClean="0"/>
              <a:t>D: </a:t>
            </a:r>
            <a:r>
              <a:rPr lang="es-CO" sz="2200" b="1" i="1" dirty="0" smtClean="0"/>
              <a:t>Acarreos y salidas alternas.</a:t>
            </a:r>
          </a:p>
          <a:p>
            <a:pPr marL="0" indent="0" algn="just">
              <a:buNone/>
            </a:pPr>
            <a:r>
              <a:rPr lang="es-CO" b="1" i="1" dirty="0" smtClean="0"/>
              <a:t>R: </a:t>
            </a:r>
            <a:r>
              <a:rPr lang="es-CO" sz="2200" b="1" i="1" dirty="0" smtClean="0"/>
              <a:t>Resultado de la operación. Conjunto de datos de salida.</a:t>
            </a:r>
          </a:p>
        </p:txBody>
      </p:sp>
    </p:spTree>
    <p:extLst>
      <p:ext uri="{BB962C8B-B14F-4D97-AF65-F5344CB8AC3E}">
        <p14:creationId xmlns:p14="http://schemas.microsoft.com/office/powerpoint/2010/main" val="3066186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 Título"/>
          <p:cNvSpPr>
            <a:spLocks noGrp="1"/>
          </p:cNvSpPr>
          <p:nvPr>
            <p:ph type="title"/>
          </p:nvPr>
        </p:nvSpPr>
        <p:spPr>
          <a:xfrm>
            <a:off x="683568" y="502542"/>
            <a:ext cx="7987965" cy="1054250"/>
          </a:xfrm>
        </p:spPr>
        <p:txBody>
          <a:bodyPr>
            <a:normAutofit fontScale="90000"/>
          </a:bodyPr>
          <a:lstStyle/>
          <a:p>
            <a:r>
              <a:rPr lang="es-ES" sz="4000" dirty="0"/>
              <a:t>2.8. Unidad Aritmética y lógica ALU.</a:t>
            </a:r>
            <a:endParaRPr lang="es-CO" sz="4000" dirty="0"/>
          </a:p>
        </p:txBody>
      </p:sp>
      <p:sp>
        <p:nvSpPr>
          <p:cNvPr id="6" name="2 Marcador de contenido"/>
          <p:cNvSpPr txBox="1">
            <a:spLocks/>
          </p:cNvSpPr>
          <p:nvPr/>
        </p:nvSpPr>
        <p:spPr>
          <a:xfrm>
            <a:off x="611560" y="4221088"/>
            <a:ext cx="8100900" cy="5400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s-CO" b="1" i="1" dirty="0" smtClean="0"/>
              <a:t>En el diseño de una unidad lógico aritmética se debe tener en cuenta lo siguiente:</a:t>
            </a:r>
          </a:p>
          <a:p>
            <a:pPr marL="457200" indent="-457200" algn="just">
              <a:buAutoNum type="arabicPeriod"/>
            </a:pPr>
            <a:r>
              <a:rPr lang="es-CO" b="1" i="1" dirty="0" smtClean="0"/>
              <a:t>La sección lógica.</a:t>
            </a:r>
          </a:p>
          <a:p>
            <a:pPr marL="457200" indent="-457200" algn="just">
              <a:buAutoNum type="arabicPeriod"/>
            </a:pPr>
            <a:r>
              <a:rPr lang="es-CO" b="1" i="1" dirty="0" smtClean="0"/>
              <a:t>La sección aritmética.</a:t>
            </a:r>
          </a:p>
          <a:p>
            <a:pPr marL="457200" indent="-457200" algn="just">
              <a:buAutoNum type="arabicPeriod"/>
            </a:pPr>
            <a:r>
              <a:rPr lang="es-CO" b="1" i="1" dirty="0" smtClean="0"/>
              <a:t>La modificación de la sección aritmética para introducir la sección lógica.</a:t>
            </a:r>
          </a:p>
          <a:p>
            <a:pPr marL="0" indent="0" algn="just">
              <a:buNone/>
            </a:pPr>
            <a:endParaRPr lang="es-CO" b="1" i="1" dirty="0" smtClean="0"/>
          </a:p>
        </p:txBody>
      </p:sp>
      <p:sp>
        <p:nvSpPr>
          <p:cNvPr id="8" name="7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4560" y="2283997"/>
            <a:ext cx="4914900" cy="180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12201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 Título"/>
          <p:cNvSpPr>
            <a:spLocks noGrp="1"/>
          </p:cNvSpPr>
          <p:nvPr>
            <p:ph type="title"/>
          </p:nvPr>
        </p:nvSpPr>
        <p:spPr>
          <a:xfrm>
            <a:off x="683568" y="502542"/>
            <a:ext cx="7987965" cy="1054250"/>
          </a:xfrm>
        </p:spPr>
        <p:txBody>
          <a:bodyPr>
            <a:normAutofit fontScale="90000"/>
          </a:bodyPr>
          <a:lstStyle/>
          <a:p>
            <a:r>
              <a:rPr lang="es-ES" sz="4000" dirty="0"/>
              <a:t>2.8. Unidad Aritmética y lógica ALU.</a:t>
            </a:r>
            <a:endParaRPr lang="es-CO" sz="4000" dirty="0"/>
          </a:p>
        </p:txBody>
      </p:sp>
      <p:sp>
        <p:nvSpPr>
          <p:cNvPr id="6" name="2 Marcador de contenido"/>
          <p:cNvSpPr txBox="1">
            <a:spLocks/>
          </p:cNvSpPr>
          <p:nvPr/>
        </p:nvSpPr>
        <p:spPr>
          <a:xfrm>
            <a:off x="798318" y="2240868"/>
            <a:ext cx="7842134" cy="5400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CO" b="1" i="1" dirty="0" smtClean="0"/>
              <a:t>Sección Lógica</a:t>
            </a:r>
          </a:p>
        </p:txBody>
      </p:sp>
      <p:sp>
        <p:nvSpPr>
          <p:cNvPr id="8" name="7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318" y="3552627"/>
            <a:ext cx="3053602" cy="18925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8130" y="2852936"/>
            <a:ext cx="4242302" cy="32612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34886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 Título"/>
          <p:cNvSpPr>
            <a:spLocks noGrp="1"/>
          </p:cNvSpPr>
          <p:nvPr>
            <p:ph type="title"/>
          </p:nvPr>
        </p:nvSpPr>
        <p:spPr>
          <a:xfrm>
            <a:off x="683568" y="502542"/>
            <a:ext cx="7987965" cy="1054250"/>
          </a:xfrm>
        </p:spPr>
        <p:txBody>
          <a:bodyPr>
            <a:normAutofit fontScale="90000"/>
          </a:bodyPr>
          <a:lstStyle/>
          <a:p>
            <a:r>
              <a:rPr lang="es-ES" sz="4000" dirty="0"/>
              <a:t>2.8. Unidad Aritmética y lógica ALU.</a:t>
            </a:r>
            <a:endParaRPr lang="es-CO" sz="4000" dirty="0"/>
          </a:p>
        </p:txBody>
      </p:sp>
      <p:sp>
        <p:nvSpPr>
          <p:cNvPr id="6" name="2 Marcador de contenido"/>
          <p:cNvSpPr txBox="1">
            <a:spLocks/>
          </p:cNvSpPr>
          <p:nvPr/>
        </p:nvSpPr>
        <p:spPr>
          <a:xfrm>
            <a:off x="444366" y="2240868"/>
            <a:ext cx="8196086" cy="5400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b="1" i="1" dirty="0" smtClean="0"/>
              <a:t>Sección Aritmética</a:t>
            </a:r>
          </a:p>
        </p:txBody>
      </p:sp>
      <p:sp>
        <p:nvSpPr>
          <p:cNvPr id="8" name="7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946" y="4481128"/>
            <a:ext cx="5027126" cy="1734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6883" y="2916932"/>
            <a:ext cx="3500815" cy="22402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2779685"/>
            <a:ext cx="1008112" cy="13603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2916932"/>
            <a:ext cx="2628900" cy="1085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00283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 Título"/>
          <p:cNvSpPr>
            <a:spLocks noGrp="1"/>
          </p:cNvSpPr>
          <p:nvPr>
            <p:ph type="title"/>
          </p:nvPr>
        </p:nvSpPr>
        <p:spPr>
          <a:xfrm>
            <a:off x="683568" y="502542"/>
            <a:ext cx="7987965" cy="1054250"/>
          </a:xfrm>
        </p:spPr>
        <p:txBody>
          <a:bodyPr>
            <a:normAutofit fontScale="90000"/>
          </a:bodyPr>
          <a:lstStyle/>
          <a:p>
            <a:r>
              <a:rPr lang="es-ES" sz="4000" dirty="0"/>
              <a:t>2.8. Unidad Aritmética y lógica ALU.</a:t>
            </a:r>
            <a:endParaRPr lang="es-CO" sz="4000" dirty="0"/>
          </a:p>
        </p:txBody>
      </p:sp>
      <p:sp>
        <p:nvSpPr>
          <p:cNvPr id="6" name="2 Marcador de contenido"/>
          <p:cNvSpPr txBox="1">
            <a:spLocks/>
          </p:cNvSpPr>
          <p:nvPr/>
        </p:nvSpPr>
        <p:spPr>
          <a:xfrm>
            <a:off x="444366" y="2240868"/>
            <a:ext cx="8196086" cy="5400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b="1" i="1" dirty="0" smtClean="0"/>
              <a:t>Modificación de la sección aritmética para completar la ALU.</a:t>
            </a:r>
          </a:p>
        </p:txBody>
      </p:sp>
      <p:sp>
        <p:nvSpPr>
          <p:cNvPr id="8" name="7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366" y="3050638"/>
            <a:ext cx="5112568" cy="36907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128" y="3429000"/>
            <a:ext cx="3124200" cy="2543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19157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izarra">
  <a:themeElements>
    <a:clrScheme name="Pizarra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Pizarra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izarra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Pizarra</Template>
  <TotalTime>1168</TotalTime>
  <Words>1239</Words>
  <Application>Microsoft Office PowerPoint</Application>
  <PresentationFormat>Presentación en pantalla (4:3)</PresentationFormat>
  <Paragraphs>298</Paragraphs>
  <Slides>29</Slides>
  <Notes>15</Notes>
  <HiddenSlides>0</HiddenSlides>
  <MMClips>0</MMClips>
  <ScaleCrop>false</ScaleCrop>
  <HeadingPairs>
    <vt:vector size="8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29</vt:i4>
      </vt:variant>
    </vt:vector>
  </HeadingPairs>
  <TitlesOfParts>
    <vt:vector size="37" baseType="lpstr">
      <vt:lpstr>Arial</vt:lpstr>
      <vt:lpstr>Calibri</vt:lpstr>
      <vt:lpstr>Calisto MT</vt:lpstr>
      <vt:lpstr>Trebuchet MS</vt:lpstr>
      <vt:lpstr>Wingdings</vt:lpstr>
      <vt:lpstr>Wingdings 2</vt:lpstr>
      <vt:lpstr>Pizarra</vt:lpstr>
      <vt:lpstr>MathType 6.0 Equation</vt:lpstr>
      <vt:lpstr>2. Sistemas Combinacionales.</vt:lpstr>
      <vt:lpstr>2.1. Compuertas Básicas.</vt:lpstr>
      <vt:lpstr>2.1. Compuertas Básicas.</vt:lpstr>
      <vt:lpstr>2.1. Compuertas Básicas.</vt:lpstr>
      <vt:lpstr>2.1. Compuertas Básicas.</vt:lpstr>
      <vt:lpstr>2.2. Familias TTL y CMOS.</vt:lpstr>
      <vt:lpstr>2.3. Algebra de Boole.</vt:lpstr>
      <vt:lpstr>2.3. Algebra de Boole.</vt:lpstr>
      <vt:lpstr>2.4. Síntesis lógica de circuitos combinatorios.</vt:lpstr>
      <vt:lpstr>2.4.1. Representación por suma de productos y por producto de sumas.</vt:lpstr>
      <vt:lpstr>2.4.1. Representación por suma de productos y por producto de sumas.</vt:lpstr>
      <vt:lpstr>2.4.2. Mapas de Karnaugh.</vt:lpstr>
      <vt:lpstr>2.4.2. Mapas de Karnaugh.</vt:lpstr>
      <vt:lpstr>2.4.2. Mapas de Karnaugh.</vt:lpstr>
      <vt:lpstr>2.4.2. Mapas de Karnaugh.</vt:lpstr>
      <vt:lpstr>2.5 Codificadores y Decodificadores.</vt:lpstr>
      <vt:lpstr>2.5 Codificadores y Decodificadores.</vt:lpstr>
      <vt:lpstr>2.5 Codificadores y Decodificadores.</vt:lpstr>
      <vt:lpstr>2.5 Codificadores y Decodificadores.</vt:lpstr>
      <vt:lpstr>2.6. Multiplexores y demultiplexores.</vt:lpstr>
      <vt:lpstr>2.6. Multiplexores y demultiplexores.</vt:lpstr>
      <vt:lpstr>2.7. Circuitos Aritméticos.</vt:lpstr>
      <vt:lpstr>2.7. Circuitos Aritméticos.</vt:lpstr>
      <vt:lpstr>2.7. Circuitos Aritméticos.</vt:lpstr>
      <vt:lpstr>2.8. Unidad Aritmética y lógica ALU.</vt:lpstr>
      <vt:lpstr>2.8. Unidad Aritmética y lógica ALU.</vt:lpstr>
      <vt:lpstr>2.8. Unidad Aritmética y lógica ALU.</vt:lpstr>
      <vt:lpstr>2.8. Unidad Aritmética y lógica ALU.</vt:lpstr>
      <vt:lpstr>2.8. Unidad Aritmética y lógica ALU.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Taller V IF. Electrónica Digital y Microcontroladores.</dc:title>
  <dc:creator>MeliCalelo</dc:creator>
  <cp:lastModifiedBy>Optodigital</cp:lastModifiedBy>
  <cp:revision>255</cp:revision>
  <dcterms:created xsi:type="dcterms:W3CDTF">2011-01-25T07:15:41Z</dcterms:created>
  <dcterms:modified xsi:type="dcterms:W3CDTF">2017-07-31T15:27:12Z</dcterms:modified>
</cp:coreProperties>
</file>
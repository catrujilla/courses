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6"/>
  </p:notesMasterIdLst>
  <p:sldIdLst>
    <p:sldId id="256" r:id="rId2"/>
    <p:sldId id="257" r:id="rId3"/>
    <p:sldId id="269" r:id="rId4"/>
    <p:sldId id="273" r:id="rId5"/>
    <p:sldId id="274" r:id="rId6"/>
    <p:sldId id="259" r:id="rId7"/>
    <p:sldId id="268" r:id="rId8"/>
    <p:sldId id="275" r:id="rId9"/>
    <p:sldId id="270" r:id="rId10"/>
    <p:sldId id="276" r:id="rId11"/>
    <p:sldId id="277" r:id="rId12"/>
    <p:sldId id="278" r:id="rId13"/>
    <p:sldId id="271" r:id="rId14"/>
    <p:sldId id="272" r:id="rId15"/>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95DD5203-7600-4D3F-9C3E-4D6D1CF3420D}">
          <p14:sldIdLst>
            <p14:sldId id="256"/>
            <p14:sldId id="257"/>
            <p14:sldId id="269"/>
            <p14:sldId id="273"/>
            <p14:sldId id="274"/>
            <p14:sldId id="259"/>
            <p14:sldId id="268"/>
            <p14:sldId id="275"/>
            <p14:sldId id="270"/>
            <p14:sldId id="276"/>
            <p14:sldId id="277"/>
            <p14:sldId id="278"/>
            <p14:sldId id="271"/>
            <p14:sldId id="27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D283"/>
    <a:srgbClr val="281997"/>
    <a:srgbClr val="46B846"/>
    <a:srgbClr val="ED8C2B"/>
    <a:srgbClr val="840A38"/>
    <a:srgbClr val="990033"/>
    <a:srgbClr val="151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380" autoAdjust="0"/>
  </p:normalViewPr>
  <p:slideViewPr>
    <p:cSldViewPr>
      <p:cViewPr varScale="1">
        <p:scale>
          <a:sx n="105" d="100"/>
          <a:sy n="105" d="100"/>
        </p:scale>
        <p:origin x="176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D4DB5F-8441-46BC-A2C2-D8C77AB445A6}" type="datetimeFigureOut">
              <a:rPr lang="es-CO" smtClean="0"/>
              <a:t>2/10/2017</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987BBB-A4C9-40A5-B74E-E45C8F585478}" type="slidenum">
              <a:rPr lang="es-CO" smtClean="0"/>
              <a:t>‹Nº›</a:t>
            </a:fld>
            <a:endParaRPr lang="es-CO"/>
          </a:p>
        </p:txBody>
      </p:sp>
    </p:spTree>
    <p:extLst>
      <p:ext uri="{BB962C8B-B14F-4D97-AF65-F5344CB8AC3E}">
        <p14:creationId xmlns:p14="http://schemas.microsoft.com/office/powerpoint/2010/main" val="3365837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061571ED-39D6-443C-9EF8-3AD8EC129B98}" type="datetimeFigureOut">
              <a:rPr lang="es-CO" smtClean="0"/>
              <a:pPr/>
              <a:t>2/10/2017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3230935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61571ED-39D6-443C-9EF8-3AD8EC129B98}" type="datetimeFigureOut">
              <a:rPr lang="es-CO" smtClean="0"/>
              <a:pPr/>
              <a:t>2/10/2017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402236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061571ED-39D6-443C-9EF8-3AD8EC129B98}" type="datetimeFigureOut">
              <a:rPr lang="es-CO" smtClean="0"/>
              <a:pPr/>
              <a:t>2/10/2017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552763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061571ED-39D6-443C-9EF8-3AD8EC129B98}" type="datetimeFigureOut">
              <a:rPr lang="es-CO" smtClean="0"/>
              <a:pPr/>
              <a:t>2/10/2017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175959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061571ED-39D6-443C-9EF8-3AD8EC129B98}" type="datetimeFigureOut">
              <a:rPr lang="es-CO" smtClean="0"/>
              <a:pPr/>
              <a:t>2/10/2017</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766063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061571ED-39D6-443C-9EF8-3AD8EC129B98}" type="datetimeFigureOut">
              <a:rPr lang="es-CO" smtClean="0"/>
              <a:pPr/>
              <a:t>2/10/2017</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81475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1571ED-39D6-443C-9EF8-3AD8EC129B98}" type="datetimeFigureOut">
              <a:rPr lang="es-CO" smtClean="0"/>
              <a:pPr/>
              <a:t>2/10/2017</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734913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2/10/2017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3263041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2/10/2017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371086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2/10/2017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2914496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2/10/2017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3617440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s-ES" smtClean="0"/>
              <a:t>Haga clic para modificar el estilo de título del patrón</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2/10/2017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6977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061571ED-39D6-443C-9EF8-3AD8EC129B98}" type="datetimeFigureOut">
              <a:rPr lang="es-CO" smtClean="0"/>
              <a:pPr/>
              <a:t>2/10/2017</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3485807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s-ES" smtClean="0"/>
              <a:t>Haga clic para modificar el estilo de título del patrón</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3" name="Date Placeholder 2"/>
          <p:cNvSpPr>
            <a:spLocks noGrp="1"/>
          </p:cNvSpPr>
          <p:nvPr>
            <p:ph type="dt" sz="half" idx="10"/>
          </p:nvPr>
        </p:nvSpPr>
        <p:spPr/>
        <p:txBody>
          <a:bodyPr/>
          <a:lstStyle/>
          <a:p>
            <a:fld id="{061571ED-39D6-443C-9EF8-3AD8EC129B98}" type="datetimeFigureOut">
              <a:rPr lang="es-CO" smtClean="0"/>
              <a:pPr/>
              <a:t>2/10/2017</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3170702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s-ES" smtClean="0"/>
              <a:t>Haga clic para modificar el estilo de título del patrón</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3" name="Date Placeholder 2"/>
          <p:cNvSpPr>
            <a:spLocks noGrp="1"/>
          </p:cNvSpPr>
          <p:nvPr>
            <p:ph type="dt" sz="half" idx="10"/>
          </p:nvPr>
        </p:nvSpPr>
        <p:spPr/>
        <p:txBody>
          <a:bodyPr/>
          <a:lstStyle/>
          <a:p>
            <a:fld id="{061571ED-39D6-443C-9EF8-3AD8EC129B98}" type="datetimeFigureOut">
              <a:rPr lang="es-CO" smtClean="0"/>
              <a:pPr/>
              <a:t>2/10/2017</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27094250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61571ED-39D6-443C-9EF8-3AD8EC129B98}" type="datetimeFigureOut">
              <a:rPr lang="es-CO" smtClean="0"/>
              <a:pPr/>
              <a:t>2/10/2017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17593690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61571ED-39D6-443C-9EF8-3AD8EC129B98}" type="datetimeFigureOut">
              <a:rPr lang="es-CO" smtClean="0"/>
              <a:pPr/>
              <a:t>2/10/2017</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C6FB919A-4838-4492-BE31-B5808E3145DF}" type="slidenum">
              <a:rPr lang="es-CO" smtClean="0"/>
              <a:pPr/>
              <a:t>‹Nº›</a:t>
            </a:fld>
            <a:endParaRPr lang="es-CO"/>
          </a:p>
        </p:txBody>
      </p:sp>
    </p:spTree>
    <p:extLst>
      <p:ext uri="{BB962C8B-B14F-4D97-AF65-F5344CB8AC3E}">
        <p14:creationId xmlns:p14="http://schemas.microsoft.com/office/powerpoint/2010/main" val="855398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61571ED-39D6-443C-9EF8-3AD8EC129B98}" type="datetimeFigureOut">
              <a:rPr lang="es-CO" smtClean="0"/>
              <a:pPr/>
              <a:t>2/10/2017</a:t>
            </a:fld>
            <a:endParaRPr lang="es-CO"/>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s-CO"/>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6FB919A-4838-4492-BE31-B5808E3145DF}" type="slidenum">
              <a:rPr lang="es-CO" smtClean="0"/>
              <a:pPr/>
              <a:t>‹Nº›</a:t>
            </a:fld>
            <a:endParaRPr lang="es-CO"/>
          </a:p>
        </p:txBody>
      </p:sp>
    </p:spTree>
    <p:extLst>
      <p:ext uri="{BB962C8B-B14F-4D97-AF65-F5344CB8AC3E}">
        <p14:creationId xmlns:p14="http://schemas.microsoft.com/office/powerpoint/2010/main" val="1615601207"/>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3568" y="1025302"/>
            <a:ext cx="7772400" cy="1827634"/>
          </a:xfrm>
        </p:spPr>
        <p:txBody>
          <a:bodyPr>
            <a:normAutofit/>
          </a:bodyPr>
          <a:lstStyle/>
          <a:p>
            <a:r>
              <a:rPr lang="es-ES" sz="5600" dirty="0">
                <a:effectLst/>
              </a:rPr>
              <a:t>7</a:t>
            </a:r>
            <a:r>
              <a:rPr lang="es-ES" sz="5600" dirty="0" smtClean="0">
                <a:effectLst/>
              </a:rPr>
              <a:t>. Conversión Análogo-Digital</a:t>
            </a:r>
            <a:endParaRPr lang="es-CO" sz="5600" dirty="0"/>
          </a:p>
        </p:txBody>
      </p:sp>
      <p:sp>
        <p:nvSpPr>
          <p:cNvPr id="3" name="2 Subtítulo"/>
          <p:cNvSpPr>
            <a:spLocks noGrp="1"/>
          </p:cNvSpPr>
          <p:nvPr>
            <p:ph type="subTitle" idx="1"/>
          </p:nvPr>
        </p:nvSpPr>
        <p:spPr>
          <a:xfrm>
            <a:off x="1403648" y="3645024"/>
            <a:ext cx="6400800" cy="3024336"/>
          </a:xfrm>
        </p:spPr>
        <p:txBody>
          <a:bodyPr>
            <a:normAutofit lnSpcReduction="10000"/>
          </a:bodyPr>
          <a:lstStyle/>
          <a:p>
            <a:r>
              <a:rPr lang="es-CO" dirty="0" smtClean="0"/>
              <a:t>7.1</a:t>
            </a:r>
            <a:r>
              <a:rPr lang="es-CO" dirty="0"/>
              <a:t>. </a:t>
            </a:r>
            <a:r>
              <a:rPr lang="es-CO" dirty="0" smtClean="0"/>
              <a:t>¿Qué es una conversión AD?</a:t>
            </a:r>
          </a:p>
          <a:p>
            <a:r>
              <a:rPr lang="es-ES" dirty="0"/>
              <a:t>7</a:t>
            </a:r>
            <a:r>
              <a:rPr lang="es-ES" dirty="0" smtClean="0"/>
              <a:t>.2</a:t>
            </a:r>
            <a:r>
              <a:rPr lang="es-ES" dirty="0"/>
              <a:t>. </a:t>
            </a:r>
            <a:r>
              <a:rPr lang="es-CO" dirty="0" smtClean="0"/>
              <a:t>Resolución, Error de </a:t>
            </a:r>
            <a:r>
              <a:rPr lang="es-CO" dirty="0" err="1" smtClean="0"/>
              <a:t>cuantización</a:t>
            </a:r>
            <a:r>
              <a:rPr lang="es-CO" dirty="0"/>
              <a:t> </a:t>
            </a:r>
            <a:r>
              <a:rPr lang="es-CO" dirty="0" smtClean="0"/>
              <a:t>y Precisión</a:t>
            </a:r>
          </a:p>
          <a:p>
            <a:r>
              <a:rPr lang="es-ES" dirty="0"/>
              <a:t>7</a:t>
            </a:r>
            <a:r>
              <a:rPr lang="es-ES" dirty="0" smtClean="0"/>
              <a:t>.3</a:t>
            </a:r>
            <a:r>
              <a:rPr lang="es-ES" dirty="0"/>
              <a:t>. </a:t>
            </a:r>
            <a:r>
              <a:rPr lang="es-ES" dirty="0" smtClean="0"/>
              <a:t>Frecuencia de muestreo</a:t>
            </a:r>
          </a:p>
          <a:p>
            <a:r>
              <a:rPr lang="es-ES" dirty="0"/>
              <a:t>7</a:t>
            </a:r>
            <a:r>
              <a:rPr lang="es-ES" dirty="0" smtClean="0"/>
              <a:t>.4. </a:t>
            </a:r>
            <a:r>
              <a:rPr lang="es-ES" i="1" dirty="0" err="1" smtClean="0"/>
              <a:t>Aliasing</a:t>
            </a:r>
            <a:r>
              <a:rPr lang="es-ES" dirty="0"/>
              <a:t> </a:t>
            </a:r>
            <a:r>
              <a:rPr lang="es-ES" dirty="0" smtClean="0"/>
              <a:t>y </a:t>
            </a:r>
            <a:r>
              <a:rPr lang="es-ES" dirty="0" err="1"/>
              <a:t>s</a:t>
            </a:r>
            <a:r>
              <a:rPr lang="es-ES" dirty="0" err="1" smtClean="0"/>
              <a:t>obremuestreo</a:t>
            </a:r>
            <a:endParaRPr lang="es-ES" dirty="0" smtClean="0"/>
          </a:p>
          <a:p>
            <a:r>
              <a:rPr lang="es-ES" dirty="0"/>
              <a:t>7</a:t>
            </a:r>
            <a:r>
              <a:rPr lang="es-ES" dirty="0" smtClean="0"/>
              <a:t>.5 Tipos de ADC</a:t>
            </a:r>
          </a:p>
          <a:p>
            <a:r>
              <a:rPr lang="es-ES" dirty="0"/>
              <a:t>7</a:t>
            </a:r>
            <a:r>
              <a:rPr lang="es-ES" dirty="0" smtClean="0"/>
              <a:t>.6 Aplicaciones</a:t>
            </a:r>
          </a:p>
          <a:p>
            <a:r>
              <a:rPr lang="es-ES" dirty="0"/>
              <a:t>7</a:t>
            </a:r>
            <a:r>
              <a:rPr lang="es-ES" dirty="0" smtClean="0"/>
              <a:t>.7 ¿Cómo lo hace el PIC?</a:t>
            </a:r>
          </a:p>
        </p:txBody>
      </p:sp>
      <p:sp>
        <p:nvSpPr>
          <p:cNvPr id="4" name="3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5" name="2 Subtítulo"/>
          <p:cNvSpPr txBox="1">
            <a:spLocks/>
          </p:cNvSpPr>
          <p:nvPr/>
        </p:nvSpPr>
        <p:spPr>
          <a:xfrm>
            <a:off x="-108520" y="476672"/>
            <a:ext cx="4032448" cy="576064"/>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Clr>
                <a:schemeClr val="accent1"/>
              </a:buClr>
              <a:buFont typeface="Wingdings" pitchFamily="2" charset="2"/>
              <a:buNone/>
              <a:defRPr sz="2400" kern="1200">
                <a:solidFill>
                  <a:schemeClr val="tx1"/>
                </a:solidFill>
                <a:effectLst>
                  <a:outerShdw blurRad="34925" dist="12700" dir="14400000" rotWithShape="0">
                    <a:prstClr val="black">
                      <a:alpha val="21000"/>
                    </a:prstClr>
                  </a:outerShdw>
                </a:effectLst>
                <a:latin typeface="+mn-lt"/>
                <a:ea typeface="+mn-ea"/>
                <a:cs typeface="+mn-cs"/>
              </a:defRPr>
            </a:lvl1pPr>
            <a:lvl2pPr marL="457200" indent="0" algn="ctr" defTabSz="914400" rtl="0" eaLnBrk="1" latinLnBrk="0" hangingPunct="1">
              <a:spcBef>
                <a:spcPct val="20000"/>
              </a:spcBef>
              <a:buClr>
                <a:schemeClr val="accent1"/>
              </a:buClr>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400"/>
              </a:spcBef>
              <a:buClr>
                <a:schemeClr val="accent1"/>
              </a:buClr>
              <a:buFont typeface="Wingdings" pitchFamily="2" charset="2"/>
              <a:buNone/>
              <a:defRPr sz="1400" kern="1200">
                <a:solidFill>
                  <a:schemeClr val="tx1">
                    <a:tint val="75000"/>
                  </a:schemeClr>
                </a:solidFill>
                <a:latin typeface="+mn-lt"/>
                <a:ea typeface="+mn-ea"/>
                <a:cs typeface="+mn-cs"/>
              </a:defRPr>
            </a:lvl9pPr>
          </a:lstStyle>
          <a:p>
            <a:r>
              <a:rPr lang="es-ES" i="1" dirty="0" smtClean="0">
                <a:effectLst/>
              </a:rPr>
              <a:t>Octubre 4 </a:t>
            </a:r>
            <a:r>
              <a:rPr lang="es-ES" i="1" dirty="0" smtClean="0">
                <a:effectLst/>
              </a:rPr>
              <a:t>de 2017  </a:t>
            </a:r>
          </a:p>
          <a:p>
            <a:r>
              <a:rPr lang="es-ES" i="1" dirty="0" smtClean="0">
                <a:effectLst/>
              </a:rPr>
              <a:t>Taller V UNALMED</a:t>
            </a:r>
          </a:p>
        </p:txBody>
      </p:sp>
    </p:spTree>
    <p:extLst>
      <p:ext uri="{BB962C8B-B14F-4D97-AF65-F5344CB8AC3E}">
        <p14:creationId xmlns:p14="http://schemas.microsoft.com/office/powerpoint/2010/main" val="40873791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356817" y="2391562"/>
            <a:ext cx="4385942" cy="175751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688490" y="570156"/>
            <a:ext cx="7987965" cy="1054250"/>
          </a:xfrm>
        </p:spPr>
        <p:txBody>
          <a:bodyPr/>
          <a:lstStyle/>
          <a:p>
            <a:r>
              <a:rPr lang="es-CO" sz="4000" dirty="0"/>
              <a:t>7</a:t>
            </a:r>
            <a:r>
              <a:rPr lang="es-CO" sz="4000" dirty="0" smtClean="0"/>
              <a:t>.1. </a:t>
            </a:r>
            <a:r>
              <a:rPr lang="es-ES" sz="4000" dirty="0"/>
              <a:t>¿Qué es una conversión AD?</a:t>
            </a:r>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229200"/>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dirty="0" smtClean="0"/>
              <a:t>Es el proceso mediante el cual un </a:t>
            </a:r>
            <a:r>
              <a:rPr lang="es-CO" i="1" dirty="0" smtClean="0"/>
              <a:t>dispositivo (un integrado, un microcontrolador…)</a:t>
            </a:r>
            <a:r>
              <a:rPr lang="es-CO" dirty="0" smtClean="0"/>
              <a:t> convierte una cantidad física continua (</a:t>
            </a:r>
            <a:r>
              <a:rPr lang="es-CO" i="1" dirty="0" smtClean="0"/>
              <a:t>voltaje</a:t>
            </a:r>
            <a:r>
              <a:rPr lang="es-CO" dirty="0" smtClean="0"/>
              <a:t>) en un número digital que representa la amplitud de la cantidad.</a:t>
            </a:r>
            <a:endParaRPr lang="es-CO"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2404" y="2420888"/>
            <a:ext cx="3865612" cy="2113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2 Subtítulo"/>
          <p:cNvSpPr txBox="1">
            <a:spLocks/>
          </p:cNvSpPr>
          <p:nvPr/>
        </p:nvSpPr>
        <p:spPr>
          <a:xfrm>
            <a:off x="4779753" y="4581127"/>
            <a:ext cx="3896703"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400" dirty="0" smtClean="0"/>
              <a:t>http://www.karbosguide.com/hardware/module7c1.htm</a:t>
            </a:r>
            <a:endParaRPr lang="es-CO" sz="1400" dirty="0"/>
          </a:p>
        </p:txBody>
      </p:sp>
      <p:pic>
        <p:nvPicPr>
          <p:cNvPr id="3" name="Imagen 2"/>
          <p:cNvPicPr>
            <a:picLocks noChangeAspect="1"/>
          </p:cNvPicPr>
          <p:nvPr/>
        </p:nvPicPr>
        <p:blipFill>
          <a:blip r:embed="rId3" cstate="print">
            <a:extLst>
              <a:ext uri="{BEBA8EAE-BF5A-486C-A8C5-ECC9F3942E4B}">
                <a14:imgProps xmlns:a14="http://schemas.microsoft.com/office/drawing/2010/main">
                  <a14:imgLayer r:embed="rId4">
                    <a14:imgEffect>
                      <a14:backgroundRemoval t="2804" b="100000" l="769" r="100000"/>
                    </a14:imgEffect>
                  </a14:imgLayer>
                </a14:imgProps>
              </a:ext>
              <a:ext uri="{28A0092B-C50C-407E-A947-70E740481C1C}">
                <a14:useLocalDpi xmlns:a14="http://schemas.microsoft.com/office/drawing/2010/main" val="0"/>
              </a:ext>
            </a:extLst>
          </a:blip>
          <a:stretch>
            <a:fillRect/>
          </a:stretch>
        </p:blipFill>
        <p:spPr>
          <a:xfrm>
            <a:off x="395536" y="2564904"/>
            <a:ext cx="4231330" cy="1393084"/>
          </a:xfrm>
          <a:prstGeom prst="rect">
            <a:avLst/>
          </a:prstGeom>
        </p:spPr>
      </p:pic>
      <p:sp>
        <p:nvSpPr>
          <p:cNvPr id="4" name="Elipse 3"/>
          <p:cNvSpPr/>
          <p:nvPr/>
        </p:nvSpPr>
        <p:spPr>
          <a:xfrm>
            <a:off x="962644" y="2627663"/>
            <a:ext cx="1377108" cy="13279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2 Subtítulo"/>
          <p:cNvSpPr txBox="1">
            <a:spLocks/>
          </p:cNvSpPr>
          <p:nvPr/>
        </p:nvSpPr>
        <p:spPr>
          <a:xfrm>
            <a:off x="541253" y="4149078"/>
            <a:ext cx="3896703"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400" dirty="0" smtClean="0"/>
              <a:t>http://macao.communications.museum/eng/exhibition/secondfloor/MoreInfo/ADConverter.html</a:t>
            </a:r>
            <a:endParaRPr lang="es-CO" sz="1400" dirty="0"/>
          </a:p>
        </p:txBody>
      </p:sp>
    </p:spTree>
    <p:extLst>
      <p:ext uri="{BB962C8B-B14F-4D97-AF65-F5344CB8AC3E}">
        <p14:creationId xmlns:p14="http://schemas.microsoft.com/office/powerpoint/2010/main" val="24886549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sultado de imagen para adc resolution 10bi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1268760"/>
            <a:ext cx="4576788" cy="4007214"/>
          </a:xfrm>
          <a:prstGeom prst="rect">
            <a:avLst/>
          </a:prstGeom>
          <a:noFill/>
          <a:extLst>
            <a:ext uri="{909E8E84-426E-40DD-AFC4-6F175D3DCCD1}">
              <a14:hiddenFill xmlns:a14="http://schemas.microsoft.com/office/drawing/2010/main">
                <a:solidFill>
                  <a:srgbClr val="FFFFFF"/>
                </a:solidFill>
              </a14:hiddenFill>
            </a:ext>
          </a:extLst>
        </p:spPr>
      </p:pic>
      <p:sp>
        <p:nvSpPr>
          <p:cNvPr id="2" name="1 Título"/>
          <p:cNvSpPr>
            <a:spLocks noGrp="1"/>
          </p:cNvSpPr>
          <p:nvPr>
            <p:ph type="title"/>
          </p:nvPr>
        </p:nvSpPr>
        <p:spPr>
          <a:xfrm>
            <a:off x="199703" y="260648"/>
            <a:ext cx="8496944" cy="1054250"/>
          </a:xfrm>
        </p:spPr>
        <p:txBody>
          <a:bodyPr/>
          <a:lstStyle/>
          <a:p>
            <a:r>
              <a:rPr lang="es-ES" sz="3600" dirty="0" smtClean="0"/>
              <a:t>7.2.1. Resolución</a:t>
            </a:r>
            <a:endParaRPr lang="es-ES" sz="3600" dirty="0"/>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73216"/>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dirty="0"/>
              <a:t>La resolución de un </a:t>
            </a:r>
            <a:r>
              <a:rPr lang="es-ES" dirty="0" smtClean="0"/>
              <a:t>ADC indica </a:t>
            </a:r>
            <a:r>
              <a:rPr lang="es-ES" dirty="0"/>
              <a:t>el número de valores discretos </a:t>
            </a:r>
            <a:r>
              <a:rPr lang="es-ES" dirty="0" smtClean="0"/>
              <a:t>de salida que </a:t>
            </a:r>
            <a:r>
              <a:rPr lang="es-ES" dirty="0"/>
              <a:t>puede producir </a:t>
            </a:r>
            <a:r>
              <a:rPr lang="es-ES" dirty="0" smtClean="0"/>
              <a:t>este dispositivo para su rango </a:t>
            </a:r>
            <a:r>
              <a:rPr lang="es-ES" dirty="0"/>
              <a:t>de valores </a:t>
            </a:r>
            <a:r>
              <a:rPr lang="es-ES" dirty="0" smtClean="0"/>
              <a:t>análogos de entrada permitidos.</a:t>
            </a:r>
            <a:endParaRPr lang="es-CO" dirty="0"/>
          </a:p>
        </p:txBody>
      </p:sp>
      <p:sp>
        <p:nvSpPr>
          <p:cNvPr id="3" name="2 Elipse"/>
          <p:cNvSpPr/>
          <p:nvPr/>
        </p:nvSpPr>
        <p:spPr>
          <a:xfrm>
            <a:off x="1367595" y="1314898"/>
            <a:ext cx="1152128" cy="348225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2 Subtítulo"/>
          <p:cNvSpPr txBox="1">
            <a:spLocks/>
          </p:cNvSpPr>
          <p:nvPr/>
        </p:nvSpPr>
        <p:spPr>
          <a:xfrm>
            <a:off x="5836420" y="3717032"/>
            <a:ext cx="3220415" cy="1008112"/>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400" dirty="0" smtClean="0"/>
              <a:t>http</a:t>
            </a:r>
            <a:r>
              <a:rPr lang="es-CO" sz="1400" dirty="0"/>
              <a:t>://users.ece.utexas.edu/~valvano/Volume1/E-Book/C14_ADCdataAcquisition.htm</a:t>
            </a:r>
            <a:endParaRPr lang="es-CO" sz="1400" dirty="0"/>
          </a:p>
        </p:txBody>
      </p:sp>
    </p:spTree>
    <p:extLst>
      <p:ext uri="{BB962C8B-B14F-4D97-AF65-F5344CB8AC3E}">
        <p14:creationId xmlns:p14="http://schemas.microsoft.com/office/powerpoint/2010/main" val="10537241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570156"/>
            <a:ext cx="8496944" cy="1054250"/>
          </a:xfrm>
        </p:spPr>
        <p:txBody>
          <a:bodyPr/>
          <a:lstStyle/>
          <a:p>
            <a:r>
              <a:rPr lang="es-ES" sz="3600" dirty="0" smtClean="0"/>
              <a:t>7.2.2. Error </a:t>
            </a:r>
            <a:r>
              <a:rPr lang="es-ES" sz="3600" dirty="0"/>
              <a:t>de </a:t>
            </a:r>
            <a:r>
              <a:rPr lang="es-ES" sz="3600" i="1" dirty="0" err="1" smtClean="0"/>
              <a:t>cuantización</a:t>
            </a:r>
            <a:endParaRPr lang="es-ES" sz="3600" dirty="0"/>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085184"/>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error de </a:t>
            </a:r>
            <a:r>
              <a:rPr lang="es-ES" sz="2000" i="1" dirty="0" err="1" smtClean="0"/>
              <a:t>cuantización</a:t>
            </a:r>
            <a:r>
              <a:rPr lang="es-ES" sz="2000" dirty="0" smtClean="0"/>
              <a:t> es </a:t>
            </a:r>
            <a:r>
              <a:rPr lang="es-ES" sz="2000" dirty="0"/>
              <a:t>el ruido introducido por la </a:t>
            </a:r>
            <a:r>
              <a:rPr lang="es-ES" sz="2000" i="1" dirty="0" err="1"/>
              <a:t>discretización</a:t>
            </a:r>
            <a:r>
              <a:rPr lang="es-ES" sz="2000" dirty="0"/>
              <a:t> en un conversor AD ideal. Es un error de redondeo entre la señal análoga de entrada al ADC y el valor de salida digitalizado. Este ruido es no lineal y depende de cada señal.</a:t>
            </a:r>
            <a:endParaRPr lang="es-CO" sz="2000" dirty="0"/>
          </a:p>
        </p:txBody>
      </p:sp>
      <p:pic>
        <p:nvPicPr>
          <p:cNvPr id="1026" name="Picture 2" descr="Resultado de imagen para quantization err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617706"/>
            <a:ext cx="4880578" cy="3427855"/>
          </a:xfrm>
          <a:prstGeom prst="rect">
            <a:avLst/>
          </a:prstGeom>
          <a:noFill/>
          <a:extLst>
            <a:ext uri="{909E8E84-426E-40DD-AFC4-6F175D3DCCD1}">
              <a14:hiddenFill xmlns:a14="http://schemas.microsoft.com/office/drawing/2010/main">
                <a:solidFill>
                  <a:srgbClr val="FFFFFF"/>
                </a:solidFill>
              </a14:hiddenFill>
            </a:ext>
          </a:extLst>
        </p:spPr>
      </p:pic>
      <p:sp>
        <p:nvSpPr>
          <p:cNvPr id="9" name="2 Subtítulo"/>
          <p:cNvSpPr txBox="1">
            <a:spLocks/>
          </p:cNvSpPr>
          <p:nvPr/>
        </p:nvSpPr>
        <p:spPr>
          <a:xfrm>
            <a:off x="5940152" y="4112116"/>
            <a:ext cx="3220415" cy="933446"/>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400" dirty="0"/>
              <a:t>https://e2e.ti.com/blogs_/b/precisionhub/archive/2013/08/23/how-to-use-thermal-noise-to-your-advantage</a:t>
            </a:r>
            <a:endParaRPr lang="es-CO" sz="1400" dirty="0"/>
          </a:p>
        </p:txBody>
      </p:sp>
    </p:spTree>
    <p:extLst>
      <p:ext uri="{BB962C8B-B14F-4D97-AF65-F5344CB8AC3E}">
        <p14:creationId xmlns:p14="http://schemas.microsoft.com/office/powerpoint/2010/main" val="3766008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Resultado de imagen para adc resolution 10bi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582025"/>
            <a:ext cx="4576788" cy="4007214"/>
          </a:xfrm>
          <a:prstGeom prst="rect">
            <a:avLst/>
          </a:prstGeom>
          <a:noFill/>
          <a:extLst>
            <a:ext uri="{909E8E84-426E-40DD-AFC4-6F175D3DCCD1}">
              <a14:hiddenFill xmlns:a14="http://schemas.microsoft.com/office/drawing/2010/main">
                <a:solidFill>
                  <a:srgbClr val="FFFFFF"/>
                </a:solidFill>
              </a14:hiddenFill>
            </a:ext>
          </a:extLst>
        </p:spPr>
      </p:pic>
      <p:sp>
        <p:nvSpPr>
          <p:cNvPr id="2" name="1 Título"/>
          <p:cNvSpPr>
            <a:spLocks noGrp="1"/>
          </p:cNvSpPr>
          <p:nvPr>
            <p:ph type="title"/>
          </p:nvPr>
        </p:nvSpPr>
        <p:spPr>
          <a:xfrm>
            <a:off x="467544" y="570156"/>
            <a:ext cx="8496944" cy="1054250"/>
          </a:xfrm>
        </p:spPr>
        <p:txBody>
          <a:bodyPr/>
          <a:lstStyle/>
          <a:p>
            <a:r>
              <a:rPr lang="es-ES" sz="3600" dirty="0" smtClean="0"/>
              <a:t>7.2.3. Precisión</a:t>
            </a:r>
            <a:endParaRPr lang="es-ES" sz="3600" dirty="0"/>
          </a:p>
        </p:txBody>
      </p:sp>
      <p:sp>
        <p:nvSpPr>
          <p:cNvPr id="35" name="34 Rectángulo"/>
          <p:cNvSpPr/>
          <p:nvPr/>
        </p:nvSpPr>
        <p:spPr>
          <a:xfrm>
            <a:off x="7690874" y="6601911"/>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589239"/>
            <a:ext cx="8352928" cy="86409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La precisión de una cantidad es una medida del detalle en el cual la cantidad se puede expresar.</a:t>
            </a:r>
            <a:endParaRPr lang="es-CO" sz="2000" dirty="0"/>
          </a:p>
        </p:txBody>
      </p:sp>
      <p:sp>
        <p:nvSpPr>
          <p:cNvPr id="6" name="5 Elipse"/>
          <p:cNvSpPr/>
          <p:nvPr/>
        </p:nvSpPr>
        <p:spPr>
          <a:xfrm rot="5400000">
            <a:off x="3275806" y="3176974"/>
            <a:ext cx="720082" cy="367240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2 Subtítulo"/>
          <p:cNvSpPr txBox="1">
            <a:spLocks/>
          </p:cNvSpPr>
          <p:nvPr/>
        </p:nvSpPr>
        <p:spPr>
          <a:xfrm>
            <a:off x="5700820" y="4149081"/>
            <a:ext cx="3220415" cy="1008112"/>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400" dirty="0" smtClean="0"/>
              <a:t>http</a:t>
            </a:r>
            <a:r>
              <a:rPr lang="es-CO" sz="1400" dirty="0"/>
              <a:t>://users.ece.utexas.edu/~valvano/Volume1/E-Book/C14_ADCdataAcquisition.htm</a:t>
            </a:r>
            <a:endParaRPr lang="es-CO" sz="1400" dirty="0"/>
          </a:p>
        </p:txBody>
      </p:sp>
    </p:spTree>
    <p:extLst>
      <p:ext uri="{BB962C8B-B14F-4D97-AF65-F5344CB8AC3E}">
        <p14:creationId xmlns:p14="http://schemas.microsoft.com/office/powerpoint/2010/main" val="17959493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790574"/>
            <a:ext cx="7987965" cy="1054250"/>
          </a:xfrm>
        </p:spPr>
        <p:txBody>
          <a:bodyPr>
            <a:normAutofit fontScale="90000"/>
          </a:bodyPr>
          <a:lstStyle/>
          <a:p>
            <a:r>
              <a:rPr lang="es-CO" sz="4000" dirty="0"/>
              <a:t>7</a:t>
            </a:r>
            <a:r>
              <a:rPr lang="es-CO" sz="4000" dirty="0" smtClean="0"/>
              <a:t>.3</a:t>
            </a:r>
            <a:r>
              <a:rPr lang="es-CO" sz="4000" dirty="0"/>
              <a:t>. </a:t>
            </a:r>
            <a:r>
              <a:rPr lang="es-CO" sz="4000" dirty="0" smtClean="0"/>
              <a:t>Frecuencia de muestreo</a:t>
            </a:r>
            <a:r>
              <a:rPr lang="es-CO" sz="4000" dirty="0"/>
              <a:t/>
            </a:r>
            <a:br>
              <a:rPr lang="es-CO" sz="4000" dirty="0"/>
            </a:br>
            <a:endParaRPr lang="es-CO"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8" name="2 Subtítulo"/>
          <p:cNvSpPr txBox="1">
            <a:spLocks/>
          </p:cNvSpPr>
          <p:nvPr/>
        </p:nvSpPr>
        <p:spPr>
          <a:xfrm>
            <a:off x="271711" y="5301208"/>
            <a:ext cx="8352928" cy="1440160"/>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dirty="0" smtClean="0"/>
              <a:t>La cantidad de valores </a:t>
            </a:r>
            <a:r>
              <a:rPr lang="es-ES" dirty="0"/>
              <a:t>digitales </a:t>
            </a:r>
            <a:r>
              <a:rPr lang="es-ES" dirty="0" smtClean="0"/>
              <a:t>que se </a:t>
            </a:r>
            <a:r>
              <a:rPr lang="es-ES" dirty="0"/>
              <a:t>obtienen de </a:t>
            </a:r>
            <a:r>
              <a:rPr lang="es-ES" dirty="0" smtClean="0"/>
              <a:t>una señal análoga por unidad de tiempo se </a:t>
            </a:r>
            <a:r>
              <a:rPr lang="es-ES" dirty="0"/>
              <a:t>denomina la </a:t>
            </a:r>
            <a:r>
              <a:rPr lang="es-ES" dirty="0" smtClean="0"/>
              <a:t>rata, tasa o frecuencia de muestreo.</a:t>
            </a:r>
            <a:endParaRPr lang="es-CO" dirty="0"/>
          </a:p>
        </p:txBody>
      </p:sp>
      <p:pic>
        <p:nvPicPr>
          <p:cNvPr id="1028" name="Picture 4" descr="http://www.mathworks.com/help/releases/R2013b/dsp/ref/refex_mfilt_farrowsrc.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9536" y="1988840"/>
            <a:ext cx="4060085" cy="3045064"/>
          </a:xfrm>
          <a:prstGeom prst="rect">
            <a:avLst/>
          </a:prstGeom>
          <a:noFill/>
          <a:extLst>
            <a:ext uri="{909E8E84-426E-40DD-AFC4-6F175D3DCCD1}">
              <a14:hiddenFill xmlns:a14="http://schemas.microsoft.com/office/drawing/2010/main">
                <a:solidFill>
                  <a:srgbClr val="FFFFFF"/>
                </a:solidFill>
              </a14:hiddenFill>
            </a:ext>
          </a:extLst>
        </p:spPr>
      </p:pic>
      <p:sp>
        <p:nvSpPr>
          <p:cNvPr id="6" name="2 Subtítulo"/>
          <p:cNvSpPr txBox="1">
            <a:spLocks/>
          </p:cNvSpPr>
          <p:nvPr/>
        </p:nvSpPr>
        <p:spPr>
          <a:xfrm>
            <a:off x="5220072" y="4149080"/>
            <a:ext cx="3896703" cy="1008112"/>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1400" dirty="0"/>
              <a:t>https://musicandcomputerscience.wordpress.com/how-does-a-computer-record-and-produce-sound/</a:t>
            </a:r>
            <a:endParaRPr lang="es-CO" sz="1400" dirty="0"/>
          </a:p>
        </p:txBody>
      </p:sp>
    </p:spTree>
    <p:extLst>
      <p:ext uri="{BB962C8B-B14F-4D97-AF65-F5344CB8AC3E}">
        <p14:creationId xmlns:p14="http://schemas.microsoft.com/office/powerpoint/2010/main" val="26624189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8203990" cy="1054250"/>
          </a:xfrm>
        </p:spPr>
        <p:txBody>
          <a:bodyPr/>
          <a:lstStyle/>
          <a:p>
            <a:r>
              <a:rPr lang="es-ES" sz="4000" dirty="0" smtClean="0"/>
              <a:t>7.4.1. </a:t>
            </a:r>
            <a:r>
              <a:rPr lang="es-ES" sz="4000" dirty="0" err="1" smtClean="0"/>
              <a:t>Aliasing</a:t>
            </a:r>
            <a:endParaRPr lang="es-ES"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4" name="2 Subtítulo"/>
          <p:cNvSpPr txBox="1">
            <a:spLocks/>
          </p:cNvSpPr>
          <p:nvPr/>
        </p:nvSpPr>
        <p:spPr>
          <a:xfrm>
            <a:off x="271711" y="5373216"/>
            <a:ext cx="8352928" cy="81293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a:t>
            </a:r>
            <a:r>
              <a:rPr lang="es-ES" sz="2000" i="1" dirty="0" err="1" smtClean="0"/>
              <a:t>aliasing</a:t>
            </a:r>
            <a:r>
              <a:rPr lang="es-ES" sz="2000" dirty="0" smtClean="0"/>
              <a:t> es el fenómeno que ocurre cuando se muestrean componentes de una señal análoga cuyas frecuencias exceden la frecuencia máxima permitida por el teorema de muestreo para la misma señal muestreándose a una frecuencia de muestreo dada.</a:t>
            </a:r>
            <a:endParaRPr lang="es-CO" sz="2000" dirty="0"/>
          </a:p>
        </p:txBody>
      </p:sp>
      <p:pic>
        <p:nvPicPr>
          <p:cNvPr id="2052" name="Picture 4" descr="http://www.xyobalancer.com/images/blog/Neil_Fig1_Feb11_201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045" y="2060848"/>
            <a:ext cx="5009392" cy="3170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8917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8490" y="570156"/>
            <a:ext cx="8203990" cy="1054250"/>
          </a:xfrm>
        </p:spPr>
        <p:txBody>
          <a:bodyPr/>
          <a:lstStyle/>
          <a:p>
            <a:r>
              <a:rPr lang="es-ES" sz="4000" dirty="0" smtClean="0"/>
              <a:t>7.4.2. </a:t>
            </a:r>
            <a:r>
              <a:rPr lang="es-ES" sz="4000" dirty="0" err="1" smtClean="0"/>
              <a:t>Sobremuestreo</a:t>
            </a:r>
            <a:r>
              <a:rPr lang="es-ES" sz="4000" dirty="0" smtClean="0"/>
              <a:t> (</a:t>
            </a:r>
            <a:r>
              <a:rPr lang="es-ES" sz="4000" i="1" dirty="0" err="1" smtClean="0"/>
              <a:t>oversampling</a:t>
            </a:r>
            <a:r>
              <a:rPr lang="es-ES" sz="4000" dirty="0" smtClean="0"/>
              <a:t>)</a:t>
            </a:r>
            <a:endParaRPr lang="es-ES" sz="4000" dirty="0"/>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4" name="2 Subtítulo"/>
          <p:cNvSpPr txBox="1">
            <a:spLocks/>
          </p:cNvSpPr>
          <p:nvPr/>
        </p:nvSpPr>
        <p:spPr>
          <a:xfrm>
            <a:off x="271711" y="4797152"/>
            <a:ext cx="8352928" cy="812933"/>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solidFill>
                  <a:srgbClr val="FF0000"/>
                </a:solidFill>
              </a:rPr>
              <a:t>Normalmente las señales se muestrean a la mínima frecuencia posible para hacerlo correctamente (Ingeniería).</a:t>
            </a:r>
            <a:r>
              <a:rPr lang="es-ES" sz="2000" dirty="0" smtClean="0"/>
              <a:t> </a:t>
            </a:r>
            <a:r>
              <a:rPr lang="es-ES" sz="2000" dirty="0" smtClean="0">
                <a:solidFill>
                  <a:srgbClr val="00B050"/>
                </a:solidFill>
              </a:rPr>
              <a:t>El </a:t>
            </a:r>
            <a:r>
              <a:rPr lang="es-ES" sz="2000" i="1" dirty="0" err="1" smtClean="0">
                <a:solidFill>
                  <a:srgbClr val="00B050"/>
                </a:solidFill>
              </a:rPr>
              <a:t>oversampling</a:t>
            </a:r>
            <a:r>
              <a:rPr lang="es-ES" sz="2000" dirty="0" smtClean="0">
                <a:solidFill>
                  <a:srgbClr val="00B050"/>
                </a:solidFill>
              </a:rPr>
              <a:t> permite facilitar la labor de filtros (Digitales y análogos) e incrementar la calidad de la reconstrucción digital de la señal (junto a otros elementos). </a:t>
            </a:r>
            <a:r>
              <a:rPr lang="es-ES" sz="2000" dirty="0" smtClean="0">
                <a:solidFill>
                  <a:srgbClr val="0070C0"/>
                </a:solidFill>
              </a:rPr>
              <a:t>Por otra parte, puede hacer el conversor más sensible al ruido y el sistema requiere de </a:t>
            </a:r>
            <a:r>
              <a:rPr lang="es-ES" sz="2000" dirty="0" smtClean="0">
                <a:solidFill>
                  <a:srgbClr val="0070C0"/>
                </a:solidFill>
              </a:rPr>
              <a:t>más recursos (memoria y capacidad de cómputo).</a:t>
            </a:r>
            <a:endParaRPr lang="es-CO" sz="2000" dirty="0">
              <a:solidFill>
                <a:srgbClr val="0070C0"/>
              </a:solidFill>
            </a:endParaRPr>
          </a:p>
        </p:txBody>
      </p:sp>
      <p:pic>
        <p:nvPicPr>
          <p:cNvPr id="3074" name="Picture 2" descr="http://edocs.soco.agilent.com/download/attachments/115608483/adshbapp-4-1-06_rev1.gif?version=1&amp;modificationDate=12820394510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204864"/>
            <a:ext cx="4772025" cy="2371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24452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7</a:t>
            </a:r>
            <a:r>
              <a:rPr lang="es-ES" sz="4000" dirty="0" smtClean="0"/>
              <a:t>.5 </a:t>
            </a:r>
            <a:r>
              <a:rPr lang="es-ES" sz="4000" dirty="0"/>
              <a:t>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4098" name="Picture 2" descr="File:Flash AD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5219" y="2386643"/>
            <a:ext cx="3382965" cy="3265864"/>
          </a:xfrm>
          <a:prstGeom prst="rect">
            <a:avLst/>
          </a:prstGeom>
          <a:noFill/>
          <a:extLst>
            <a:ext uri="{909E8E84-426E-40DD-AFC4-6F175D3DCCD1}">
              <a14:hiddenFill xmlns:a14="http://schemas.microsoft.com/office/drawing/2010/main">
                <a:solidFill>
                  <a:srgbClr val="FFFFFF"/>
                </a:solidFill>
              </a14:hiddenFill>
            </a:ext>
          </a:extLst>
        </p:spPr>
      </p:pic>
      <p:sp>
        <p:nvSpPr>
          <p:cNvPr id="15" name="2 Subtítulo"/>
          <p:cNvSpPr txBox="1">
            <a:spLocks/>
          </p:cNvSpPr>
          <p:nvPr/>
        </p:nvSpPr>
        <p:spPr>
          <a:xfrm>
            <a:off x="1595594" y="5759429"/>
            <a:ext cx="5705162" cy="739030"/>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Directa:</a:t>
            </a:r>
          </a:p>
          <a:p>
            <a:pPr marL="0" indent="0" algn="ctr">
              <a:buNone/>
            </a:pPr>
            <a:r>
              <a:rPr lang="es-CO" sz="2000" dirty="0" smtClean="0"/>
              <a:t>Extremadamente rápido.</a:t>
            </a:r>
          </a:p>
          <a:p>
            <a:pPr marL="0" indent="0" algn="ctr">
              <a:buNone/>
            </a:pPr>
            <a:r>
              <a:rPr lang="es-CO" sz="2000" dirty="0" smtClean="0"/>
              <a:t>Consume mucha corriente.</a:t>
            </a:r>
            <a:endParaRPr lang="es-CO" sz="2000" dirty="0"/>
          </a:p>
        </p:txBody>
      </p:sp>
    </p:spTree>
    <p:extLst>
      <p:ext uri="{BB962C8B-B14F-4D97-AF65-F5344CB8AC3E}">
        <p14:creationId xmlns:p14="http://schemas.microsoft.com/office/powerpoint/2010/main" val="18014082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20700" y="570156"/>
            <a:ext cx="8299772" cy="1054250"/>
          </a:xfrm>
        </p:spPr>
        <p:txBody>
          <a:bodyPr/>
          <a:lstStyle/>
          <a:p>
            <a:r>
              <a:rPr lang="es-ES" sz="4000" dirty="0"/>
              <a:t>7</a:t>
            </a:r>
            <a:r>
              <a:rPr lang="es-ES" sz="4000" dirty="0" smtClean="0"/>
              <a:t>.5 </a:t>
            </a:r>
            <a:r>
              <a:rPr lang="es-ES" sz="4000" dirty="0"/>
              <a:t>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71711" y="5587937"/>
            <a:ext cx="8352928" cy="1082014"/>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Aproximaciones Sucesivas:</a:t>
            </a:r>
          </a:p>
          <a:p>
            <a:pPr marL="0" indent="0" algn="ctr">
              <a:buNone/>
            </a:pPr>
            <a:r>
              <a:rPr lang="es-CO" sz="2000" dirty="0" smtClean="0"/>
              <a:t>Bajo consumo de corriente.</a:t>
            </a:r>
          </a:p>
          <a:p>
            <a:pPr marL="0" indent="0" algn="ctr">
              <a:buNone/>
            </a:pPr>
            <a:r>
              <a:rPr lang="es-CO" sz="2000" dirty="0" smtClean="0"/>
              <a:t>La velocidad de conversión y la resolución son medias.</a:t>
            </a:r>
            <a:endParaRPr lang="es-CO" sz="20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086" y="3005311"/>
            <a:ext cx="3371850" cy="164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descr="http://upload.wikimedia.org/wikipedia/en/6/61/SA_ADC_block_diagram.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5976" y="2420888"/>
            <a:ext cx="3565469" cy="2857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4719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p:cNvSpPr/>
          <p:nvPr/>
        </p:nvSpPr>
        <p:spPr>
          <a:xfrm>
            <a:off x="1271071" y="2830202"/>
            <a:ext cx="4385942" cy="211096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9"/>
          <p:cNvSpPr/>
          <p:nvPr/>
        </p:nvSpPr>
        <p:spPr>
          <a:xfrm>
            <a:off x="5786052" y="3429000"/>
            <a:ext cx="2533520" cy="115872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520700" y="570156"/>
            <a:ext cx="8299772" cy="1054250"/>
          </a:xfrm>
        </p:spPr>
        <p:txBody>
          <a:bodyPr/>
          <a:lstStyle/>
          <a:p>
            <a:r>
              <a:rPr lang="es-ES" sz="4000" dirty="0"/>
              <a:t>7</a:t>
            </a:r>
            <a:r>
              <a:rPr lang="es-ES" sz="4000" dirty="0" smtClean="0"/>
              <a:t>.5 </a:t>
            </a:r>
            <a:r>
              <a:rPr lang="es-ES" sz="4000" dirty="0"/>
              <a:t>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090670" y="5876561"/>
            <a:ext cx="4715010" cy="50476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dirty="0" smtClean="0"/>
              <a:t>ADC por integración</a:t>
            </a:r>
            <a:endParaRPr lang="es-CO" sz="2000" dirty="0"/>
          </a:p>
        </p:txBody>
      </p:sp>
      <p:pic>
        <p:nvPicPr>
          <p:cNvPr id="6146" name="Picture 2" descr="File:Basic integrating adc.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924944"/>
            <a:ext cx="4124325" cy="185737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V_{in} = -V_{ref}\dfrac{t_{d}}{t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6935" y="3646117"/>
            <a:ext cx="2008021" cy="725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3157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p:cNvSpPr/>
          <p:nvPr/>
        </p:nvSpPr>
        <p:spPr>
          <a:xfrm>
            <a:off x="1763688" y="2636912"/>
            <a:ext cx="5328592" cy="230425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520700" y="570156"/>
            <a:ext cx="8299772" cy="1054250"/>
          </a:xfrm>
        </p:spPr>
        <p:txBody>
          <a:bodyPr/>
          <a:lstStyle/>
          <a:p>
            <a:r>
              <a:rPr lang="es-ES" sz="4000" dirty="0" smtClean="0"/>
              <a:t>7.5 </a:t>
            </a:r>
            <a:r>
              <a:rPr lang="es-ES" sz="4000" dirty="0"/>
              <a:t>Tipos de ADC</a:t>
            </a:r>
          </a:p>
        </p:txBody>
      </p:sp>
      <p:sp>
        <p:nvSpPr>
          <p:cNvPr id="35" name="34 Rectángulo"/>
          <p:cNvSpPr/>
          <p:nvPr/>
        </p:nvSpPr>
        <p:spPr>
          <a:xfrm>
            <a:off x="7690874" y="6680393"/>
            <a:ext cx="628698" cy="276999"/>
          </a:xfrm>
          <a:prstGeom prst="rect">
            <a:avLst/>
          </a:prstGeom>
        </p:spPr>
        <p:txBody>
          <a:bodyPr wrap="none">
            <a:spAutoFit/>
          </a:bodyPr>
          <a:lstStyle/>
          <a:p>
            <a:r>
              <a:rPr lang="es-ES" sz="1200" dirty="0" smtClean="0"/>
              <a:t>CATA</a:t>
            </a:r>
            <a:endParaRPr lang="es-CO" sz="1200" dirty="0"/>
          </a:p>
        </p:txBody>
      </p:sp>
      <p:sp>
        <p:nvSpPr>
          <p:cNvPr id="3" name="AutoShape 2"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6350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4" name="AutoShape 4" descr="data:image/jpeg;base64,/9j/4AAQSkZJRgABAQAAAQABAAD/2wCEAAkGBxIHBhUUBxQUFRIXGB0YGRgXGBccHhgWGx0cHR8YFiAeHC0gHR8lHhwXITEhJiorLi4uGCAzODMsNygtMCsBCgoKDg0MFA8PFysZFBksLCw3LCwsKywsLCwsNyssLCssKyw3Nyw3KysrLCwrKyssLCwsKysrKysrKysrKysrLP/AABEIAOEA4QMBIgACEQEDEQH/xAAcAAEAAgMBAQEAAAAAAAAAAAAABwgEBQYDAQL/xABNEAABAwICBAUNDAoCAwEAAAABAAIDBBEFBgcSITFBUWFxgRMXIjI2cnN0kZOhs9MIFBU3UlNUYoKSstIWIzM1QkOiscHClNFjZIMk/8QAFgEBAQEAAAAAAAAAAAAAAAAAAAEC/8QAGBEBAQEBAQAAAAAAAAAAAAAAABEBQSH/2gAMAwEAAhEDEQA/AJxREQEREBERAREQEREBERAREQEREBERAREQEREBERAREQEREBERAREQEREBERAREQEREBERAREQEREBERAREQEREBERAREQEREBERAREQEREBERAREQERYGNY1T4FRmXF5WRM43HeeJo3uPIASgz0UM5k03bS3LMF//ACz3tztjab9LnDlCjjGc5YhjTj8IVUxaf4GO6my3FqssD03KVYs7iOOUuF/vKogi8JIxv9ytPLpEwqI9lWwHvXa34QVVtrA3tQAvqlItEzSNhLzsrYRzkj+4W0w/MlFiTrYfVU8h4mSscfIDdVJXxzQ7tgClIuYiqVg+Za3BCPgqpmjA3NDiWfcddnoUh5d02zQENzFC2VvzkPYv6WOOq48xbzJSJyRafLmaKTM1PrYNM2S3bN2h7O/YbOHPax4LrcKoIiICIiAiIgIiICIiAiIgIiICIiAiKHtK+ks0730eW32eLtmmae0PDHEflcBcO13DbctDdaQtKcWXnugwYNmqhscT+ziP17ds76g3cJG4wRjGLT43XGXFpXSyHhdwDiaBsaOQABYQFtyKNQREUBERAREQEREHtR1clBVNkoXujkbta9hII5iP7cKmnR/pdbVubBmwtY82DajYGvPFKNzD9Ydifq8MIIqLl79yKA9Fekk4K9tLj7r0p7GOR38jia4/N/h73tZ7BuNirL6iIgIiICIiAiIgIi0ecczw5TwV09dtPasYDtkkO5o4uMngAJQZuNYzT4FQmXF5WxRjhdwniaBtceQAlRRj+nDsy3LlOCOCScnbyiNpvbncDyBRhmbMVRmfEzNiz9Z23VaO1jb8mMcA3XO822rUqVY7aq0r4vO+7KhsfIyGK39bXH0rx66GMfTD5mm9kuPRFjrZdJmLyxFr6x1iCDaKnabHiLYgQeUEELkgLDYiICIigIiICIiAiL0p4XVM7WUzXPe4hrWtBJc47gANpKDzRSvl3QnPVwh+YJhBf+XGA9475x7Fp5AHDlXSt0H0AHZT1n34fYqwqA0U+9Y/D/n6z78PsU6x+H/P1n34fYoVAS6bDNIOKYVQMhoKpzYmDVY0xwu1WjcAXxl1huAvsFgNgUr9Y/D/AJ+s+/D7FOsfh/z9Z9+H2KHiMuuhjH0w+ZpvZL0h0qYvFJd1UH8joYLf0sB9KknrH4f8/Wffh9ivxLoPoSz9VUVYPGXQkdI6kP7onjn8D04TRPAx6nZI3hfAS1wHevJDj9pqljLWaKTM9Lr4NKH27Zp2PYT8tp2jh27jbYSoSzTohrcGiMmFuFVGNpDGlsgHeXOv9k3PyVwuF4lNg+INmwx7o5WHY4elrgdhHG07EFwEXI6Oc7szjhZLwGVMdhLGN23c9l9uq7byg3G3YT1yqCIiAqy6VczHMmbH9TN4ICYohwbDZ7/tOG/ia1WDzdiJwjK1TPF20cL3N74NOr6bKpTW6rQBwKauPqIdynrKejbCcay1T1D4X60sTXO/XTWDyBrAWdwOuEVAqKc8+6NMOwnJ1RNhULmTRsD2uMszrBrgXbHPLTdusNo4VFeQ8FbmHN1PT1IJje5xfYkdg1jnHaNovYC/KhWgRWN6z+E/NS+el/Mos0t5ShynjMLcJDmwyxE2c5zj1RrrON3G+50ezkKFcKiknRBkmmzXFUvxprnNjLGs1XubZxDi6+qRfYY/SpE6z+E/NS+el/MkKrkvoaXRlzQS0byBsHOdwXW5VwWmxzSU2naLUhml1W6xJdFGHua2+86waL7dxKsxTUzKWnEdMxrI2iwa0ANA4gBsAQqnO/cikfThl+DBcwRSYa1rBOxznsbsAewtGsBwa2ttA2XaTvJUcICnHQTlVsGHGvrG3kkLmQ3/AIIgbOcOIucCL/JaLdsVBkjtWMkcAVvsBw8YTgkEEe6KNjPutAv6ExNZ6LmNJGPS5aylJUYcGGRrmAa4JHZPa03AIO48ah/rz4pxUnmn+1VRYdFXjrz4pxUnmn+1Trz4pxUnmn+1RYsOirx158U4qTzT/arpdHekuuzHm2KnxEU/U3h5OoxwPYsLhYl54RxIRMS+NcHdqRsUQ6esxVFCYKaie6OORrnyFpIL7EAMuNttpJHDcdMN4XXS4PWCXCpHQyt3OYbdDhucONpuDwqEXDUS6ZshtqaJ9fhLQJWDWna0ftIxvk79o2k8LQeEBSTlvETi+XqeeVuq6WGOQgbgXtDiBybVsHND2kPFwdhB4RyqoqZlPMD8sY/HU01yGmz2j+OI212c5G0fWDTwK2FPM2pga+AhzHAOaRuLSLgjnCqZmnChgeZainZ2sUrmt8GeyZ/QWqwWh2vNfo+p+qG5j1ouhjiGj7mopi67VERVHK6U/i9rPBf5Cq8rQaU/i9rPBf7BVfU1cFYPQNiPvrJZiO+CZ7fsvtID5XuHQq+KU/c+4j1DMNRA7dLEHjvonW8pEh+6mLqYs20nv/KtVE3e+CVo5yxwHpUM+58offOZZpzuigDftSuuD5I3eVT25oe0h247FGmgjBjheXZ3TDsnVDmX42wgM/GJFWUmKKfdCUHVcAp5mjbHMWE8TZGm/wDUxg8ilMyhsoaT2RBIHGBa56LjyrlNLFB8IaPqoDexglH/AMnB59DSOlBptAtH73yS55/mzvd0NDY/7sPlXX5xxP4GyrUzt7aOJ5b39rNHS4tC12i+j95aP6No/iiEnTKTIfxrntPeJe9cnshbvnmaD3jLyE/ebGOlBA2FSy0dfE7Cy4TNc3qZbtdr3sABwknZbbe9tt1NlLpDxmOkAqsGmfJbt2iZjSePU6k4/wBSh3LXdNSeMw+tYrcqYuqp52ra7Esa6rmmN8crmjVY5jmBsYJsI2u26t9bbc7Sdq0ClH3QXdRT+L/7uUXIrMweLq+MwNO500begvaP8q36qPljbmek8Zh9axW4TE1wmm34u5u/h9axVvVkNNvxdzd/D61iremmOty1o6rsy4UJ8L6j1Muc0a8habtNjsDDw8q2nWbxX/1vOu9mpK0G/F9H4WX8ZUgIVXXrN4r/AOt513s10ujnRtX5dzdFUYl1DqbA8HUkLj2TCBYFg4SFMqKlcnpFwTD8awpozPKyAB36qZ0jIy15G1rS/Ybhu1p36t94BEcYTkTA6atDsTxemnjBv1MTQMDuR5EhJHNqroPdCdy9P4yPVSqBZf2Z5ioYuVAWugb73tqWGrq2tq22attlrL9rAwH9xweCZ+ELPVRWLS38Y9Z30fqIlKugTuId4w/8LFFWlv4x6zvo/URKVdAncS7xh/4WKdXiSERFUcppT+L2s8F/sFV9Wg0p/F7WeC/yFV9TVwXR6OcR+Cs9UkhNgZRGeaUGPbyAuB6FziBxYbxGzhtB4nDaD5UVctYWE4c3C6QxwdqZJJOmWR8h9LymC14xXB4Z4u1ljZIOZzQf8rNVZR/mLH/e2l3D6cHsTDKHf/UHV6daAfeXc19KK6hkil7WRjmHmcCD/dVzztj1tLb6jW7CCpibzNgLA8c2sJPKVZNBj4dSihw+ONm5jGsHM0Af4UF6f8R985ohhbuhh1vtSu2j7sbD0qfFVLPuJfC2dKuUbjM5o72O0YPSGA9KmrjDy13TUnjMPrWK3KqNlrumpPGYfWsVuUw1Avugu6in8X/3couUo+6C7qKfxf8A3couRcbPLHdRSeMw+tYrcKpGVW62aqMDhqoPWsVt0xNcJpt+Lubv4fWsVb1ZDTb8Xc3fw+tYq3ppjIhrpYGWp5ZWN4myPaPIDZfv4UqPn5/OyfmUn6NdG9HmjKrajEXTiQve06j2gWa4gbC08C6nrLYb8uq8438iLUD/AApUfPz+dk/Mpt0AVMlTgdSal73kTgAvc5xA6m02FysvrLYb8uq8438i6nKGUqfKNI+PCjIWyO1z1RwJvYDZYDgARN1xfuhO5en8ZHqpVAsv7M8xU9e6E7l6fxkeqlUCy/szzFNXFvsB/ccHgmfhCz1gYD+44PBM/CFnqsqxaW/jHrO+j9REpV0CdxLvGH/hYoq0t/GPWd9H6iJSroE7iXeMP/CxTq8SQiIqjSZ2oDieT6uKIXc+CQNHG7VJaPKAqnNOs24VzFVrSLls5YzVJEwWheTJDxdTce1HeG7bcQB4VNXHMoiKKsfoTxL3/kKNrjd0L3xHmB1mjoY9g6F29XUNpKV75tjWNLjzNFyqk4bjlVhUZbhdRNC1xuRHI5oJta5AO+wA6FkVGaq+qp3MqaypcxwLXNdK8hzSLFrhfaCNllakamqndXSvfUdtIXPd3zyXH0kq2WUa/wCFMrUszt8kMbj3xaLjy3VS1tqPM1dQ0zY6KrqI427GtbK8ADiABsEXcWjzLiXwNl6onP8AKie8cpa0kDpNh0qorRZvZbTx8a21ZmWtrqYx1tVUSRu7Zr5XkHbfaCbHaAtUhjZZa7pqTxmH1rFblU3ikdDKHQktc0hzSDYhwNwQeAg2K3P6YYj9NqvPSf8AaG47X3QXdRT+L/7uUXLLxLE58VlDsTlklcBYGRxcQN9gSd11iKDo9HNL78z5RN3/AK4P82DJ/orUKCNAWBOqcclq5B+rhaYmnjlfYm3es3+FCndXE1wmm34u5u/h9axVvVw6+hixKlMeIRsljNrskaHNNjcXBFth2rVfoXhn0Cj/AOPF+VUrnNBvxfR+Fl/GVICxsPoIcMphHh0ccUYuQyNrWtBO8gAWWSiCIiCLPdCdy9P4yPVSqBZf2Z5irg4nhcGLQhmKQxTMB1g2RjXgOsRcBwIvYnbyrXfoXhn0Cj/48X5VFzWdgP7jg8Ez8IWevzHGIow2IANAsANgAG4DkUcaYc7twTCnUmHO/wD1TNs7VO2GJw2uPE4jY3h263AL1ELZzxQY1m2qniN2PldqkcLG2Y1w52taelTzoXojR6PoTILGRz5OhzyGnpaGnpVfcv4NJj+MxU1D20jg29u0b/E88jW3PRbhVtKGkZQUTIqUWjja1jRxNaAAPIFMXXuiIqguY0gZPjzhg3U3kMmZd0Mlu1cd4PDqusARyA7wF06IKgYvhc2C4g6HFGGOVm8HhHA5p/iaeAhYathmjKtJmmk1MXjDiL6jxsewnhY7g4NhuDYXBUPZg0LVlG4nA5GVDOBriI5OQbewdz3bzKRajBF0VRkXFKZ1paKo+y3X9LCQvD9D8R+hVfmZP+kVpEW4mypiEERdNR1Qa0EkmGSwA2knsdy04NxsUBERAREQFusBw6jqagHHa1sEfCGQ1Ekh5BaLUHPd3MVpUQWHwXSHgOB4YyDDJyyJgsB1Cp5ySep7STckneSs3rs4P9Jd5ip9kq1orUiynXZwf6S7zFT7JOuzg/0l3mKn2SrWiUiynXZwf6S7zFT7JOuzg/0l3mKn2SrWiUiynXZwf6S7zFT7JOuzg/0l3mKn2SrWtpRZbra+mElDS1Ekbtz2RPLTbZsIFjtulIsB12cH+ku8xU+yX4m0uYRGy7J3uPE2Ce/9TAPSoJ/Q/EfoVX5mT/pekOScTndaOiqb/WjLfS6wSkd3mnTXLVRFmWYjCD/Nl1S8d4wEtB5SXcyi0CXE6/sdeaeV3K58jz6SSu9wPQ5iNe4HEjHSs4dYiR/Q1h1fK8KX8nZEo8pR3oGl8xFnTSWLyOIWFmt5GgXsL33oNVosyEMp0JlxCxrJRZ1toiZsPUmnh2gFxG8gcABXeIiqCIiAiIgIiICIiAoI0saNzhcj6zAG3pzd0sTR+xO8vYPm+Ej+Df2vazuiCmiKbtIWiMVb3VGUw1jzcup9ga48cR3MP1T2J+rwwtVU76OpdHVtcyRps5jgQ5p5QdoUaeSIigIiICIiAiIgIvrQXPAYCSTYAC5JO4AcJPEpZyBoifVubPmwFke9tPuc/wAKR2g+qNp4dW1jRodGWj1+a6kTYgHMomnadoMxG9kZ36t9jnjlA23LbFwQtp4Gsp2hrGgNa1oADWgWAAG4AcC+wQtp4QyBoaxoAa1oADQNgAA2ADiX7VZEREBERAREQEREBERAREQEREBERAWjzPlKjzRBq4vEHOAs2RvYvZ3rhttyG44wt4iCA8yaGKuhcXYA9tRH8hxDJBybewdz3bzKO8TwyfCJdXFYZITu/WMc2/ekizucEq4C/EsTZoy2YBzTvBAIPOCpFqm6K0lfo9wqvv1ejhBO8xgxnyxlpWol0P4S89jFK3mml/y4pCq5IrGR6HsJaeyjmPPNJ/ghbOh0bYTRH9VRxO8LrS+sc5IVWaipZK+bUoI3yv8Akxsc8+RoJXfZc0P1+JuDsU1aWP61nyEcjGmw+04EcSsDS0sdHCG0jGsaNzWNDQOYDYvZIVy+UshUWVRrUDNea1jNJZz/ALOyzRyNA5brqERVBERAREQEREBERAREQEREBERAREQEREBERAREQEREBERAREQEREBERAREQEREBERAREQEREBERAREQEREBERAREQEREBERAREQEREBERAREQEREBERAREQEREBERAREQEREBERAREQEREBERAREQEREBERAREQEREBERAREQf/9k="/>
          <p:cNvSpPr>
            <a:spLocks noChangeAspect="1" noChangeArrowheads="1"/>
          </p:cNvSpPr>
          <p:nvPr/>
        </p:nvSpPr>
        <p:spPr bwMode="auto">
          <a:xfrm>
            <a:off x="215900"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5" name="2 Subtítulo"/>
          <p:cNvSpPr txBox="1">
            <a:spLocks/>
          </p:cNvSpPr>
          <p:nvPr/>
        </p:nvSpPr>
        <p:spPr>
          <a:xfrm>
            <a:off x="2090670" y="5445224"/>
            <a:ext cx="4715010" cy="504767"/>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CO" sz="2000" b="1" dirty="0" smtClean="0"/>
              <a:t>ADC Delta Sigma:</a:t>
            </a:r>
          </a:p>
          <a:p>
            <a:pPr marL="0" indent="0" algn="ctr">
              <a:buNone/>
            </a:pPr>
            <a:r>
              <a:rPr lang="es-CO" sz="2000" dirty="0" smtClean="0"/>
              <a:t>Es el de mayor resolución.</a:t>
            </a:r>
          </a:p>
          <a:p>
            <a:pPr marL="0" indent="0" algn="ctr">
              <a:buNone/>
            </a:pPr>
            <a:r>
              <a:rPr lang="es-CO" sz="2000" dirty="0" smtClean="0"/>
              <a:t>Es el más lento (aunque cada vez mejorando su velocidad).</a:t>
            </a:r>
            <a:endParaRPr lang="es-CO" sz="2000" dirty="0"/>
          </a:p>
        </p:txBody>
      </p:sp>
      <p:pic>
        <p:nvPicPr>
          <p:cNvPr id="7170" name="Picture 2" descr="File:DeltaSigma1.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780928"/>
            <a:ext cx="5210175"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6013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sz="4000" dirty="0"/>
              <a:t>7</a:t>
            </a:r>
            <a:r>
              <a:rPr lang="es-ES" sz="4000" dirty="0" smtClean="0"/>
              <a:t>.6 </a:t>
            </a:r>
            <a:r>
              <a:rPr lang="es-ES" sz="4000" dirty="0"/>
              <a:t>Aplicaciones</a:t>
            </a:r>
          </a:p>
        </p:txBody>
      </p:sp>
      <p:pic>
        <p:nvPicPr>
          <p:cNvPr id="8196" name="Picture 4" descr="http://4.bp.blogspot.com/-ZI-b1CpXTek/T2bUYKV-p8I/AAAAAAAAAFo/bqTmg0edFZY/s1600/dspi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3667578"/>
            <a:ext cx="2761625" cy="2737186"/>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http://blog-imgs-62.fc2.com/a/u/d/audiokun/stax01_2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346" y="1742140"/>
            <a:ext cx="2414100" cy="181192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http://www.pce-instruments.com/english/slot/2/artimg/large/pce-instruments-multimeter-pce-em-886-61318_527959.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152" y="1988840"/>
            <a:ext cx="2172154" cy="2688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2641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ES" sz="4000" dirty="0"/>
              <a:t>7</a:t>
            </a:r>
            <a:r>
              <a:rPr lang="es-ES" sz="4000" dirty="0" smtClean="0"/>
              <a:t>.7 </a:t>
            </a:r>
            <a:r>
              <a:rPr lang="es-ES" sz="4000" dirty="0"/>
              <a:t>¿Cómo lo hace el PIC?</a:t>
            </a:r>
          </a:p>
        </p:txBody>
      </p:sp>
      <p:sp>
        <p:nvSpPr>
          <p:cNvPr id="5" name="2 Subtítulo"/>
          <p:cNvSpPr txBox="1">
            <a:spLocks/>
          </p:cNvSpPr>
          <p:nvPr/>
        </p:nvSpPr>
        <p:spPr>
          <a:xfrm>
            <a:off x="467544" y="5085184"/>
            <a:ext cx="8352928" cy="936104"/>
          </a:xfrm>
          <a:prstGeom prst="rect">
            <a:avLst/>
          </a:prstGeom>
        </p:spPr>
        <p:txBody>
          <a:bodyPr vert="horz" lIns="91440" tIns="45720" rIns="91440" bIns="45720" rtlCol="0">
            <a:noAutofit/>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pPr marL="0" indent="0" algn="ctr">
              <a:buNone/>
            </a:pPr>
            <a:r>
              <a:rPr lang="es-ES" sz="2000" dirty="0" smtClean="0"/>
              <a:t>El PIC tiene un módulo ADC de 10 bits que se basa en aproximaciones sucesivas, el cual, bien configurado devuelve un valor digital en un par de registros justo después de llevar a cabo la conversión en un pin previamente seleccionado.</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3727" y="2188861"/>
            <a:ext cx="3636547" cy="27567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725108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zarra">
  <a:themeElements>
    <a:clrScheme name="Pizarra">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Pizarr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izarr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6-Comunicación Serial</Template>
  <TotalTime>400</TotalTime>
  <Words>516</Words>
  <Application>Microsoft Office PowerPoint</Application>
  <PresentationFormat>Presentación en pantalla (4:3)</PresentationFormat>
  <Paragraphs>59</Paragraphs>
  <Slides>14</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14</vt:i4>
      </vt:variant>
    </vt:vector>
  </HeadingPairs>
  <TitlesOfParts>
    <vt:vector size="21" baseType="lpstr">
      <vt:lpstr>Arial</vt:lpstr>
      <vt:lpstr>Calibri</vt:lpstr>
      <vt:lpstr>Calisto MT</vt:lpstr>
      <vt:lpstr>Trebuchet MS</vt:lpstr>
      <vt:lpstr>Wingdings</vt:lpstr>
      <vt:lpstr>Wingdings 2</vt:lpstr>
      <vt:lpstr>Pizarra</vt:lpstr>
      <vt:lpstr>7. Conversión Análogo-Digital</vt:lpstr>
      <vt:lpstr>7.1. ¿Qué es una conversión AD?</vt:lpstr>
      <vt:lpstr>7.2.1. Resolución</vt:lpstr>
      <vt:lpstr>7.2.2. Error de cuantización</vt:lpstr>
      <vt:lpstr>7.2.3. Precisión</vt:lpstr>
      <vt:lpstr>7.3. Frecuencia de muestreo </vt:lpstr>
      <vt:lpstr>7.4.1. Aliasing</vt:lpstr>
      <vt:lpstr>7.4.2. Sobremuestreo (oversampling)</vt:lpstr>
      <vt:lpstr>7.5 Tipos de ADC</vt:lpstr>
      <vt:lpstr>7.5 Tipos de ADC</vt:lpstr>
      <vt:lpstr>7.5 Tipos de ADC</vt:lpstr>
      <vt:lpstr>7.5 Tipos de ADC</vt:lpstr>
      <vt:lpstr>7.6 Aplicaciones</vt:lpstr>
      <vt:lpstr>7.7 ¿Cómo lo hace el PIC?</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Sistemas Secuenciales.</dc:title>
  <dc:creator>MeliCalelo</dc:creator>
  <cp:lastModifiedBy>Windows User</cp:lastModifiedBy>
  <cp:revision>155</cp:revision>
  <dcterms:created xsi:type="dcterms:W3CDTF">2011-02-14T00:22:22Z</dcterms:created>
  <dcterms:modified xsi:type="dcterms:W3CDTF">2017-10-02T22:37:03Z</dcterms:modified>
</cp:coreProperties>
</file>
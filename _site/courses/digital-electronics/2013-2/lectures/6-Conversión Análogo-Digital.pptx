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6"/>
  </p:notesMasterIdLst>
  <p:sldIdLst>
    <p:sldId id="256" r:id="rId2"/>
    <p:sldId id="257" r:id="rId3"/>
    <p:sldId id="269" r:id="rId4"/>
    <p:sldId id="273" r:id="rId5"/>
    <p:sldId id="274" r:id="rId6"/>
    <p:sldId id="259" r:id="rId7"/>
    <p:sldId id="268" r:id="rId8"/>
    <p:sldId id="275" r:id="rId9"/>
    <p:sldId id="270" r:id="rId10"/>
    <p:sldId id="276" r:id="rId11"/>
    <p:sldId id="277" r:id="rId12"/>
    <p:sldId id="278" r:id="rId13"/>
    <p:sldId id="271" r:id="rId14"/>
    <p:sldId id="272" r:id="rId15"/>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5DD5203-7600-4D3F-9C3E-4D6D1CF3420D}">
          <p14:sldIdLst>
            <p14:sldId id="256"/>
            <p14:sldId id="257"/>
            <p14:sldId id="269"/>
            <p14:sldId id="273"/>
            <p14:sldId id="274"/>
            <p14:sldId id="259"/>
            <p14:sldId id="268"/>
            <p14:sldId id="275"/>
            <p14:sldId id="270"/>
            <p14:sldId id="276"/>
            <p14:sldId id="277"/>
            <p14:sldId id="278"/>
            <p14:sldId id="271"/>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1997"/>
    <a:srgbClr val="46B846"/>
    <a:srgbClr val="2CD283"/>
    <a:srgbClr val="ED8C2B"/>
    <a:srgbClr val="840A38"/>
    <a:srgbClr val="990033"/>
    <a:srgbClr val="151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380" autoAdjust="0"/>
  </p:normalViewPr>
  <p:slideViewPr>
    <p:cSldViewPr>
      <p:cViewPr varScale="1">
        <p:scale>
          <a:sx n="90" d="100"/>
          <a:sy n="90" d="100"/>
        </p:scale>
        <p:origin x="-59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4DB5F-8441-46BC-A2C2-D8C77AB445A6}" type="datetimeFigureOut">
              <a:rPr lang="es-CO" smtClean="0"/>
              <a:t>28/10/2013</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987BBB-A4C9-40A5-B74E-E45C8F585478}" type="slidenum">
              <a:rPr lang="es-CO" smtClean="0"/>
              <a:t>‹Nº›</a:t>
            </a:fld>
            <a:endParaRPr lang="es-CO"/>
          </a:p>
        </p:txBody>
      </p:sp>
    </p:spTree>
    <p:extLst>
      <p:ext uri="{BB962C8B-B14F-4D97-AF65-F5344CB8AC3E}">
        <p14:creationId xmlns:p14="http://schemas.microsoft.com/office/powerpoint/2010/main" val="336583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061571ED-39D6-443C-9EF8-3AD8EC129B98}" type="datetimeFigureOut">
              <a:rPr lang="es-CO" smtClean="0"/>
              <a:pPr/>
              <a:t>28/10/2013</a:t>
            </a:fld>
            <a:endParaRPr lang="es-CO"/>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6FB919A-4838-4492-BE31-B5808E3145DF}" type="slidenum">
              <a:rPr lang="es-CO" smtClean="0"/>
              <a:pPr/>
              <a:t>‹Nº›</a:t>
            </a:fld>
            <a:endParaRPr lang="es-CO"/>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28/10/2013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061571ED-39D6-443C-9EF8-3AD8EC129B98}" type="datetimeFigureOut">
              <a:rPr lang="es-CO" smtClean="0"/>
              <a:pPr/>
              <a:t>28/10/2013</a:t>
            </a:fld>
            <a:endParaRPr lang="es-CO"/>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CO"/>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C6FB919A-4838-4492-BE31-B5808E3145DF}" type="slidenum">
              <a:rPr lang="es-CO" smtClean="0"/>
              <a:pPr/>
              <a:t>‹Nº›</a:t>
            </a:fld>
            <a:endParaRPr lang="es-CO"/>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025302"/>
            <a:ext cx="7772400" cy="1827634"/>
          </a:xfrm>
        </p:spPr>
        <p:txBody>
          <a:bodyPr>
            <a:normAutofit/>
          </a:bodyPr>
          <a:lstStyle/>
          <a:p>
            <a:r>
              <a:rPr lang="es-ES" sz="5600" dirty="0">
                <a:effectLst/>
              </a:rPr>
              <a:t>6</a:t>
            </a:r>
            <a:r>
              <a:rPr lang="es-ES" sz="5600" dirty="0" smtClean="0">
                <a:effectLst/>
              </a:rPr>
              <a:t>. Conversión Análogo-Digital</a:t>
            </a:r>
            <a:endParaRPr lang="es-CO" sz="5600" dirty="0"/>
          </a:p>
        </p:txBody>
      </p:sp>
      <p:sp>
        <p:nvSpPr>
          <p:cNvPr id="3" name="2 Subtítulo"/>
          <p:cNvSpPr>
            <a:spLocks noGrp="1"/>
          </p:cNvSpPr>
          <p:nvPr>
            <p:ph type="subTitle" idx="1"/>
          </p:nvPr>
        </p:nvSpPr>
        <p:spPr>
          <a:xfrm>
            <a:off x="1403648" y="3645024"/>
            <a:ext cx="6400800" cy="3024336"/>
          </a:xfrm>
        </p:spPr>
        <p:txBody>
          <a:bodyPr>
            <a:normAutofit fontScale="92500"/>
          </a:bodyPr>
          <a:lstStyle/>
          <a:p>
            <a:r>
              <a:rPr lang="es-CO" dirty="0"/>
              <a:t>6</a:t>
            </a:r>
            <a:r>
              <a:rPr lang="es-CO" dirty="0" smtClean="0"/>
              <a:t>.1</a:t>
            </a:r>
            <a:r>
              <a:rPr lang="es-CO" dirty="0"/>
              <a:t>. </a:t>
            </a:r>
            <a:r>
              <a:rPr lang="es-CO" dirty="0" smtClean="0"/>
              <a:t>¿Qué es una conversión AD?</a:t>
            </a:r>
          </a:p>
          <a:p>
            <a:r>
              <a:rPr lang="es-ES" dirty="0" smtClean="0"/>
              <a:t>6.2</a:t>
            </a:r>
            <a:r>
              <a:rPr lang="es-ES" dirty="0"/>
              <a:t>. </a:t>
            </a:r>
            <a:r>
              <a:rPr lang="es-CO" dirty="0" smtClean="0"/>
              <a:t>Resolución, Error de </a:t>
            </a:r>
            <a:r>
              <a:rPr lang="es-CO" dirty="0" err="1" smtClean="0"/>
              <a:t>cuantización</a:t>
            </a:r>
            <a:r>
              <a:rPr lang="es-CO" dirty="0"/>
              <a:t> </a:t>
            </a:r>
            <a:r>
              <a:rPr lang="es-CO" dirty="0" smtClean="0"/>
              <a:t>y Precisión</a:t>
            </a:r>
          </a:p>
          <a:p>
            <a:r>
              <a:rPr lang="es-ES" dirty="0"/>
              <a:t>6</a:t>
            </a:r>
            <a:r>
              <a:rPr lang="es-ES" dirty="0" smtClean="0"/>
              <a:t>.3</a:t>
            </a:r>
            <a:r>
              <a:rPr lang="es-ES" dirty="0"/>
              <a:t>. </a:t>
            </a:r>
            <a:r>
              <a:rPr lang="es-ES" dirty="0" smtClean="0"/>
              <a:t>Rata de muestreo</a:t>
            </a:r>
          </a:p>
          <a:p>
            <a:r>
              <a:rPr lang="es-ES" dirty="0" smtClean="0"/>
              <a:t>6.4. </a:t>
            </a:r>
            <a:r>
              <a:rPr lang="es-ES" i="1" dirty="0" err="1" smtClean="0"/>
              <a:t>Aliasing</a:t>
            </a:r>
            <a:r>
              <a:rPr lang="es-ES" dirty="0"/>
              <a:t> </a:t>
            </a:r>
            <a:r>
              <a:rPr lang="es-ES" dirty="0" smtClean="0"/>
              <a:t>y </a:t>
            </a:r>
            <a:r>
              <a:rPr lang="es-ES" dirty="0" err="1" smtClean="0"/>
              <a:t>Sobremuestreo</a:t>
            </a:r>
            <a:endParaRPr lang="es-ES" dirty="0" smtClean="0"/>
          </a:p>
          <a:p>
            <a:r>
              <a:rPr lang="es-ES" dirty="0" smtClean="0"/>
              <a:t>6.5 Tipos de ADC</a:t>
            </a:r>
          </a:p>
          <a:p>
            <a:r>
              <a:rPr lang="es-ES" dirty="0" smtClean="0"/>
              <a:t>6.6 Aplicaciones</a:t>
            </a:r>
          </a:p>
          <a:p>
            <a:r>
              <a:rPr lang="es-ES" dirty="0" smtClean="0"/>
              <a:t>6.7 ¿Cómo lo hace el PIC?</a:t>
            </a:r>
          </a:p>
        </p:txBody>
      </p:sp>
      <p:sp>
        <p:nvSpPr>
          <p:cNvPr id="4" name="3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108520" y="476672"/>
            <a:ext cx="4032448" cy="576064"/>
          </a:xfrm>
          <a:prstGeom prst="rect">
            <a:avLst/>
          </a:prstGeom>
        </p:spPr>
        <p:txBody>
          <a:bodyPr vert="horz" lIns="91440" tIns="45720" rIns="91440" bIns="45720" rtlCol="0">
            <a:normAutofit fontScale="77500" lnSpcReduction="20000"/>
          </a:bodyPr>
          <a:lstStyle>
            <a:lvl1pPr marL="0" indent="0" algn="ctr" defTabSz="914400" rtl="0" eaLnBrk="1" latinLnBrk="0" hangingPunct="1">
              <a:spcBef>
                <a:spcPct val="20000"/>
              </a:spcBef>
              <a:buClr>
                <a:schemeClr val="accent1"/>
              </a:buClr>
              <a:buFont typeface="Wingdings" pitchFamily="2" charset="2"/>
              <a:buNone/>
              <a:defRPr sz="2400" kern="1200">
                <a:solidFill>
                  <a:schemeClr val="tx1"/>
                </a:solidFill>
                <a:effectLst>
                  <a:outerShdw blurRad="34925" dist="12700" dir="14400000" rotWithShape="0">
                    <a:prstClr val="black">
                      <a:alpha val="21000"/>
                    </a:prstClr>
                  </a:outerShdw>
                </a:effectLst>
                <a:latin typeface="+mn-lt"/>
                <a:ea typeface="+mn-ea"/>
                <a:cs typeface="+mn-cs"/>
              </a:defRPr>
            </a:lvl1pPr>
            <a:lvl2pPr marL="457200" indent="0" algn="ctr" defTabSz="914400" rtl="0" eaLnBrk="1" latinLnBrk="0" hangingPunct="1">
              <a:spcBef>
                <a:spcPct val="20000"/>
              </a:spcBef>
              <a:buClr>
                <a:schemeClr val="accent1"/>
              </a:buClr>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9pPr>
          </a:lstStyle>
          <a:p>
            <a:r>
              <a:rPr lang="es-ES" i="1" dirty="0" smtClean="0">
                <a:effectLst/>
              </a:rPr>
              <a:t>Octubre 29 de 2013  Taller V UNALMED</a:t>
            </a:r>
          </a:p>
        </p:txBody>
      </p:sp>
    </p:spTree>
    <p:extLst>
      <p:ext uri="{BB962C8B-B14F-4D97-AF65-F5344CB8AC3E}">
        <p14:creationId xmlns:p14="http://schemas.microsoft.com/office/powerpoint/2010/main" val="4087379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CO" sz="4000" dirty="0" smtClean="0"/>
              <a:t>6.1. </a:t>
            </a:r>
            <a:r>
              <a:rPr lang="es-ES" sz="4000" dirty="0"/>
              <a:t>¿Qué es una conversión AD?</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dirty="0" smtClean="0"/>
              <a:t>Es el proceso mediante el cual un </a:t>
            </a:r>
            <a:r>
              <a:rPr lang="es-CO" i="1" dirty="0" smtClean="0"/>
              <a:t>dispositivo</a:t>
            </a:r>
            <a:r>
              <a:rPr lang="es-CO" dirty="0" smtClean="0"/>
              <a:t> convierte una cantidad física continua (</a:t>
            </a:r>
            <a:r>
              <a:rPr lang="es-CO" i="1" dirty="0" smtClean="0"/>
              <a:t>voltaje</a:t>
            </a:r>
            <a:r>
              <a:rPr lang="es-CO" dirty="0" smtClean="0"/>
              <a:t>) en un número digital que representa la amplitud de la cantidad.</a:t>
            </a:r>
            <a:endParaRPr lang="es-CO"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4332" y="2492896"/>
            <a:ext cx="3865612" cy="2113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486627"/>
            <a:ext cx="1956048" cy="1956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8654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a:t>La resolución de un conversor indica el número de valores discretos </a:t>
            </a:r>
            <a:r>
              <a:rPr lang="es-ES" dirty="0" smtClean="0"/>
              <a:t>de salida que </a:t>
            </a:r>
            <a:r>
              <a:rPr lang="es-ES" dirty="0"/>
              <a:t>puede producir para el rango de valores </a:t>
            </a:r>
            <a:r>
              <a:rPr lang="es-ES" dirty="0" smtClean="0"/>
              <a:t>análogos de entrada.</a:t>
            </a:r>
            <a:endParaRPr lang="es-CO" dirty="0"/>
          </a:p>
        </p:txBody>
      </p:sp>
      <p:pic>
        <p:nvPicPr>
          <p:cNvPr id="1026"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3" name="2 Elipse"/>
          <p:cNvSpPr/>
          <p:nvPr/>
        </p:nvSpPr>
        <p:spPr>
          <a:xfrm>
            <a:off x="2371651" y="2154122"/>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724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085184"/>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error de </a:t>
            </a:r>
            <a:r>
              <a:rPr lang="es-ES" sz="2000" i="1" dirty="0" err="1" smtClean="0"/>
              <a:t>cuantización</a:t>
            </a:r>
            <a:r>
              <a:rPr lang="es-ES" sz="2000" dirty="0" smtClean="0"/>
              <a:t> es </a:t>
            </a:r>
            <a:r>
              <a:rPr lang="es-ES" sz="2000" dirty="0"/>
              <a:t>el ruido introducido por la </a:t>
            </a:r>
            <a:r>
              <a:rPr lang="es-ES" sz="2000" i="1" dirty="0" err="1"/>
              <a:t>discretización</a:t>
            </a:r>
            <a:r>
              <a:rPr lang="es-ES" sz="2000" dirty="0"/>
              <a:t> en un conversor AD ideal. Es un error de redondeo entre la señal análoga de entrada al ADC y el valor de salida digitalizado. Este ruido es no lineal y depende de cada señal.</a:t>
            </a:r>
            <a:endParaRPr lang="es-CO" sz="2000" dirty="0"/>
          </a:p>
        </p:txBody>
      </p:sp>
      <p:pic>
        <p:nvPicPr>
          <p:cNvPr id="2050" name="Picture 2" descr="http://4.bp.blogspot.com/-J4A-XhaXNFk/Ua0nnbqTqAI/AAAAAAAAABQ/UcBYXIYdk3w/s1600/Comunnicacion+de+Systemas_clip_image003_0000.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587" y="2348880"/>
            <a:ext cx="3305175" cy="240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008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589239"/>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La precisión de una cantidad es una medida del detalle en el cual la cantidad se puede expresar.</a:t>
            </a:r>
            <a:endParaRPr lang="es-CO" sz="2000" dirty="0"/>
          </a:p>
        </p:txBody>
      </p:sp>
      <p:pic>
        <p:nvPicPr>
          <p:cNvPr id="5"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6" name="5 Elipse"/>
          <p:cNvSpPr/>
          <p:nvPr/>
        </p:nvSpPr>
        <p:spPr>
          <a:xfrm rot="5400000">
            <a:off x="3872111" y="3410851"/>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59493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790574"/>
            <a:ext cx="7987965" cy="1054250"/>
          </a:xfrm>
        </p:spPr>
        <p:txBody>
          <a:bodyPr/>
          <a:lstStyle/>
          <a:p>
            <a:r>
              <a:rPr lang="es-CO" sz="4000" dirty="0"/>
              <a:t>6.3. Rata de </a:t>
            </a:r>
            <a:r>
              <a:rPr lang="es-CO" sz="4000" dirty="0" smtClean="0"/>
              <a:t>muestreo</a:t>
            </a:r>
            <a:r>
              <a:rPr lang="es-CO" sz="4000" dirty="0"/>
              <a:t/>
            </a:r>
            <a:br>
              <a:rPr lang="es-CO" sz="4000" dirty="0"/>
            </a:b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01208"/>
            <a:ext cx="8352928" cy="144016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smtClean="0"/>
              <a:t>La </a:t>
            </a:r>
            <a:r>
              <a:rPr lang="es-ES" dirty="0"/>
              <a:t>velocidad a la </a:t>
            </a:r>
            <a:r>
              <a:rPr lang="es-ES" dirty="0" smtClean="0"/>
              <a:t>que nuevos </a:t>
            </a:r>
            <a:r>
              <a:rPr lang="es-ES" dirty="0"/>
              <a:t>valores digitales se obtienen de </a:t>
            </a:r>
            <a:r>
              <a:rPr lang="es-ES" dirty="0" smtClean="0"/>
              <a:t>una señal análoga </a:t>
            </a:r>
            <a:r>
              <a:rPr lang="es-ES" dirty="0"/>
              <a:t>se denomina la frecuencia </a:t>
            </a:r>
            <a:r>
              <a:rPr lang="es-ES" dirty="0" smtClean="0"/>
              <a:t>o tasa de muestreo.</a:t>
            </a:r>
            <a:endParaRPr lang="es-CO" dirty="0"/>
          </a:p>
        </p:txBody>
      </p:sp>
      <p:pic>
        <p:nvPicPr>
          <p:cNvPr id="1028" name="Picture 4" descr="http://www.mathworks.com/help/releases/R2013b/dsp/ref/refex_mfilt_farrowsrc.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9804" y="2182759"/>
            <a:ext cx="4060085" cy="3045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418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a:t>6.4. </a:t>
            </a:r>
            <a:r>
              <a:rPr lang="es-ES" sz="4000" dirty="0" err="1"/>
              <a:t>Aliasing</a:t>
            </a:r>
            <a:r>
              <a:rPr lang="es-ES" sz="4000" dirty="0"/>
              <a:t> y </a:t>
            </a:r>
            <a:r>
              <a:rPr lang="es-ES" sz="4000" dirty="0" err="1"/>
              <a:t>Sobremuestreo</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614822"/>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a:t>
            </a:r>
            <a:r>
              <a:rPr lang="es-ES" sz="2000" i="1" dirty="0" err="1" smtClean="0"/>
              <a:t>aliasing</a:t>
            </a:r>
            <a:r>
              <a:rPr lang="es-ES" sz="2000" dirty="0" smtClean="0"/>
              <a:t> es el fenómeno que ocurre cuando se muestrea una señal a una frecuencia que es mayor que la frecuencia máxima permitida por el teorema de muestreo para la misma señal.</a:t>
            </a:r>
            <a:endParaRPr lang="es-CO" sz="2000" dirty="0"/>
          </a:p>
        </p:txBody>
      </p:sp>
      <p:pic>
        <p:nvPicPr>
          <p:cNvPr id="2052" name="Picture 4" descr="http://www.xyobalancer.com/images/blog/Neil_Fig1_Feb11_20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045" y="2204864"/>
            <a:ext cx="5009392" cy="3170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891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a:t>6.4. </a:t>
            </a:r>
            <a:r>
              <a:rPr lang="es-ES" sz="4000" dirty="0" err="1"/>
              <a:t>Aliasing</a:t>
            </a:r>
            <a:r>
              <a:rPr lang="es-ES" sz="4000" dirty="0"/>
              <a:t> y </a:t>
            </a:r>
            <a:r>
              <a:rPr lang="es-ES" sz="4000" dirty="0" err="1"/>
              <a:t>Sobremuestreo</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013176"/>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Normalmente las señales se muestrean a la mínima rata requerida para hacerlo correctamente (Ingeniería). El </a:t>
            </a:r>
            <a:r>
              <a:rPr lang="es-ES" sz="2000" dirty="0" err="1" smtClean="0"/>
              <a:t>sobremuestreo</a:t>
            </a:r>
            <a:r>
              <a:rPr lang="es-ES" sz="2000" dirty="0" smtClean="0"/>
              <a:t> permite facilitar la labor de filtros (Digitales y análogos), incrementar la resolución de la medida (con algunos otros elementos). Por otra parte, puede hacer el conversor más sensible al ruido.</a:t>
            </a:r>
            <a:endParaRPr lang="es-CO" sz="2000" dirty="0"/>
          </a:p>
        </p:txBody>
      </p:sp>
      <p:pic>
        <p:nvPicPr>
          <p:cNvPr id="3074" name="Picture 2" descr="http://edocs.soco.agilent.com/download/attachments/115608483/adshbapp-4-1-06_rev1.gif?version=1&amp;modificationDate=1282039451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348880"/>
            <a:ext cx="4772025" cy="237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445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4098" name="Picture 2" descr="File:Flash AD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5219" y="2386643"/>
            <a:ext cx="3382965" cy="3265864"/>
          </a:xfrm>
          <a:prstGeom prst="rect">
            <a:avLst/>
          </a:prstGeom>
          <a:noFill/>
          <a:extLst>
            <a:ext uri="{909E8E84-426E-40DD-AFC4-6F175D3DCCD1}">
              <a14:hiddenFill xmlns:a14="http://schemas.microsoft.com/office/drawing/2010/main">
                <a:solidFill>
                  <a:srgbClr val="FFFFFF"/>
                </a:solidFill>
              </a14:hiddenFill>
            </a:ext>
          </a:extLst>
        </p:spPr>
      </p:pic>
      <p:sp>
        <p:nvSpPr>
          <p:cNvPr id="15" name="2 Subtítulo"/>
          <p:cNvSpPr txBox="1">
            <a:spLocks/>
          </p:cNvSpPr>
          <p:nvPr/>
        </p:nvSpPr>
        <p:spPr>
          <a:xfrm>
            <a:off x="1595594" y="5759429"/>
            <a:ext cx="5705162" cy="73903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Directa:</a:t>
            </a:r>
          </a:p>
          <a:p>
            <a:pPr marL="0" indent="0" algn="ctr">
              <a:buNone/>
            </a:pPr>
            <a:r>
              <a:rPr lang="es-CO" sz="2000" dirty="0" smtClean="0"/>
              <a:t>Extremadamente rápido.</a:t>
            </a:r>
          </a:p>
          <a:p>
            <a:pPr marL="0" indent="0" algn="ctr">
              <a:buNone/>
            </a:pPr>
            <a:r>
              <a:rPr lang="es-CO" sz="2000" dirty="0" smtClean="0"/>
              <a:t>Consume mucha corriente.</a:t>
            </a:r>
            <a:endParaRPr lang="es-CO" sz="2000" dirty="0"/>
          </a:p>
        </p:txBody>
      </p:sp>
    </p:spTree>
    <p:extLst>
      <p:ext uri="{BB962C8B-B14F-4D97-AF65-F5344CB8AC3E}">
        <p14:creationId xmlns:p14="http://schemas.microsoft.com/office/powerpoint/2010/main" val="18014082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71711" y="5587937"/>
            <a:ext cx="8352928" cy="108201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Aproximaciones Sucesivas:</a:t>
            </a:r>
          </a:p>
          <a:p>
            <a:pPr marL="0" indent="0" algn="ctr">
              <a:buNone/>
            </a:pPr>
            <a:r>
              <a:rPr lang="es-CO" sz="2000" dirty="0" smtClean="0"/>
              <a:t>Bajo consumo de corriente ya que es simple.</a:t>
            </a:r>
          </a:p>
          <a:p>
            <a:pPr marL="0" indent="0" algn="ctr">
              <a:buNone/>
            </a:pPr>
            <a:r>
              <a:rPr lang="es-CO" sz="2000" dirty="0" smtClean="0"/>
              <a:t>La velocidad de conversión y la resolución son medias.</a:t>
            </a:r>
            <a:endParaRPr lang="es-CO"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86" y="3005311"/>
            <a:ext cx="337185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descr="http://upload.wikimedia.org/wikipedia/en/6/61/SA_ADC_block_diagram.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5976" y="2420888"/>
            <a:ext cx="3565469" cy="2857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4719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876561"/>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dirty="0" smtClean="0"/>
              <a:t>ADC por integración</a:t>
            </a:r>
            <a:endParaRPr lang="es-CO" sz="2000" dirty="0"/>
          </a:p>
        </p:txBody>
      </p:sp>
      <p:pic>
        <p:nvPicPr>
          <p:cNvPr id="6146" name="Picture 2" descr="File:Basic integrating adc.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924944"/>
            <a:ext cx="4124325" cy="185737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_{in} = -V_{ref}\dfrac{t_{d}}{t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935" y="3646117"/>
            <a:ext cx="2008021" cy="72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3157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445224"/>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Delta Sigma:</a:t>
            </a:r>
          </a:p>
          <a:p>
            <a:pPr marL="0" indent="0" algn="ctr">
              <a:buNone/>
            </a:pPr>
            <a:r>
              <a:rPr lang="es-CO" sz="2000" dirty="0" smtClean="0"/>
              <a:t>Es el de mayor resolución.</a:t>
            </a:r>
          </a:p>
          <a:p>
            <a:pPr marL="0" indent="0" algn="ctr">
              <a:buNone/>
            </a:pPr>
            <a:r>
              <a:rPr lang="es-CO" sz="2000" dirty="0" smtClean="0"/>
              <a:t>Es el más lento.</a:t>
            </a:r>
            <a:endParaRPr lang="es-CO" sz="2000" dirty="0"/>
          </a:p>
        </p:txBody>
      </p:sp>
      <p:pic>
        <p:nvPicPr>
          <p:cNvPr id="7170" name="Picture 2" descr="File:DeltaSigma1.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780928"/>
            <a:ext cx="5210175"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601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6.6 Aplicaciones</a:t>
            </a:r>
          </a:p>
        </p:txBody>
      </p:sp>
      <p:pic>
        <p:nvPicPr>
          <p:cNvPr id="8196" name="Picture 4" descr="http://4.bp.blogspot.com/-ZI-b1CpXTek/T2bUYKV-p8I/AAAAAAAAAFo/bqTmg0edFZY/s1600/dsp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3716150"/>
            <a:ext cx="2761625" cy="2737186"/>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blog-imgs-62.fc2.com/a/u/d/audiokun/stax01_2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564904"/>
            <a:ext cx="2414100" cy="181192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www.pce-instruments.com/english/slot/2/artimg/large/pce-instruments-multimeter-pce-em-886-61318_52795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4924" y="2371997"/>
            <a:ext cx="2172154" cy="2688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2641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6.7 ¿Cómo lo hace el PIC?</a:t>
            </a:r>
          </a:p>
        </p:txBody>
      </p:sp>
      <p:sp>
        <p:nvSpPr>
          <p:cNvPr id="5" name="2 Subtítulo"/>
          <p:cNvSpPr txBox="1">
            <a:spLocks/>
          </p:cNvSpPr>
          <p:nvPr/>
        </p:nvSpPr>
        <p:spPr>
          <a:xfrm>
            <a:off x="467544" y="5085184"/>
            <a:ext cx="8352928" cy="93610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PIC tiene un módulo ADC de 10 bits que se basa en aproximaciones sucesivas, el cual, bien configurado devuelve un valor digital en un par de registros justo después de llevar a cabo la conversión en un pin seleccionado.</a:t>
            </a:r>
          </a:p>
          <a:p>
            <a:pPr marL="0" indent="0" algn="ctr">
              <a:buNone/>
            </a:pPr>
            <a:r>
              <a:rPr lang="es-ES" sz="2000" dirty="0" smtClean="0"/>
              <a:t>(Ver </a:t>
            </a:r>
            <a:r>
              <a:rPr lang="es-ES" sz="2000" i="1" dirty="0" err="1" smtClean="0"/>
              <a:t>Datasheet</a:t>
            </a:r>
            <a:r>
              <a:rPr lang="es-ES" sz="2000" i="1" dirty="0" smtClean="0"/>
              <a:t> capítulo 9</a:t>
            </a:r>
            <a:r>
              <a:rPr lang="es-ES" sz="2000" dirty="0" smtClean="0"/>
              <a:t>)</a:t>
            </a:r>
            <a:endParaRPr lang="es-CO" sz="20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727" y="2188861"/>
            <a:ext cx="3636547" cy="2756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72510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3-Sistemas Secuenciales">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3-Sistemas Secuenciales</Template>
  <TotalTime>292</TotalTime>
  <Words>472</Words>
  <Application>Microsoft Office PowerPoint</Application>
  <PresentationFormat>Presentación en pantalla (4:3)</PresentationFormat>
  <Paragraphs>53</Paragraphs>
  <Slides>14</Slides>
  <Notes>0</Notes>
  <HiddenSlides>0</HiddenSlides>
  <MMClips>0</MMClips>
  <ScaleCrop>false</ScaleCrop>
  <HeadingPairs>
    <vt:vector size="4" baseType="variant">
      <vt:variant>
        <vt:lpstr>Tema</vt:lpstr>
      </vt:variant>
      <vt:variant>
        <vt:i4>1</vt:i4>
      </vt:variant>
      <vt:variant>
        <vt:lpstr>Títulos de diapositiva</vt:lpstr>
      </vt:variant>
      <vt:variant>
        <vt:i4>14</vt:i4>
      </vt:variant>
    </vt:vector>
  </HeadingPairs>
  <TitlesOfParts>
    <vt:vector size="15" baseType="lpstr">
      <vt:lpstr>3-Sistemas Secuenciales</vt:lpstr>
      <vt:lpstr>6. Conversión Análogo-Digital</vt:lpstr>
      <vt:lpstr>6.1. ¿Qué es una conversión AD?</vt:lpstr>
      <vt:lpstr>6.2. Resolución, Error de cuantización y Precisión</vt:lpstr>
      <vt:lpstr>6.2. Resolución, Error de cuantización y Precisión</vt:lpstr>
      <vt:lpstr>6.2. Resolución, Error de cuantización y Precisión</vt:lpstr>
      <vt:lpstr>6.3. Rata de muestreo </vt:lpstr>
      <vt:lpstr>6.4. Aliasing y Sobremuestreo</vt:lpstr>
      <vt:lpstr>6.4. Aliasing y Sobremuestreo</vt:lpstr>
      <vt:lpstr>6.5 Tipos de ADC</vt:lpstr>
      <vt:lpstr>6.5 Tipos de ADC</vt:lpstr>
      <vt:lpstr>6.5 Tipos de ADC</vt:lpstr>
      <vt:lpstr>6.5 Tipos de ADC</vt:lpstr>
      <vt:lpstr>6.6 Aplicaciones</vt:lpstr>
      <vt:lpstr>6.7 ¿Cómo lo hace el PIC?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Sistemas Secuenciales.</dc:title>
  <dc:creator>MeliCalelo</dc:creator>
  <cp:lastModifiedBy>CaleloDesk</cp:lastModifiedBy>
  <cp:revision>116</cp:revision>
  <dcterms:created xsi:type="dcterms:W3CDTF">2011-02-14T00:22:22Z</dcterms:created>
  <dcterms:modified xsi:type="dcterms:W3CDTF">2013-10-29T03:26:29Z</dcterms:modified>
</cp:coreProperties>
</file>
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1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t>22/02/2017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22/02/2017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22/02/2017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22/02/2017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22/02/2017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22/02/2017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22/02/2017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22/02/2017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22/02/2017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22/02/2017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22/02/2017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t>22/02/2017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412776"/>
            <a:ext cx="7772400" cy="1467594"/>
          </a:xfrm>
        </p:spPr>
        <p:txBody>
          <a:bodyPr>
            <a:normAutofit fontScale="90000"/>
          </a:bodyPr>
          <a:lstStyle/>
          <a:p>
            <a:r>
              <a:rPr lang="es-CO" dirty="0" smtClean="0"/>
              <a:t>Diseño  de circuitos  impresos</a:t>
            </a:r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Febrero 22 de 2017  Taller V UNALMED</a:t>
            </a:r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Circuito impreso (PCB)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2149796"/>
            <a:ext cx="8229600" cy="1711252"/>
          </a:xfrm>
        </p:spPr>
        <p:txBody>
          <a:bodyPr/>
          <a:lstStyle/>
          <a:p>
            <a:pPr marL="0" indent="0">
              <a:buNone/>
            </a:pPr>
            <a:r>
              <a:rPr lang="es-ES" dirty="0" smtClean="0"/>
              <a:t>Superficie constituida por caminos o pistas de material conductor laminado sobre una base no conductora.</a:t>
            </a:r>
            <a:endParaRPr lang="es-ES" dirty="0"/>
          </a:p>
        </p:txBody>
      </p:sp>
      <p:pic>
        <p:nvPicPr>
          <p:cNvPr id="4" name="Imagen 3" descr="pcb-trace-geometry-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189" y="3134626"/>
            <a:ext cx="7074040" cy="349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1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Historia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 smtClean="0"/>
              <a:t>1925 Charles </a:t>
            </a:r>
            <a:r>
              <a:rPr lang="es-ES" dirty="0" err="1" smtClean="0"/>
              <a:t>Ducas</a:t>
            </a:r>
            <a:r>
              <a:rPr lang="es-ES" dirty="0" smtClean="0"/>
              <a:t> Patente  invención (punto a punto).</a:t>
            </a:r>
          </a:p>
          <a:p>
            <a:r>
              <a:rPr lang="es-ES" dirty="0" smtClean="0"/>
              <a:t>1943 Paul </a:t>
            </a:r>
            <a:r>
              <a:rPr lang="es-ES" dirty="0" err="1" smtClean="0"/>
              <a:t>Eisler</a:t>
            </a:r>
            <a:r>
              <a:rPr lang="es-ES" dirty="0"/>
              <a:t> </a:t>
            </a:r>
            <a:r>
              <a:rPr lang="es-ES" dirty="0" smtClean="0"/>
              <a:t>(</a:t>
            </a:r>
            <a:r>
              <a:rPr lang="es-ES" dirty="0" err="1" smtClean="0"/>
              <a:t>Ing</a:t>
            </a:r>
            <a:r>
              <a:rPr lang="es-ES" dirty="0" smtClean="0"/>
              <a:t> Austriaco). Usado para  construir radios más potentes  durante  la segunda guerra mundial.</a:t>
            </a:r>
          </a:p>
          <a:p>
            <a:r>
              <a:rPr lang="es-ES" dirty="0" smtClean="0"/>
              <a:t>1948- EEUU libera  el invento.</a:t>
            </a:r>
          </a:p>
          <a:p>
            <a:r>
              <a:rPr lang="es-ES" dirty="0" smtClean="0"/>
              <a:t>1950- Se vuelve  famoso el uso de </a:t>
            </a:r>
            <a:r>
              <a:rPr lang="es-ES" dirty="0" err="1" smtClean="0"/>
              <a:t>PCBs</a:t>
            </a:r>
            <a:r>
              <a:rPr lang="es-ES" dirty="0" smtClean="0"/>
              <a:t>.</a:t>
            </a:r>
          </a:p>
          <a:p>
            <a:r>
              <a:rPr lang="es-ES" dirty="0" smtClean="0"/>
              <a:t>1960- Desarrollo técnica de  montaje  superficial.</a:t>
            </a:r>
          </a:p>
          <a:p>
            <a:r>
              <a:rPr lang="es-ES" dirty="0" smtClean="0"/>
              <a:t>1980- Japón.</a:t>
            </a:r>
          </a:p>
          <a:p>
            <a:r>
              <a:rPr lang="es-ES" dirty="0" smtClean="0"/>
              <a:t>1990- El mundo.</a:t>
            </a:r>
          </a:p>
          <a:p>
            <a:endParaRPr lang="es-ES" dirty="0" smtClean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379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Para qué sirven?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 smtClean="0"/>
              <a:t>Permiten conectar eléctricamente y sostener mecánicamente los componentes electrónicos de un circuito.</a:t>
            </a:r>
            <a:endParaRPr lang="es-ES" sz="2200" dirty="0"/>
          </a:p>
        </p:txBody>
      </p:sp>
      <p:pic>
        <p:nvPicPr>
          <p:cNvPr id="4" name="Imagen 3" descr="kicadsample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725" y="3231077"/>
            <a:ext cx="6704260" cy="303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22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Materiales de PCB</a:t>
            </a:r>
            <a:br>
              <a:rPr lang="es-ES" dirty="0" smtClean="0"/>
            </a:br>
            <a:r>
              <a:rPr lang="es-ES" dirty="0" smtClean="0"/>
              <a:t>(sustrato aislante)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s-ES" dirty="0" smtClean="0"/>
              <a:t>SUSTRATO AISLANTE:</a:t>
            </a:r>
          </a:p>
          <a:p>
            <a:r>
              <a:rPr lang="es-ES_tradnl" dirty="0" smtClean="0"/>
              <a:t>FR-1 (Papel Fenólico)</a:t>
            </a:r>
          </a:p>
          <a:p>
            <a:r>
              <a:rPr lang="es-ES_tradnl" dirty="0" smtClean="0"/>
              <a:t>FR-2 (Papel Fenólico) </a:t>
            </a:r>
          </a:p>
          <a:p>
            <a:r>
              <a:rPr lang="es-ES_tradnl" dirty="0" smtClean="0"/>
              <a:t>FR-3 (Papel Fenólico y Epoxi) </a:t>
            </a:r>
          </a:p>
          <a:p>
            <a:r>
              <a:rPr lang="es-ES_tradnl" dirty="0" smtClean="0"/>
              <a:t>FR-4 (Fibra de Vidrio y Epoxi) </a:t>
            </a:r>
          </a:p>
          <a:p>
            <a:r>
              <a:rPr lang="es-ES_tradnl" dirty="0" smtClean="0"/>
              <a:t>FR-5 (Fibra de Vidrio y Epoxi) </a:t>
            </a:r>
          </a:p>
          <a:p>
            <a:r>
              <a:rPr lang="es-ES_tradnl" dirty="0" smtClean="0"/>
              <a:t>FR-6 (Vidrio mate y Polyester) </a:t>
            </a:r>
          </a:p>
          <a:p>
            <a:r>
              <a:rPr lang="es-ES_tradnl" dirty="0" smtClean="0"/>
              <a:t>G-10 (Fibra de Vidrio y Epoxi) </a:t>
            </a:r>
          </a:p>
          <a:p>
            <a:r>
              <a:rPr lang="es-ES_tradnl" dirty="0" smtClean="0"/>
              <a:t>CEM-1 (papel y Epoxi) </a:t>
            </a:r>
          </a:p>
          <a:p>
            <a:r>
              <a:rPr lang="es-ES_tradnl" dirty="0" smtClean="0"/>
              <a:t>CEM-2 (papel y Epoxi) </a:t>
            </a:r>
          </a:p>
          <a:p>
            <a:r>
              <a:rPr lang="es-ES_tradnl" dirty="0" smtClean="0"/>
              <a:t>CEM-3 (Fibra de Vidrio y Epoxi) </a:t>
            </a:r>
          </a:p>
          <a:p>
            <a:r>
              <a:rPr lang="es-ES_tradnl" dirty="0" smtClean="0"/>
              <a:t>CEM-4 (Fibra de Vidrio y Epoxi) </a:t>
            </a:r>
          </a:p>
          <a:p>
            <a:r>
              <a:rPr lang="es-ES_tradnl" dirty="0" smtClean="0"/>
              <a:t>CEM-5 (Fibra de Vidrio y Poliéster) FR-4 Rígido.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913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Materiales de PCB</a:t>
            </a:r>
            <a:br>
              <a:rPr lang="es-ES" dirty="0" smtClean="0"/>
            </a:br>
            <a:r>
              <a:rPr lang="es-ES" dirty="0" smtClean="0"/>
              <a:t>(Laminado)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 smtClean="0"/>
              <a:t>Cobre</a:t>
            </a:r>
          </a:p>
          <a:p>
            <a:r>
              <a:rPr lang="es-ES" dirty="0" smtClean="0"/>
              <a:t>Oro</a:t>
            </a:r>
          </a:p>
          <a:p>
            <a:pPr marL="0" indent="0">
              <a:buNone/>
            </a:pPr>
            <a:r>
              <a:rPr lang="es-ES_tradnl" dirty="0" smtClean="0"/>
              <a:t>Espesor aislante:</a:t>
            </a:r>
          </a:p>
          <a:p>
            <a:pPr marL="0" indent="0">
              <a:buNone/>
            </a:pPr>
            <a:r>
              <a:rPr lang="es-ES_tradnl" dirty="0" smtClean="0"/>
              <a:t>0,2 0,5 0,7 0,8 1,0 1,2 1,5 1,6 2,0 2,4 3,2 ó 6,4 mm (UNE 20-621-84/3)</a:t>
            </a:r>
          </a:p>
          <a:p>
            <a:pPr marL="0" indent="0">
              <a:buNone/>
            </a:pPr>
            <a:r>
              <a:rPr lang="es-ES_tradnl" dirty="0" smtClean="0"/>
              <a:t>Espesor  Lamina conductora</a:t>
            </a:r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El espesor del laminado  suele expresarse en onzas por pie cuadrado, siendo la mas común  1 onza, que  equivale a  35 micras de espesor. Las  mas comunes  son  ½, 1, 2 y 3 onzas por pie cuadrado.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000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Diseñando </a:t>
            </a:r>
            <a:r>
              <a:rPr lang="es-ES" dirty="0" err="1" smtClean="0"/>
              <a:t>PCBs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 smtClean="0"/>
              <a:t>1. Información legal.</a:t>
            </a:r>
          </a:p>
          <a:p>
            <a:pPr marL="0" indent="0">
              <a:buNone/>
            </a:pPr>
            <a:r>
              <a:rPr lang="es-ES" dirty="0" smtClean="0"/>
              <a:t>2. Requerimientos de diseño (condiciones  ambientales, tamaño, instalación, propiedades mecánicas, tecnología de ensamble, etapa de  diseño, etc.)</a:t>
            </a:r>
          </a:p>
          <a:p>
            <a:pPr marL="0" indent="0">
              <a:buNone/>
            </a:pPr>
            <a:r>
              <a:rPr lang="es-ES" dirty="0" smtClean="0"/>
              <a:t>3. Diseño de un esquema del circuitos.</a:t>
            </a:r>
          </a:p>
          <a:p>
            <a:pPr marL="0" indent="0">
              <a:buNone/>
            </a:pPr>
            <a:r>
              <a:rPr lang="es-ES" dirty="0" smtClean="0"/>
              <a:t>4. Lista de partes a utilizar (descripción, encapsulados a  usar, </a:t>
            </a:r>
            <a:r>
              <a:rPr lang="es-ES" dirty="0" err="1" smtClean="0"/>
              <a:t>etc</a:t>
            </a:r>
            <a:r>
              <a:rPr lang="es-ES" dirty="0" smtClean="0"/>
              <a:t>).</a:t>
            </a:r>
          </a:p>
          <a:p>
            <a:endParaRPr lang="es-ES" dirty="0" smtClean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7329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Diseñando </a:t>
            </a:r>
            <a:r>
              <a:rPr lang="es-ES" dirty="0" err="1" smtClean="0"/>
              <a:t>PCBs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Establecer pruebas de funcionamiento.</a:t>
            </a:r>
          </a:p>
          <a:p>
            <a:r>
              <a:rPr lang="es-ES" dirty="0" smtClean="0"/>
              <a:t>Diseño de la </a:t>
            </a:r>
            <a:r>
              <a:rPr lang="es-ES" dirty="0" err="1" smtClean="0"/>
              <a:t>board</a:t>
            </a:r>
            <a:r>
              <a:rPr lang="es-ES" dirty="0" smtClean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670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</a:t>
            </a:r>
            <a:r>
              <a:rPr lang="es-ES" dirty="0" smtClean="0"/>
              <a:t>ecomendaciones  de diseño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Puntos de soldadura: círculos con diámetro de  al menos el doble de  la pista.</a:t>
            </a:r>
          </a:p>
          <a:p>
            <a:r>
              <a:rPr lang="es-ES" dirty="0" smtClean="0"/>
              <a:t>Ancho de pistas en función de  la corriente: 0.8mm aprox. 2 A, 2mm aprox. 5 A, 4.5mm  aprox. 10 A.</a:t>
            </a:r>
          </a:p>
          <a:p>
            <a:r>
              <a:rPr lang="es-ES" dirty="0" smtClean="0"/>
              <a:t>Distancia  mínima  entre  pistas  y bordes  de  la  placa, aprox. 5mm.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236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RECOMENDACIONES</a:t>
            </a:r>
            <a:endParaRPr lang="es-E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75"/>
          <a:stretch/>
        </p:blipFill>
        <p:spPr bwMode="auto">
          <a:xfrm>
            <a:off x="2430310" y="1500209"/>
            <a:ext cx="3695700" cy="2615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2"/>
          <a:stretch/>
        </p:blipFill>
        <p:spPr bwMode="auto">
          <a:xfrm>
            <a:off x="293121" y="4115953"/>
            <a:ext cx="8181975" cy="2247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3059832" y="1853956"/>
            <a:ext cx="714879" cy="576413"/>
          </a:xfrm>
        </p:spPr>
        <p:txBody>
          <a:bodyPr/>
          <a:lstStyle/>
          <a:p>
            <a:pPr marL="0" indent="0" algn="ctr">
              <a:buNone/>
            </a:pPr>
            <a:r>
              <a:rPr lang="es-ES" dirty="0" smtClean="0"/>
              <a:t>(a)</a:t>
            </a:r>
            <a:endParaRPr lang="es-ES" dirty="0"/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3563281" y="2819382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 smtClean="0"/>
              <a:t>(b)</a:t>
            </a:r>
            <a:endParaRPr lang="es-ES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4309007" y="1933687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 smtClean="0"/>
              <a:t>(c)</a:t>
            </a:r>
            <a:endParaRPr lang="es-ES" dirty="0"/>
          </a:p>
        </p:txBody>
      </p:sp>
      <p:sp>
        <p:nvSpPr>
          <p:cNvPr id="8" name="Marcador de contenido 2"/>
          <p:cNvSpPr txBox="1">
            <a:spLocks/>
          </p:cNvSpPr>
          <p:nvPr/>
        </p:nvSpPr>
        <p:spPr>
          <a:xfrm>
            <a:off x="4860068" y="2056357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 smtClean="0"/>
              <a:t>(d)</a:t>
            </a:r>
            <a:endParaRPr lang="es-ES" dirty="0"/>
          </a:p>
        </p:txBody>
      </p:sp>
      <p:sp>
        <p:nvSpPr>
          <p:cNvPr id="9" name="Marcador de contenido 2"/>
          <p:cNvSpPr txBox="1">
            <a:spLocks/>
          </p:cNvSpPr>
          <p:nvPr/>
        </p:nvSpPr>
        <p:spPr>
          <a:xfrm>
            <a:off x="5486417" y="2142162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 smtClean="0"/>
              <a:t>(e)</a:t>
            </a:r>
            <a:endParaRPr lang="es-ES" dirty="0"/>
          </a:p>
        </p:txBody>
      </p:sp>
      <p:sp>
        <p:nvSpPr>
          <p:cNvPr id="10" name="Marcador de contenido 2"/>
          <p:cNvSpPr txBox="1">
            <a:spLocks/>
          </p:cNvSpPr>
          <p:nvPr/>
        </p:nvSpPr>
        <p:spPr>
          <a:xfrm>
            <a:off x="467544" y="4221088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smtClean="0"/>
              <a:t>(a)</a:t>
            </a:r>
            <a:endParaRPr lang="es-ES" dirty="0"/>
          </a:p>
        </p:txBody>
      </p:sp>
      <p:sp>
        <p:nvSpPr>
          <p:cNvPr id="11" name="Marcador de contenido 2"/>
          <p:cNvSpPr txBox="1">
            <a:spLocks/>
          </p:cNvSpPr>
          <p:nvPr/>
        </p:nvSpPr>
        <p:spPr>
          <a:xfrm>
            <a:off x="1475656" y="4509432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 smtClean="0"/>
              <a:t>(b)</a:t>
            </a:r>
            <a:endParaRPr lang="es-ES" dirty="0"/>
          </a:p>
        </p:txBody>
      </p:sp>
      <p:sp>
        <p:nvSpPr>
          <p:cNvPr id="12" name="Marcador de contenido 2"/>
          <p:cNvSpPr txBox="1">
            <a:spLocks/>
          </p:cNvSpPr>
          <p:nvPr/>
        </p:nvSpPr>
        <p:spPr>
          <a:xfrm>
            <a:off x="971600" y="5535050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 smtClean="0"/>
              <a:t>(c)</a:t>
            </a:r>
            <a:endParaRPr lang="es-ES" dirty="0"/>
          </a:p>
        </p:txBody>
      </p:sp>
      <p:sp>
        <p:nvSpPr>
          <p:cNvPr id="13" name="Marcador de contenido 2"/>
          <p:cNvSpPr txBox="1">
            <a:spLocks/>
          </p:cNvSpPr>
          <p:nvPr/>
        </p:nvSpPr>
        <p:spPr>
          <a:xfrm>
            <a:off x="2848402" y="4590771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 smtClean="0"/>
              <a:t>(d)</a:t>
            </a:r>
            <a:endParaRPr lang="es-ES" dirty="0"/>
          </a:p>
        </p:txBody>
      </p:sp>
      <p:sp>
        <p:nvSpPr>
          <p:cNvPr id="14" name="Marcador de contenido 2"/>
          <p:cNvSpPr txBox="1">
            <a:spLocks/>
          </p:cNvSpPr>
          <p:nvPr/>
        </p:nvSpPr>
        <p:spPr>
          <a:xfrm>
            <a:off x="3417271" y="5823256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 smtClean="0"/>
              <a:t>(e)</a:t>
            </a:r>
            <a:endParaRPr lang="es-ES" dirty="0"/>
          </a:p>
        </p:txBody>
      </p:sp>
      <p:sp>
        <p:nvSpPr>
          <p:cNvPr id="15" name="Marcador de contenido 2"/>
          <p:cNvSpPr txBox="1">
            <a:spLocks/>
          </p:cNvSpPr>
          <p:nvPr/>
        </p:nvSpPr>
        <p:spPr>
          <a:xfrm>
            <a:off x="5768570" y="5085845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smtClean="0"/>
              <a:t>(a)</a:t>
            </a:r>
            <a:endParaRPr lang="es-ES" dirty="0"/>
          </a:p>
        </p:txBody>
      </p:sp>
      <p:sp>
        <p:nvSpPr>
          <p:cNvPr id="16" name="Marcador de contenido 2"/>
          <p:cNvSpPr txBox="1">
            <a:spLocks/>
          </p:cNvSpPr>
          <p:nvPr/>
        </p:nvSpPr>
        <p:spPr>
          <a:xfrm>
            <a:off x="7380312" y="5085844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 smtClean="0"/>
              <a:t>(b)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6117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Recomendaciones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14"/>
          <a:stretch/>
        </p:blipFill>
        <p:spPr bwMode="auto">
          <a:xfrm>
            <a:off x="970766" y="1738115"/>
            <a:ext cx="7058416" cy="220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90"/>
          <a:stretch/>
        </p:blipFill>
        <p:spPr bwMode="auto">
          <a:xfrm>
            <a:off x="1045138" y="4133585"/>
            <a:ext cx="2944997" cy="1840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041"/>
          <a:stretch/>
        </p:blipFill>
        <p:spPr bwMode="auto">
          <a:xfrm>
            <a:off x="3847707" y="4483341"/>
            <a:ext cx="4181475" cy="134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379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Recomendaciones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35"/>
          <a:stretch/>
        </p:blipFill>
        <p:spPr bwMode="auto">
          <a:xfrm>
            <a:off x="558582" y="1990179"/>
            <a:ext cx="3457024" cy="2920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668"/>
          <a:stretch/>
        </p:blipFill>
        <p:spPr bwMode="auto">
          <a:xfrm>
            <a:off x="3808228" y="1940075"/>
            <a:ext cx="5067834" cy="665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260"/>
          <a:stretch/>
        </p:blipFill>
        <p:spPr bwMode="auto">
          <a:xfrm>
            <a:off x="3901858" y="3017466"/>
            <a:ext cx="4855522" cy="2218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146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Recomendaciones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680" y="4811713"/>
            <a:ext cx="422512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25" y="3779533"/>
            <a:ext cx="4265438" cy="275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68" y="1414333"/>
            <a:ext cx="31337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293" y="1707780"/>
            <a:ext cx="4448175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236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Práctica III – Parte I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Implementar el siguiente esquemático:</a:t>
            </a:r>
            <a:endParaRPr lang="es-ES" dirty="0"/>
          </a:p>
        </p:txBody>
      </p:sp>
      <p:pic>
        <p:nvPicPr>
          <p:cNvPr id="1026" name="Picture 2" descr="MontajeBásic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734432"/>
            <a:ext cx="6275499" cy="386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213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244</TotalTime>
  <Words>453</Words>
  <Application>Microsoft Office PowerPoint</Application>
  <PresentationFormat>Presentación en pantalla (4:3)</PresentationFormat>
  <Paragraphs>66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Book Antiqua</vt:lpstr>
      <vt:lpstr>Wingdings</vt:lpstr>
      <vt:lpstr>Cartoné</vt:lpstr>
      <vt:lpstr>Diseño  de circuitos  impresos</vt:lpstr>
      <vt:lpstr>Circuito impreso (PCB)</vt:lpstr>
      <vt:lpstr>Historia</vt:lpstr>
      <vt:lpstr>Para qué sirven?</vt:lpstr>
      <vt:lpstr>Materiales de PCB (sustrato aislante)</vt:lpstr>
      <vt:lpstr>Materiales de PCB (Laminado)</vt:lpstr>
      <vt:lpstr>Diseñando PCBs</vt:lpstr>
      <vt:lpstr>Diseñando PCBs</vt:lpstr>
      <vt:lpstr>Recomendaciones  de diseño</vt:lpstr>
      <vt:lpstr>RECOMENDACIONES</vt:lpstr>
      <vt:lpstr>Recomendaciones</vt:lpstr>
      <vt:lpstr>Recomendaciones</vt:lpstr>
      <vt:lpstr>Recomendaciones</vt:lpstr>
      <vt:lpstr>Práctica III – Parte I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Windows User</cp:lastModifiedBy>
  <cp:revision>107</cp:revision>
  <dcterms:created xsi:type="dcterms:W3CDTF">2011-01-25T07:15:41Z</dcterms:created>
  <dcterms:modified xsi:type="dcterms:W3CDTF">2017-02-22T20:40:34Z</dcterms:modified>
</cp:coreProperties>
</file>
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12"/>
  </p:notesMasterIdLst>
  <p:sldIdLst>
    <p:sldId id="256" r:id="rId2"/>
    <p:sldId id="257" r:id="rId3"/>
    <p:sldId id="269" r:id="rId4"/>
    <p:sldId id="259" r:id="rId5"/>
    <p:sldId id="268" r:id="rId6"/>
    <p:sldId id="270" r:id="rId7"/>
    <p:sldId id="271" r:id="rId8"/>
    <p:sldId id="273" r:id="rId9"/>
    <p:sldId id="274" r:id="rId10"/>
    <p:sldId id="272" r:id="rId11"/>
  </p:sldIdLst>
  <p:sldSz cx="9144000" cy="6858000" type="screen4x3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95DD5203-7600-4D3F-9C3E-4D6D1CF3420D}">
          <p14:sldIdLst>
            <p14:sldId id="256"/>
            <p14:sldId id="257"/>
            <p14:sldId id="269"/>
            <p14:sldId id="259"/>
            <p14:sldId id="268"/>
            <p14:sldId id="270"/>
            <p14:sldId id="271"/>
            <p14:sldId id="273"/>
            <p14:sldId id="274"/>
            <p14:sldId id="27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81997"/>
    <a:srgbClr val="46B846"/>
    <a:srgbClr val="2CD283"/>
    <a:srgbClr val="ED8C2B"/>
    <a:srgbClr val="840A38"/>
    <a:srgbClr val="990033"/>
    <a:srgbClr val="1510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54" autoAdjust="0"/>
    <p:restoredTop sz="90380" autoAdjust="0"/>
  </p:normalViewPr>
  <p:slideViewPr>
    <p:cSldViewPr>
      <p:cViewPr varScale="1">
        <p:scale>
          <a:sx n="80" d="100"/>
          <a:sy n="80" d="100"/>
        </p:scale>
        <p:origin x="1594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D4DB5F-8441-46BC-A2C2-D8C77AB445A6}" type="datetimeFigureOut">
              <a:rPr lang="es-CO" smtClean="0"/>
              <a:t>27/03/2017</a:t>
            </a:fld>
            <a:endParaRPr lang="es-CO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987BBB-A4C9-40A5-B74E-E45C8F58547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65837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overOverlay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61571ED-39D6-443C-9EF8-3AD8EC129B98}" type="datetimeFigureOut">
              <a:rPr lang="es-CO" smtClean="0"/>
              <a:pPr/>
              <a:t>27/03/2017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grpSp>
        <p:nvGrpSpPr>
          <p:cNvPr id="8" name="Group 7"/>
          <p:cNvGrpSpPr/>
          <p:nvPr/>
        </p:nvGrpSpPr>
        <p:grpSpPr>
          <a:xfrm>
            <a:off x="1194101" y="2887530"/>
            <a:ext cx="6779110" cy="923330"/>
            <a:chOff x="1172584" y="1381459"/>
            <a:chExt cx="6779110" cy="923330"/>
          </a:xfrm>
          <a:effectLst>
            <a:outerShdw blurRad="38100" dist="12700" dir="16200000" rotWithShape="0">
              <a:prstClr val="black">
                <a:alpha val="30000"/>
              </a:prstClr>
            </a:outerShdw>
          </a:effectLst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ln w="3175">
                    <a:solidFill>
                      <a:schemeClr val="tx2">
                        <a:alpha val="60000"/>
                      </a:schemeClr>
                    </a:solidFill>
                  </a:ln>
                  <a:solidFill>
                    <a:schemeClr val="tx2">
                      <a:lumMod val="90000"/>
                    </a:schemeClr>
                  </a:solidFill>
                  <a:effectLst>
                    <a:outerShdw blurRad="34925" dist="12700" dir="14400000" algn="ctr" rotWithShape="0">
                      <a:srgbClr val="000000">
                        <a:alpha val="21000"/>
                      </a:srgbClr>
                    </a:outerShdw>
                  </a:effectLst>
                  <a:latin typeface="Wingdings" pitchFamily="2" charset="2"/>
                </a:rPr>
                <a:t></a:t>
              </a:r>
              <a:endParaRPr lang="en-US" sz="5400" dirty="0">
                <a:ln w="3175">
                  <a:solidFill>
                    <a:schemeClr val="tx2">
                      <a:alpha val="60000"/>
                    </a:schemeClr>
                  </a:solidFill>
                </a:ln>
                <a:solidFill>
                  <a:schemeClr val="tx2">
                    <a:lumMod val="90000"/>
                  </a:schemeClr>
                </a:solidFill>
                <a:effectLst>
                  <a:outerShdw blurRad="34925" dist="12700" dir="14400000" algn="ctr" rotWithShape="0">
                    <a:srgbClr val="000000">
                      <a:alpha val="21000"/>
                    </a:srgbClr>
                  </a:outerShdw>
                </a:effectLst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293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83341" y="1387737"/>
            <a:ext cx="6777318" cy="1731982"/>
          </a:xfrm>
        </p:spPr>
        <p:txBody>
          <a:bodyPr anchor="b"/>
          <a:lstStyle>
            <a:lvl1pPr>
              <a:defRPr>
                <a:ln w="3175">
                  <a:solidFill>
                    <a:schemeClr val="tx1">
                      <a:alpha val="65000"/>
                    </a:schemeClr>
                  </a:solidFill>
                </a:ln>
                <a:solidFill>
                  <a:schemeClr val="tx1"/>
                </a:solidFill>
                <a:effectLst>
                  <a:outerShdw blurRad="25400" dist="12700" dir="14220000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767862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effectLst>
                  <a:outerShdw blurRad="34925" dist="12700" dir="14400000" rotWithShape="0">
                    <a:prstClr val="black">
                      <a:alpha val="21000"/>
                    </a:prstClr>
                  </a:outerShdw>
                </a:effectLst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27/03/2017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3" name="TextBox 12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4" name="Straight Connector 13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overOverlay.png"/>
          <p:cNvPicPr>
            <a:picLocks noChangeAspect="1"/>
          </p:cNvPicPr>
          <p:nvPr/>
        </p:nvPicPr>
        <p:blipFill>
          <a:blip r:embed="rId2" cstate="print">
            <a:lum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1172584" y="2887579"/>
            <a:ext cx="6779110" cy="923330"/>
            <a:chOff x="1172584" y="1381459"/>
            <a:chExt cx="6779110" cy="923330"/>
          </a:xfrm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7412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40" y="1204857"/>
            <a:ext cx="7754713" cy="1910716"/>
          </a:xfrm>
        </p:spPr>
        <p:txBody>
          <a:bodyPr anchor="b"/>
          <a:lstStyle>
            <a:lvl1pPr algn="ctr">
              <a:defRPr sz="5400" b="0" cap="none" baseline="0">
                <a:solidFill>
                  <a:schemeClr val="tx2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8" y="3767316"/>
            <a:ext cx="7734747" cy="15001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27/03/2017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27/03/2017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grpSp>
        <p:nvGrpSpPr>
          <p:cNvPr id="13" name="Group 12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85800" y="2240280"/>
            <a:ext cx="3803904" cy="3877056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4"/>
          </p:nvPr>
        </p:nvSpPr>
        <p:spPr>
          <a:xfrm>
            <a:off x="4645151" y="2240280"/>
            <a:ext cx="3803904" cy="3877056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51560" y="2240280"/>
            <a:ext cx="3442446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8488" y="2947595"/>
            <a:ext cx="3803904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02306" y="2240280"/>
            <a:ext cx="3447288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44368"/>
            <a:ext cx="3799728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27/03/2017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grpSp>
        <p:nvGrpSpPr>
          <p:cNvPr id="14" name="Group 13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6" name="TextBox 15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7" name="Straight Connector 16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27/03/2017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grpSp>
        <p:nvGrpSpPr>
          <p:cNvPr id="10" name="Group 9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27/03/2017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4579" y="1678195"/>
            <a:ext cx="3422483" cy="1886921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2001" y="559398"/>
            <a:ext cx="4116667" cy="5566765"/>
          </a:xfrm>
        </p:spPr>
        <p:txBody>
          <a:bodyPr anchor="ctr"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4579" y="3603812"/>
            <a:ext cx="3411725" cy="2517289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27/03/2017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731" y="4668818"/>
            <a:ext cx="7767021" cy="644729"/>
          </a:xfrm>
        </p:spPr>
        <p:txBody>
          <a:bodyPr anchor="b"/>
          <a:lstStyle>
            <a:lvl1pPr algn="ctr">
              <a:defRPr sz="2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240000">
            <a:off x="2183792" y="666965"/>
            <a:ext cx="4772156" cy="3598016"/>
          </a:xfr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24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8489" y="5324306"/>
            <a:ext cx="7756264" cy="80486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27/03/2017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27/03/2017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grpSp>
        <p:nvGrpSpPr>
          <p:cNvPr id="11" name="Group 10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5" name="TextBox 14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6" name="Straight Connector 15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6560" y="559398"/>
            <a:ext cx="1678193" cy="556676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8488" y="849854"/>
            <a:ext cx="5507917" cy="5023821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27/03/2017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grpSp>
        <p:nvGrpSpPr>
          <p:cNvPr id="11" name="Group 10"/>
          <p:cNvGrpSpPr/>
          <p:nvPr/>
        </p:nvGrpSpPr>
        <p:grpSpPr>
          <a:xfrm rot="5400000">
            <a:off x="3909050" y="2880823"/>
            <a:ext cx="5480154" cy="923330"/>
            <a:chOff x="1815339" y="1381459"/>
            <a:chExt cx="5480154" cy="923330"/>
          </a:xfrm>
        </p:grpSpPr>
        <p:sp>
          <p:nvSpPr>
            <p:cNvPr id="12" name="TextBox 11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3" name="Straight Connector 12"/>
            <p:cNvCxnSpPr/>
            <p:nvPr/>
          </p:nvCxnSpPr>
          <p:spPr>
            <a:xfrm flipH="1" flipV="1">
              <a:off x="1815339" y="1924709"/>
              <a:ext cx="2468880" cy="2505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4826613" y="1927417"/>
              <a:ext cx="2468880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83000">
                <a:schemeClr val="bg1">
                  <a:alpha val="11000"/>
                </a:schemeClr>
              </a:gs>
              <a:gs pos="100000">
                <a:schemeClr val="bg2">
                  <a:lumMod val="75000"/>
                  <a:alpha val="23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8490" y="570156"/>
            <a:ext cx="7756263" cy="10542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7" y="2248347"/>
            <a:ext cx="7745505" cy="38778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60378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061571ED-39D6-443C-9EF8-3AD8EC129B98}" type="datetimeFigureOut">
              <a:rPr lang="es-CO" smtClean="0"/>
              <a:pPr/>
              <a:t>27/03/2017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16144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39264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5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576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77724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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14300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50876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82880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14884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78892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hyperlink" Target="http://www.google.com.co/url?sa=i&amp;rct=j&amp;q=&amp;esrc=s&amp;frm=1&amp;source=images&amp;cd=&amp;cad=rja&amp;docid=Nle_s8GY7wCmfM&amp;tbnid=9_nv6ZMEX2zVeM:&amp;ved=0CAUQjRw&amp;url=http://www.eoi.es/blogs/elizabethmontesdeoca/2012/06/18/la-comunicacion-como-herramienta-de-direccion/&amp;ei=G6JkUo7cMo3I9gS_7oBQ&amp;bvm=bv.55139894,d.eWU&amp;psig=AFQjCNEi8FkENKXO4FoDFqNMSXE-f4r1tw&amp;ust=1382413167450570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eg"/><Relationship Id="rId3" Type="http://schemas.openxmlformats.org/officeDocument/2006/relationships/image" Target="../media/image10.jpeg"/><Relationship Id="rId7" Type="http://schemas.microsoft.com/office/2007/relationships/hdphoto" Target="../media/hdphoto2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microsoft.com/office/2007/relationships/hdphoto" Target="../media/hdphoto3.wdp"/><Relationship Id="rId5" Type="http://schemas.microsoft.com/office/2007/relationships/hdphoto" Target="../media/hdphoto1.wdp"/><Relationship Id="rId10" Type="http://schemas.openxmlformats.org/officeDocument/2006/relationships/image" Target="../media/image15.png"/><Relationship Id="rId4" Type="http://schemas.openxmlformats.org/officeDocument/2006/relationships/image" Target="../media/image11.png"/><Relationship Id="rId9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8.gif"/><Relationship Id="rId2" Type="http://schemas.openxmlformats.org/officeDocument/2006/relationships/hyperlink" Target="//upload.wikimedia.org/wikipedia/commons/f/fc/SPI_three_slaves.svg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google.com.co/url?sa=i&amp;rct=j&amp;q=&amp;esrc=s&amp;frm=1&amp;source=images&amp;cd=&amp;cad=rja&amp;docid=K3tom_wS1lpoqM&amp;tbnid=iAe93IlXjMcxSM:&amp;ved=0CAUQjRw&amp;url=http://www.mikroe.com/chapters/view/28/chapter-10-uart-module/&amp;ei=HaxkUuXCHITo9gT5lYB4&amp;psig=AFQjCNGHxzwl1Jo2WTtcS0rsvGIRk5WB-A&amp;ust=1382415768802309" TargetMode="External"/><Relationship Id="rId5" Type="http://schemas.openxmlformats.org/officeDocument/2006/relationships/image" Target="../media/image17.png"/><Relationship Id="rId4" Type="http://schemas.openxmlformats.org/officeDocument/2006/relationships/hyperlink" Target="http://www.google.com.co/url?sa=i&amp;rct=j&amp;q=&amp;esrc=s&amp;frm=1&amp;source=images&amp;cd=&amp;cad=rja&amp;docid=ZA-_XVx0pPgi3M&amp;tbnid=hJf_X__EdKjxpM:&amp;ved=0CAUQjRw&amp;url=http://www.totalphase.com/support/kb/10037/&amp;ei=8KtkUrCaMI7o9gTs44AI&amp;psig=AFQjCNFuaZaq5UAMj3JNmgT-IVOtR11leg&amp;ust=1382415722096808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gif"/><Relationship Id="rId2" Type="http://schemas.openxmlformats.org/officeDocument/2006/relationships/hyperlink" Target="http://www.google.com.co/url?sa=i&amp;rct=j&amp;q=&amp;esrc=s&amp;frm=1&amp;source=images&amp;cd=&amp;cad=rja&amp;docid=AVwXiGa2ulLLMM&amp;tbnid=_oKUolAxglq5SM:&amp;ved=0CAUQjRw&amp;url=http://www.avrbeginners.net/architecture/uart/uart.html&amp;ei=Uq5kUsOMHIno8QSloYDADw&amp;psig=AFQjCNF-85ytEr84k4qTYd_Z2XqLt7j8lw&amp;ust=1382416307374717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3568" y="476672"/>
            <a:ext cx="7772400" cy="1827634"/>
          </a:xfrm>
        </p:spPr>
        <p:txBody>
          <a:bodyPr>
            <a:normAutofit/>
          </a:bodyPr>
          <a:lstStyle/>
          <a:p>
            <a:r>
              <a:rPr lang="es-ES" sz="5600" dirty="0">
                <a:effectLst/>
              </a:rPr>
              <a:t>6</a:t>
            </a:r>
            <a:r>
              <a:rPr lang="es-ES" sz="5600" dirty="0" smtClean="0">
                <a:effectLst/>
              </a:rPr>
              <a:t>. Comunicación Serial</a:t>
            </a:r>
            <a:endParaRPr lang="es-CO" sz="5600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403648" y="3645024"/>
            <a:ext cx="6400800" cy="3024336"/>
          </a:xfrm>
        </p:spPr>
        <p:txBody>
          <a:bodyPr>
            <a:normAutofit/>
          </a:bodyPr>
          <a:lstStyle/>
          <a:p>
            <a:r>
              <a:rPr lang="es-CO" dirty="0" smtClean="0"/>
              <a:t>6.1</a:t>
            </a:r>
            <a:r>
              <a:rPr lang="es-CO" dirty="0"/>
              <a:t>. </a:t>
            </a:r>
            <a:r>
              <a:rPr lang="es-CO" dirty="0" smtClean="0"/>
              <a:t>Comunicación en Tecnología</a:t>
            </a:r>
          </a:p>
          <a:p>
            <a:r>
              <a:rPr lang="es-ES" dirty="0" smtClean="0"/>
              <a:t>6.2</a:t>
            </a:r>
            <a:r>
              <a:rPr lang="es-ES" dirty="0"/>
              <a:t>. </a:t>
            </a:r>
            <a:r>
              <a:rPr lang="es-CO" dirty="0" smtClean="0"/>
              <a:t>Comunicación Serial vs Comunicación Paralela</a:t>
            </a:r>
          </a:p>
          <a:p>
            <a:r>
              <a:rPr lang="es-ES" dirty="0" smtClean="0"/>
              <a:t>6.3</a:t>
            </a:r>
            <a:r>
              <a:rPr lang="es-ES" dirty="0"/>
              <a:t>. </a:t>
            </a:r>
            <a:r>
              <a:rPr lang="es-ES" dirty="0" smtClean="0"/>
              <a:t>Tipos de Comunicación Serial</a:t>
            </a:r>
          </a:p>
          <a:p>
            <a:r>
              <a:rPr lang="es-ES" dirty="0" smtClean="0"/>
              <a:t>6.4. Protocolo RS232</a:t>
            </a:r>
          </a:p>
          <a:p>
            <a:r>
              <a:rPr lang="es-ES" dirty="0" smtClean="0"/>
              <a:t>6.5. Módulo USART del PIC</a:t>
            </a:r>
          </a:p>
        </p:txBody>
      </p:sp>
      <p:sp>
        <p:nvSpPr>
          <p:cNvPr id="4" name="3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5" name="2 Subtítulo"/>
          <p:cNvSpPr txBox="1">
            <a:spLocks/>
          </p:cNvSpPr>
          <p:nvPr/>
        </p:nvSpPr>
        <p:spPr>
          <a:xfrm>
            <a:off x="-108520" y="476672"/>
            <a:ext cx="4032448" cy="576064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400" kern="1200">
                <a:solidFill>
                  <a:schemeClr val="tx1"/>
                </a:solidFill>
                <a:effectLst>
                  <a:outerShdw blurRad="34925" dist="12700" dir="14400000" rotWithShape="0">
                    <a:prstClr val="black">
                      <a:alpha val="21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i="1" dirty="0" smtClean="0">
                <a:effectLst/>
              </a:rPr>
              <a:t>Marzo 27 de 2017  Taller V UNALMED</a:t>
            </a:r>
          </a:p>
        </p:txBody>
      </p:sp>
    </p:spTree>
    <p:extLst>
      <p:ext uri="{BB962C8B-B14F-4D97-AF65-F5344CB8AC3E}">
        <p14:creationId xmlns:p14="http://schemas.microsoft.com/office/powerpoint/2010/main" val="4087379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70156"/>
            <a:ext cx="7987965" cy="1054250"/>
          </a:xfrm>
        </p:spPr>
        <p:txBody>
          <a:bodyPr/>
          <a:lstStyle/>
          <a:p>
            <a:r>
              <a:rPr lang="es-CO" sz="4000" dirty="0"/>
              <a:t>6</a:t>
            </a:r>
            <a:r>
              <a:rPr lang="es-CO" sz="4000" dirty="0" smtClean="0"/>
              <a:t>.1. </a:t>
            </a:r>
            <a:r>
              <a:rPr lang="es-CO" sz="4000" dirty="0"/>
              <a:t>Comunicación en </a:t>
            </a:r>
            <a:r>
              <a:rPr lang="es-CO" sz="4000" dirty="0" smtClean="0"/>
              <a:t>Tecnología I</a:t>
            </a:r>
            <a:endParaRPr lang="es-CO" sz="4000" dirty="0"/>
          </a:p>
        </p:txBody>
      </p:sp>
      <p:sp>
        <p:nvSpPr>
          <p:cNvPr id="35" name="34 Rectángulo"/>
          <p:cNvSpPr/>
          <p:nvPr/>
        </p:nvSpPr>
        <p:spPr>
          <a:xfrm>
            <a:off x="7690874" y="6601911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8" name="2 Subtítulo"/>
          <p:cNvSpPr txBox="1">
            <a:spLocks/>
          </p:cNvSpPr>
          <p:nvPr/>
        </p:nvSpPr>
        <p:spPr>
          <a:xfrm>
            <a:off x="271711" y="5373216"/>
            <a:ext cx="8352928" cy="8640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dirty="0"/>
              <a:t>La </a:t>
            </a:r>
            <a:r>
              <a:rPr lang="es-CO" b="1" i="1" dirty="0"/>
              <a:t>comunicación</a:t>
            </a:r>
            <a:r>
              <a:rPr lang="es-CO" dirty="0"/>
              <a:t> es el proceso mediante el cual se puede transmitir información de una entidad a otra.</a:t>
            </a:r>
          </a:p>
        </p:txBody>
      </p:sp>
      <p:pic>
        <p:nvPicPr>
          <p:cNvPr id="3" name="Picture 2" descr="http://www.eoi.es/blogs/elizabethmontesdeoca/files/2012/06/Comunicacion-3.jpg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2132856"/>
            <a:ext cx="57150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ángulo 3"/>
          <p:cNvSpPr/>
          <p:nvPr/>
        </p:nvSpPr>
        <p:spPr>
          <a:xfrm>
            <a:off x="2699792" y="4959500"/>
            <a:ext cx="4572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dirty="0"/>
              <a:t>http://www.elementosdelacomunicacion.com/</a:t>
            </a:r>
          </a:p>
        </p:txBody>
      </p:sp>
    </p:spTree>
    <p:extLst>
      <p:ext uri="{BB962C8B-B14F-4D97-AF65-F5344CB8AC3E}">
        <p14:creationId xmlns:p14="http://schemas.microsoft.com/office/powerpoint/2010/main" val="2488654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11560" y="570156"/>
            <a:ext cx="8064895" cy="1054250"/>
          </a:xfrm>
        </p:spPr>
        <p:txBody>
          <a:bodyPr/>
          <a:lstStyle/>
          <a:p>
            <a:r>
              <a:rPr lang="es-CO" sz="4000" dirty="0"/>
              <a:t>6</a:t>
            </a:r>
            <a:r>
              <a:rPr lang="es-CO" sz="4000" dirty="0" smtClean="0"/>
              <a:t>.1. </a:t>
            </a:r>
            <a:r>
              <a:rPr lang="es-CO" sz="4000" dirty="0"/>
              <a:t>Comunicación en </a:t>
            </a:r>
            <a:r>
              <a:rPr lang="es-CO" sz="4000" dirty="0" smtClean="0"/>
              <a:t>Tecnología II</a:t>
            </a:r>
            <a:endParaRPr lang="es-CO" sz="4000" dirty="0"/>
          </a:p>
        </p:txBody>
      </p:sp>
      <p:sp>
        <p:nvSpPr>
          <p:cNvPr id="35" name="34 Rectángulo"/>
          <p:cNvSpPr/>
          <p:nvPr/>
        </p:nvSpPr>
        <p:spPr>
          <a:xfrm>
            <a:off x="7690874" y="6601911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8" name="2 Subtítulo"/>
          <p:cNvSpPr txBox="1">
            <a:spLocks/>
          </p:cNvSpPr>
          <p:nvPr/>
        </p:nvSpPr>
        <p:spPr>
          <a:xfrm>
            <a:off x="6228184" y="2636912"/>
            <a:ext cx="2828503" cy="8640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dirty="0"/>
              <a:t>La </a:t>
            </a:r>
            <a:r>
              <a:rPr lang="es-CO" b="1" i="1" dirty="0"/>
              <a:t>comunicación</a:t>
            </a:r>
            <a:r>
              <a:rPr lang="es-CO" dirty="0"/>
              <a:t> </a:t>
            </a:r>
            <a:r>
              <a:rPr lang="es-CO" dirty="0" smtClean="0"/>
              <a:t>entre los dispositivos electrónicos viene dada en señales de voltaje (corriente) u ondas electromagnéticas.</a:t>
            </a:r>
            <a:endParaRPr lang="es-CO" dirty="0"/>
          </a:p>
        </p:txBody>
      </p:sp>
      <p:pic>
        <p:nvPicPr>
          <p:cNvPr id="1026" name="Picture 2" descr="Related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2204864"/>
            <a:ext cx="5552491" cy="4032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ángulo 2"/>
          <p:cNvSpPr/>
          <p:nvPr/>
        </p:nvSpPr>
        <p:spPr>
          <a:xfrm>
            <a:off x="323528" y="6237312"/>
            <a:ext cx="6085332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1200" dirty="0"/>
              <a:t>https://www.alibaba.com/product-detail/RS232-SIM900A-GSM-GPRS-Wireless-DTU_519988266.html</a:t>
            </a:r>
          </a:p>
        </p:txBody>
      </p:sp>
    </p:spTree>
    <p:extLst>
      <p:ext uri="{BB962C8B-B14F-4D97-AF65-F5344CB8AC3E}">
        <p14:creationId xmlns:p14="http://schemas.microsoft.com/office/powerpoint/2010/main" val="1053724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790574"/>
            <a:ext cx="7987965" cy="1054250"/>
          </a:xfrm>
        </p:spPr>
        <p:txBody>
          <a:bodyPr/>
          <a:lstStyle/>
          <a:p>
            <a:r>
              <a:rPr lang="es-CO" sz="4000" dirty="0"/>
              <a:t>6</a:t>
            </a:r>
            <a:r>
              <a:rPr lang="es-CO" sz="4000" dirty="0" smtClean="0"/>
              <a:t>.2 Comunicación </a:t>
            </a:r>
            <a:r>
              <a:rPr lang="es-CO" sz="4000" dirty="0"/>
              <a:t>Serial vs Comunicación Paralela</a:t>
            </a:r>
            <a:br>
              <a:rPr lang="es-CO" sz="4000" dirty="0"/>
            </a:br>
            <a:endParaRPr lang="es-CO" sz="4000" dirty="0"/>
          </a:p>
        </p:txBody>
      </p:sp>
      <p:sp>
        <p:nvSpPr>
          <p:cNvPr id="35" name="34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8" name="2 Subtítulo"/>
          <p:cNvSpPr txBox="1">
            <a:spLocks/>
          </p:cNvSpPr>
          <p:nvPr/>
        </p:nvSpPr>
        <p:spPr>
          <a:xfrm>
            <a:off x="271711" y="5544664"/>
            <a:ext cx="8352928" cy="14401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dirty="0"/>
              <a:t>La </a:t>
            </a:r>
            <a:r>
              <a:rPr lang="es-CO" b="1" i="1" dirty="0"/>
              <a:t>comunicación</a:t>
            </a:r>
            <a:r>
              <a:rPr lang="es-CO" dirty="0"/>
              <a:t> </a:t>
            </a:r>
            <a:r>
              <a:rPr lang="es-CO" dirty="0" smtClean="0"/>
              <a:t>paralela puede (no siempre) ser más rápida, pero requiere más canales (más cables por ejemplo) para su funcionamiento.</a:t>
            </a:r>
            <a:endParaRPr lang="es-CO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2600187"/>
            <a:ext cx="2957137" cy="1247913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061" y="3946621"/>
            <a:ext cx="3234533" cy="1636675"/>
          </a:xfrm>
          <a:prstGeom prst="rect">
            <a:avLst/>
          </a:prstGeom>
        </p:spPr>
      </p:pic>
      <p:sp>
        <p:nvSpPr>
          <p:cNvPr id="11" name="Rectángulo 10"/>
          <p:cNvSpPr/>
          <p:nvPr/>
        </p:nvSpPr>
        <p:spPr>
          <a:xfrm>
            <a:off x="395536" y="2175247"/>
            <a:ext cx="3122738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1200" dirty="0"/>
              <a:t>http://www.microcontrollerboard.com/pic_serial_communication.html</a:t>
            </a:r>
          </a:p>
        </p:txBody>
      </p:sp>
      <p:pic>
        <p:nvPicPr>
          <p:cNvPr id="2050" name="Picture 2" descr="http://i.ebayimg.com/images/g/WvsAAOSws8ZXHmzb/s-l1600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8431" y="2492896"/>
            <a:ext cx="3862247" cy="3104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ángulo 5"/>
          <p:cNvSpPr/>
          <p:nvPr/>
        </p:nvSpPr>
        <p:spPr>
          <a:xfrm>
            <a:off x="3689616" y="2060848"/>
            <a:ext cx="553212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1200" dirty="0"/>
              <a:t>http://www.ebay.com/itm/Two-Serial-RS232-DB9-and-1-Parallel-Port-LPT1-DB25-PCI-Express-PCIe-Card-/282349821966</a:t>
            </a:r>
          </a:p>
        </p:txBody>
      </p:sp>
    </p:spTree>
    <p:extLst>
      <p:ext uri="{BB962C8B-B14F-4D97-AF65-F5344CB8AC3E}">
        <p14:creationId xmlns:p14="http://schemas.microsoft.com/office/powerpoint/2010/main" val="2662418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70156"/>
            <a:ext cx="8203990" cy="1054250"/>
          </a:xfrm>
        </p:spPr>
        <p:txBody>
          <a:bodyPr/>
          <a:lstStyle/>
          <a:p>
            <a:r>
              <a:rPr lang="es-ES" sz="4000" dirty="0"/>
              <a:t>6</a:t>
            </a:r>
            <a:r>
              <a:rPr lang="es-ES" sz="4000" dirty="0" smtClean="0"/>
              <a:t>.3</a:t>
            </a:r>
            <a:r>
              <a:rPr lang="es-ES" sz="4000" dirty="0"/>
              <a:t>. Tipos de Comunicación </a:t>
            </a:r>
            <a:r>
              <a:rPr lang="es-ES" sz="4000" dirty="0" smtClean="0"/>
              <a:t>Serial I</a:t>
            </a:r>
            <a:endParaRPr lang="es-CO" sz="4000" dirty="0"/>
          </a:p>
        </p:txBody>
      </p:sp>
      <p:sp>
        <p:nvSpPr>
          <p:cNvPr id="35" name="34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3" name="AutoShape 2" descr="data:image/jpeg;base64,/9j/4AAQSkZJRgABAQAAAQABAAD/2wCEAAkGBxIHBhUUBxQUFRIXGB0YGRgXGBccHhgWGx0cHR8YFiAeHC0gHR8lHhwXITEhJiorLi4uGCAzODMsNygtMCsBCgoKDg0MFA8PFysZFBksLCw3LCwsKywsLCwsNyssLCssKyw3Nyw3KysrLCwrKyssLCwsKysrKysrKysrKysrLP/AABEIAOEA4QMBIgACEQEDEQH/xAAcAAEAAgMBAQEAAAAAAAAAAAAABwgEBQYDAQL/xABNEAABAwICBAUNDAoCAwEAAAABAAIDBBEFBgcSITFBUWFxgRMXIjI2cnN0kZOhs9MIFBU3UlNUYoKSstIWIzM1QkOiscHClNFjZIMk/8QAFgEBAQEAAAAAAAAAAAAAAAAAAAEC/8QAGBEBAQEBAQAAAAAAAAAAAAAAABEBQSH/2gAMAwEAAhEDEQA/AJxREQEREBERAREQEREBERAREQEREBERAREQEREBERAREQEREBERAREQEREBERAREQEREBERAREQEREBERAREQEREBERAREQEREBERAREQEREBERAREQERYGNY1T4FRmXF5WRM43HeeJo3uPIASgz0UM5k03bS3LMF//ACz3tztjab9LnDlCjjGc5YhjTj8IVUxaf4GO6my3FqssD03KVYs7iOOUuF/vKogi8JIxv9ytPLpEwqI9lWwHvXa34QVVtrA3tQAvqlItEzSNhLzsrYRzkj+4W0w/MlFiTrYfVU8h4mSscfIDdVJXxzQ7tgClIuYiqVg+Za3BCPgqpmjA3NDiWfcddnoUh5d02zQENzFC2VvzkPYv6WOOq48xbzJSJyRafLmaKTM1PrYNM2S3bN2h7O/YbOHPax4LrcKoIiICIiAiIgIiICIiAiIgIiICIiAiKHtK+ks0730eW32eLtmmae0PDHEflcBcO13DbctDdaQtKcWXnugwYNmqhscT+ziP17ds76g3cJG4wRjGLT43XGXFpXSyHhdwDiaBsaOQABYQFtyKNQREUBERAREQEREHtR1clBVNkoXujkbta9hII5iP7cKmnR/pdbVubBmwtY82DajYGvPFKNzD9Ydifq8MIIqLl79yKA9Fekk4K9tLj7r0p7GOR38jia4/N/h73tZ7BuNirL6iIgIiICIiAiIgIi0ecczw5TwV09dtPasYDtkkO5o4uMngAJQZuNYzT4FQmXF5WxRjhdwniaBtceQAlRRj+nDsy3LlOCOCScnbyiNpvbncDyBRhmbMVRmfEzNiz9Z23VaO1jb8mMcA3XO822rUqVY7aq0r4vO+7KhsfIyGK39bXH0rx66GMfTD5mm9kuPRFjrZdJmLyxFr6x1iCDaKnabHiLYgQeUEELkgLDYiICIigIiICIiAiL0p4XVM7WUzXPe4hrWtBJc47gANpKDzRSvl3QnPVwh+YJhBf+XGA9475x7Fp5AHDlXSt0H0AHZT1n34fYqwqA0U+9Y/D/n6z78PsU6x+H/P1n34fYoVAS6bDNIOKYVQMhoKpzYmDVY0xwu1WjcAXxl1huAvsFgNgUr9Y/D/AJ+s+/D7FOsfh/z9Z9+H2KHiMuuhjH0w+ZpvZL0h0qYvFJd1UH8joYLf0sB9KknrH4f8/Wffh9ivxLoPoSz9VUVYPGXQkdI6kP7onjn8D04TRPAx6nZI3hfAS1wHevJDj9pqljLWaKTM9Lr4NKH27Zp2PYT8tp2jh27jbYSoSzTohrcGiMmFuFVGNpDGlsgHeXOv9k3PyVwuF4lNg+INmwx7o5WHY4elrgdhHG07EFwEXI6Oc7szjhZLwGVMdhLGN23c9l9uq7byg3G3YT1yqCIiAqy6VczHMmbH9TN4ICYohwbDZ7/tOG/ia1WDzdiJwjK1TPF20cL3N74NOr6bKpTW6rQBwKauPqIdynrKejbCcay1T1D4X60sTXO/XTWDyBrAWdwOuEVAqKc8+6NMOwnJ1RNhULmTRsD2uMszrBrgXbHPLTdusNo4VFeQ8FbmHN1PT1IJje5xfYkdg1jnHaNovYC/KhWgRWN6z+E/NS+el/Mos0t5ShynjMLcJDmwyxE2c5zj1RrrON3G+50ezkKFcKiknRBkmmzXFUvxprnNjLGs1XubZxDi6+qRfYY/SpE6z+E/NS+el/MkKrkvoaXRlzQS0byBsHOdwXW5VwWmxzSU2naLUhml1W6xJdFGHua2+86waL7dxKsxTUzKWnEdMxrI2iwa0ANA4gBsAQqnO/cikfThl+DBcwRSYa1rBOxznsbsAewtGsBwa2ttA2XaTvJUcICnHQTlVsGHGvrG3kkLmQ3/AIIgbOcOIucCL/JaLdsVBkjtWMkcAVvsBw8YTgkEEe6KNjPutAv6ExNZ6LmNJGPS5aylJUYcGGRrmAa4JHZPa03AIO48ah/rz4pxUnmn+1VRYdFXjrz4pxUnmn+1Trz4pxUnmn+1RYsOirx158U4qTzT/arpdHekuuzHm2KnxEU/U3h5OoxwPYsLhYl54RxIRMS+NcHdqRsUQ6esxVFCYKaie6OORrnyFpIL7EAMuNttpJHDcdMN4XXS4PWCXCpHQyt3OYbdDhucONpuDwqEXDUS6ZshtqaJ9fhLQJWDWna0ftIxvk79o2k8LQeEBSTlvETi+XqeeVuq6WGOQgbgXtDiBybVsHND2kPFwdhB4RyqoqZlPMD8sY/HU01yGmz2j+OI212c5G0fWDTwK2FPM2pga+AhzHAOaRuLSLgjnCqZmnChgeZainZ2sUrmt8GeyZ/QWqwWh2vNfo+p+qG5j1ouhjiGj7mopi67VERVHK6U/i9rPBf5Cq8rQaU/i9rPBf7BVfU1cFYPQNiPvrJZiO+CZ7fsvtID5XuHQq+KU/c+4j1DMNRA7dLEHjvonW8pEh+6mLqYs20nv/KtVE3e+CVo5yxwHpUM+58offOZZpzuigDftSuuD5I3eVT25oe0h247FGmgjBjheXZ3TDsnVDmX42wgM/GJFWUmKKfdCUHVcAp5mjbHMWE8TZGm/wDUxg8ilMyhsoaT2RBIHGBa56LjyrlNLFB8IaPqoDexglH/AMnB59DSOlBptAtH73yS55/mzvd0NDY/7sPlXX5xxP4GyrUzt7aOJ5b39rNHS4tC12i+j95aP6No/iiEnTKTIfxrntPeJe9cnshbvnmaD3jLyE/ebGOlBA2FSy0dfE7Cy4TNc3qZbtdr3sABwknZbbe9tt1NlLpDxmOkAqsGmfJbt2iZjSePU6k4/wBSh3LXdNSeMw+tYrcqYuqp52ra7Esa6rmmN8crmjVY5jmBsYJsI2u26t9bbc7Sdq0ClH3QXdRT+L/7uUXIrMweLq+MwNO500begvaP8q36qPljbmek8Zh9axW4TE1wmm34u5u/h9axVvVkNNvxdzd/D61iremmOty1o6rsy4UJ8L6j1Muc0a8habtNjsDDw8q2nWbxX/1vOu9mpK0G/F9H4WX8ZUgIVXXrN4r/AOt513s10ujnRtX5dzdFUYl1DqbA8HUkLj2TCBYFg4SFMqKlcnpFwTD8awpozPKyAB36qZ0jIy15G1rS/Ybhu1p36t94BEcYTkTA6atDsTxemnjBv1MTQMDuR5EhJHNqroPdCdy9P4yPVSqBZf2Z5ioYuVAWugb73tqWGrq2tq22attlrL9rAwH9xweCZ+ELPVRWLS38Y9Z30fqIlKugTuId4w/8LFFWlv4x6zvo/URKVdAncS7xh/4WKdXiSERFUcppT+L2s8F/sFV9Wg0p/F7WeC/yFV9TVwXR6OcR+Cs9UkhNgZRGeaUGPbyAuB6FziBxYbxGzhtB4nDaD5UVctYWE4c3C6QxwdqZJJOmWR8h9LymC14xXB4Z4u1ljZIOZzQf8rNVZR/mLH/e2l3D6cHsTDKHf/UHV6daAfeXc19KK6hkil7WRjmHmcCD/dVzztj1tLb6jW7CCpibzNgLA8c2sJPKVZNBj4dSihw+ONm5jGsHM0Af4UF6f8R985ohhbuhh1vtSu2j7sbD0qfFVLPuJfC2dKuUbjM5o72O0YPSGA9KmrjDy13TUnjMPrWK3KqNlrumpPGYfWsVuUw1Avugu6in8X/3couUo+6C7qKfxf8A3couRcbPLHdRSeMw+tYrcKpGVW62aqMDhqoPWsVt0xNcJpt+Lubv4fWsVb1ZDTb8Xc3fw+tYq3ppjIhrpYGWp5ZWN4myPaPIDZfv4UqPn5/OyfmUn6NdG9HmjKrajEXTiQve06j2gWa4gbC08C6nrLYb8uq8438iLUD/AApUfPz+dk/Mpt0AVMlTgdSal73kTgAvc5xA6m02FysvrLYb8uq8438i6nKGUqfKNI+PCjIWyO1z1RwJvYDZYDgARN1xfuhO5en8ZHqpVAsv7M8xU9e6E7l6fxkeqlUCy/szzFNXFvsB/ccHgmfhCz1gYD+44PBM/CFnqsqxaW/jHrO+j9REpV0CdxLvGH/hYoq0t/GPWd9H6iJSroE7iXeMP/CxTq8SQiIqjSZ2oDieT6uKIXc+CQNHG7VJaPKAqnNOs24VzFVrSLls5YzVJEwWheTJDxdTce1HeG7bcQB4VNXHMoiKKsfoTxL3/kKNrjd0L3xHmB1mjoY9g6F29XUNpKV75tjWNLjzNFyqk4bjlVhUZbhdRNC1xuRHI5oJta5AO+wA6FkVGaq+qp3MqaypcxwLXNdK8hzSLFrhfaCNllakamqndXSvfUdtIXPd3zyXH0kq2WUa/wCFMrUszt8kMbj3xaLjy3VS1tqPM1dQ0zY6KrqI427GtbK8ADiABsEXcWjzLiXwNl6onP8AKie8cpa0kDpNh0qorRZvZbTx8a21ZmWtrqYx1tVUSRu7Zr5XkHbfaCbHaAtUhjZZa7pqTxmH1rFblU3ikdDKHQktc0hzSDYhwNwQeAg2K3P6YYj9NqvPSf8AaG47X3QXdRT+L/7uUXLLxLE58VlDsTlklcBYGRxcQN9gSd11iKDo9HNL78z5RN3/AK4P82DJ/orUKCNAWBOqcclq5B+rhaYmnjlfYm3es3+FCndXE1wmm34u5u/h9axVvVw6+hixKlMeIRsljNrskaHNNjcXBFth2rVfoXhn0Cj/AOPF+VUrnNBvxfR+Fl/GVICxsPoIcMphHh0ccUYuQyNrWtBO8gAWWSiCIiCLPdCdy9P4yPVSqBZf2Z5irg4nhcGLQhmKQxTMB1g2RjXgOsRcBwIvYnbyrXfoXhn0Cj/48X5VFzWdgP7jg8Ez8IWevzHGIow2IANAsANgAG4DkUcaYc7twTCnUmHO/wD1TNs7VO2GJw2uPE4jY3h263AL1ELZzxQY1m2qniN2PldqkcLG2Y1w52taelTzoXojR6PoTILGRz5OhzyGnpaGnpVfcv4NJj+MxU1D20jg29u0b/E88jW3PRbhVtKGkZQUTIqUWjja1jRxNaAAPIFMXXuiIqguY0gZPjzhg3U3kMmZd0Mlu1cd4PDqusARyA7wF06IKgYvhc2C4g6HFGGOVm8HhHA5p/iaeAhYathmjKtJmmk1MXjDiL6jxsewnhY7g4NhuDYXBUPZg0LVlG4nA5GVDOBriI5OQbewdz3bzKRajBF0VRkXFKZ1paKo+y3X9LCQvD9D8R+hVfmZP+kVpEW4mypiEERdNR1Qa0EkmGSwA2knsdy04NxsUBERAREQFusBw6jqagHHa1sEfCGQ1Ekh5BaLUHPd3MVpUQWHwXSHgOB4YyDDJyyJgsB1Cp5ySep7STckneSs3rs4P9Jd5ip9kq1orUiynXZwf6S7zFT7JOuzg/0l3mKn2SrWiUiynXZwf6S7zFT7JOuzg/0l3mKn2SrWiUiynXZwf6S7zFT7JOuzg/0l3mKn2SrWtpRZbra+mElDS1Ekbtz2RPLTbZsIFjtulIsB12cH+ku8xU+yX4m0uYRGy7J3uPE2Ce/9TAPSoJ/Q/EfoVX5mT/pekOScTndaOiqb/WjLfS6wSkd3mnTXLVRFmWYjCD/Nl1S8d4wEtB5SXcyi0CXE6/sdeaeV3K58jz6SSu9wPQ5iNe4HEjHSs4dYiR/Q1h1fK8KX8nZEo8pR3oGl8xFnTSWLyOIWFmt5GgXsL33oNVosyEMp0JlxCxrJRZ1toiZsPUmnh2gFxG8gcABXeIiqCIiAiIgIiICIiAoI0saNzhcj6zAG3pzd0sTR+xO8vYPm+Ej+Df2vazuiCmiKbtIWiMVb3VGUw1jzcup9ga48cR3MP1T2J+rwwtVU76OpdHVtcyRps5jgQ5p5QdoUaeSIigIiICIiAiIgIvrQXPAYCSTYAC5JO4AcJPEpZyBoifVubPmwFke9tPuc/wAKR2g+qNp4dW1jRodGWj1+a6kTYgHMomnadoMxG9kZ36t9jnjlA23LbFwQtp4Gsp2hrGgNa1oADWgWAAG4AcC+wQtp4QyBoaxoAa1oADQNgAA2ADiX7VZEREBERAREQEREBERAREQEREBERAWjzPlKjzRBq4vEHOAs2RvYvZ3rhttyG44wt4iCA8yaGKuhcXYA9tRH8hxDJBybewdz3bzKO8TwyfCJdXFYZITu/WMc2/ekizucEq4C/EsTZoy2YBzTvBAIPOCpFqm6K0lfo9wqvv1ejhBO8xgxnyxlpWol0P4S89jFK3mml/y4pCq5IrGR6HsJaeyjmPPNJ/ghbOh0bYTRH9VRxO8LrS+sc5IVWaipZK+bUoI3yv8Akxsc8+RoJXfZc0P1+JuDsU1aWP61nyEcjGmw+04EcSsDS0sdHCG0jGsaNzWNDQOYDYvZIVy+UshUWVRrUDNea1jNJZz/ALOyzRyNA5brqERVBERAREQEREBERAREQEREBERAREQEREBERAREQEREBERAREQEREBERAREQEREBERAREQEREBERAREQEREBERAREQEREBERAREQEREBERAREQEREBERAREQEREBERAREQEREBERAREQEREBERAREQEREBERAREQEREBERAREQf/9k="/>
          <p:cNvSpPr>
            <a:spLocks noChangeAspect="1" noChangeArrowheads="1"/>
          </p:cNvSpPr>
          <p:nvPr/>
        </p:nvSpPr>
        <p:spPr bwMode="auto">
          <a:xfrm>
            <a:off x="63500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4" name="AutoShape 4" descr="data:image/jpeg;base64,/9j/4AAQSkZJRgABAQAAAQABAAD/2wCEAAkGBxIHBhUUBxQUFRIXGB0YGRgXGBccHhgWGx0cHR8YFiAeHC0gHR8lHhwXITEhJiorLi4uGCAzODMsNygtMCsBCgoKDg0MFA8PFysZFBksLCw3LCwsKywsLCwsNyssLCssKyw3Nyw3KysrLCwrKyssLCwsKysrKysrKysrKysrLP/AABEIAOEA4QMBIgACEQEDEQH/xAAcAAEAAgMBAQEAAAAAAAAAAAAABwgEBQYDAQL/xABNEAABAwICBAUNDAoCAwEAAAABAAIDBBEFBgcSITFBUWFxgRMXIjI2cnN0kZOhs9MIFBU3UlNUYoKSstIWIzM1QkOiscHClNFjZIMk/8QAFgEBAQEAAAAAAAAAAAAAAAAAAAEC/8QAGBEBAQEBAQAAAAAAAAAAAAAAABEBQSH/2gAMAwEAAhEDEQA/AJxREQEREBERAREQEREBERAREQEREBERAREQEREBERAREQEREBERAREQEREBERAREQEREBERAREQEREBERAREQEREBERAREQEREBERAREQEREBERAREQERYGNY1T4FRmXF5WRM43HeeJo3uPIASgz0UM5k03bS3LMF//ACz3tztjab9LnDlCjjGc5YhjTj8IVUxaf4GO6my3FqssD03KVYs7iOOUuF/vKogi8JIxv9ytPLpEwqI9lWwHvXa34QVVtrA3tQAvqlItEzSNhLzsrYRzkj+4W0w/MlFiTrYfVU8h4mSscfIDdVJXxzQ7tgClIuYiqVg+Za3BCPgqpmjA3NDiWfcddnoUh5d02zQENzFC2VvzkPYv6WOOq48xbzJSJyRafLmaKTM1PrYNM2S3bN2h7O/YbOHPax4LrcKoIiICIiAiIgIiICIiAiIgIiICIiAiKHtK+ks0730eW32eLtmmae0PDHEflcBcO13DbctDdaQtKcWXnugwYNmqhscT+ziP17ds76g3cJG4wRjGLT43XGXFpXSyHhdwDiaBsaOQABYQFtyKNQREUBERAREQEREHtR1clBVNkoXujkbta9hII5iP7cKmnR/pdbVubBmwtY82DajYGvPFKNzD9Ydifq8MIIqLl79yKA9Fekk4K9tLj7r0p7GOR38jia4/N/h73tZ7BuNirL6iIgIiICIiAiIgIi0ecczw5TwV09dtPasYDtkkO5o4uMngAJQZuNYzT4FQmXF5WxRjhdwniaBtceQAlRRj+nDsy3LlOCOCScnbyiNpvbncDyBRhmbMVRmfEzNiz9Z23VaO1jb8mMcA3XO822rUqVY7aq0r4vO+7KhsfIyGK39bXH0rx66GMfTD5mm9kuPRFjrZdJmLyxFr6x1iCDaKnabHiLYgQeUEELkgLDYiICIigIiICIiAiL0p4XVM7WUzXPe4hrWtBJc47gANpKDzRSvl3QnPVwh+YJhBf+XGA9475x7Fp5AHDlXSt0H0AHZT1n34fYqwqA0U+9Y/D/n6z78PsU6x+H/P1n34fYoVAS6bDNIOKYVQMhoKpzYmDVY0xwu1WjcAXxl1huAvsFgNgUr9Y/D/AJ+s+/D7FOsfh/z9Z9+H2KHiMuuhjH0w+ZpvZL0h0qYvFJd1UH8joYLf0sB9KknrH4f8/Wffh9ivxLoPoSz9VUVYPGXQkdI6kP7onjn8D04TRPAx6nZI3hfAS1wHevJDj9pqljLWaKTM9Lr4NKH27Zp2PYT8tp2jh27jbYSoSzTohrcGiMmFuFVGNpDGlsgHeXOv9k3PyVwuF4lNg+INmwx7o5WHY4elrgdhHG07EFwEXI6Oc7szjhZLwGVMdhLGN23c9l9uq7byg3G3YT1yqCIiAqy6VczHMmbH9TN4ICYohwbDZ7/tOG/ia1WDzdiJwjK1TPF20cL3N74NOr6bKpTW6rQBwKauPqIdynrKejbCcay1T1D4X60sTXO/XTWDyBrAWdwOuEVAqKc8+6NMOwnJ1RNhULmTRsD2uMszrBrgXbHPLTdusNo4VFeQ8FbmHN1PT1IJje5xfYkdg1jnHaNovYC/KhWgRWN6z+E/NS+el/Mos0t5ShynjMLcJDmwyxE2c5zj1RrrON3G+50ezkKFcKiknRBkmmzXFUvxprnNjLGs1XubZxDi6+qRfYY/SpE6z+E/NS+el/MkKrkvoaXRlzQS0byBsHOdwXW5VwWmxzSU2naLUhml1W6xJdFGHua2+86waL7dxKsxTUzKWnEdMxrI2iwa0ANA4gBsAQqnO/cikfThl+DBcwRSYa1rBOxznsbsAewtGsBwa2ttA2XaTvJUcICnHQTlVsGHGvrG3kkLmQ3/AIIgbOcOIucCL/JaLdsVBkjtWMkcAVvsBw8YTgkEEe6KNjPutAv6ExNZ6LmNJGPS5aylJUYcGGRrmAa4JHZPa03AIO48ah/rz4pxUnmn+1VRYdFXjrz4pxUnmn+1Trz4pxUnmn+1RYsOirx158U4qTzT/arpdHekuuzHm2KnxEU/U3h5OoxwPYsLhYl54RxIRMS+NcHdqRsUQ6esxVFCYKaie6OORrnyFpIL7EAMuNttpJHDcdMN4XXS4PWCXCpHQyt3OYbdDhucONpuDwqEXDUS6ZshtqaJ9fhLQJWDWna0ftIxvk79o2k8LQeEBSTlvETi+XqeeVuq6WGOQgbgXtDiBybVsHND2kPFwdhB4RyqoqZlPMD8sY/HU01yGmz2j+OI212c5G0fWDTwK2FPM2pga+AhzHAOaRuLSLgjnCqZmnChgeZainZ2sUrmt8GeyZ/QWqwWh2vNfo+p+qG5j1ouhjiGj7mopi67VERVHK6U/i9rPBf5Cq8rQaU/i9rPBf7BVfU1cFYPQNiPvrJZiO+CZ7fsvtID5XuHQq+KU/c+4j1DMNRA7dLEHjvonW8pEh+6mLqYs20nv/KtVE3e+CVo5yxwHpUM+58offOZZpzuigDftSuuD5I3eVT25oe0h247FGmgjBjheXZ3TDsnVDmX42wgM/GJFWUmKKfdCUHVcAp5mjbHMWE8TZGm/wDUxg8ilMyhsoaT2RBIHGBa56LjyrlNLFB8IaPqoDexglH/AMnB59DSOlBptAtH73yS55/mzvd0NDY/7sPlXX5xxP4GyrUzt7aOJ5b39rNHS4tC12i+j95aP6No/iiEnTKTIfxrntPeJe9cnshbvnmaD3jLyE/ebGOlBA2FSy0dfE7Cy4TNc3qZbtdr3sABwknZbbe9tt1NlLpDxmOkAqsGmfJbt2iZjSePU6k4/wBSh3LXdNSeMw+tYrcqYuqp52ra7Esa6rmmN8crmjVY5jmBsYJsI2u26t9bbc7Sdq0ClH3QXdRT+L/7uUXIrMweLq+MwNO500begvaP8q36qPljbmek8Zh9axW4TE1wmm34u5u/h9axVvVkNNvxdzd/D61iremmOty1o6rsy4UJ8L6j1Muc0a8habtNjsDDw8q2nWbxX/1vOu9mpK0G/F9H4WX8ZUgIVXXrN4r/AOt513s10ujnRtX5dzdFUYl1DqbA8HUkLj2TCBYFg4SFMqKlcnpFwTD8awpozPKyAB36qZ0jIy15G1rS/Ybhu1p36t94BEcYTkTA6atDsTxemnjBv1MTQMDuR5EhJHNqroPdCdy9P4yPVSqBZf2Z5ioYuVAWugb73tqWGrq2tq22attlrL9rAwH9xweCZ+ELPVRWLS38Y9Z30fqIlKugTuId4w/8LFFWlv4x6zvo/URKVdAncS7xh/4WKdXiSERFUcppT+L2s8F/sFV9Wg0p/F7WeC/yFV9TVwXR6OcR+Cs9UkhNgZRGeaUGPbyAuB6FziBxYbxGzhtB4nDaD5UVctYWE4c3C6QxwdqZJJOmWR8h9LymC14xXB4Z4u1ljZIOZzQf8rNVZR/mLH/e2l3D6cHsTDKHf/UHV6daAfeXc19KK6hkil7WRjmHmcCD/dVzztj1tLb6jW7CCpibzNgLA8c2sJPKVZNBj4dSihw+ONm5jGsHM0Af4UF6f8R985ohhbuhh1vtSu2j7sbD0qfFVLPuJfC2dKuUbjM5o72O0YPSGA9KmrjDy13TUnjMPrWK3KqNlrumpPGYfWsVuUw1Avugu6in8X/3couUo+6C7qKfxf8A3couRcbPLHdRSeMw+tYrcKpGVW62aqMDhqoPWsVt0xNcJpt+Lubv4fWsVb1ZDTb8Xc3fw+tYq3ppjIhrpYGWp5ZWN4myPaPIDZfv4UqPn5/OyfmUn6NdG9HmjKrajEXTiQve06j2gWa4gbC08C6nrLYb8uq8438iLUD/AApUfPz+dk/Mpt0AVMlTgdSal73kTgAvc5xA6m02FysvrLYb8uq8438i6nKGUqfKNI+PCjIWyO1z1RwJvYDZYDgARN1xfuhO5en8ZHqpVAsv7M8xU9e6E7l6fxkeqlUCy/szzFNXFvsB/ccHgmfhCz1gYD+44PBM/CFnqsqxaW/jHrO+j9REpV0CdxLvGH/hYoq0t/GPWd9H6iJSroE7iXeMP/CxTq8SQiIqjSZ2oDieT6uKIXc+CQNHG7VJaPKAqnNOs24VzFVrSLls5YzVJEwWheTJDxdTce1HeG7bcQB4VNXHMoiKKsfoTxL3/kKNrjd0L3xHmB1mjoY9g6F29XUNpKV75tjWNLjzNFyqk4bjlVhUZbhdRNC1xuRHI5oJta5AO+wA6FkVGaq+qp3MqaypcxwLXNdK8hzSLFrhfaCNllakamqndXSvfUdtIXPd3zyXH0kq2WUa/wCFMrUszt8kMbj3xaLjy3VS1tqPM1dQ0zY6KrqI427GtbK8ADiABsEXcWjzLiXwNl6onP8AKie8cpa0kDpNh0qorRZvZbTx8a21ZmWtrqYx1tVUSRu7Zr5XkHbfaCbHaAtUhjZZa7pqTxmH1rFblU3ikdDKHQktc0hzSDYhwNwQeAg2K3P6YYj9NqvPSf8AaG47X3QXdRT+L/7uUXLLxLE58VlDsTlklcBYGRxcQN9gSd11iKDo9HNL78z5RN3/AK4P82DJ/orUKCNAWBOqcclq5B+rhaYmnjlfYm3es3+FCndXE1wmm34u5u/h9axVvVw6+hixKlMeIRsljNrskaHNNjcXBFth2rVfoXhn0Cj/AOPF+VUrnNBvxfR+Fl/GVICxsPoIcMphHh0ccUYuQyNrWtBO8gAWWSiCIiCLPdCdy9P4yPVSqBZf2Z5irg4nhcGLQhmKQxTMB1g2RjXgOsRcBwIvYnbyrXfoXhn0Cj/48X5VFzWdgP7jg8Ez8IWevzHGIow2IANAsANgAG4DkUcaYc7twTCnUmHO/wD1TNs7VO2GJw2uPE4jY3h263AL1ELZzxQY1m2qniN2PldqkcLG2Y1w52taelTzoXojR6PoTILGRz5OhzyGnpaGnpVfcv4NJj+MxU1D20jg29u0b/E88jW3PRbhVtKGkZQUTIqUWjja1jRxNaAAPIFMXXuiIqguY0gZPjzhg3U3kMmZd0Mlu1cd4PDqusARyA7wF06IKgYvhc2C4g6HFGGOVm8HhHA5p/iaeAhYathmjKtJmmk1MXjDiL6jxsewnhY7g4NhuDYXBUPZg0LVlG4nA5GVDOBriI5OQbewdz3bzKRajBF0VRkXFKZ1paKo+y3X9LCQvD9D8R+hVfmZP+kVpEW4mypiEERdNR1Qa0EkmGSwA2knsdy04NxsUBERAREQFusBw6jqagHHa1sEfCGQ1Ekh5BaLUHPd3MVpUQWHwXSHgOB4YyDDJyyJgsB1Cp5ySep7STckneSs3rs4P9Jd5ip9kq1orUiynXZwf6S7zFT7JOuzg/0l3mKn2SrWiUiynXZwf6S7zFT7JOuzg/0l3mKn2SrWiUiynXZwf6S7zFT7JOuzg/0l3mKn2SrWtpRZbra+mElDS1Ekbtz2RPLTbZsIFjtulIsB12cH+ku8xU+yX4m0uYRGy7J3uPE2Ce/9TAPSoJ/Q/EfoVX5mT/pekOScTndaOiqb/WjLfS6wSkd3mnTXLVRFmWYjCD/Nl1S8d4wEtB5SXcyi0CXE6/sdeaeV3K58jz6SSu9wPQ5iNe4HEjHSs4dYiR/Q1h1fK8KX8nZEo8pR3oGl8xFnTSWLyOIWFmt5GgXsL33oNVosyEMp0JlxCxrJRZ1toiZsPUmnh2gFxG8gcABXeIiqCIiAiIgIiICIiAoI0saNzhcj6zAG3pzd0sTR+xO8vYPm+Ej+Df2vazuiCmiKbtIWiMVb3VGUw1jzcup9ga48cR3MP1T2J+rwwtVU76OpdHVtcyRps5jgQ5p5QdoUaeSIigIiICIiAiIgIvrQXPAYCSTYAC5JO4AcJPEpZyBoifVubPmwFke9tPuc/wAKR2g+qNp4dW1jRodGWj1+a6kTYgHMomnadoMxG9kZ36t9jnjlA23LbFwQtp4Gsp2hrGgNa1oADWgWAAG4AcC+wQtp4QyBoaxoAa1oADQNgAA2ADiX7VZEREBERAREQEREBERAREQEREBERAWjzPlKjzRBq4vEHOAs2RvYvZ3rhttyG44wt4iCA8yaGKuhcXYA9tRH8hxDJBybewdz3bzKO8TwyfCJdXFYZITu/WMc2/ekizucEq4C/EsTZoy2YBzTvBAIPOCpFqm6K0lfo9wqvv1ejhBO8xgxnyxlpWol0P4S89jFK3mml/y4pCq5IrGR6HsJaeyjmPPNJ/ghbOh0bYTRH9VRxO8LrS+sc5IVWaipZK+bUoI3yv8Akxsc8+RoJXfZc0P1+JuDsU1aWP61nyEcjGmw+04EcSsDS0sdHCG0jGsaNzWNDQOYDYvZIVy+UshUWVRrUDNea1jNJZz/ALOyzRyNA5brqERVBERAREQEREBERAREQEREBERAREQEREBERAREQEREBERAREQEREBERAREQEREBERAREQEREBERAREQEREBERAREQEREBERAREQEREBERAREQEREBERAREQEREBERAREQEREBERAREQEREBERAREQEREBERAREQEREBERAREQf/9k="/>
          <p:cNvSpPr>
            <a:spLocks noChangeAspect="1" noChangeArrowheads="1"/>
          </p:cNvSpPr>
          <p:nvPr/>
        </p:nvSpPr>
        <p:spPr bwMode="auto">
          <a:xfrm>
            <a:off x="215900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5" name="Rectángulo 4"/>
          <p:cNvSpPr/>
          <p:nvPr/>
        </p:nvSpPr>
        <p:spPr>
          <a:xfrm>
            <a:off x="395536" y="3601700"/>
            <a:ext cx="2132872" cy="707886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1000" dirty="0"/>
              <a:t>https://insidetowers.com/cell-tower-news-emerging-wireless-technologies-threaten-wifi-existence/</a:t>
            </a: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674" y="2278381"/>
            <a:ext cx="1645943" cy="1294635"/>
          </a:xfrm>
          <a:prstGeom prst="rect">
            <a:avLst/>
          </a:prstGeom>
        </p:spPr>
      </p:pic>
      <p:pic>
        <p:nvPicPr>
          <p:cNvPr id="3074" name="Picture 2" descr="https://static.giantbomb.com/uploads/scale_small/1/13313/1065605-satellite_dish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7299" y="2204864"/>
            <a:ext cx="1295927" cy="1942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ángulo 8"/>
          <p:cNvSpPr/>
          <p:nvPr/>
        </p:nvSpPr>
        <p:spPr>
          <a:xfrm>
            <a:off x="2555776" y="4147238"/>
            <a:ext cx="1938975" cy="40011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1000" dirty="0"/>
              <a:t>http://www.giantbomb.com/satellite-dish/3055-2366/</a:t>
            </a:r>
          </a:p>
        </p:txBody>
      </p:sp>
      <p:sp>
        <p:nvSpPr>
          <p:cNvPr id="10" name="Rectángulo 9"/>
          <p:cNvSpPr/>
          <p:nvPr/>
        </p:nvSpPr>
        <p:spPr>
          <a:xfrm>
            <a:off x="4536568" y="3637024"/>
            <a:ext cx="1762705" cy="24622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1000" dirty="0"/>
              <a:t>http://www.gravitech.us/xbprozbmo250.html</a:t>
            </a:r>
          </a:p>
        </p:txBody>
      </p:sp>
      <p:pic>
        <p:nvPicPr>
          <p:cNvPr id="3076" name="Picture 4" descr="http://ep.yimg.com/ca/I/yhst-27389313707334_2252_12902636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2635" b="93852" l="8000" r="90333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6414" y="2357695"/>
            <a:ext cx="2055786" cy="1365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ángulo 10"/>
          <p:cNvSpPr/>
          <p:nvPr/>
        </p:nvSpPr>
        <p:spPr>
          <a:xfrm>
            <a:off x="6319785" y="3579363"/>
            <a:ext cx="2838853" cy="40011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1000" dirty="0"/>
              <a:t>http://diypot.net/computers/tips/how-to-solve-bluetooth-pairing-problems/</a:t>
            </a:r>
          </a:p>
        </p:txBody>
      </p:sp>
      <p:pic>
        <p:nvPicPr>
          <p:cNvPr id="3078" name="Picture 6" descr="http://diypot.net/wp-content/uploads/2016/08/Bluetooth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0" b="100000" l="942" r="100000">
                        <a14:foregroundMark x1="9576" y1="23373" x2="9576" y2="23373"/>
                        <a14:foregroundMark x1="17739" y1="33728" x2="17739" y2="33728"/>
                        <a14:foregroundMark x1="27630" y1="42012" x2="27630" y2="42012"/>
                        <a14:foregroundMark x1="15542" y1="42012" x2="15542" y2="42012"/>
                        <a14:foregroundMark x1="6122" y1="45266" x2="6122" y2="45266"/>
                        <a14:foregroundMark x1="16013" y1="51775" x2="16013" y2="51775"/>
                        <a14:foregroundMark x1="73155" y1="47633" x2="73155" y2="47633"/>
                        <a14:foregroundMark x1="83987" y1="45858" x2="83987" y2="45858"/>
                        <a14:foregroundMark x1="93407" y1="37870" x2="93407" y2="37870"/>
                        <a14:foregroundMark x1="89482" y1="27219" x2="89482" y2="27219"/>
                        <a14:foregroundMark x1="81790" y1="34615" x2="81790" y2="34615"/>
                        <a14:foregroundMark x1="82575" y1="58876" x2="82575" y2="58876"/>
                        <a14:foregroundMark x1="93407" y1="56509" x2="93407" y2="5650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1869" y="2444619"/>
            <a:ext cx="2126595" cy="1128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http://freakonomics.com/wp-content/uploads/2016/07/PC-Internet--550x343.jp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3789" y="4760607"/>
            <a:ext cx="2221741" cy="1385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ángulo 11"/>
          <p:cNvSpPr/>
          <p:nvPr/>
        </p:nvSpPr>
        <p:spPr>
          <a:xfrm>
            <a:off x="749071" y="6207115"/>
            <a:ext cx="2838853" cy="24622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000" dirty="0"/>
              <a:t>http://freakonomics.com/podcast/internet/</a:t>
            </a:r>
          </a:p>
        </p:txBody>
      </p:sp>
      <p:pic>
        <p:nvPicPr>
          <p:cNvPr id="3082" name="Picture 10" descr="4G/LTE Wireless Network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8441" y="4726661"/>
            <a:ext cx="1951711" cy="1301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ángulo 12"/>
          <p:cNvSpPr/>
          <p:nvPr/>
        </p:nvSpPr>
        <p:spPr>
          <a:xfrm>
            <a:off x="3747153" y="6019899"/>
            <a:ext cx="2346159" cy="40011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1000" dirty="0"/>
              <a:t>http://www.cablefree.net/wirelesstechnology/4glte/</a:t>
            </a:r>
          </a:p>
        </p:txBody>
      </p:sp>
      <p:sp>
        <p:nvSpPr>
          <p:cNvPr id="14" name="Rectángulo 13"/>
          <p:cNvSpPr/>
          <p:nvPr/>
        </p:nvSpPr>
        <p:spPr>
          <a:xfrm>
            <a:off x="6012160" y="5996937"/>
            <a:ext cx="3122738" cy="553998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1000" dirty="0"/>
              <a:t>http://www.ebay.co.uk/itm/USB-Over-RJ45-Ethernet-LAN-Cat5e-6-Cable-Extension-Extender-Adapter-Set-/171969693802</a:t>
            </a:r>
          </a:p>
        </p:txBody>
      </p:sp>
      <p:pic>
        <p:nvPicPr>
          <p:cNvPr id="3084" name="Picture 12" descr="http://i.ebayimg.com/images/g/WO8AAOSw5ZBWH8wu/s-l1600.jpg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9375" b="90000" l="75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0236" y="4323640"/>
            <a:ext cx="2006585" cy="20065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1891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20700" y="570156"/>
            <a:ext cx="8299772" cy="1054250"/>
          </a:xfrm>
        </p:spPr>
        <p:txBody>
          <a:bodyPr/>
          <a:lstStyle/>
          <a:p>
            <a:r>
              <a:rPr lang="es-ES" sz="4000" dirty="0"/>
              <a:t>6</a:t>
            </a:r>
            <a:r>
              <a:rPr lang="es-ES" sz="4000" dirty="0" smtClean="0"/>
              <a:t>.3</a:t>
            </a:r>
            <a:r>
              <a:rPr lang="es-ES" sz="4000" dirty="0"/>
              <a:t>. Tipos de Comunicación </a:t>
            </a:r>
            <a:r>
              <a:rPr lang="es-ES" sz="4000" dirty="0" smtClean="0"/>
              <a:t>Serial II</a:t>
            </a:r>
            <a:endParaRPr lang="es-CO" sz="4000" dirty="0"/>
          </a:p>
        </p:txBody>
      </p:sp>
      <p:sp>
        <p:nvSpPr>
          <p:cNvPr id="35" name="34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3" name="AutoShape 2" descr="data:image/jpeg;base64,/9j/4AAQSkZJRgABAQAAAQABAAD/2wCEAAkGBxIHBhUUBxQUFRIXGB0YGRgXGBccHhgWGx0cHR8YFiAeHC0gHR8lHhwXITEhJiorLi4uGCAzODMsNygtMCsBCgoKDg0MFA8PFysZFBksLCw3LCwsKywsLCwsNyssLCssKyw3Nyw3KysrLCwrKyssLCwsKysrKysrKysrKysrLP/AABEIAOEA4QMBIgACEQEDEQH/xAAcAAEAAgMBAQEAAAAAAAAAAAAABwgEBQYDAQL/xABNEAABAwICBAUNDAoCAwEAAAABAAIDBBEFBgcSITFBUWFxgRMXIjI2cnN0kZOhs9MIFBU3UlNUYoKSstIWIzM1QkOiscHClNFjZIMk/8QAFgEBAQEAAAAAAAAAAAAAAAAAAAEC/8QAGBEBAQEBAQAAAAAAAAAAAAAAABEBQSH/2gAMAwEAAhEDEQA/AJxREQEREBERAREQEREBERAREQEREBERAREQEREBERAREQEREBERAREQEREBERAREQEREBERAREQEREBERAREQEREBERAREQEREBERAREQEREBERAREQERYGNY1T4FRmXF5WRM43HeeJo3uPIASgz0UM5k03bS3LMF//ACz3tztjab9LnDlCjjGc5YhjTj8IVUxaf4GO6my3FqssD03KVYs7iOOUuF/vKogi8JIxv9ytPLpEwqI9lWwHvXa34QVVtrA3tQAvqlItEzSNhLzsrYRzkj+4W0w/MlFiTrYfVU8h4mSscfIDdVJXxzQ7tgClIuYiqVg+Za3BCPgqpmjA3NDiWfcddnoUh5d02zQENzFC2VvzkPYv6WOOq48xbzJSJyRafLmaKTM1PrYNM2S3bN2h7O/YbOHPax4LrcKoIiICIiAiIgIiICIiAiIgIiICIiAiKHtK+ks0730eW32eLtmmae0PDHEflcBcO13DbctDdaQtKcWXnugwYNmqhscT+ziP17ds76g3cJG4wRjGLT43XGXFpXSyHhdwDiaBsaOQABYQFtyKNQREUBERAREQEREHtR1clBVNkoXujkbta9hII5iP7cKmnR/pdbVubBmwtY82DajYGvPFKNzD9Ydifq8MIIqLl79yKA9Fekk4K9tLj7r0p7GOR38jia4/N/h73tZ7BuNirL6iIgIiICIiAiIgIi0ecczw5TwV09dtPasYDtkkO5o4uMngAJQZuNYzT4FQmXF5WxRjhdwniaBtceQAlRRj+nDsy3LlOCOCScnbyiNpvbncDyBRhmbMVRmfEzNiz9Z23VaO1jb8mMcA3XO822rUqVY7aq0r4vO+7KhsfIyGK39bXH0rx66GMfTD5mm9kuPRFjrZdJmLyxFr6x1iCDaKnabHiLYgQeUEELkgLDYiICIigIiICIiAiL0p4XVM7WUzXPe4hrWtBJc47gANpKDzRSvl3QnPVwh+YJhBf+XGA9475x7Fp5AHDlXSt0H0AHZT1n34fYqwqA0U+9Y/D/n6z78PsU6x+H/P1n34fYoVAS6bDNIOKYVQMhoKpzYmDVY0xwu1WjcAXxl1huAvsFgNgUr9Y/D/AJ+s+/D7FOsfh/z9Z9+H2KHiMuuhjH0w+ZpvZL0h0qYvFJd1UH8joYLf0sB9KknrH4f8/Wffh9ivxLoPoSz9VUVYPGXQkdI6kP7onjn8D04TRPAx6nZI3hfAS1wHevJDj9pqljLWaKTM9Lr4NKH27Zp2PYT8tp2jh27jbYSoSzTohrcGiMmFuFVGNpDGlsgHeXOv9k3PyVwuF4lNg+INmwx7o5WHY4elrgdhHG07EFwEXI6Oc7szjhZLwGVMdhLGN23c9l9uq7byg3G3YT1yqCIiAqy6VczHMmbH9TN4ICYohwbDZ7/tOG/ia1WDzdiJwjK1TPF20cL3N74NOr6bKpTW6rQBwKauPqIdynrKejbCcay1T1D4X60sTXO/XTWDyBrAWdwOuEVAqKc8+6NMOwnJ1RNhULmTRsD2uMszrBrgXbHPLTdusNo4VFeQ8FbmHN1PT1IJje5xfYkdg1jnHaNovYC/KhWgRWN6z+E/NS+el/Mos0t5ShynjMLcJDmwyxE2c5zj1RrrON3G+50ezkKFcKiknRBkmmzXFUvxprnNjLGs1XubZxDi6+qRfYY/SpE6z+E/NS+el/MkKrkvoaXRlzQS0byBsHOdwXW5VwWmxzSU2naLUhml1W6xJdFGHua2+86waL7dxKsxTUzKWnEdMxrI2iwa0ANA4gBsAQqnO/cikfThl+DBcwRSYa1rBOxznsbsAewtGsBwa2ttA2XaTvJUcICnHQTlVsGHGvrG3kkLmQ3/AIIgbOcOIucCL/JaLdsVBkjtWMkcAVvsBw8YTgkEEe6KNjPutAv6ExNZ6LmNJGPS5aylJUYcGGRrmAa4JHZPa03AIO48ah/rz4pxUnmn+1VRYdFXjrz4pxUnmn+1Trz4pxUnmn+1RYsOirx158U4qTzT/arpdHekuuzHm2KnxEU/U3h5OoxwPYsLhYl54RxIRMS+NcHdqRsUQ6esxVFCYKaie6OORrnyFpIL7EAMuNttpJHDcdMN4XXS4PWCXCpHQyt3OYbdDhucONpuDwqEXDUS6ZshtqaJ9fhLQJWDWna0ftIxvk79o2k8LQeEBSTlvETi+XqeeVuq6WGOQgbgXtDiBybVsHND2kPFwdhB4RyqoqZlPMD8sY/HU01yGmz2j+OI212c5G0fWDTwK2FPM2pga+AhzHAOaRuLSLgjnCqZmnChgeZainZ2sUrmt8GeyZ/QWqwWh2vNfo+p+qG5j1ouhjiGj7mopi67VERVHK6U/i9rPBf5Cq8rQaU/i9rPBf7BVfU1cFYPQNiPvrJZiO+CZ7fsvtID5XuHQq+KU/c+4j1DMNRA7dLEHjvonW8pEh+6mLqYs20nv/KtVE3e+CVo5yxwHpUM+58offOZZpzuigDftSuuD5I3eVT25oe0h247FGmgjBjheXZ3TDsnVDmX42wgM/GJFWUmKKfdCUHVcAp5mjbHMWE8TZGm/wDUxg8ilMyhsoaT2RBIHGBa56LjyrlNLFB8IaPqoDexglH/AMnB59DSOlBptAtH73yS55/mzvd0NDY/7sPlXX5xxP4GyrUzt7aOJ5b39rNHS4tC12i+j95aP6No/iiEnTKTIfxrntPeJe9cnshbvnmaD3jLyE/ebGOlBA2FSy0dfE7Cy4TNc3qZbtdr3sABwknZbbe9tt1NlLpDxmOkAqsGmfJbt2iZjSePU6k4/wBSh3LXdNSeMw+tYrcqYuqp52ra7Esa6rmmN8crmjVY5jmBsYJsI2u26t9bbc7Sdq0ClH3QXdRT+L/7uUXIrMweLq+MwNO500begvaP8q36qPljbmek8Zh9axW4TE1wmm34u5u/h9axVvVkNNvxdzd/D61iremmOty1o6rsy4UJ8L6j1Muc0a8habtNjsDDw8q2nWbxX/1vOu9mpK0G/F9H4WX8ZUgIVXXrN4r/AOt513s10ujnRtX5dzdFUYl1DqbA8HUkLj2TCBYFg4SFMqKlcnpFwTD8awpozPKyAB36qZ0jIy15G1rS/Ybhu1p36t94BEcYTkTA6atDsTxemnjBv1MTQMDuR5EhJHNqroPdCdy9P4yPVSqBZf2Z5ioYuVAWugb73tqWGrq2tq22attlrL9rAwH9xweCZ+ELPVRWLS38Y9Z30fqIlKugTuId4w/8LFFWlv4x6zvo/URKVdAncS7xh/4WKdXiSERFUcppT+L2s8F/sFV9Wg0p/F7WeC/yFV9TVwXR6OcR+Cs9UkhNgZRGeaUGPbyAuB6FziBxYbxGzhtB4nDaD5UVctYWE4c3C6QxwdqZJJOmWR8h9LymC14xXB4Z4u1ljZIOZzQf8rNVZR/mLH/e2l3D6cHsTDKHf/UHV6daAfeXc19KK6hkil7WRjmHmcCD/dVzztj1tLb6jW7CCpibzNgLA8c2sJPKVZNBj4dSihw+ONm5jGsHM0Af4UF6f8R985ohhbuhh1vtSu2j7sbD0qfFVLPuJfC2dKuUbjM5o72O0YPSGA9KmrjDy13TUnjMPrWK3KqNlrumpPGYfWsVuUw1Avugu6in8X/3couUo+6C7qKfxf8A3couRcbPLHdRSeMw+tYrcKpGVW62aqMDhqoPWsVt0xNcJpt+Lubv4fWsVb1ZDTb8Xc3fw+tYq3ppjIhrpYGWp5ZWN4myPaPIDZfv4UqPn5/OyfmUn6NdG9HmjKrajEXTiQve06j2gWa4gbC08C6nrLYb8uq8438iLUD/AApUfPz+dk/Mpt0AVMlTgdSal73kTgAvc5xA6m02FysvrLYb8uq8438i6nKGUqfKNI+PCjIWyO1z1RwJvYDZYDgARN1xfuhO5en8ZHqpVAsv7M8xU9e6E7l6fxkeqlUCy/szzFNXFvsB/ccHgmfhCz1gYD+44PBM/CFnqsqxaW/jHrO+j9REpV0CdxLvGH/hYoq0t/GPWd9H6iJSroE7iXeMP/CxTq8SQiIqjSZ2oDieT6uKIXc+CQNHG7VJaPKAqnNOs24VzFVrSLls5YzVJEwWheTJDxdTce1HeG7bcQB4VNXHMoiKKsfoTxL3/kKNrjd0L3xHmB1mjoY9g6F29XUNpKV75tjWNLjzNFyqk4bjlVhUZbhdRNC1xuRHI5oJta5AO+wA6FkVGaq+qp3MqaypcxwLXNdK8hzSLFrhfaCNllakamqndXSvfUdtIXPd3zyXH0kq2WUa/wCFMrUszt8kMbj3xaLjy3VS1tqPM1dQ0zY6KrqI427GtbK8ADiABsEXcWjzLiXwNl6onP8AKie8cpa0kDpNh0qorRZvZbTx8a21ZmWtrqYx1tVUSRu7Zr5XkHbfaCbHaAtUhjZZa7pqTxmH1rFblU3ikdDKHQktc0hzSDYhwNwQeAg2K3P6YYj9NqvPSf8AaG47X3QXdRT+L/7uUXLLxLE58VlDsTlklcBYGRxcQN9gSd11iKDo9HNL78z5RN3/AK4P82DJ/orUKCNAWBOqcclq5B+rhaYmnjlfYm3es3+FCndXE1wmm34u5u/h9axVvVw6+hixKlMeIRsljNrskaHNNjcXBFth2rVfoXhn0Cj/AOPF+VUrnNBvxfR+Fl/GVICxsPoIcMphHh0ccUYuQyNrWtBO8gAWWSiCIiCLPdCdy9P4yPVSqBZf2Z5irg4nhcGLQhmKQxTMB1g2RjXgOsRcBwIvYnbyrXfoXhn0Cj/48X5VFzWdgP7jg8Ez8IWevzHGIow2IANAsANgAG4DkUcaYc7twTCnUmHO/wD1TNs7VO2GJw2uPE4jY3h263AL1ELZzxQY1m2qniN2PldqkcLG2Y1w52taelTzoXojR6PoTILGRz5OhzyGnpaGnpVfcv4NJj+MxU1D20jg29u0b/E88jW3PRbhVtKGkZQUTIqUWjja1jRxNaAAPIFMXXuiIqguY0gZPjzhg3U3kMmZd0Mlu1cd4PDqusARyA7wF06IKgYvhc2C4g6HFGGOVm8HhHA5p/iaeAhYathmjKtJmmk1MXjDiL6jxsewnhY7g4NhuDYXBUPZg0LVlG4nA5GVDOBriI5OQbewdz3bzKRajBF0VRkXFKZ1paKo+y3X9LCQvD9D8R+hVfmZP+kVpEW4mypiEERdNR1Qa0EkmGSwA2knsdy04NxsUBERAREQFusBw6jqagHHa1sEfCGQ1Ekh5BaLUHPd3MVpUQWHwXSHgOB4YyDDJyyJgsB1Cp5ySep7STckneSs3rs4P9Jd5ip9kq1orUiynXZwf6S7zFT7JOuzg/0l3mKn2SrWiUiynXZwf6S7zFT7JOuzg/0l3mKn2SrWiUiynXZwf6S7zFT7JOuzg/0l3mKn2SrWtpRZbra+mElDS1Ekbtz2RPLTbZsIFjtulIsB12cH+ku8xU+yX4m0uYRGy7J3uPE2Ce/9TAPSoJ/Q/EfoVX5mT/pekOScTndaOiqb/WjLfS6wSkd3mnTXLVRFmWYjCD/Nl1S8d4wEtB5SXcyi0CXE6/sdeaeV3K58jz6SSu9wPQ5iNe4HEjHSs4dYiR/Q1h1fK8KX8nZEo8pR3oGl8xFnTSWLyOIWFmt5GgXsL33oNVosyEMp0JlxCxrJRZ1toiZsPUmnh2gFxG8gcABXeIiqCIiAiIgIiICIiAoI0saNzhcj6zAG3pzd0sTR+xO8vYPm+Ej+Df2vazuiCmiKbtIWiMVb3VGUw1jzcup9ga48cR3MP1T2J+rwwtVU76OpdHVtcyRps5jgQ5p5QdoUaeSIigIiICIiAiIgIvrQXPAYCSTYAC5JO4AcJPEpZyBoifVubPmwFke9tPuc/wAKR2g+qNp4dW1jRodGWj1+a6kTYgHMomnadoMxG9kZ36t9jnjlA23LbFwQtp4Gsp2hrGgNa1oADWgWAAG4AcC+wQtp4QyBoaxoAa1oADQNgAA2ADiX7VZEREBERAREQEREBERAREQEREBERAWjzPlKjzRBq4vEHOAs2RvYvZ3rhttyG44wt4iCA8yaGKuhcXYA9tRH8hxDJBybewdz3bzKO8TwyfCJdXFYZITu/WMc2/ekizucEq4C/EsTZoy2YBzTvBAIPOCpFqm6K0lfo9wqvv1ejhBO8xgxnyxlpWol0P4S89jFK3mml/y4pCq5IrGR6HsJaeyjmPPNJ/ghbOh0bYTRH9VRxO8LrS+sc5IVWaipZK+bUoI3yv8Akxsc8+RoJXfZc0P1+JuDsU1aWP61nyEcjGmw+04EcSsDS0sdHCG0jGsaNzWNDQOYDYvZIVy+UshUWVRrUDNea1jNJZz/ALOyzRyNA5brqERVBERAREQEREBERAREQEREBERAREQEREBERAREQEREBERAREQEREBERAREQEREBERAREQEREBERAREQEREBERAREQEREBERAREQEREBERAREQEREBERAREQEREBERAREQEREBERAREQEREBERAREQEREBERAREQEREBERAREQf/9k="/>
          <p:cNvSpPr>
            <a:spLocks noChangeAspect="1" noChangeArrowheads="1"/>
          </p:cNvSpPr>
          <p:nvPr/>
        </p:nvSpPr>
        <p:spPr bwMode="auto">
          <a:xfrm>
            <a:off x="63500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4" name="AutoShape 4" descr="data:image/jpeg;base64,/9j/4AAQSkZJRgABAQAAAQABAAD/2wCEAAkGBxIHBhUUBxQUFRIXGB0YGRgXGBccHhgWGx0cHR8YFiAeHC0gHR8lHhwXITEhJiorLi4uGCAzODMsNygtMCsBCgoKDg0MFA8PFysZFBksLCw3LCwsKywsLCwsNyssLCssKyw3Nyw3KysrLCwrKyssLCwsKysrKysrKysrKysrLP/AABEIAOEA4QMBIgACEQEDEQH/xAAcAAEAAgMBAQEAAAAAAAAAAAAABwgEBQYDAQL/xABNEAABAwICBAUNDAoCAwEAAAABAAIDBBEFBgcSITFBUWFxgRMXIjI2cnN0kZOhs9MIFBU3UlNUYoKSstIWIzM1QkOiscHClNFjZIMk/8QAFgEBAQEAAAAAAAAAAAAAAAAAAAEC/8QAGBEBAQEBAQAAAAAAAAAAAAAAABEBQSH/2gAMAwEAAhEDEQA/AJxREQEREBERAREQEREBERAREQEREBERAREQEREBERAREQEREBERAREQEREBERAREQEREBERAREQEREBERAREQEREBERAREQEREBERAREQEREBERAREQERYGNY1T4FRmXF5WRM43HeeJo3uPIASgz0UM5k03bS3LMF//ACz3tztjab9LnDlCjjGc5YhjTj8IVUxaf4GO6my3FqssD03KVYs7iOOUuF/vKogi8JIxv9ytPLpEwqI9lWwHvXa34QVVtrA3tQAvqlItEzSNhLzsrYRzkj+4W0w/MlFiTrYfVU8h4mSscfIDdVJXxzQ7tgClIuYiqVg+Za3BCPgqpmjA3NDiWfcddnoUh5d02zQENzFC2VvzkPYv6WOOq48xbzJSJyRafLmaKTM1PrYNM2S3bN2h7O/YbOHPax4LrcKoIiICIiAiIgIiICIiAiIgIiICIiAiKHtK+ks0730eW32eLtmmae0PDHEflcBcO13DbctDdaQtKcWXnugwYNmqhscT+ziP17ds76g3cJG4wRjGLT43XGXFpXSyHhdwDiaBsaOQABYQFtyKNQREUBERAREQEREHtR1clBVNkoXujkbta9hII5iP7cKmnR/pdbVubBmwtY82DajYGvPFKNzD9Ydifq8MIIqLl79yKA9Fekk4K9tLj7r0p7GOR38jia4/N/h73tZ7BuNirL6iIgIiICIiAiIgIi0ecczw5TwV09dtPasYDtkkO5o4uMngAJQZuNYzT4FQmXF5WxRjhdwniaBtceQAlRRj+nDsy3LlOCOCScnbyiNpvbncDyBRhmbMVRmfEzNiz9Z23VaO1jb8mMcA3XO822rUqVY7aq0r4vO+7KhsfIyGK39bXH0rx66GMfTD5mm9kuPRFjrZdJmLyxFr6x1iCDaKnabHiLYgQeUEELkgLDYiICIigIiICIiAiL0p4XVM7WUzXPe4hrWtBJc47gANpKDzRSvl3QnPVwh+YJhBf+XGA9475x7Fp5AHDlXSt0H0AHZT1n34fYqwqA0U+9Y/D/n6z78PsU6x+H/P1n34fYoVAS6bDNIOKYVQMhoKpzYmDVY0xwu1WjcAXxl1huAvsFgNgUr9Y/D/AJ+s+/D7FOsfh/z9Z9+H2KHiMuuhjH0w+ZpvZL0h0qYvFJd1UH8joYLf0sB9KknrH4f8/Wffh9ivxLoPoSz9VUVYPGXQkdI6kP7onjn8D04TRPAx6nZI3hfAS1wHevJDj9pqljLWaKTM9Lr4NKH27Zp2PYT8tp2jh27jbYSoSzTohrcGiMmFuFVGNpDGlsgHeXOv9k3PyVwuF4lNg+INmwx7o5WHY4elrgdhHG07EFwEXI6Oc7szjhZLwGVMdhLGN23c9l9uq7byg3G3YT1yqCIiAqy6VczHMmbH9TN4ICYohwbDZ7/tOG/ia1WDzdiJwjK1TPF20cL3N74NOr6bKpTW6rQBwKauPqIdynrKejbCcay1T1D4X60sTXO/XTWDyBrAWdwOuEVAqKc8+6NMOwnJ1RNhULmTRsD2uMszrBrgXbHPLTdusNo4VFeQ8FbmHN1PT1IJje5xfYkdg1jnHaNovYC/KhWgRWN6z+E/NS+el/Mos0t5ShynjMLcJDmwyxE2c5zj1RrrON3G+50ezkKFcKiknRBkmmzXFUvxprnNjLGs1XubZxDi6+qRfYY/SpE6z+E/NS+el/MkKrkvoaXRlzQS0byBsHOdwXW5VwWmxzSU2naLUhml1W6xJdFGHua2+86waL7dxKsxTUzKWnEdMxrI2iwa0ANA4gBsAQqnO/cikfThl+DBcwRSYa1rBOxznsbsAewtGsBwa2ttA2XaTvJUcICnHQTlVsGHGvrG3kkLmQ3/AIIgbOcOIucCL/JaLdsVBkjtWMkcAVvsBw8YTgkEEe6KNjPutAv6ExNZ6LmNJGPS5aylJUYcGGRrmAa4JHZPa03AIO48ah/rz4pxUnmn+1VRYdFXjrz4pxUnmn+1Trz4pxUnmn+1RYsOirx158U4qTzT/arpdHekuuzHm2KnxEU/U3h5OoxwPYsLhYl54RxIRMS+NcHdqRsUQ6esxVFCYKaie6OORrnyFpIL7EAMuNttpJHDcdMN4XXS4PWCXCpHQyt3OYbdDhucONpuDwqEXDUS6ZshtqaJ9fhLQJWDWna0ftIxvk79o2k8LQeEBSTlvETi+XqeeVuq6WGOQgbgXtDiBybVsHND2kPFwdhB4RyqoqZlPMD8sY/HU01yGmz2j+OI212c5G0fWDTwK2FPM2pga+AhzHAOaRuLSLgjnCqZmnChgeZainZ2sUrmt8GeyZ/QWqwWh2vNfo+p+qG5j1ouhjiGj7mopi67VERVHK6U/i9rPBf5Cq8rQaU/i9rPBf7BVfU1cFYPQNiPvrJZiO+CZ7fsvtID5XuHQq+KU/c+4j1DMNRA7dLEHjvonW8pEh+6mLqYs20nv/KtVE3e+CVo5yxwHpUM+58offOZZpzuigDftSuuD5I3eVT25oe0h247FGmgjBjheXZ3TDsnVDmX42wgM/GJFWUmKKfdCUHVcAp5mjbHMWE8TZGm/wDUxg8ilMyhsoaT2RBIHGBa56LjyrlNLFB8IaPqoDexglH/AMnB59DSOlBptAtH73yS55/mzvd0NDY/7sPlXX5xxP4GyrUzt7aOJ5b39rNHS4tC12i+j95aP6No/iiEnTKTIfxrntPeJe9cnshbvnmaD3jLyE/ebGOlBA2FSy0dfE7Cy4TNc3qZbtdr3sABwknZbbe9tt1NlLpDxmOkAqsGmfJbt2iZjSePU6k4/wBSh3LXdNSeMw+tYrcqYuqp52ra7Esa6rmmN8crmjVY5jmBsYJsI2u26t9bbc7Sdq0ClH3QXdRT+L/7uUXIrMweLq+MwNO500begvaP8q36qPljbmek8Zh9axW4TE1wmm34u5u/h9axVvVkNNvxdzd/D61iremmOty1o6rsy4UJ8L6j1Muc0a8habtNjsDDw8q2nWbxX/1vOu9mpK0G/F9H4WX8ZUgIVXXrN4r/AOt513s10ujnRtX5dzdFUYl1DqbA8HUkLj2TCBYFg4SFMqKlcnpFwTD8awpozPKyAB36qZ0jIy15G1rS/Ybhu1p36t94BEcYTkTA6atDsTxemnjBv1MTQMDuR5EhJHNqroPdCdy9P4yPVSqBZf2Z5ioYuVAWugb73tqWGrq2tq22attlrL9rAwH9xweCZ+ELPVRWLS38Y9Z30fqIlKugTuId4w/8LFFWlv4x6zvo/URKVdAncS7xh/4WKdXiSERFUcppT+L2s8F/sFV9Wg0p/F7WeC/yFV9TVwXR6OcR+Cs9UkhNgZRGeaUGPbyAuB6FziBxYbxGzhtB4nDaD5UVctYWE4c3C6QxwdqZJJOmWR8h9LymC14xXB4Z4u1ljZIOZzQf8rNVZR/mLH/e2l3D6cHsTDKHf/UHV6daAfeXc19KK6hkil7WRjmHmcCD/dVzztj1tLb6jW7CCpibzNgLA8c2sJPKVZNBj4dSihw+ONm5jGsHM0Af4UF6f8R985ohhbuhh1vtSu2j7sbD0qfFVLPuJfC2dKuUbjM5o72O0YPSGA9KmrjDy13TUnjMPrWK3KqNlrumpPGYfWsVuUw1Avugu6in8X/3couUo+6C7qKfxf8A3couRcbPLHdRSeMw+tYrcKpGVW62aqMDhqoPWsVt0xNcJpt+Lubv4fWsVb1ZDTb8Xc3fw+tYq3ppjIhrpYGWp5ZWN4myPaPIDZfv4UqPn5/OyfmUn6NdG9HmjKrajEXTiQve06j2gWa4gbC08C6nrLYb8uq8438iLUD/AApUfPz+dk/Mpt0AVMlTgdSal73kTgAvc5xA6m02FysvrLYb8uq8438i6nKGUqfKNI+PCjIWyO1z1RwJvYDZYDgARN1xfuhO5en8ZHqpVAsv7M8xU9e6E7l6fxkeqlUCy/szzFNXFvsB/ccHgmfhCz1gYD+44PBM/CFnqsqxaW/jHrO+j9REpV0CdxLvGH/hYoq0t/GPWd9H6iJSroE7iXeMP/CxTq8SQiIqjSZ2oDieT6uKIXc+CQNHG7VJaPKAqnNOs24VzFVrSLls5YzVJEwWheTJDxdTce1HeG7bcQB4VNXHMoiKKsfoTxL3/kKNrjd0L3xHmB1mjoY9g6F29XUNpKV75tjWNLjzNFyqk4bjlVhUZbhdRNC1xuRHI5oJta5AO+wA6FkVGaq+qp3MqaypcxwLXNdK8hzSLFrhfaCNllakamqndXSvfUdtIXPd3zyXH0kq2WUa/wCFMrUszt8kMbj3xaLjy3VS1tqPM1dQ0zY6KrqI427GtbK8ADiABsEXcWjzLiXwNl6onP8AKie8cpa0kDpNh0qorRZvZbTx8a21ZmWtrqYx1tVUSRu7Zr5XkHbfaCbHaAtUhjZZa7pqTxmH1rFblU3ikdDKHQktc0hzSDYhwNwQeAg2K3P6YYj9NqvPSf8AaG47X3QXdRT+L/7uUXLLxLE58VlDsTlklcBYGRxcQN9gSd11iKDo9HNL78z5RN3/AK4P82DJ/orUKCNAWBOqcclq5B+rhaYmnjlfYm3es3+FCndXE1wmm34u5u/h9axVvVw6+hixKlMeIRsljNrskaHNNjcXBFth2rVfoXhn0Cj/AOPF+VUrnNBvxfR+Fl/GVICxsPoIcMphHh0ccUYuQyNrWtBO8gAWWSiCIiCLPdCdy9P4yPVSqBZf2Z5irg4nhcGLQhmKQxTMB1g2RjXgOsRcBwIvYnbyrXfoXhn0Cj/48X5VFzWdgP7jg8Ez8IWevzHGIow2IANAsANgAG4DkUcaYc7twTCnUmHO/wD1TNs7VO2GJw2uPE4jY3h263AL1ELZzxQY1m2qniN2PldqkcLG2Y1w52taelTzoXojR6PoTILGRz5OhzyGnpaGnpVfcv4NJj+MxU1D20jg29u0b/E88jW3PRbhVtKGkZQUTIqUWjja1jRxNaAAPIFMXXuiIqguY0gZPjzhg3U3kMmZd0Mlu1cd4PDqusARyA7wF06IKgYvhc2C4g6HFGGOVm8HhHA5p/iaeAhYathmjKtJmmk1MXjDiL6jxsewnhY7g4NhuDYXBUPZg0LVlG4nA5GVDOBriI5OQbewdz3bzKRajBF0VRkXFKZ1paKo+y3X9LCQvD9D8R+hVfmZP+kVpEW4mypiEERdNR1Qa0EkmGSwA2knsdy04NxsUBERAREQFusBw6jqagHHa1sEfCGQ1Ekh5BaLUHPd3MVpUQWHwXSHgOB4YyDDJyyJgsB1Cp5ySep7STckneSs3rs4P9Jd5ip9kq1orUiynXZwf6S7zFT7JOuzg/0l3mKn2SrWiUiynXZwf6S7zFT7JOuzg/0l3mKn2SrWiUiynXZwf6S7zFT7JOuzg/0l3mKn2SrWtpRZbra+mElDS1Ekbtz2RPLTbZsIFjtulIsB12cH+ku8xU+yX4m0uYRGy7J3uPE2Ce/9TAPSoJ/Q/EfoVX5mT/pekOScTndaOiqb/WjLfS6wSkd3mnTXLVRFmWYjCD/Nl1S8d4wEtB5SXcyi0CXE6/sdeaeV3K58jz6SSu9wPQ5iNe4HEjHSs4dYiR/Q1h1fK8KX8nZEo8pR3oGl8xFnTSWLyOIWFmt5GgXsL33oNVosyEMp0JlxCxrJRZ1toiZsPUmnh2gFxG8gcABXeIiqCIiAiIgIiICIiAoI0saNzhcj6zAG3pzd0sTR+xO8vYPm+Ej+Df2vazuiCmiKbtIWiMVb3VGUw1jzcup9ga48cR3MP1T2J+rwwtVU76OpdHVtcyRps5jgQ5p5QdoUaeSIigIiICIiAiIgIvrQXPAYCSTYAC5JO4AcJPEpZyBoifVubPmwFke9tPuc/wAKR2g+qNp4dW1jRodGWj1+a6kTYgHMomnadoMxG9kZ36t9jnjlA23LbFwQtp4Gsp2hrGgNa1oADWgWAAG4AcC+wQtp4QyBoaxoAa1oADQNgAA2ADiX7VZEREBERAREQEREBERAREQEREBERAWjzPlKjzRBq4vEHOAs2RvYvZ3rhttyG44wt4iCA8yaGKuhcXYA9tRH8hxDJBybewdz3bzKO8TwyfCJdXFYZITu/WMc2/ekizucEq4C/EsTZoy2YBzTvBAIPOCpFqm6K0lfo9wqvv1ejhBO8xgxnyxlpWol0P4S89jFK3mml/y4pCq5IrGR6HsJaeyjmPPNJ/ghbOh0bYTRH9VRxO8LrS+sc5IVWaipZK+bUoI3yv8Akxsc8+RoJXfZc0P1+JuDsU1aWP61nyEcjGmw+04EcSsDS0sdHCG0jGsaNzWNDQOYDYvZIVy+UshUWVRrUDNea1jNJZz/ALOyzRyNA5brqERVBERAREQEREBERAREQEREBERAREQEREBERAREQEREBERAREQEREBERAREQEREBERAREQEREBERAREQEREBERAREQEREBERAREQEREBERAREQEREBERAREQEREBERAREQEREBERAREQEREBERAREQEREBERAREQEREBERAREQf/9k="/>
          <p:cNvSpPr>
            <a:spLocks noChangeAspect="1" noChangeArrowheads="1"/>
          </p:cNvSpPr>
          <p:nvPr/>
        </p:nvSpPr>
        <p:spPr bwMode="auto">
          <a:xfrm>
            <a:off x="215900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13" name="2 Subtítulo"/>
          <p:cNvSpPr txBox="1">
            <a:spLocks/>
          </p:cNvSpPr>
          <p:nvPr/>
        </p:nvSpPr>
        <p:spPr>
          <a:xfrm>
            <a:off x="1231094" y="2780928"/>
            <a:ext cx="1924025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dirty="0" smtClean="0"/>
              <a:t>Asíncrona</a:t>
            </a:r>
            <a:endParaRPr lang="es-CO" dirty="0"/>
          </a:p>
        </p:txBody>
      </p:sp>
      <p:sp>
        <p:nvSpPr>
          <p:cNvPr id="14" name="2 Subtítulo"/>
          <p:cNvSpPr txBox="1">
            <a:spLocks/>
          </p:cNvSpPr>
          <p:nvPr/>
        </p:nvSpPr>
        <p:spPr>
          <a:xfrm>
            <a:off x="5766849" y="2636912"/>
            <a:ext cx="1924025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dirty="0" smtClean="0"/>
              <a:t>Síncrona</a:t>
            </a:r>
            <a:endParaRPr lang="es-CO" dirty="0"/>
          </a:p>
        </p:txBody>
      </p:sp>
      <p:pic>
        <p:nvPicPr>
          <p:cNvPr id="5126" name="Picture 6" descr="File:SPI three slaves.svg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0654" y="3266182"/>
            <a:ext cx="2230283" cy="1769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 descr="http://www.totalphase.com/image/articles/i2c-diagram.png">
            <a:hlinkClick r:id="rId4"/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3588" y="5085184"/>
            <a:ext cx="3744416" cy="1290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2" name="Picture 12" descr="http://www.mikroe.com/img/publication/dspic-books/programming-pascal-dspic/chapter/10/fig10-9.gif">
            <a:hlinkClick r:id="rId6"/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7528" y="3429000"/>
            <a:ext cx="2389944" cy="2778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2 Subtítulo"/>
          <p:cNvSpPr txBox="1">
            <a:spLocks/>
          </p:cNvSpPr>
          <p:nvPr/>
        </p:nvSpPr>
        <p:spPr>
          <a:xfrm>
            <a:off x="3149016" y="3994770"/>
            <a:ext cx="3001057" cy="6484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1800" dirty="0" err="1" smtClean="0"/>
              <a:t>Microcontroladores</a:t>
            </a:r>
            <a:r>
              <a:rPr lang="es-MX" sz="1800" dirty="0" smtClean="0"/>
              <a:t>, Sensores, Memorias, Conversores ADC, etc.</a:t>
            </a:r>
            <a:endParaRPr lang="es-CO" sz="1800" dirty="0"/>
          </a:p>
        </p:txBody>
      </p:sp>
    </p:spTree>
    <p:extLst>
      <p:ext uri="{BB962C8B-B14F-4D97-AF65-F5344CB8AC3E}">
        <p14:creationId xmlns:p14="http://schemas.microsoft.com/office/powerpoint/2010/main" val="1801408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4000" dirty="0"/>
              <a:t>6</a:t>
            </a:r>
            <a:r>
              <a:rPr lang="es-ES" sz="4000" dirty="0" smtClean="0"/>
              <a:t>.4</a:t>
            </a:r>
            <a:r>
              <a:rPr lang="es-ES" sz="4000" dirty="0"/>
              <a:t>. Protocolo </a:t>
            </a:r>
            <a:r>
              <a:rPr lang="es-ES" sz="4000" dirty="0" smtClean="0"/>
              <a:t>RS232</a:t>
            </a:r>
            <a:endParaRPr lang="es-CO" sz="4000" dirty="0"/>
          </a:p>
        </p:txBody>
      </p:sp>
      <p:sp>
        <p:nvSpPr>
          <p:cNvPr id="5" name="2 Subtítulo"/>
          <p:cNvSpPr txBox="1">
            <a:spLocks/>
          </p:cNvSpPr>
          <p:nvPr/>
        </p:nvSpPr>
        <p:spPr>
          <a:xfrm>
            <a:off x="467544" y="4931739"/>
            <a:ext cx="8352928" cy="93610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2200" i="1" dirty="0" smtClean="0"/>
              <a:t>Es el protocolo fundamental, a partir de éste se han diseñado todos los demás (asíncronos).</a:t>
            </a:r>
            <a:endParaRPr lang="es-CO" sz="2200" i="1" dirty="0"/>
          </a:p>
        </p:txBody>
      </p:sp>
      <p:sp>
        <p:nvSpPr>
          <p:cNvPr id="6" name="2 Subtítulo"/>
          <p:cNvSpPr txBox="1">
            <a:spLocks/>
          </p:cNvSpPr>
          <p:nvPr/>
        </p:nvSpPr>
        <p:spPr>
          <a:xfrm>
            <a:off x="395536" y="5805264"/>
            <a:ext cx="2419545" cy="52840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2200" b="1" i="1" dirty="0" smtClean="0">
                <a:solidFill>
                  <a:srgbClr val="FF0000"/>
                </a:solidFill>
              </a:rPr>
              <a:t>Práctica I Serial</a:t>
            </a:r>
            <a:endParaRPr lang="es-CO" sz="2200" b="1" i="1" dirty="0">
              <a:solidFill>
                <a:srgbClr val="FF0000"/>
              </a:solidFill>
            </a:endParaRPr>
          </a:p>
        </p:txBody>
      </p:sp>
      <p:pic>
        <p:nvPicPr>
          <p:cNvPr id="1026" name="Picture 2" descr="Image:Rs232protocol_graphic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149" y="2348880"/>
            <a:ext cx="5616624" cy="20067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2 Subtítulo"/>
          <p:cNvSpPr txBox="1">
            <a:spLocks/>
          </p:cNvSpPr>
          <p:nvPr/>
        </p:nvSpPr>
        <p:spPr>
          <a:xfrm>
            <a:off x="3419872" y="2519647"/>
            <a:ext cx="8352928" cy="93610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1800" b="1" i="1" dirty="0" smtClean="0"/>
              <a:t>Protocolo en este ejemplo:</a:t>
            </a:r>
          </a:p>
          <a:p>
            <a:pPr marL="0" indent="0" algn="ctr">
              <a:buNone/>
            </a:pPr>
            <a:r>
              <a:rPr lang="es-CO" sz="1800" i="1" dirty="0" smtClean="0"/>
              <a:t>1 bit de inicio</a:t>
            </a:r>
          </a:p>
          <a:p>
            <a:pPr marL="0" indent="0" algn="ctr">
              <a:buNone/>
            </a:pPr>
            <a:r>
              <a:rPr lang="es-CO" sz="1800" i="1" dirty="0" smtClean="0"/>
              <a:t>8 bits de datos (palabra)</a:t>
            </a:r>
          </a:p>
          <a:p>
            <a:pPr marL="0" indent="0" algn="ctr">
              <a:buNone/>
            </a:pPr>
            <a:r>
              <a:rPr lang="es-CO" sz="1800" i="1" dirty="0" smtClean="0"/>
              <a:t>1 bit de paridad (opcional)</a:t>
            </a:r>
          </a:p>
          <a:p>
            <a:pPr marL="0" indent="0" algn="ctr">
              <a:buNone/>
            </a:pPr>
            <a:r>
              <a:rPr lang="es-CO" sz="1800" i="1" dirty="0" smtClean="0"/>
              <a:t>1 bit de parada</a:t>
            </a:r>
            <a:endParaRPr lang="es-CO" sz="1800" i="1" dirty="0"/>
          </a:p>
        </p:txBody>
      </p:sp>
      <p:sp>
        <p:nvSpPr>
          <p:cNvPr id="2" name="Rectángulo 1"/>
          <p:cNvSpPr/>
          <p:nvPr/>
        </p:nvSpPr>
        <p:spPr>
          <a:xfrm>
            <a:off x="1259632" y="4375636"/>
            <a:ext cx="4572000" cy="24622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000" dirty="0"/>
              <a:t>http://www.labautopedia.org/mw/Electronic_interfaces/RS-232</a:t>
            </a:r>
          </a:p>
        </p:txBody>
      </p:sp>
      <p:sp>
        <p:nvSpPr>
          <p:cNvPr id="4" name="Rectángulo 3"/>
          <p:cNvSpPr/>
          <p:nvPr/>
        </p:nvSpPr>
        <p:spPr>
          <a:xfrm>
            <a:off x="1239788" y="6118491"/>
            <a:ext cx="797463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i="1" dirty="0" smtClean="0"/>
              <a:t>Link </a:t>
            </a:r>
            <a:r>
              <a:rPr lang="en-US" sz="1600" b="1" i="1" dirty="0" err="1" smtClean="0"/>
              <a:t>recomendado</a:t>
            </a:r>
            <a:r>
              <a:rPr lang="en-US" sz="1600" b="1" i="1" dirty="0" smtClean="0"/>
              <a:t>: </a:t>
            </a:r>
            <a:r>
              <a:rPr lang="en-US" sz="1600" i="1" dirty="0" smtClean="0"/>
              <a:t>http</a:t>
            </a:r>
            <a:r>
              <a:rPr lang="en-US" sz="1600" i="1" dirty="0"/>
              <a:t>://www.best-microcontroller-projects.com/how-rs232-works.html</a:t>
            </a:r>
          </a:p>
        </p:txBody>
      </p:sp>
      <p:sp>
        <p:nvSpPr>
          <p:cNvPr id="10" name="34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2049264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4000" dirty="0" smtClean="0"/>
              <a:t>6.4</a:t>
            </a:r>
            <a:r>
              <a:rPr lang="es-ES" sz="4000" dirty="0"/>
              <a:t>. Protocolo </a:t>
            </a:r>
            <a:r>
              <a:rPr lang="es-ES" sz="4000" dirty="0" smtClean="0"/>
              <a:t>RS232</a:t>
            </a:r>
            <a:endParaRPr lang="es-CO" sz="4000" dirty="0"/>
          </a:p>
        </p:txBody>
      </p:sp>
      <p:sp>
        <p:nvSpPr>
          <p:cNvPr id="6" name="2 Subtítulo"/>
          <p:cNvSpPr txBox="1">
            <a:spLocks/>
          </p:cNvSpPr>
          <p:nvPr/>
        </p:nvSpPr>
        <p:spPr>
          <a:xfrm>
            <a:off x="5436096" y="2442520"/>
            <a:ext cx="2199586" cy="52840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2200" b="1" i="1" dirty="0" smtClean="0">
                <a:solidFill>
                  <a:srgbClr val="FF0000"/>
                </a:solidFill>
              </a:rPr>
              <a:t>Práctica I Serial</a:t>
            </a:r>
            <a:endParaRPr lang="es-CO" sz="2200" b="1" i="1" dirty="0">
              <a:solidFill>
                <a:srgbClr val="FF0000"/>
              </a:solidFill>
            </a:endParaRPr>
          </a:p>
        </p:txBody>
      </p:sp>
      <p:pic>
        <p:nvPicPr>
          <p:cNvPr id="2050" name="Picture 2" descr="Resultado de imagen para example rs232 parity bit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490" y="3389726"/>
            <a:ext cx="3868065" cy="1679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Imagen relacionad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3789040"/>
            <a:ext cx="3227585" cy="2023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/>
          <p:cNvSpPr/>
          <p:nvPr/>
        </p:nvSpPr>
        <p:spPr>
          <a:xfrm>
            <a:off x="4115816" y="5877272"/>
            <a:ext cx="4572000" cy="40011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1000" dirty="0"/>
              <a:t>https://www.atlantic.net/blog/ecc-memory-critical-financial-medical-businesses/</a:t>
            </a:r>
          </a:p>
        </p:txBody>
      </p:sp>
      <p:sp>
        <p:nvSpPr>
          <p:cNvPr id="12" name="Rectángulo 11"/>
          <p:cNvSpPr/>
          <p:nvPr/>
        </p:nvSpPr>
        <p:spPr>
          <a:xfrm>
            <a:off x="336522" y="2879443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b="1" i="1" dirty="0" err="1" smtClean="0"/>
              <a:t>Paridad</a:t>
            </a:r>
            <a:r>
              <a:rPr lang="en-US" b="1" i="1" dirty="0" smtClean="0"/>
              <a:t> par o </a:t>
            </a:r>
            <a:r>
              <a:rPr lang="en-US" b="1" i="1" dirty="0" err="1" smtClean="0"/>
              <a:t>paridad</a:t>
            </a:r>
            <a:r>
              <a:rPr lang="en-US" b="1" i="1" dirty="0" smtClean="0"/>
              <a:t> </a:t>
            </a:r>
            <a:r>
              <a:rPr lang="en-US" b="1" i="1" dirty="0" err="1" smtClean="0"/>
              <a:t>impar</a:t>
            </a:r>
            <a:r>
              <a:rPr lang="en-US" b="1" i="1" dirty="0" smtClean="0"/>
              <a:t>?</a:t>
            </a:r>
            <a:endParaRPr lang="en-US" b="1" i="1" dirty="0"/>
          </a:p>
        </p:txBody>
      </p:sp>
      <p:sp>
        <p:nvSpPr>
          <p:cNvPr id="13" name="34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3139744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4000" dirty="0" smtClean="0"/>
              <a:t>6.4</a:t>
            </a:r>
            <a:r>
              <a:rPr lang="es-ES" sz="4000" dirty="0"/>
              <a:t>. Protocolo </a:t>
            </a:r>
            <a:r>
              <a:rPr lang="es-ES" sz="4000" dirty="0" smtClean="0"/>
              <a:t>RS232</a:t>
            </a:r>
            <a:endParaRPr lang="es-CO" sz="4000" dirty="0"/>
          </a:p>
        </p:txBody>
      </p:sp>
      <p:sp>
        <p:nvSpPr>
          <p:cNvPr id="5" name="2 Subtítulo"/>
          <p:cNvSpPr txBox="1">
            <a:spLocks/>
          </p:cNvSpPr>
          <p:nvPr/>
        </p:nvSpPr>
        <p:spPr>
          <a:xfrm>
            <a:off x="-1836712" y="3140968"/>
            <a:ext cx="8352928" cy="93610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2200" b="1" i="1" dirty="0" smtClean="0"/>
              <a:t>Caracteres </a:t>
            </a:r>
            <a:r>
              <a:rPr lang="es-CO" sz="2200" b="1" i="1" dirty="0" err="1" smtClean="0"/>
              <a:t>Ascci</a:t>
            </a:r>
            <a:r>
              <a:rPr lang="es-CO" sz="2200" b="1" i="1" dirty="0" smtClean="0"/>
              <a:t>:</a:t>
            </a:r>
            <a:endParaRPr lang="es-CO" sz="2200" b="1" i="1" dirty="0"/>
          </a:p>
        </p:txBody>
      </p:sp>
      <p:sp>
        <p:nvSpPr>
          <p:cNvPr id="6" name="2 Subtítulo"/>
          <p:cNvSpPr txBox="1">
            <a:spLocks/>
          </p:cNvSpPr>
          <p:nvPr/>
        </p:nvSpPr>
        <p:spPr>
          <a:xfrm>
            <a:off x="1239959" y="2177631"/>
            <a:ext cx="2199586" cy="52840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2200" b="1" i="1" dirty="0" smtClean="0">
                <a:solidFill>
                  <a:srgbClr val="FF0000"/>
                </a:solidFill>
              </a:rPr>
              <a:t>Práctica I Serial</a:t>
            </a:r>
            <a:endParaRPr lang="es-CO" sz="2200" b="1" i="1" dirty="0">
              <a:solidFill>
                <a:srgbClr val="FF0000"/>
              </a:solidFill>
            </a:endParaRPr>
          </a:p>
        </p:txBody>
      </p:sp>
      <p:pic>
        <p:nvPicPr>
          <p:cNvPr id="1026" name="Picture 2" descr="https://upload.wikimedia.org/wikipedia/commons/thumb/4/42/ASCII_full.svg/217px-ASCII_full.sv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3519591"/>
            <a:ext cx="3024336" cy="22856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8064" y="2001822"/>
            <a:ext cx="2063623" cy="4520321"/>
          </a:xfrm>
          <a:prstGeom prst="rect">
            <a:avLst/>
          </a:prstGeom>
        </p:spPr>
      </p:pic>
      <p:sp>
        <p:nvSpPr>
          <p:cNvPr id="4" name="Flecha derecha 3"/>
          <p:cNvSpPr/>
          <p:nvPr/>
        </p:nvSpPr>
        <p:spPr>
          <a:xfrm>
            <a:off x="4154253" y="4293096"/>
            <a:ext cx="504056" cy="55006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ángulo 6"/>
          <p:cNvSpPr/>
          <p:nvPr/>
        </p:nvSpPr>
        <p:spPr>
          <a:xfrm>
            <a:off x="3816821" y="6486191"/>
            <a:ext cx="4572000" cy="24622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1000" dirty="0"/>
              <a:t>http://uepcarmenuruchima.blogspot.com.co/2015/10/ple.html</a:t>
            </a:r>
          </a:p>
        </p:txBody>
      </p:sp>
      <p:sp>
        <p:nvSpPr>
          <p:cNvPr id="12" name="34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9" name="Rectángulo 8"/>
          <p:cNvSpPr/>
          <p:nvPr/>
        </p:nvSpPr>
        <p:spPr>
          <a:xfrm>
            <a:off x="89360" y="5839460"/>
            <a:ext cx="4572000" cy="24622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1000" dirty="0"/>
              <a:t>http://hangul.typographyseoul.com/tshangul/61168</a:t>
            </a:r>
          </a:p>
        </p:txBody>
      </p:sp>
    </p:spTree>
    <p:extLst>
      <p:ext uri="{BB962C8B-B14F-4D97-AF65-F5344CB8AC3E}">
        <p14:creationId xmlns:p14="http://schemas.microsoft.com/office/powerpoint/2010/main" val="3362873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4000" dirty="0" smtClean="0"/>
              <a:t>6.5</a:t>
            </a:r>
            <a:r>
              <a:rPr lang="es-ES" sz="4000" dirty="0"/>
              <a:t>. Módulo USART del </a:t>
            </a:r>
            <a:r>
              <a:rPr lang="es-ES" sz="4000" dirty="0" smtClean="0"/>
              <a:t>PIC</a:t>
            </a:r>
            <a:endParaRPr lang="es-CO" sz="4000" dirty="0"/>
          </a:p>
        </p:txBody>
      </p:sp>
      <p:sp>
        <p:nvSpPr>
          <p:cNvPr id="5" name="2 Subtítulo"/>
          <p:cNvSpPr txBox="1">
            <a:spLocks/>
          </p:cNvSpPr>
          <p:nvPr/>
        </p:nvSpPr>
        <p:spPr>
          <a:xfrm>
            <a:off x="467544" y="5661248"/>
            <a:ext cx="8352928" cy="93610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000" dirty="0"/>
              <a:t>Contiene todos los </a:t>
            </a:r>
            <a:r>
              <a:rPr lang="es-ES" sz="2000" dirty="0" smtClean="0"/>
              <a:t>temporizadores, </a:t>
            </a:r>
            <a:r>
              <a:rPr lang="es-ES" sz="2000" dirty="0"/>
              <a:t>registros de desplazamiento y </a:t>
            </a:r>
            <a:r>
              <a:rPr lang="es-ES" sz="2000" i="1" dirty="0" smtClean="0"/>
              <a:t>buffers</a:t>
            </a:r>
            <a:r>
              <a:rPr lang="es-ES" sz="2000" dirty="0" smtClean="0"/>
              <a:t> </a:t>
            </a:r>
            <a:r>
              <a:rPr lang="es-ES" sz="2000" dirty="0"/>
              <a:t>necesarios para realizar una entrada o una salida </a:t>
            </a:r>
            <a:r>
              <a:rPr lang="es-ES" sz="2000" dirty="0" smtClean="0"/>
              <a:t>serial </a:t>
            </a:r>
            <a:r>
              <a:rPr lang="es-ES" sz="2000" dirty="0"/>
              <a:t>de </a:t>
            </a:r>
            <a:r>
              <a:rPr lang="es-ES" sz="2000" dirty="0" smtClean="0"/>
              <a:t>datos independientemente </a:t>
            </a:r>
            <a:r>
              <a:rPr lang="es-ES" sz="2000" dirty="0"/>
              <a:t>de la ejecución </a:t>
            </a:r>
            <a:r>
              <a:rPr lang="es-ES" sz="2000" dirty="0" smtClean="0"/>
              <a:t>normal del microcontrolador.</a:t>
            </a:r>
            <a:endParaRPr lang="es-CO" sz="2000" dirty="0"/>
          </a:p>
        </p:txBody>
      </p:sp>
      <p:pic>
        <p:nvPicPr>
          <p:cNvPr id="7170" name="Picture 2" descr="http://www.avrbeginners.net/architecture/img/uart_overview.gif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2168623"/>
            <a:ext cx="5486400" cy="3276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2 Subtítulo"/>
          <p:cNvSpPr txBox="1">
            <a:spLocks/>
          </p:cNvSpPr>
          <p:nvPr/>
        </p:nvSpPr>
        <p:spPr>
          <a:xfrm>
            <a:off x="6977329" y="2036673"/>
            <a:ext cx="2199586" cy="52840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2200" b="1" i="1" dirty="0" smtClean="0">
                <a:solidFill>
                  <a:srgbClr val="FF0000"/>
                </a:solidFill>
              </a:rPr>
              <a:t>Práctica II Serial</a:t>
            </a:r>
            <a:endParaRPr lang="es-CO" sz="2200" b="1" i="1" dirty="0">
              <a:solidFill>
                <a:srgbClr val="FF0000"/>
              </a:solidFill>
            </a:endParaRPr>
          </a:p>
        </p:txBody>
      </p:sp>
      <p:sp>
        <p:nvSpPr>
          <p:cNvPr id="7" name="34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8" name="2 Subtítulo"/>
          <p:cNvSpPr txBox="1">
            <a:spLocks/>
          </p:cNvSpPr>
          <p:nvPr/>
        </p:nvSpPr>
        <p:spPr>
          <a:xfrm>
            <a:off x="-2844824" y="4082589"/>
            <a:ext cx="8352928" cy="93610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b="1" i="1" dirty="0" err="1" smtClean="0"/>
              <a:t>Datasheet</a:t>
            </a:r>
            <a:r>
              <a:rPr lang="es-CO" b="1" i="1" dirty="0" smtClean="0"/>
              <a:t>!!</a:t>
            </a:r>
            <a:endParaRPr lang="es-CO" b="1" i="1" dirty="0"/>
          </a:p>
        </p:txBody>
      </p:sp>
    </p:spTree>
    <p:extLst>
      <p:ext uri="{BB962C8B-B14F-4D97-AF65-F5344CB8AC3E}">
        <p14:creationId xmlns:p14="http://schemas.microsoft.com/office/powerpoint/2010/main" val="3297251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3-Sistemas Secuenciales">
  <a:themeElements>
    <a:clrScheme name="Cartoné">
      <a:dk1>
        <a:sysClr val="windowText" lastClr="000000"/>
      </a:dk1>
      <a:lt1>
        <a:sysClr val="window" lastClr="FFFFFF"/>
      </a:lt1>
      <a:dk2>
        <a:srgbClr val="895D1D"/>
      </a:dk2>
      <a:lt2>
        <a:srgbClr val="ECE9C6"/>
      </a:lt2>
      <a:accent1>
        <a:srgbClr val="873624"/>
      </a:accent1>
      <a:accent2>
        <a:srgbClr val="D6862D"/>
      </a:accent2>
      <a:accent3>
        <a:srgbClr val="D0BE40"/>
      </a:accent3>
      <a:accent4>
        <a:srgbClr val="877F6C"/>
      </a:accent4>
      <a:accent5>
        <a:srgbClr val="972109"/>
      </a:accent5>
      <a:accent6>
        <a:srgbClr val="AEB795"/>
      </a:accent6>
      <a:hlink>
        <a:srgbClr val="CC9900"/>
      </a:hlink>
      <a:folHlink>
        <a:srgbClr val="B2B2B2"/>
      </a:folHlink>
    </a:clrScheme>
    <a:fontScheme name="Cartoné">
      <a:maj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궁서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Cartoné">
      <a:fillStyleLst>
        <a:solidFill>
          <a:schemeClr val="phClr"/>
        </a:solidFill>
        <a:solidFill>
          <a:schemeClr val="phClr">
            <a:tint val="68000"/>
            <a:shade val="94000"/>
            <a:satMod val="300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80000"/>
                <a:lumMod val="98000"/>
              </a:schemeClr>
            </a:gs>
            <a:gs pos="100000">
              <a:schemeClr val="phClr">
                <a:satMod val="130000"/>
              </a:schemeClr>
            </a:gs>
          </a:gsLst>
          <a:lin ang="5160000" scaled="0"/>
        </a:gradFill>
      </a:fillStyleLst>
      <a:lnStyleLst>
        <a:ln w="12700" cap="flat" cmpd="sng" algn="ctr">
          <a:solidFill>
            <a:schemeClr val="phClr">
              <a:shade val="90000"/>
              <a:lumMod val="90000"/>
            </a:schemeClr>
          </a:solidFill>
          <a:prstDash val="solid"/>
        </a:ln>
        <a:ln w="19050" cap="flat" cmpd="sng" algn="ctr">
          <a:solidFill>
            <a:schemeClr val="phClr">
              <a:shade val="75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12700" dir="5400000" rotWithShape="0">
              <a:srgbClr val="000000">
                <a:alpha val="1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6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400000"/>
            </a:lightRig>
          </a:scene3d>
          <a:sp3d>
            <a:bevelT w="25400" h="25400"/>
          </a:sp3d>
        </a:effectStyle>
      </a:effectStyleLst>
      <a:bgFillStyleLst>
        <a:solidFill>
          <a:schemeClr val="phClr">
            <a:tint val="96000"/>
            <a:lumMod val="11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3000"/>
                <a:shade val="20000"/>
              </a:schemeClr>
              <a:schemeClr val="phClr">
                <a:tint val="90000"/>
                <a:shade val="85000"/>
                <a:satMod val="115000"/>
              </a:schemeClr>
            </a:duotone>
          </a:blip>
          <a:tile tx="0" ty="0" sx="60000" sy="6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shade val="50000"/>
                <a:satMod val="340000"/>
                <a:lumMod val="40000"/>
              </a:schemeClr>
              <a:schemeClr val="phClr">
                <a:tint val="92000"/>
                <a:shade val="94000"/>
                <a:hueMod val="110000"/>
                <a:satMod val="236000"/>
                <a:lumMod val="120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3-Sistemas Secuenciales</Template>
  <TotalTime>249</TotalTime>
  <Words>334</Words>
  <Application>Microsoft Office PowerPoint</Application>
  <PresentationFormat>Presentación en pantalla (4:3)</PresentationFormat>
  <Paragraphs>62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Arial</vt:lpstr>
      <vt:lpstr>Book Antiqua</vt:lpstr>
      <vt:lpstr>Calibri</vt:lpstr>
      <vt:lpstr>Wingdings</vt:lpstr>
      <vt:lpstr>3-Sistemas Secuenciales</vt:lpstr>
      <vt:lpstr>6. Comunicación Serial</vt:lpstr>
      <vt:lpstr>6.1. Comunicación en Tecnología I</vt:lpstr>
      <vt:lpstr>6.1. Comunicación en Tecnología II</vt:lpstr>
      <vt:lpstr>6.2 Comunicación Serial vs Comunicación Paralela </vt:lpstr>
      <vt:lpstr>6.3. Tipos de Comunicación Serial I</vt:lpstr>
      <vt:lpstr>6.3. Tipos de Comunicación Serial II</vt:lpstr>
      <vt:lpstr>6.4. Protocolo RS232</vt:lpstr>
      <vt:lpstr>6.4. Protocolo RS232</vt:lpstr>
      <vt:lpstr>6.4. Protocolo RS232</vt:lpstr>
      <vt:lpstr>6.5. Módulo USART del PIC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3. Sistemas Secuenciales.</dc:title>
  <dc:creator>MeliCalelo</dc:creator>
  <cp:lastModifiedBy>Calelo</cp:lastModifiedBy>
  <cp:revision>109</cp:revision>
  <dcterms:created xsi:type="dcterms:W3CDTF">2011-02-14T00:22:22Z</dcterms:created>
  <dcterms:modified xsi:type="dcterms:W3CDTF">2017-03-27T11:34:32Z</dcterms:modified>
</cp:coreProperties>
</file>
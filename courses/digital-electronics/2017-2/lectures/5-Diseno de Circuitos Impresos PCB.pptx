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214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60250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35266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2763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222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6404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3722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096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6655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159125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98836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39485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925310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69540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917413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0828420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34131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61571ED-39D6-443C-9EF8-3AD8EC129B98}" type="datetimeFigureOut">
              <a:rPr lang="es-CO" smtClean="0"/>
              <a:t>28/08/2017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6FB919A-4838-4492-BE31-B5808E3145D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08235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1412776"/>
            <a:ext cx="7772400" cy="1467594"/>
          </a:xfrm>
        </p:spPr>
        <p:txBody>
          <a:bodyPr>
            <a:normAutofit fontScale="90000"/>
          </a:bodyPr>
          <a:lstStyle/>
          <a:p>
            <a:r>
              <a:rPr lang="es-CO" dirty="0"/>
              <a:t>5. Diseño de circuitos  impresos.</a:t>
            </a:r>
          </a:p>
        </p:txBody>
      </p:sp>
      <p:sp>
        <p:nvSpPr>
          <p:cNvPr id="6" name="Subtítulo 5"/>
          <p:cNvSpPr>
            <a:spLocks noGrp="1"/>
          </p:cNvSpPr>
          <p:nvPr>
            <p:ph type="subTitle" idx="1"/>
          </p:nvPr>
        </p:nvSpPr>
        <p:spPr>
          <a:xfrm>
            <a:off x="1028020" y="3240411"/>
            <a:ext cx="7080026" cy="3068909"/>
          </a:xfrm>
        </p:spPr>
        <p:txBody>
          <a:bodyPr>
            <a:normAutofit/>
          </a:bodyPr>
          <a:lstStyle/>
          <a:p>
            <a:r>
              <a:rPr lang="en-US" dirty="0"/>
              <a:t>5.1. </a:t>
            </a:r>
            <a:r>
              <a:rPr lang="es-CO" dirty="0"/>
              <a:t>Circuito impreso (PCB).</a:t>
            </a:r>
          </a:p>
          <a:p>
            <a:r>
              <a:rPr lang="es-ES" dirty="0"/>
              <a:t>5.2. Cronología de la tecnología PCB.</a:t>
            </a:r>
          </a:p>
          <a:p>
            <a:r>
              <a:rPr lang="es-ES" dirty="0"/>
              <a:t>5.3. ¿Para qué sirven los PCB?</a:t>
            </a:r>
          </a:p>
          <a:p>
            <a:r>
              <a:rPr lang="es-CO" dirty="0"/>
              <a:t>5.4. Materiales de un PCB.</a:t>
            </a:r>
          </a:p>
          <a:p>
            <a:r>
              <a:rPr lang="es-ES" dirty="0"/>
              <a:t>5.5. Requerimientos previos al diseño de un PCB.</a:t>
            </a:r>
          </a:p>
          <a:p>
            <a:r>
              <a:rPr lang="es-CO" dirty="0"/>
              <a:t>5.6. Recomendaciones de diseño.</a:t>
            </a:r>
          </a:p>
          <a:p>
            <a:endParaRPr lang="en-US" dirty="0"/>
          </a:p>
        </p:txBody>
      </p:sp>
      <p:sp>
        <p:nvSpPr>
          <p:cNvPr id="4" name="3 Rectángulo"/>
          <p:cNvSpPr/>
          <p:nvPr/>
        </p:nvSpPr>
        <p:spPr>
          <a:xfrm>
            <a:off x="7690874" y="6680393"/>
            <a:ext cx="628698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CATA</a:t>
            </a:r>
            <a:endParaRPr lang="es-CO" sz="1200" dirty="0"/>
          </a:p>
        </p:txBody>
      </p:sp>
      <p:sp>
        <p:nvSpPr>
          <p:cNvPr id="5" name="2 Subtítulo"/>
          <p:cNvSpPr txBox="1">
            <a:spLocks/>
          </p:cNvSpPr>
          <p:nvPr/>
        </p:nvSpPr>
        <p:spPr>
          <a:xfrm>
            <a:off x="-108520" y="476672"/>
            <a:ext cx="4032448" cy="576064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400" kern="1200">
                <a:solidFill>
                  <a:schemeClr val="tx1"/>
                </a:solidFill>
                <a:effectLst>
                  <a:outerShdw blurRad="34925" dist="12700" dir="14400000" rotWithShape="0">
                    <a:prstClr val="black">
                      <a:alpha val="21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i="1" dirty="0">
                <a:effectLst/>
              </a:rPr>
              <a:t>Agosto 28 de 2017  Taller V UNALMED</a:t>
            </a:r>
          </a:p>
        </p:txBody>
      </p:sp>
    </p:spTree>
    <p:extLst>
      <p:ext uri="{BB962C8B-B14F-4D97-AF65-F5344CB8AC3E}">
        <p14:creationId xmlns:p14="http://schemas.microsoft.com/office/powerpoint/2010/main" val="408737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5.1. Circuito impreso (PCB).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2149796"/>
            <a:ext cx="8229600" cy="1711252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Superficie constituida por caminos o pistas de material conductor laminado sobre una base no conductora.</a:t>
            </a:r>
          </a:p>
        </p:txBody>
      </p:sp>
      <p:pic>
        <p:nvPicPr>
          <p:cNvPr id="4" name="Imagen 3" descr="pcb-trace-geometry-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189" y="3134626"/>
            <a:ext cx="7074040" cy="3498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914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5.2. Cronología de la tecnología PCB.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1925 Charles </a:t>
            </a:r>
            <a:r>
              <a:rPr lang="es-ES" dirty="0" err="1"/>
              <a:t>Ducas</a:t>
            </a:r>
            <a:r>
              <a:rPr lang="es-ES" dirty="0"/>
              <a:t> Patente  invención (punto a punto).</a:t>
            </a:r>
          </a:p>
          <a:p>
            <a:r>
              <a:rPr lang="es-ES" dirty="0"/>
              <a:t>1943 Paul </a:t>
            </a:r>
            <a:r>
              <a:rPr lang="es-ES" dirty="0" err="1"/>
              <a:t>Eisler</a:t>
            </a:r>
            <a:r>
              <a:rPr lang="es-ES" dirty="0"/>
              <a:t> (</a:t>
            </a:r>
            <a:r>
              <a:rPr lang="es-ES" dirty="0" err="1"/>
              <a:t>Ing</a:t>
            </a:r>
            <a:r>
              <a:rPr lang="es-ES" dirty="0"/>
              <a:t> Austriaco). Usado para  construir radios más potentes  durante  la segunda guerra mundial.</a:t>
            </a:r>
          </a:p>
          <a:p>
            <a:r>
              <a:rPr lang="es-ES" dirty="0"/>
              <a:t>1948- EEUU libera el invento.</a:t>
            </a:r>
          </a:p>
          <a:p>
            <a:r>
              <a:rPr lang="es-ES" dirty="0"/>
              <a:t>1950- Se vuelve  famoso el uso de </a:t>
            </a:r>
            <a:r>
              <a:rPr lang="es-ES" dirty="0" err="1"/>
              <a:t>PCBs</a:t>
            </a:r>
            <a:r>
              <a:rPr lang="es-ES" dirty="0"/>
              <a:t>.</a:t>
            </a:r>
          </a:p>
          <a:p>
            <a:r>
              <a:rPr lang="es-ES" dirty="0"/>
              <a:t>1960- Desarrollo técnica de  montaje  superficial.</a:t>
            </a:r>
          </a:p>
          <a:p>
            <a:r>
              <a:rPr lang="es-ES" dirty="0"/>
              <a:t>1980- Japón.</a:t>
            </a:r>
          </a:p>
          <a:p>
            <a:r>
              <a:rPr lang="es-ES" dirty="0"/>
              <a:t>1990- El mundo.</a:t>
            </a:r>
          </a:p>
          <a:p>
            <a:endParaRPr lang="es-ES" dirty="0"/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37964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5.3. ¿Para qué sirven los PCB?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/>
              <a:t>Permiten conectar eléctricamente y sostener mecánicamente los componentes electrónicos de un circuito.</a:t>
            </a:r>
          </a:p>
        </p:txBody>
      </p:sp>
      <p:pic>
        <p:nvPicPr>
          <p:cNvPr id="4" name="Imagen 3" descr="kicadsample.gi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877" y="2909913"/>
            <a:ext cx="6704260" cy="3033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3220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5.4. Materiales de un PCB.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702790" y="2420888"/>
            <a:ext cx="7765322" cy="4058751"/>
          </a:xfrm>
        </p:spPr>
        <p:txBody>
          <a:bodyPr numCol="2">
            <a:normAutofit/>
          </a:bodyPr>
          <a:lstStyle/>
          <a:p>
            <a:r>
              <a:rPr lang="es-ES_tradnl" dirty="0"/>
              <a:t>FR-1 (Papel Fenólico)</a:t>
            </a:r>
          </a:p>
          <a:p>
            <a:r>
              <a:rPr lang="es-ES_tradnl" dirty="0"/>
              <a:t>FR-2 (Papel Fenólico) </a:t>
            </a:r>
          </a:p>
          <a:p>
            <a:r>
              <a:rPr lang="es-ES_tradnl" dirty="0"/>
              <a:t>FR-3 (Papel Fenólico y Epoxi) </a:t>
            </a:r>
          </a:p>
          <a:p>
            <a:r>
              <a:rPr lang="es-ES_tradnl" dirty="0"/>
              <a:t>FR-4 (Fibra de Vidrio y Epoxi) </a:t>
            </a:r>
          </a:p>
          <a:p>
            <a:r>
              <a:rPr lang="es-ES_tradnl" dirty="0"/>
              <a:t>FR-5 (Fibra de Vidrio y Epoxi) </a:t>
            </a:r>
          </a:p>
          <a:p>
            <a:r>
              <a:rPr lang="es-ES_tradnl" dirty="0"/>
              <a:t>FR-6 (Vidrio mate y Polyester)</a:t>
            </a:r>
          </a:p>
          <a:p>
            <a:endParaRPr lang="es-ES_tradnl" dirty="0"/>
          </a:p>
          <a:p>
            <a:r>
              <a:rPr lang="es-ES_tradnl" dirty="0"/>
              <a:t>G-10 (Fibra de Vidrio y Epoxi) </a:t>
            </a:r>
          </a:p>
          <a:p>
            <a:endParaRPr lang="es-ES_tradnl" dirty="0"/>
          </a:p>
          <a:p>
            <a:r>
              <a:rPr lang="es-ES_tradnl" dirty="0"/>
              <a:t>CEM-1 (papel y Epoxi) </a:t>
            </a:r>
          </a:p>
          <a:p>
            <a:r>
              <a:rPr lang="es-ES_tradnl" dirty="0"/>
              <a:t>CEM-2 (papel y Epoxi) </a:t>
            </a:r>
          </a:p>
          <a:p>
            <a:r>
              <a:rPr lang="es-ES_tradnl" dirty="0"/>
              <a:t>CEM-3 (Fibra de Vidrio y Epoxi) </a:t>
            </a:r>
          </a:p>
          <a:p>
            <a:r>
              <a:rPr lang="es-ES_tradnl" dirty="0"/>
              <a:t>CEM-4 (Fibra de Vidrio y Epoxi) </a:t>
            </a:r>
          </a:p>
          <a:p>
            <a:r>
              <a:rPr lang="es-ES_tradnl" dirty="0"/>
              <a:t>CEM-5 (Fibra de Vidrio y Poliéster) FR-4 Rígido.</a:t>
            </a: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F867FB-D3EF-41BC-B973-EDFE68A56FE4}"/>
              </a:ext>
            </a:extLst>
          </p:cNvPr>
          <p:cNvSpPr/>
          <p:nvPr/>
        </p:nvSpPr>
        <p:spPr>
          <a:xfrm>
            <a:off x="702790" y="1700808"/>
            <a:ext cx="345638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2200" dirty="0"/>
              <a:t>5.4.1. Sustrato aislante.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819134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5.4. Materiales de un PCB.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27584" y="2348880"/>
            <a:ext cx="7765322" cy="4058751"/>
          </a:xfrm>
        </p:spPr>
        <p:txBody>
          <a:bodyPr>
            <a:normAutofit/>
          </a:bodyPr>
          <a:lstStyle/>
          <a:p>
            <a:r>
              <a:rPr lang="es-ES" dirty="0"/>
              <a:t>Cobre</a:t>
            </a:r>
          </a:p>
          <a:p>
            <a:r>
              <a:rPr lang="es-ES" dirty="0"/>
              <a:t>Oro</a:t>
            </a:r>
          </a:p>
          <a:p>
            <a:pPr marL="0" indent="0">
              <a:buNone/>
            </a:pPr>
            <a:r>
              <a:rPr lang="es-ES_tradnl" dirty="0"/>
              <a:t>Espesor aislante:</a:t>
            </a:r>
          </a:p>
          <a:p>
            <a:pPr marL="0" indent="0">
              <a:buNone/>
            </a:pPr>
            <a:r>
              <a:rPr lang="es-ES_tradnl" dirty="0"/>
              <a:t>0,2 0,5 0,7 0,8 1,0 1,2 1,5 1,6 2,0 2,4 3,2 ó 6,4 mm (UNE 20-621-84/3)</a:t>
            </a:r>
          </a:p>
          <a:p>
            <a:pPr marL="0" indent="0">
              <a:buNone/>
            </a:pPr>
            <a:r>
              <a:rPr lang="es-ES_tradnl" dirty="0"/>
              <a:t>Espesor  Lamina conductora</a:t>
            </a:r>
            <a:endParaRPr lang="es-ES" dirty="0"/>
          </a:p>
          <a:p>
            <a:pPr marL="0" indent="0">
              <a:buNone/>
            </a:pPr>
            <a:r>
              <a:rPr lang="es-ES" dirty="0"/>
              <a:t>El espesor del laminado  suele expresarse en onzas por pie cuadrado, siendo la mas común  1 onza, que  equivale a  35 micras de espesor. Las  mas comunes  son  ½, 1, 2 y 3 onzas por pie cuadrado.</a:t>
            </a:r>
          </a:p>
          <a:p>
            <a:pPr marL="0" indent="0">
              <a:buNone/>
            </a:pPr>
            <a:endParaRPr lang="es-E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AA792F-7956-43D8-AAC1-66EF5AE1EF86}"/>
              </a:ext>
            </a:extLst>
          </p:cNvPr>
          <p:cNvSpPr/>
          <p:nvPr/>
        </p:nvSpPr>
        <p:spPr>
          <a:xfrm>
            <a:off x="899592" y="1608042"/>
            <a:ext cx="2162772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200" dirty="0"/>
              <a:t>5.4.2. Laminado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8900056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5.5. Requerimientos previos al diseño de un PCB.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346" y="2348880"/>
            <a:ext cx="8033301" cy="40587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2200" dirty="0"/>
              <a:t>1. Información legal.</a:t>
            </a:r>
          </a:p>
          <a:p>
            <a:pPr marL="0" indent="0">
              <a:buNone/>
            </a:pPr>
            <a:r>
              <a:rPr lang="es-ES" sz="2200" dirty="0"/>
              <a:t>2. Consideraciones de diseño (condiciones  ambientales, tamaño, instalación, propiedades mecánicas, tecnología de ensamble, etapa de  diseño, etc.)</a:t>
            </a:r>
          </a:p>
          <a:p>
            <a:pPr marL="0" indent="0">
              <a:buNone/>
            </a:pPr>
            <a:r>
              <a:rPr lang="es-ES" sz="2200" dirty="0"/>
              <a:t>3. Diseño de un esquema del circuitos.</a:t>
            </a:r>
          </a:p>
          <a:p>
            <a:pPr marL="0" indent="0">
              <a:buNone/>
            </a:pPr>
            <a:r>
              <a:rPr lang="es-ES" sz="2200" dirty="0"/>
              <a:t>4. Lista de partes a utilizar (descripción, encapsulados a  usar, </a:t>
            </a:r>
            <a:r>
              <a:rPr lang="es-ES" sz="2200" dirty="0" err="1"/>
              <a:t>etc</a:t>
            </a:r>
            <a:r>
              <a:rPr lang="es-ES" sz="2200" dirty="0"/>
              <a:t>).</a:t>
            </a:r>
          </a:p>
          <a:p>
            <a:pPr marL="0" indent="0">
              <a:buNone/>
            </a:pPr>
            <a:r>
              <a:rPr lang="es-ES" sz="2200" dirty="0"/>
              <a:t>5. Pruebas de funcionamiento.</a:t>
            </a:r>
          </a:p>
          <a:p>
            <a:pPr marL="0" indent="0">
              <a:buNone/>
            </a:pPr>
            <a:endParaRPr lang="es-ES" sz="2200" dirty="0"/>
          </a:p>
          <a:p>
            <a:endParaRPr lang="es-ES" sz="2200" dirty="0"/>
          </a:p>
          <a:p>
            <a:endParaRPr lang="es-ES" sz="2200" dirty="0"/>
          </a:p>
        </p:txBody>
      </p:sp>
    </p:spTree>
    <p:extLst>
      <p:ext uri="{BB962C8B-B14F-4D97-AF65-F5344CB8AC3E}">
        <p14:creationId xmlns:p14="http://schemas.microsoft.com/office/powerpoint/2010/main" val="8373297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5.6. Recomendaciones  de diseño.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Puntos de soldadura: círculos con diámetro de  al menos el doble de  la pista.</a:t>
            </a:r>
          </a:p>
          <a:p>
            <a:r>
              <a:rPr lang="es-ES" dirty="0"/>
              <a:t>Ancho de pistas en función de  la corriente: 0.8mm aprox. 2 A, 2mm aprox. 5 A, 4.5mm  aprox. 10 A.</a:t>
            </a:r>
          </a:p>
          <a:p>
            <a:r>
              <a:rPr lang="es-ES" dirty="0"/>
              <a:t>Distancia  mínima  entre  pistas  y bordes  de  la  placa, aprox. 5mm.</a:t>
            </a:r>
          </a:p>
        </p:txBody>
      </p:sp>
    </p:spTree>
    <p:extLst>
      <p:ext uri="{BB962C8B-B14F-4D97-AF65-F5344CB8AC3E}">
        <p14:creationId xmlns:p14="http://schemas.microsoft.com/office/powerpoint/2010/main" val="2162363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275"/>
          <a:stretch/>
        </p:blipFill>
        <p:spPr bwMode="auto">
          <a:xfrm>
            <a:off x="2430310" y="1500209"/>
            <a:ext cx="3695700" cy="26157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Marcador de contenido 2"/>
          <p:cNvSpPr>
            <a:spLocks noGrp="1"/>
          </p:cNvSpPr>
          <p:nvPr>
            <p:ph idx="1"/>
          </p:nvPr>
        </p:nvSpPr>
        <p:spPr>
          <a:xfrm>
            <a:off x="3205841" y="1882890"/>
            <a:ext cx="714879" cy="576413"/>
          </a:xfrm>
        </p:spPr>
        <p:txBody>
          <a:bodyPr/>
          <a:lstStyle/>
          <a:p>
            <a:pPr marL="0" indent="0" algn="ctr">
              <a:buNone/>
            </a:pPr>
            <a:r>
              <a:rPr lang="es-ES" dirty="0">
                <a:solidFill>
                  <a:schemeClr val="bg1"/>
                </a:solidFill>
              </a:rPr>
              <a:t>(a)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092"/>
          <a:stretch/>
        </p:blipFill>
        <p:spPr bwMode="auto">
          <a:xfrm>
            <a:off x="293121" y="4241628"/>
            <a:ext cx="8181975" cy="2247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Marcador de contenido 2"/>
          <p:cNvSpPr txBox="1">
            <a:spLocks/>
          </p:cNvSpPr>
          <p:nvPr/>
        </p:nvSpPr>
        <p:spPr>
          <a:xfrm>
            <a:off x="3563281" y="2819382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(b)</a:t>
            </a:r>
          </a:p>
        </p:txBody>
      </p:sp>
      <p:sp>
        <p:nvSpPr>
          <p:cNvPr id="7" name="Marcador de contenido 2"/>
          <p:cNvSpPr txBox="1">
            <a:spLocks/>
          </p:cNvSpPr>
          <p:nvPr/>
        </p:nvSpPr>
        <p:spPr>
          <a:xfrm>
            <a:off x="4309007" y="1933687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(c)</a:t>
            </a:r>
          </a:p>
        </p:txBody>
      </p:sp>
      <p:sp>
        <p:nvSpPr>
          <p:cNvPr id="8" name="Marcador de contenido 2"/>
          <p:cNvSpPr txBox="1">
            <a:spLocks/>
          </p:cNvSpPr>
          <p:nvPr/>
        </p:nvSpPr>
        <p:spPr>
          <a:xfrm>
            <a:off x="4860068" y="2056357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(d)</a:t>
            </a:r>
          </a:p>
        </p:txBody>
      </p:sp>
      <p:sp>
        <p:nvSpPr>
          <p:cNvPr id="9" name="Marcador de contenido 2"/>
          <p:cNvSpPr txBox="1">
            <a:spLocks/>
          </p:cNvSpPr>
          <p:nvPr/>
        </p:nvSpPr>
        <p:spPr>
          <a:xfrm>
            <a:off x="5486417" y="2142162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(e)</a:t>
            </a:r>
          </a:p>
        </p:txBody>
      </p:sp>
      <p:sp>
        <p:nvSpPr>
          <p:cNvPr id="10" name="Marcador de contenido 2"/>
          <p:cNvSpPr txBox="1">
            <a:spLocks/>
          </p:cNvSpPr>
          <p:nvPr/>
        </p:nvSpPr>
        <p:spPr>
          <a:xfrm>
            <a:off x="467544" y="4346763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>
                <a:solidFill>
                  <a:schemeClr val="bg1"/>
                </a:solidFill>
              </a:rPr>
              <a:t>(a)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1" name="Marcador de contenido 2"/>
          <p:cNvSpPr txBox="1">
            <a:spLocks/>
          </p:cNvSpPr>
          <p:nvPr/>
        </p:nvSpPr>
        <p:spPr>
          <a:xfrm>
            <a:off x="1475656" y="4635107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(b)</a:t>
            </a:r>
          </a:p>
        </p:txBody>
      </p:sp>
      <p:sp>
        <p:nvSpPr>
          <p:cNvPr id="12" name="Marcador de contenido 2"/>
          <p:cNvSpPr txBox="1">
            <a:spLocks/>
          </p:cNvSpPr>
          <p:nvPr/>
        </p:nvSpPr>
        <p:spPr>
          <a:xfrm>
            <a:off x="971600" y="5660725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(c)</a:t>
            </a:r>
          </a:p>
        </p:txBody>
      </p:sp>
      <p:sp>
        <p:nvSpPr>
          <p:cNvPr id="13" name="Marcador de contenido 2"/>
          <p:cNvSpPr txBox="1">
            <a:spLocks/>
          </p:cNvSpPr>
          <p:nvPr/>
        </p:nvSpPr>
        <p:spPr>
          <a:xfrm>
            <a:off x="2848402" y="4716446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(d)</a:t>
            </a:r>
          </a:p>
        </p:txBody>
      </p:sp>
      <p:sp>
        <p:nvSpPr>
          <p:cNvPr id="14" name="Marcador de contenido 2"/>
          <p:cNvSpPr txBox="1">
            <a:spLocks/>
          </p:cNvSpPr>
          <p:nvPr/>
        </p:nvSpPr>
        <p:spPr>
          <a:xfrm>
            <a:off x="3417271" y="5948931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(e)</a:t>
            </a:r>
          </a:p>
        </p:txBody>
      </p:sp>
      <p:sp>
        <p:nvSpPr>
          <p:cNvPr id="15" name="Marcador de contenido 2"/>
          <p:cNvSpPr txBox="1">
            <a:spLocks/>
          </p:cNvSpPr>
          <p:nvPr/>
        </p:nvSpPr>
        <p:spPr>
          <a:xfrm>
            <a:off x="5768570" y="5211520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>
                <a:solidFill>
                  <a:schemeClr val="bg1"/>
                </a:solidFill>
              </a:rPr>
              <a:t>(a)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6" name="Marcador de contenido 2"/>
          <p:cNvSpPr txBox="1">
            <a:spLocks/>
          </p:cNvSpPr>
          <p:nvPr/>
        </p:nvSpPr>
        <p:spPr>
          <a:xfrm>
            <a:off x="7380312" y="5211519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(b)</a:t>
            </a:r>
          </a:p>
        </p:txBody>
      </p:sp>
      <p:sp>
        <p:nvSpPr>
          <p:cNvPr id="19" name="Título 1">
            <a:extLst>
              <a:ext uri="{FF2B5EF4-FFF2-40B4-BE49-F238E27FC236}">
                <a16:creationId xmlns:a16="http://schemas.microsoft.com/office/drawing/2014/main" id="{2EF14445-9D44-4167-A9AA-34D03211C530}"/>
              </a:ext>
            </a:extLst>
          </p:cNvPr>
          <p:cNvSpPr txBox="1">
            <a:spLocks/>
          </p:cNvSpPr>
          <p:nvPr/>
        </p:nvSpPr>
        <p:spPr>
          <a:xfrm>
            <a:off x="709774" y="426321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5.6. Recomendaciones  de diseño.</a:t>
            </a:r>
          </a:p>
        </p:txBody>
      </p:sp>
    </p:spTree>
    <p:extLst>
      <p:ext uri="{BB962C8B-B14F-4D97-AF65-F5344CB8AC3E}">
        <p14:creationId xmlns:p14="http://schemas.microsoft.com/office/powerpoint/2010/main" val="28611761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314"/>
          <a:stretch/>
        </p:blipFill>
        <p:spPr bwMode="auto">
          <a:xfrm>
            <a:off x="970766" y="1738115"/>
            <a:ext cx="7058416" cy="2207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790"/>
          <a:stretch/>
        </p:blipFill>
        <p:spPr bwMode="auto">
          <a:xfrm>
            <a:off x="1045138" y="4133585"/>
            <a:ext cx="2944997" cy="1840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9041"/>
          <a:stretch/>
        </p:blipFill>
        <p:spPr bwMode="auto">
          <a:xfrm>
            <a:off x="4221006" y="4483341"/>
            <a:ext cx="4181475" cy="1341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53EE835A-A6BA-4870-BD2D-A636406E9B8A}"/>
              </a:ext>
            </a:extLst>
          </p:cNvPr>
          <p:cNvSpPr txBox="1">
            <a:spLocks/>
          </p:cNvSpPr>
          <p:nvPr/>
        </p:nvSpPr>
        <p:spPr>
          <a:xfrm>
            <a:off x="899592" y="303884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5.6. Recomendaciones  de diseño.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4912689D-0A9A-4196-96B6-986541636909}"/>
              </a:ext>
            </a:extLst>
          </p:cNvPr>
          <p:cNvSpPr txBox="1">
            <a:spLocks/>
          </p:cNvSpPr>
          <p:nvPr/>
        </p:nvSpPr>
        <p:spPr>
          <a:xfrm>
            <a:off x="1766242" y="2120864"/>
            <a:ext cx="714879" cy="5764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charset="2"/>
              <a:buNone/>
            </a:pPr>
            <a:r>
              <a:rPr lang="es-ES" sz="2400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48EA909B-352E-4780-A614-FE194386FA4C}"/>
              </a:ext>
            </a:extLst>
          </p:cNvPr>
          <p:cNvSpPr txBox="1">
            <a:spLocks/>
          </p:cNvSpPr>
          <p:nvPr/>
        </p:nvSpPr>
        <p:spPr>
          <a:xfrm>
            <a:off x="1619672" y="3473618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(b)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533EF9D9-0DC4-4CC1-A740-ED8B151B091B}"/>
              </a:ext>
            </a:extLst>
          </p:cNvPr>
          <p:cNvSpPr txBox="1">
            <a:spLocks/>
          </p:cNvSpPr>
          <p:nvPr/>
        </p:nvSpPr>
        <p:spPr>
          <a:xfrm>
            <a:off x="3106289" y="2142162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(c)</a:t>
            </a:r>
          </a:p>
        </p:txBody>
      </p:sp>
      <p:sp>
        <p:nvSpPr>
          <p:cNvPr id="13" name="Marcador de contenido 2">
            <a:extLst>
              <a:ext uri="{FF2B5EF4-FFF2-40B4-BE49-F238E27FC236}">
                <a16:creationId xmlns:a16="http://schemas.microsoft.com/office/drawing/2014/main" id="{8B5478CA-9422-43F5-B099-B4DAA645B41A}"/>
              </a:ext>
            </a:extLst>
          </p:cNvPr>
          <p:cNvSpPr txBox="1">
            <a:spLocks/>
          </p:cNvSpPr>
          <p:nvPr/>
        </p:nvSpPr>
        <p:spPr>
          <a:xfrm>
            <a:off x="2911437" y="3515395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(d)</a:t>
            </a: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A71C1955-E1DD-4CB8-98C8-56637D523F0E}"/>
              </a:ext>
            </a:extLst>
          </p:cNvPr>
          <p:cNvSpPr txBox="1">
            <a:spLocks/>
          </p:cNvSpPr>
          <p:nvPr/>
        </p:nvSpPr>
        <p:spPr>
          <a:xfrm>
            <a:off x="5279103" y="2098804"/>
            <a:ext cx="714879" cy="5764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charset="2"/>
              <a:buNone/>
            </a:pPr>
            <a:r>
              <a:rPr lang="es-ES" sz="2400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016FDF53-38A4-4C2B-946F-34A5101EFB29}"/>
              </a:ext>
            </a:extLst>
          </p:cNvPr>
          <p:cNvSpPr txBox="1">
            <a:spLocks/>
          </p:cNvSpPr>
          <p:nvPr/>
        </p:nvSpPr>
        <p:spPr>
          <a:xfrm>
            <a:off x="5132533" y="3451558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(b)</a:t>
            </a: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A34D7A44-62AE-48E9-A505-EC8003F4427F}"/>
              </a:ext>
            </a:extLst>
          </p:cNvPr>
          <p:cNvSpPr txBox="1">
            <a:spLocks/>
          </p:cNvSpPr>
          <p:nvPr/>
        </p:nvSpPr>
        <p:spPr>
          <a:xfrm>
            <a:off x="6619150" y="1898966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(c)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3BB28C69-0A37-4DA7-BC8D-B54499EF37BB}"/>
              </a:ext>
            </a:extLst>
          </p:cNvPr>
          <p:cNvSpPr txBox="1">
            <a:spLocks/>
          </p:cNvSpPr>
          <p:nvPr/>
        </p:nvSpPr>
        <p:spPr>
          <a:xfrm>
            <a:off x="6424298" y="3493335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(d)</a:t>
            </a: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E1D93F4B-AA34-43B9-9A5B-E8F2DC4352E5}"/>
              </a:ext>
            </a:extLst>
          </p:cNvPr>
          <p:cNvSpPr txBox="1">
            <a:spLocks/>
          </p:cNvSpPr>
          <p:nvPr/>
        </p:nvSpPr>
        <p:spPr>
          <a:xfrm>
            <a:off x="1653980" y="4292002"/>
            <a:ext cx="714879" cy="5764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charset="2"/>
              <a:buNone/>
            </a:pPr>
            <a:r>
              <a:rPr lang="es-ES" sz="2400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C10CCAFF-6B4C-4BB7-B9C7-35B9F9BA63FD}"/>
              </a:ext>
            </a:extLst>
          </p:cNvPr>
          <p:cNvSpPr txBox="1">
            <a:spLocks/>
          </p:cNvSpPr>
          <p:nvPr/>
        </p:nvSpPr>
        <p:spPr>
          <a:xfrm>
            <a:off x="1081386" y="5576051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(b)</a:t>
            </a: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58C247AA-3035-4AC2-9C21-435A8DA29A71}"/>
              </a:ext>
            </a:extLst>
          </p:cNvPr>
          <p:cNvSpPr txBox="1">
            <a:spLocks/>
          </p:cNvSpPr>
          <p:nvPr/>
        </p:nvSpPr>
        <p:spPr>
          <a:xfrm>
            <a:off x="2822057" y="4403811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(c)</a:t>
            </a:r>
          </a:p>
        </p:txBody>
      </p:sp>
      <p:sp>
        <p:nvSpPr>
          <p:cNvPr id="22" name="Marcador de contenido 2">
            <a:extLst>
              <a:ext uri="{FF2B5EF4-FFF2-40B4-BE49-F238E27FC236}">
                <a16:creationId xmlns:a16="http://schemas.microsoft.com/office/drawing/2014/main" id="{6990B09E-190E-45DF-98FF-6AA45CFF6888}"/>
              </a:ext>
            </a:extLst>
          </p:cNvPr>
          <p:cNvSpPr txBox="1">
            <a:spLocks/>
          </p:cNvSpPr>
          <p:nvPr/>
        </p:nvSpPr>
        <p:spPr>
          <a:xfrm>
            <a:off x="2196558" y="5570102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(d)</a:t>
            </a:r>
          </a:p>
        </p:txBody>
      </p:sp>
      <p:sp>
        <p:nvSpPr>
          <p:cNvPr id="23" name="Marcador de contenido 2">
            <a:extLst>
              <a:ext uri="{FF2B5EF4-FFF2-40B4-BE49-F238E27FC236}">
                <a16:creationId xmlns:a16="http://schemas.microsoft.com/office/drawing/2014/main" id="{9B2B1508-F940-4D59-82B6-E0109E2052BB}"/>
              </a:ext>
            </a:extLst>
          </p:cNvPr>
          <p:cNvSpPr txBox="1">
            <a:spLocks/>
          </p:cNvSpPr>
          <p:nvPr/>
        </p:nvSpPr>
        <p:spPr>
          <a:xfrm>
            <a:off x="5306924" y="4657912"/>
            <a:ext cx="714879" cy="5764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charset="2"/>
              <a:buNone/>
            </a:pPr>
            <a:r>
              <a:rPr lang="es-ES" sz="2400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24" name="Marcador de contenido 2">
            <a:extLst>
              <a:ext uri="{FF2B5EF4-FFF2-40B4-BE49-F238E27FC236}">
                <a16:creationId xmlns:a16="http://schemas.microsoft.com/office/drawing/2014/main" id="{A871BA41-89DD-4A29-83E4-107A3E4429FD}"/>
              </a:ext>
            </a:extLst>
          </p:cNvPr>
          <p:cNvSpPr txBox="1">
            <a:spLocks/>
          </p:cNvSpPr>
          <p:nvPr/>
        </p:nvSpPr>
        <p:spPr>
          <a:xfrm>
            <a:off x="5782425" y="5408896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(b)</a:t>
            </a:r>
          </a:p>
        </p:txBody>
      </p:sp>
      <p:sp>
        <p:nvSpPr>
          <p:cNvPr id="25" name="Marcador de contenido 2">
            <a:extLst>
              <a:ext uri="{FF2B5EF4-FFF2-40B4-BE49-F238E27FC236}">
                <a16:creationId xmlns:a16="http://schemas.microsoft.com/office/drawing/2014/main" id="{BB77B444-8391-4C6C-A441-68DD45A4F735}"/>
              </a:ext>
            </a:extLst>
          </p:cNvPr>
          <p:cNvSpPr txBox="1">
            <a:spLocks/>
          </p:cNvSpPr>
          <p:nvPr/>
        </p:nvSpPr>
        <p:spPr>
          <a:xfrm>
            <a:off x="6712804" y="4614570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(c)</a:t>
            </a:r>
          </a:p>
        </p:txBody>
      </p:sp>
      <p:sp>
        <p:nvSpPr>
          <p:cNvPr id="26" name="Marcador de contenido 2">
            <a:extLst>
              <a:ext uri="{FF2B5EF4-FFF2-40B4-BE49-F238E27FC236}">
                <a16:creationId xmlns:a16="http://schemas.microsoft.com/office/drawing/2014/main" id="{98360B0C-5543-47C1-9093-1222D86EBE79}"/>
              </a:ext>
            </a:extLst>
          </p:cNvPr>
          <p:cNvSpPr txBox="1">
            <a:spLocks/>
          </p:cNvSpPr>
          <p:nvPr/>
        </p:nvSpPr>
        <p:spPr>
          <a:xfrm>
            <a:off x="7817561" y="5180960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(d)</a:t>
            </a:r>
          </a:p>
        </p:txBody>
      </p:sp>
    </p:spTree>
    <p:extLst>
      <p:ext uri="{BB962C8B-B14F-4D97-AF65-F5344CB8AC3E}">
        <p14:creationId xmlns:p14="http://schemas.microsoft.com/office/powerpoint/2010/main" val="1753799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35"/>
          <a:stretch/>
        </p:blipFill>
        <p:spPr bwMode="auto">
          <a:xfrm>
            <a:off x="395536" y="2648177"/>
            <a:ext cx="3457024" cy="29200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668"/>
          <a:stretch/>
        </p:blipFill>
        <p:spPr bwMode="auto">
          <a:xfrm>
            <a:off x="4015606" y="2648177"/>
            <a:ext cx="5067834" cy="6653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260"/>
          <a:stretch/>
        </p:blipFill>
        <p:spPr bwMode="auto">
          <a:xfrm>
            <a:off x="4015606" y="4238528"/>
            <a:ext cx="4855522" cy="2218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958D2B10-E988-40AE-82A1-7C1B0CF1F674}"/>
              </a:ext>
            </a:extLst>
          </p:cNvPr>
          <p:cNvSpPr txBox="1">
            <a:spLocks/>
          </p:cNvSpPr>
          <p:nvPr/>
        </p:nvSpPr>
        <p:spPr>
          <a:xfrm>
            <a:off x="899592" y="303884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5.6. Recomendaciones  de diseño.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96678EB2-6A22-430C-8325-6184D96D1529}"/>
              </a:ext>
            </a:extLst>
          </p:cNvPr>
          <p:cNvSpPr txBox="1">
            <a:spLocks/>
          </p:cNvSpPr>
          <p:nvPr/>
        </p:nvSpPr>
        <p:spPr>
          <a:xfrm>
            <a:off x="1638439" y="3082170"/>
            <a:ext cx="714879" cy="5764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charset="2"/>
              <a:buNone/>
            </a:pPr>
            <a:r>
              <a:rPr lang="es-ES" sz="2400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11" name="Marcador de contenido 2">
            <a:extLst>
              <a:ext uri="{FF2B5EF4-FFF2-40B4-BE49-F238E27FC236}">
                <a16:creationId xmlns:a16="http://schemas.microsoft.com/office/drawing/2014/main" id="{9C66F389-C5D3-4120-A46D-EA5B2A78ECE5}"/>
              </a:ext>
            </a:extLst>
          </p:cNvPr>
          <p:cNvSpPr txBox="1">
            <a:spLocks/>
          </p:cNvSpPr>
          <p:nvPr/>
        </p:nvSpPr>
        <p:spPr>
          <a:xfrm>
            <a:off x="1634690" y="4647762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(b)</a:t>
            </a:r>
          </a:p>
        </p:txBody>
      </p:sp>
      <p:sp>
        <p:nvSpPr>
          <p:cNvPr id="12" name="Marcador de contenido 2">
            <a:extLst>
              <a:ext uri="{FF2B5EF4-FFF2-40B4-BE49-F238E27FC236}">
                <a16:creationId xmlns:a16="http://schemas.microsoft.com/office/drawing/2014/main" id="{B3ADDFD6-21CF-4709-828B-D287EE52F0C4}"/>
              </a:ext>
            </a:extLst>
          </p:cNvPr>
          <p:cNvSpPr txBox="1">
            <a:spLocks/>
          </p:cNvSpPr>
          <p:nvPr/>
        </p:nvSpPr>
        <p:spPr>
          <a:xfrm>
            <a:off x="2353318" y="3819981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(c)</a:t>
            </a:r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2585038D-1204-4F2A-826A-8FE7A71D2AAD}"/>
              </a:ext>
            </a:extLst>
          </p:cNvPr>
          <p:cNvSpPr txBox="1">
            <a:spLocks/>
          </p:cNvSpPr>
          <p:nvPr/>
        </p:nvSpPr>
        <p:spPr>
          <a:xfrm>
            <a:off x="5218801" y="4231478"/>
            <a:ext cx="714879" cy="576413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charset="2"/>
              <a:buNone/>
            </a:pPr>
            <a:r>
              <a:rPr lang="es-ES" sz="2400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4198C807-BBD2-4555-A1EE-55885C0B1DE1}"/>
              </a:ext>
            </a:extLst>
          </p:cNvPr>
          <p:cNvSpPr txBox="1">
            <a:spLocks/>
          </p:cNvSpPr>
          <p:nvPr/>
        </p:nvSpPr>
        <p:spPr>
          <a:xfrm>
            <a:off x="5072231" y="5584232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(b)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041E839B-177A-41EB-95E9-DB7D3DDA40A6}"/>
              </a:ext>
            </a:extLst>
          </p:cNvPr>
          <p:cNvSpPr txBox="1">
            <a:spLocks/>
          </p:cNvSpPr>
          <p:nvPr/>
        </p:nvSpPr>
        <p:spPr>
          <a:xfrm>
            <a:off x="6558848" y="4252776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(c)</a:t>
            </a: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4567F4F6-8190-4B54-A7D6-852F0E34F880}"/>
              </a:ext>
            </a:extLst>
          </p:cNvPr>
          <p:cNvSpPr txBox="1">
            <a:spLocks/>
          </p:cNvSpPr>
          <p:nvPr/>
        </p:nvSpPr>
        <p:spPr>
          <a:xfrm>
            <a:off x="6363996" y="5626009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(d)</a:t>
            </a: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17D306FB-B4CB-4C43-9E37-140C85810BD3}"/>
              </a:ext>
            </a:extLst>
          </p:cNvPr>
          <p:cNvSpPr txBox="1">
            <a:spLocks/>
          </p:cNvSpPr>
          <p:nvPr/>
        </p:nvSpPr>
        <p:spPr>
          <a:xfrm>
            <a:off x="6358065" y="2894909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(a)</a:t>
            </a:r>
          </a:p>
        </p:txBody>
      </p:sp>
      <p:sp>
        <p:nvSpPr>
          <p:cNvPr id="21" name="Marcador de contenido 2">
            <a:extLst>
              <a:ext uri="{FF2B5EF4-FFF2-40B4-BE49-F238E27FC236}">
                <a16:creationId xmlns:a16="http://schemas.microsoft.com/office/drawing/2014/main" id="{4EF38331-B6EE-467E-A630-DF7F235942A1}"/>
              </a:ext>
            </a:extLst>
          </p:cNvPr>
          <p:cNvSpPr txBox="1">
            <a:spLocks/>
          </p:cNvSpPr>
          <p:nvPr/>
        </p:nvSpPr>
        <p:spPr>
          <a:xfrm>
            <a:off x="8450668" y="2571620"/>
            <a:ext cx="714879" cy="576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576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7724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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3657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50876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2004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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14884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6888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8892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108960" indent="-274320" algn="l" defTabSz="914400" rtl="0" eaLnBrk="1" latinLnBrk="0" hangingPunct="1">
              <a:spcBef>
                <a:spcPts val="400"/>
              </a:spcBef>
              <a:buClr>
                <a:schemeClr val="accent1"/>
              </a:buClr>
              <a:buFont typeface="Wingdings" pitchFamily="2" charset="2"/>
              <a:buChar char="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" pitchFamily="2" charset="2"/>
              <a:buNone/>
            </a:pPr>
            <a:r>
              <a:rPr lang="es-ES" dirty="0">
                <a:solidFill>
                  <a:schemeClr val="bg1"/>
                </a:solidFill>
              </a:rPr>
              <a:t>(b)</a:t>
            </a:r>
          </a:p>
        </p:txBody>
      </p:sp>
    </p:spTree>
    <p:extLst>
      <p:ext uri="{BB962C8B-B14F-4D97-AF65-F5344CB8AC3E}">
        <p14:creationId xmlns:p14="http://schemas.microsoft.com/office/powerpoint/2010/main" val="4191465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517" y="4476751"/>
            <a:ext cx="4225120" cy="131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857" y="3930225"/>
            <a:ext cx="4265438" cy="275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135" y="1418675"/>
            <a:ext cx="3133725" cy="2343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0559" y="1883142"/>
            <a:ext cx="4448175" cy="143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ítulo 1">
            <a:extLst>
              <a:ext uri="{FF2B5EF4-FFF2-40B4-BE49-F238E27FC236}">
                <a16:creationId xmlns:a16="http://schemas.microsoft.com/office/drawing/2014/main" id="{5C8F0982-727C-434A-A0A8-21331BAF336D}"/>
              </a:ext>
            </a:extLst>
          </p:cNvPr>
          <p:cNvSpPr txBox="1">
            <a:spLocks/>
          </p:cNvSpPr>
          <p:nvPr/>
        </p:nvSpPr>
        <p:spPr>
          <a:xfrm>
            <a:off x="899592" y="303884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j-lt"/>
                <a:ea typeface="+mj-ea"/>
                <a:cs typeface="Trebuchet M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ES" dirty="0"/>
              <a:t>5.6. Recomendaciones  de diseño.</a:t>
            </a:r>
          </a:p>
        </p:txBody>
      </p:sp>
    </p:spTree>
    <p:extLst>
      <p:ext uri="{BB962C8B-B14F-4D97-AF65-F5344CB8AC3E}">
        <p14:creationId xmlns:p14="http://schemas.microsoft.com/office/powerpoint/2010/main" val="259236547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izarra">
  <a:themeElements>
    <a:clrScheme name="Pizarra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Pizarra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izarr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4-Microcontroladores</Template>
  <TotalTime>292</TotalTime>
  <Words>620</Words>
  <Application>Microsoft Office PowerPoint</Application>
  <PresentationFormat>Presentación en pantalla (4:3)</PresentationFormat>
  <Paragraphs>97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7" baseType="lpstr">
      <vt:lpstr>Calisto MT</vt:lpstr>
      <vt:lpstr>Trebuchet MS</vt:lpstr>
      <vt:lpstr>Wingdings</vt:lpstr>
      <vt:lpstr>Wingdings 2</vt:lpstr>
      <vt:lpstr>Pizarra</vt:lpstr>
      <vt:lpstr>5. Diseño de circuitos  impresos.</vt:lpstr>
      <vt:lpstr>5.1. Circuito impreso (PCB).</vt:lpstr>
      <vt:lpstr>5.2. Cronología de la tecnología PCB.</vt:lpstr>
      <vt:lpstr>5.3. ¿Para qué sirven los PCB?</vt:lpstr>
      <vt:lpstr>5.4. Materiales de un PCB.</vt:lpstr>
      <vt:lpstr>5.4. Materiales de un PCB.</vt:lpstr>
      <vt:lpstr>5.5. Requerimientos previos al diseño de un PCB.</vt:lpstr>
      <vt:lpstr>5.6. Recomendaciones  de diseño.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 V IF. Electrónica Digital y Microcontroladores.</dc:title>
  <dc:creator>MeliCalelo</dc:creator>
  <cp:lastModifiedBy>Optodigital</cp:lastModifiedBy>
  <cp:revision>123</cp:revision>
  <dcterms:created xsi:type="dcterms:W3CDTF">2011-01-25T07:15:41Z</dcterms:created>
  <dcterms:modified xsi:type="dcterms:W3CDTF">2017-08-28T12:41:42Z</dcterms:modified>
</cp:coreProperties>
</file>
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video/unknow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media/image31.gif" ContentType="image/gif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17"/>
    <p:sldId id="282" r:id="rId18"/>
    <p:sldId id="283" r:id="rId19"/>
    <p:sldId id="284" r:id="rId20"/>
    <p:sldId id="271" r:id="rId21"/>
    <p:sldId id="272" r:id="rId22"/>
    <p:sldId id="273" r:id="rId23"/>
    <p:sldId id="274" r:id="rId24"/>
    <p:sldId id="275" r:id="rId25"/>
    <p:sldId id="277" r:id="rId26"/>
    <p:sldId id="276" r:id="rId27"/>
    <p:sldId id="285" r:id="rId28"/>
    <p:sldId id="279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81"/>
            <p14:sldId id="282"/>
            <p14:sldId id="283"/>
            <p14:sldId id="284"/>
            <p14:sldId id="271"/>
            <p14:sldId id="272"/>
            <p14:sldId id="273"/>
            <p14:sldId id="274"/>
            <p14:sldId id="275"/>
            <p14:sldId id="277"/>
            <p14:sldId id="276"/>
            <p14:sldId id="285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0A38"/>
    <a:srgbClr val="2CD283"/>
    <a:srgbClr val="46B846"/>
    <a:srgbClr val="281997"/>
    <a:srgbClr val="ED8C2B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38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8/08/2017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8727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43593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19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87BBB-A4C9-40A5-B74E-E45C8F585478}" type="slidenum">
              <a:rPr lang="es-CO" smtClean="0"/>
              <a:t>29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263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306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5326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141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485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1371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341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072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9237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3836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8757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35906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59045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06855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5667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9986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1374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599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61571ED-39D6-443C-9EF8-3AD8EC129B98}" type="datetimeFigureOut">
              <a:rPr lang="es-CO" smtClean="0"/>
              <a:pPr/>
              <a:t>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FB919A-4838-4492-BE31-B5808E3145DF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256140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gif"/><Relationship Id="rId1" Type="http://schemas.microsoft.com/office/2007/relationships/media" Target="../media/media1.gif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gi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908720"/>
            <a:ext cx="7772400" cy="1827634"/>
          </a:xfrm>
        </p:spPr>
        <p:txBody>
          <a:bodyPr>
            <a:normAutofit/>
          </a:bodyPr>
          <a:lstStyle/>
          <a:p>
            <a:r>
              <a:rPr lang="es-ES" sz="5600" dirty="0">
                <a:effectLst/>
              </a:rPr>
              <a:t>3. Sistemas Secuenciales.</a:t>
            </a:r>
            <a:endParaRPr lang="es-CO" sz="56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573016"/>
            <a:ext cx="6400800" cy="3024336"/>
          </a:xfrm>
        </p:spPr>
        <p:txBody>
          <a:bodyPr>
            <a:normAutofit fontScale="92500"/>
          </a:bodyPr>
          <a:lstStyle/>
          <a:p>
            <a:r>
              <a:rPr lang="es-ES" dirty="0">
                <a:effectLst/>
              </a:rPr>
              <a:t>3.1. Lógica secuencial.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3.2. </a:t>
            </a:r>
            <a:r>
              <a:rPr lang="es-ES" dirty="0" err="1">
                <a:effectLst/>
              </a:rPr>
              <a:t>Flip-Flop</a:t>
            </a:r>
            <a:r>
              <a:rPr lang="es-ES" dirty="0">
                <a:effectLst/>
              </a:rPr>
              <a:t>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3.3. Contadores.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3.4. Registros.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3.5. Temporizador 555.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3.6 Máquinas de estado.</a:t>
            </a:r>
            <a:endParaRPr lang="es-CO" dirty="0">
              <a:effectLst/>
            </a:endParaRPr>
          </a:p>
          <a:p>
            <a:r>
              <a:rPr lang="es-ES" dirty="0">
                <a:effectLst/>
              </a:rPr>
              <a:t>3.7. Análisis y diseño de circuitos secuenciales sincrónicos.</a:t>
            </a:r>
            <a:endParaRPr lang="es-CO" dirty="0">
              <a:effectLst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>
                <a:effectLst/>
              </a:rPr>
              <a:t>Agosto 9 de 2017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01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sp>
        <p:nvSpPr>
          <p:cNvPr id="3" name="2 Rectángulo"/>
          <p:cNvSpPr/>
          <p:nvPr/>
        </p:nvSpPr>
        <p:spPr>
          <a:xfrm>
            <a:off x="949754" y="2154922"/>
            <a:ext cx="164820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000" b="1" i="1" dirty="0"/>
              <a:t>Sistema:</a:t>
            </a:r>
            <a:endParaRPr lang="es-CO" sz="3000" b="1" i="1" dirty="0"/>
          </a:p>
        </p:txBody>
      </p:sp>
      <p:sp>
        <p:nvSpPr>
          <p:cNvPr id="35" name="34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4" name="3 Rectángulo"/>
          <p:cNvSpPr/>
          <p:nvPr/>
        </p:nvSpPr>
        <p:spPr>
          <a:xfrm>
            <a:off x="1587115" y="6021288"/>
            <a:ext cx="607009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http://systemonfpga.blogspot.com.co/2015_04_01_archive.html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8736D-D809-44B8-B6F5-30531C912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699" y="2697812"/>
            <a:ext cx="3590925" cy="3238500"/>
          </a:xfrm>
          <a:prstGeom prst="rect">
            <a:avLst/>
          </a:prstGeom>
        </p:spPr>
      </p:pic>
      <p:sp>
        <p:nvSpPr>
          <p:cNvPr id="8" name="3 Rectángulo">
            <a:extLst>
              <a:ext uri="{FF2B5EF4-FFF2-40B4-BE49-F238E27FC236}">
                <a16:creationId xmlns:a16="http://schemas.microsoft.com/office/drawing/2014/main" id="{C92B2917-32DE-42DE-AFE5-053DFE786FB8}"/>
              </a:ext>
            </a:extLst>
          </p:cNvPr>
          <p:cNvSpPr/>
          <p:nvPr/>
        </p:nvSpPr>
        <p:spPr>
          <a:xfrm>
            <a:off x="5724128" y="5124512"/>
            <a:ext cx="82025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500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clk</a:t>
            </a:r>
            <a:endParaRPr lang="es-CO" sz="1500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9" name="3 Rectángulo">
            <a:extLst>
              <a:ext uri="{FF2B5EF4-FFF2-40B4-BE49-F238E27FC236}">
                <a16:creationId xmlns:a16="http://schemas.microsoft.com/office/drawing/2014/main" id="{89DBE3A7-4397-4D53-B180-8CE0CC5D91C1}"/>
              </a:ext>
            </a:extLst>
          </p:cNvPr>
          <p:cNvSpPr/>
          <p:nvPr/>
        </p:nvSpPr>
        <p:spPr>
          <a:xfrm>
            <a:off x="5796610" y="5523738"/>
            <a:ext cx="82025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500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rst</a:t>
            </a:r>
            <a:endParaRPr lang="es-CO" sz="1500" dirty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65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32656"/>
            <a:ext cx="7987965" cy="1054250"/>
          </a:xfrm>
        </p:spPr>
        <p:txBody>
          <a:bodyPr/>
          <a:lstStyle/>
          <a:p>
            <a:r>
              <a:rPr lang="es-ES" sz="4000" dirty="0"/>
              <a:t>3.1. Lógica secuencial.</a:t>
            </a:r>
            <a:endParaRPr lang="es-CO" sz="4000" dirty="0"/>
          </a:p>
        </p:txBody>
      </p:sp>
      <p:sp>
        <p:nvSpPr>
          <p:cNvPr id="42" name="41 Rectángulo"/>
          <p:cNvSpPr/>
          <p:nvPr/>
        </p:nvSpPr>
        <p:spPr>
          <a:xfrm>
            <a:off x="179512" y="2936557"/>
            <a:ext cx="183095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600" b="1" i="1" dirty="0"/>
              <a:t>Dos clases:</a:t>
            </a:r>
            <a:endParaRPr lang="es-CO" sz="2600" b="1" i="1" dirty="0"/>
          </a:p>
        </p:txBody>
      </p:sp>
      <p:grpSp>
        <p:nvGrpSpPr>
          <p:cNvPr id="14" name="13 Grupo"/>
          <p:cNvGrpSpPr/>
          <p:nvPr/>
        </p:nvGrpSpPr>
        <p:grpSpPr>
          <a:xfrm>
            <a:off x="2281831" y="2182569"/>
            <a:ext cx="6379767" cy="2004611"/>
            <a:chOff x="2224681" y="2144469"/>
            <a:chExt cx="6379767" cy="2004611"/>
          </a:xfrm>
        </p:grpSpPr>
        <p:sp>
          <p:nvSpPr>
            <p:cNvPr id="12" name="11 Rectángulo redondeado"/>
            <p:cNvSpPr/>
            <p:nvPr/>
          </p:nvSpPr>
          <p:spPr>
            <a:xfrm>
              <a:off x="2224681" y="2144469"/>
              <a:ext cx="6379767" cy="2004611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grpSp>
          <p:nvGrpSpPr>
            <p:cNvPr id="11" name="10 Grupo"/>
            <p:cNvGrpSpPr/>
            <p:nvPr/>
          </p:nvGrpSpPr>
          <p:grpSpPr>
            <a:xfrm>
              <a:off x="2339297" y="2308148"/>
              <a:ext cx="6121135" cy="1840932"/>
              <a:chOff x="1481564" y="2164132"/>
              <a:chExt cx="6121135" cy="1840932"/>
            </a:xfrm>
          </p:grpSpPr>
          <p:grpSp>
            <p:nvGrpSpPr>
              <p:cNvPr id="18" name="17 Grupo"/>
              <p:cNvGrpSpPr/>
              <p:nvPr/>
            </p:nvGrpSpPr>
            <p:grpSpPr>
              <a:xfrm>
                <a:off x="1481564" y="2164132"/>
                <a:ext cx="6121135" cy="1489733"/>
                <a:chOff x="387861" y="4745062"/>
                <a:chExt cx="6333741" cy="1647834"/>
              </a:xfrm>
            </p:grpSpPr>
            <p:grpSp>
              <p:nvGrpSpPr>
                <p:cNvPr id="19" name="18 Grupo"/>
                <p:cNvGrpSpPr/>
                <p:nvPr/>
              </p:nvGrpSpPr>
              <p:grpSpPr>
                <a:xfrm>
                  <a:off x="2739633" y="4745062"/>
                  <a:ext cx="1832367" cy="930588"/>
                  <a:chOff x="4187467" y="5516107"/>
                  <a:chExt cx="1832367" cy="930588"/>
                </a:xfrm>
                <a:noFill/>
              </p:grpSpPr>
              <p:sp>
                <p:nvSpPr>
                  <p:cNvPr id="40" name="39 Rectángulo redondeado"/>
                  <p:cNvSpPr/>
                  <p:nvPr/>
                </p:nvSpPr>
                <p:spPr>
                  <a:xfrm>
                    <a:off x="4275559" y="5516107"/>
                    <a:ext cx="1656184" cy="930588"/>
                  </a:xfrm>
                  <a:prstGeom prst="roundRect">
                    <a:avLst/>
                  </a:prstGeom>
                  <a:grpFill/>
                  <a:ln w="5715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CO"/>
                  </a:p>
                </p:txBody>
              </p:sp>
              <p:sp>
                <p:nvSpPr>
                  <p:cNvPr id="41" name="40 Rectángulo"/>
                  <p:cNvSpPr/>
                  <p:nvPr/>
                </p:nvSpPr>
                <p:spPr>
                  <a:xfrm>
                    <a:off x="4187467" y="5550331"/>
                    <a:ext cx="1832367" cy="851099"/>
                  </a:xfrm>
                  <a:prstGeom prst="rect">
                    <a:avLst/>
                  </a:prstGeom>
                  <a:grpFill/>
                  <a:ln w="57150"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s-ES" sz="2200" dirty="0"/>
                      <a:t>Sistema Síncrono</a:t>
                    </a:r>
                    <a:endParaRPr lang="es-CO" sz="2200" dirty="0"/>
                  </a:p>
                </p:txBody>
              </p:sp>
            </p:grpSp>
            <p:cxnSp>
              <p:nvCxnSpPr>
                <p:cNvPr id="20" name="19 Conector recto de flecha"/>
                <p:cNvCxnSpPr/>
                <p:nvPr/>
              </p:nvCxnSpPr>
              <p:spPr>
                <a:xfrm>
                  <a:off x="1611998" y="5178235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20 Rectángulo"/>
                <p:cNvSpPr/>
                <p:nvPr/>
              </p:nvSpPr>
              <p:spPr>
                <a:xfrm>
                  <a:off x="1924494" y="5868619"/>
                  <a:ext cx="1086768" cy="5242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5" name="34 Rectángulo"/>
                <p:cNvSpPr/>
                <p:nvPr/>
              </p:nvSpPr>
              <p:spPr>
                <a:xfrm>
                  <a:off x="387861" y="4938678"/>
                  <a:ext cx="1221121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/>
                    <a:t>Entrada</a:t>
                  </a:r>
                  <a:endParaRPr lang="es-CO" sz="2200" dirty="0"/>
                </a:p>
              </p:txBody>
            </p:sp>
            <p:cxnSp>
              <p:nvCxnSpPr>
                <p:cNvPr id="37" name="36 Conector recto de flecha"/>
                <p:cNvCxnSpPr/>
                <p:nvPr/>
              </p:nvCxnSpPr>
              <p:spPr>
                <a:xfrm>
                  <a:off x="4597400" y="5199608"/>
                  <a:ext cx="1152128" cy="0"/>
                </a:xfrm>
                <a:prstGeom prst="straightConnector1">
                  <a:avLst/>
                </a:prstGeom>
                <a:ln w="38100">
                  <a:prstDash val="solid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37 Rectángulo"/>
                <p:cNvSpPr/>
                <p:nvPr/>
              </p:nvSpPr>
              <p:spPr>
                <a:xfrm>
                  <a:off x="5132969" y="5666267"/>
                  <a:ext cx="1086768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i="1" dirty="0"/>
                    <a:t>Cambio</a:t>
                  </a:r>
                  <a:endParaRPr lang="es-CO" sz="2200" i="1" dirty="0"/>
                </a:p>
              </p:txBody>
            </p:sp>
            <p:sp>
              <p:nvSpPr>
                <p:cNvPr id="39" name="38 Rectángulo"/>
                <p:cNvSpPr/>
                <p:nvPr/>
              </p:nvSpPr>
              <p:spPr>
                <a:xfrm>
                  <a:off x="5737673" y="4941168"/>
                  <a:ext cx="983929" cy="47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2200" dirty="0"/>
                    <a:t>Salida</a:t>
                  </a:r>
                  <a:endParaRPr lang="es-CO" sz="2200" dirty="0"/>
                </a:p>
              </p:txBody>
            </p:sp>
          </p:grpSp>
          <p:cxnSp>
            <p:nvCxnSpPr>
              <p:cNvPr id="43" name="42 Conector recto de flecha"/>
              <p:cNvCxnSpPr>
                <a:stCxn id="44" idx="0"/>
              </p:cNvCxnSpPr>
              <p:nvPr/>
            </p:nvCxnSpPr>
            <p:spPr>
              <a:xfrm flipV="1">
                <a:off x="4652067" y="3097681"/>
                <a:ext cx="9989" cy="531429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6 Flecha derecha"/>
              <p:cNvSpPr/>
              <p:nvPr/>
            </p:nvSpPr>
            <p:spPr>
              <a:xfrm>
                <a:off x="4002299" y="3310384"/>
                <a:ext cx="515254" cy="157653"/>
              </a:xfrm>
              <a:prstGeom prst="righ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44" name="43 Rectángulo"/>
              <p:cNvSpPr/>
              <p:nvPr/>
            </p:nvSpPr>
            <p:spPr>
              <a:xfrm>
                <a:off x="3347864" y="3604954"/>
                <a:ext cx="260840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s-ES" sz="2000" dirty="0"/>
                  <a:t>Señal de reloj externa</a:t>
                </a:r>
                <a:endParaRPr lang="es-CO" sz="2000" dirty="0"/>
              </a:p>
            </p:txBody>
          </p:sp>
          <p:sp>
            <p:nvSpPr>
              <p:cNvPr id="10" name="9 Flecha doblada hacia arriba"/>
              <p:cNvSpPr/>
              <p:nvPr/>
            </p:nvSpPr>
            <p:spPr>
              <a:xfrm>
                <a:off x="4783832" y="2708920"/>
                <a:ext cx="1385697" cy="729458"/>
              </a:xfrm>
              <a:prstGeom prst="bentUpArrow">
                <a:avLst>
                  <a:gd name="adj1" fmla="val 15148"/>
                  <a:gd name="adj2" fmla="val 17119"/>
                  <a:gd name="adj3" fmla="val 2500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</p:grpSp>
      <p:grpSp>
        <p:nvGrpSpPr>
          <p:cNvPr id="13" name="12 Grupo"/>
          <p:cNvGrpSpPr/>
          <p:nvPr/>
        </p:nvGrpSpPr>
        <p:grpSpPr>
          <a:xfrm>
            <a:off x="1126282" y="4354839"/>
            <a:ext cx="6480720" cy="2227655"/>
            <a:chOff x="1979712" y="4297689"/>
            <a:chExt cx="6480720" cy="2227655"/>
          </a:xfrm>
        </p:grpSpPr>
        <p:grpSp>
          <p:nvGrpSpPr>
            <p:cNvPr id="23" name="22 Grupo"/>
            <p:cNvGrpSpPr/>
            <p:nvPr/>
          </p:nvGrpSpPr>
          <p:grpSpPr>
            <a:xfrm>
              <a:off x="2162507" y="4336778"/>
              <a:ext cx="6183309" cy="2188566"/>
              <a:chOff x="323528" y="4149080"/>
              <a:chExt cx="6398074" cy="2420832"/>
            </a:xfrm>
          </p:grpSpPr>
          <p:grpSp>
            <p:nvGrpSpPr>
              <p:cNvPr id="24" name="23 Grupo"/>
              <p:cNvGrpSpPr/>
              <p:nvPr/>
            </p:nvGrpSpPr>
            <p:grpSpPr>
              <a:xfrm>
                <a:off x="2739633" y="4745062"/>
                <a:ext cx="1832367" cy="930588"/>
                <a:chOff x="4187467" y="5516107"/>
                <a:chExt cx="1832367" cy="930588"/>
              </a:xfrm>
              <a:noFill/>
            </p:grpSpPr>
            <p:sp>
              <p:nvSpPr>
                <p:cNvPr id="33" name="32 Rectángulo redondeado"/>
                <p:cNvSpPr/>
                <p:nvPr/>
              </p:nvSpPr>
              <p:spPr>
                <a:xfrm>
                  <a:off x="4275559" y="5516107"/>
                  <a:ext cx="1656184" cy="930588"/>
                </a:xfrm>
                <a:prstGeom prst="roundRect">
                  <a:avLst/>
                </a:prstGeom>
                <a:grpFill/>
                <a:ln w="571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/>
                </a:p>
              </p:txBody>
            </p:sp>
            <p:sp>
              <p:nvSpPr>
                <p:cNvPr id="34" name="33 Rectángulo"/>
                <p:cNvSpPr/>
                <p:nvPr/>
              </p:nvSpPr>
              <p:spPr>
                <a:xfrm>
                  <a:off x="4187467" y="5550331"/>
                  <a:ext cx="1832367" cy="851099"/>
                </a:xfrm>
                <a:prstGeom prst="rect">
                  <a:avLst/>
                </a:prstGeom>
                <a:grpFill/>
                <a:ln w="57150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s-ES" sz="2200" dirty="0"/>
                    <a:t>Sistema Asíncrono</a:t>
                  </a:r>
                  <a:endParaRPr lang="es-CO" sz="2200" dirty="0"/>
                </a:p>
              </p:txBody>
            </p:sp>
          </p:grpSp>
          <p:cxnSp>
            <p:nvCxnSpPr>
              <p:cNvPr id="25" name="24 Conector recto de flecha"/>
              <p:cNvCxnSpPr/>
              <p:nvPr/>
            </p:nvCxnSpPr>
            <p:spPr>
              <a:xfrm>
                <a:off x="1611998" y="5178235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25 Rectángulo"/>
              <p:cNvSpPr/>
              <p:nvPr/>
            </p:nvSpPr>
            <p:spPr>
              <a:xfrm>
                <a:off x="323528" y="4149080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/>
                  <a:t>Cambio</a:t>
                </a:r>
                <a:endParaRPr lang="es-CO" sz="2200" i="1" dirty="0"/>
              </a:p>
            </p:txBody>
          </p:sp>
          <p:sp>
            <p:nvSpPr>
              <p:cNvPr id="27" name="26 Flecha doblada"/>
              <p:cNvSpPr/>
              <p:nvPr/>
            </p:nvSpPr>
            <p:spPr>
              <a:xfrm rot="5400000">
                <a:off x="1490830" y="4264979"/>
                <a:ext cx="813816" cy="868680"/>
              </a:xfrm>
              <a:prstGeom prst="bentArrow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27 Rectángulo"/>
              <p:cNvSpPr/>
              <p:nvPr/>
            </p:nvSpPr>
            <p:spPr>
              <a:xfrm>
                <a:off x="387861" y="4938678"/>
                <a:ext cx="1221121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/>
                  <a:t>Entrada</a:t>
                </a:r>
                <a:endParaRPr lang="es-CO" sz="2200" dirty="0"/>
              </a:p>
            </p:txBody>
          </p:sp>
          <p:sp>
            <p:nvSpPr>
              <p:cNvPr id="29" name="28 Flecha curvada hacia la derecha"/>
              <p:cNvSpPr/>
              <p:nvPr/>
            </p:nvSpPr>
            <p:spPr>
              <a:xfrm rot="16200000">
                <a:off x="3125384" y="4155536"/>
                <a:ext cx="1165041" cy="3456386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" name="29 Conector recto de flecha"/>
              <p:cNvCxnSpPr/>
              <p:nvPr/>
            </p:nvCxnSpPr>
            <p:spPr>
              <a:xfrm>
                <a:off x="4597400" y="5199608"/>
                <a:ext cx="1152128" cy="0"/>
              </a:xfrm>
              <a:prstGeom prst="straightConnector1">
                <a:avLst/>
              </a:prstGeom>
              <a:ln w="38100">
                <a:prstDash val="solid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30 Rectángulo"/>
              <p:cNvSpPr/>
              <p:nvPr/>
            </p:nvSpPr>
            <p:spPr>
              <a:xfrm>
                <a:off x="4667301" y="6093296"/>
                <a:ext cx="1086768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i="1" dirty="0"/>
                  <a:t>Cambio</a:t>
                </a:r>
                <a:endParaRPr lang="es-CO" sz="2200" i="1" dirty="0"/>
              </a:p>
            </p:txBody>
          </p:sp>
          <p:sp>
            <p:nvSpPr>
              <p:cNvPr id="32" name="31 Rectángulo"/>
              <p:cNvSpPr/>
              <p:nvPr/>
            </p:nvSpPr>
            <p:spPr>
              <a:xfrm>
                <a:off x="5737673" y="4941168"/>
                <a:ext cx="983929" cy="47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sz="2200" dirty="0"/>
                  <a:t>Salida</a:t>
                </a:r>
                <a:endParaRPr lang="es-CO" sz="2200" dirty="0"/>
              </a:p>
            </p:txBody>
          </p:sp>
        </p:grpSp>
        <p:sp>
          <p:nvSpPr>
            <p:cNvPr id="45" name="44 Rectángulo redondeado"/>
            <p:cNvSpPr/>
            <p:nvPr/>
          </p:nvSpPr>
          <p:spPr>
            <a:xfrm>
              <a:off x="1979712" y="4297689"/>
              <a:ext cx="6480720" cy="2227655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46" name="4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30A9F2-0961-4D42-AD14-62F41D5F83DE}"/>
              </a:ext>
            </a:extLst>
          </p:cNvPr>
          <p:cNvGrpSpPr/>
          <p:nvPr/>
        </p:nvGrpSpPr>
        <p:grpSpPr>
          <a:xfrm>
            <a:off x="6781087" y="3755948"/>
            <a:ext cx="1224136" cy="290259"/>
            <a:chOff x="539552" y="1532269"/>
            <a:chExt cx="2278390" cy="456571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2982FF6-9CB2-47A8-9DAC-DAD9CFD6EC7F}"/>
                </a:ext>
              </a:extLst>
            </p:cNvPr>
            <p:cNvGrpSpPr/>
            <p:nvPr/>
          </p:nvGrpSpPr>
          <p:grpSpPr>
            <a:xfrm>
              <a:off x="539552" y="1533151"/>
              <a:ext cx="1152128" cy="455689"/>
              <a:chOff x="539552" y="1533151"/>
              <a:chExt cx="1152128" cy="455689"/>
            </a:xfrm>
          </p:grpSpPr>
          <p:cxnSp>
            <p:nvCxnSpPr>
              <p:cNvPr id="4" name="Connector: Elbow 3">
                <a:extLst>
                  <a:ext uri="{FF2B5EF4-FFF2-40B4-BE49-F238E27FC236}">
                    <a16:creationId xmlns:a16="http://schemas.microsoft.com/office/drawing/2014/main" id="{3C2ED7B8-577B-4056-8AB2-E8AC3F1930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552" y="1533151"/>
                <a:ext cx="633114" cy="455689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or: Elbow 46">
                <a:extLst>
                  <a:ext uri="{FF2B5EF4-FFF2-40B4-BE49-F238E27FC236}">
                    <a16:creationId xmlns:a16="http://schemas.microsoft.com/office/drawing/2014/main" id="{B45C7F71-FA22-437A-88B2-426F430506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66" y="1533151"/>
                <a:ext cx="519014" cy="454807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CF3DFE3-B70F-45BC-AA8E-6946BA7F8184}"/>
                </a:ext>
              </a:extLst>
            </p:cNvPr>
            <p:cNvGrpSpPr/>
            <p:nvPr/>
          </p:nvGrpSpPr>
          <p:grpSpPr>
            <a:xfrm>
              <a:off x="1665814" y="1532269"/>
              <a:ext cx="1152128" cy="455689"/>
              <a:chOff x="539552" y="1533151"/>
              <a:chExt cx="1152128" cy="455689"/>
            </a:xfrm>
          </p:grpSpPr>
          <p:cxnSp>
            <p:nvCxnSpPr>
              <p:cNvPr id="49" name="Connector: Elbow 48">
                <a:extLst>
                  <a:ext uri="{FF2B5EF4-FFF2-40B4-BE49-F238E27FC236}">
                    <a16:creationId xmlns:a16="http://schemas.microsoft.com/office/drawing/2014/main" id="{3371AE68-FC0C-4998-AD2E-CF8E8163C0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552" y="1533151"/>
                <a:ext cx="633114" cy="455689"/>
              </a:xfrm>
              <a:prstGeom prst="bentConnector3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F674E850-B6A5-4291-8D2B-9CF250364D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72666" y="1533151"/>
                <a:ext cx="519014" cy="454807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72991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/>
              <a:t>3.2. </a:t>
            </a:r>
            <a:r>
              <a:rPr lang="es-ES" sz="4600" dirty="0" err="1"/>
              <a:t>Biestable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/>
              <a:t>Dispositivo básico de memoria. </a:t>
            </a:r>
          </a:p>
          <a:p>
            <a:pPr algn="ctr"/>
            <a:r>
              <a:rPr lang="es-ES" sz="2600" b="1" i="1" dirty="0"/>
              <a:t>Es el fundamento de los sistemas secuenciales. </a:t>
            </a:r>
          </a:p>
          <a:p>
            <a:pPr algn="ctr"/>
            <a:r>
              <a:rPr lang="es-ES" sz="2600" b="1" i="1" dirty="0"/>
              <a:t>Almacena un bit aún después de que desaparezca la señal que lo produce.</a:t>
            </a:r>
            <a:endParaRPr lang="es-CO" sz="2600" b="1" i="1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pSp>
        <p:nvGrpSpPr>
          <p:cNvPr id="70" name="69 Grupo"/>
          <p:cNvGrpSpPr/>
          <p:nvPr/>
        </p:nvGrpSpPr>
        <p:grpSpPr>
          <a:xfrm>
            <a:off x="-64416" y="4437112"/>
            <a:ext cx="7804768" cy="1656184"/>
            <a:chOff x="395536" y="4653136"/>
            <a:chExt cx="7804768" cy="1656184"/>
          </a:xfrm>
        </p:grpSpPr>
        <p:sp>
          <p:nvSpPr>
            <p:cNvPr id="3" name="2 Rectángulo"/>
            <p:cNvSpPr/>
            <p:nvPr/>
          </p:nvSpPr>
          <p:spPr>
            <a:xfrm>
              <a:off x="3059832" y="4653136"/>
              <a:ext cx="2952328" cy="1656184"/>
            </a:xfrm>
            <a:prstGeom prst="rect">
              <a:avLst/>
            </a:prstGeom>
            <a:noFill/>
            <a:ln w="57150">
              <a:solidFill>
                <a:srgbClr val="840A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6" name="45 Rectángulo"/>
            <p:cNvSpPr/>
            <p:nvPr/>
          </p:nvSpPr>
          <p:spPr>
            <a:xfrm>
              <a:off x="3059832" y="4892967"/>
              <a:ext cx="2952328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400" b="1" i="1" dirty="0"/>
                <a:t>Configuración secuencial de compuertas</a:t>
              </a:r>
              <a:endParaRPr lang="es-CO" sz="2400" b="1" i="1" dirty="0"/>
            </a:p>
          </p:txBody>
        </p:sp>
        <p:cxnSp>
          <p:nvCxnSpPr>
            <p:cNvPr id="5" name="4 Conector recto de flecha"/>
            <p:cNvCxnSpPr/>
            <p:nvPr/>
          </p:nvCxnSpPr>
          <p:spPr>
            <a:xfrm>
              <a:off x="2254354" y="582796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61 Conector recto de flecha"/>
            <p:cNvCxnSpPr/>
            <p:nvPr/>
          </p:nvCxnSpPr>
          <p:spPr>
            <a:xfrm>
              <a:off x="2267744" y="5061942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62 Conector recto de flecha"/>
            <p:cNvCxnSpPr/>
            <p:nvPr/>
          </p:nvCxnSpPr>
          <p:spPr>
            <a:xfrm>
              <a:off x="2253792" y="5277966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63 Rectángulo"/>
            <p:cNvSpPr/>
            <p:nvPr/>
          </p:nvSpPr>
          <p:spPr>
            <a:xfrm>
              <a:off x="423440" y="4869160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/>
                <a:t>Entradas</a:t>
              </a:r>
              <a:endParaRPr lang="es-CO" sz="2600" dirty="0"/>
            </a:p>
          </p:txBody>
        </p:sp>
        <p:sp>
          <p:nvSpPr>
            <p:cNvPr id="65" name="64 Rectángulo"/>
            <p:cNvSpPr/>
            <p:nvPr/>
          </p:nvSpPr>
          <p:spPr>
            <a:xfrm>
              <a:off x="395536" y="5573916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/>
                <a:t>Control</a:t>
              </a:r>
              <a:endParaRPr lang="es-CO" sz="2600" dirty="0"/>
            </a:p>
          </p:txBody>
        </p:sp>
        <p:cxnSp>
          <p:nvCxnSpPr>
            <p:cNvPr id="66" name="65 Conector recto de flecha"/>
            <p:cNvCxnSpPr/>
            <p:nvPr/>
          </p:nvCxnSpPr>
          <p:spPr>
            <a:xfrm>
              <a:off x="6012160" y="5949280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66 Conector recto de flecha"/>
            <p:cNvCxnSpPr/>
            <p:nvPr/>
          </p:nvCxnSpPr>
          <p:spPr>
            <a:xfrm>
              <a:off x="6024810" y="5085184"/>
              <a:ext cx="779438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67 Rectángulo"/>
            <p:cNvSpPr/>
            <p:nvPr/>
          </p:nvSpPr>
          <p:spPr>
            <a:xfrm>
              <a:off x="6040064" y="571930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/>
                <a:t>Q’</a:t>
              </a:r>
              <a:endParaRPr lang="es-CO" sz="2600" dirty="0"/>
            </a:p>
          </p:txBody>
        </p:sp>
        <p:sp>
          <p:nvSpPr>
            <p:cNvPr id="69" name="68 Rectángulo"/>
            <p:cNvSpPr/>
            <p:nvPr/>
          </p:nvSpPr>
          <p:spPr>
            <a:xfrm>
              <a:off x="6025550" y="4840694"/>
              <a:ext cx="216024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2600" dirty="0"/>
                <a:t>Q</a:t>
              </a:r>
              <a:endParaRPr lang="es-CO" sz="2600" dirty="0"/>
            </a:p>
          </p:txBody>
        </p:sp>
      </p:grpSp>
      <p:sp>
        <p:nvSpPr>
          <p:cNvPr id="71" name="70 Rectángulo"/>
          <p:cNvSpPr/>
          <p:nvPr/>
        </p:nvSpPr>
        <p:spPr>
          <a:xfrm>
            <a:off x="6792983" y="4365104"/>
            <a:ext cx="2387529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>
                <a:solidFill>
                  <a:srgbClr val="7030A0"/>
                </a:solidFill>
              </a:rPr>
              <a:t>Flip-flop</a:t>
            </a:r>
            <a:r>
              <a:rPr lang="es-ES" sz="2600" b="1" i="1" dirty="0">
                <a:solidFill>
                  <a:srgbClr val="7030A0"/>
                </a:solidFill>
              </a:rPr>
              <a:t> (Síncronos)</a:t>
            </a:r>
          </a:p>
          <a:p>
            <a:pPr algn="ctr"/>
            <a:r>
              <a:rPr lang="es-ES" sz="2600" b="1" i="1" dirty="0" err="1">
                <a:solidFill>
                  <a:srgbClr val="7030A0"/>
                </a:solidFill>
              </a:rPr>
              <a:t>Latch</a:t>
            </a:r>
            <a:endParaRPr lang="es-ES" sz="2600" b="1" i="1" dirty="0">
              <a:solidFill>
                <a:srgbClr val="7030A0"/>
              </a:solidFill>
            </a:endParaRPr>
          </a:p>
          <a:p>
            <a:pPr algn="ctr"/>
            <a:r>
              <a:rPr lang="es-ES" sz="2600" b="1" i="1" dirty="0">
                <a:solidFill>
                  <a:srgbClr val="7030A0"/>
                </a:solidFill>
              </a:rPr>
              <a:t>Cerrojo</a:t>
            </a:r>
          </a:p>
          <a:p>
            <a:pPr algn="ctr"/>
            <a:r>
              <a:rPr lang="es-ES" sz="2600" b="1" i="1" dirty="0">
                <a:solidFill>
                  <a:srgbClr val="7030A0"/>
                </a:solidFill>
              </a:rPr>
              <a:t>(Asíncronos)</a:t>
            </a:r>
          </a:p>
        </p:txBody>
      </p:sp>
    </p:spTree>
    <p:extLst>
      <p:ext uri="{BB962C8B-B14F-4D97-AF65-F5344CB8AC3E}">
        <p14:creationId xmlns:p14="http://schemas.microsoft.com/office/powerpoint/2010/main" val="2099143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/>
              <a:t>3.2. </a:t>
            </a:r>
            <a:r>
              <a:rPr lang="es-ES" sz="4600" dirty="0" err="1"/>
              <a:t>Biestable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/>
              <a:t>Latch</a:t>
            </a:r>
            <a:r>
              <a:rPr lang="es-ES" sz="2600" b="1" i="1" dirty="0"/>
              <a:t> R-S (</a:t>
            </a:r>
            <a:r>
              <a:rPr lang="es-ES" sz="2600" b="1" i="1" dirty="0" err="1"/>
              <a:t>Reset</a:t>
            </a:r>
            <a:r>
              <a:rPr lang="es-ES" sz="2600" b="1" i="1" dirty="0"/>
              <a:t> y Set) con compuertas NOR.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758971"/>
              </p:ext>
            </p:extLst>
          </p:nvPr>
        </p:nvGraphicFramePr>
        <p:xfrm>
          <a:off x="5583270" y="4807028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>
                          <a:effectLst/>
                        </a:rPr>
                        <a:t>i</a:t>
                      </a:r>
                      <a:endParaRPr lang="es-CO" sz="1800" b="0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Estado </a:t>
                      </a:r>
                      <a:r>
                        <a:rPr lang="es-CO" sz="1800" u="none" strike="noStrike" dirty="0" err="1">
                          <a:effectLst/>
                        </a:rPr>
                        <a:t>metaestable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2840623"/>
            <a:ext cx="1824922" cy="184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99" y="2818059"/>
            <a:ext cx="1962150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R-S_mk2.gif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39552" y="2850561"/>
            <a:ext cx="3578136" cy="2612040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323528" y="5661248"/>
            <a:ext cx="39604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1600" dirty="0"/>
              <a:t>https://en.wikipedia.org/wiki/Flip-flop_(electronics)</a:t>
            </a:r>
          </a:p>
        </p:txBody>
      </p:sp>
    </p:spTree>
    <p:extLst>
      <p:ext uri="{BB962C8B-B14F-4D97-AF65-F5344CB8AC3E}">
        <p14:creationId xmlns:p14="http://schemas.microsoft.com/office/powerpoint/2010/main" val="154433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/>
              <a:t>3.2. </a:t>
            </a:r>
            <a:r>
              <a:rPr lang="es-ES" sz="4600" dirty="0" err="1"/>
              <a:t>Biestable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48416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/>
              <a:t>Latch</a:t>
            </a:r>
            <a:r>
              <a:rPr lang="es-ES" sz="2600" b="1" i="1" dirty="0"/>
              <a:t> R-S con compuertas NAND.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6696279"/>
              </p:ext>
            </p:extLst>
          </p:nvPr>
        </p:nvGraphicFramePr>
        <p:xfrm>
          <a:off x="5076056" y="4684959"/>
          <a:ext cx="2736302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>
                          <a:effectLst/>
                        </a:rPr>
                        <a:t>R</a:t>
                      </a:r>
                      <a:endParaRPr lang="es-CO" sz="22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>
                          <a:effectLst/>
                        </a:rPr>
                        <a:t>Estado </a:t>
                      </a:r>
                      <a:r>
                        <a:rPr lang="es-CO" sz="1800" u="none" strike="noStrike" dirty="0" err="1">
                          <a:effectLst/>
                        </a:rPr>
                        <a:t>metaestable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651717"/>
            <a:ext cx="3280133" cy="206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4641" y="3132584"/>
            <a:ext cx="3848966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838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/>
              <a:t>3.2. </a:t>
            </a:r>
            <a:r>
              <a:rPr lang="es-ES" sz="4600" dirty="0" err="1"/>
              <a:t>Biestable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/>
              <a:t>Flip-flop</a:t>
            </a:r>
            <a:r>
              <a:rPr lang="es-ES" sz="2600" b="1" i="1" dirty="0"/>
              <a:t> R-S con habilitación. RS Síncrono.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0778265"/>
              </p:ext>
            </p:extLst>
          </p:nvPr>
        </p:nvGraphicFramePr>
        <p:xfrm>
          <a:off x="5076056" y="4545290"/>
          <a:ext cx="3096344" cy="17640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1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R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 err="1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0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>
                          <a:effectLst/>
                        </a:rPr>
                        <a:t>1</a:t>
                      </a:r>
                      <a:endParaRPr lang="es-CO" sz="18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u="none" strike="noStrike" dirty="0">
                          <a:effectLst/>
                        </a:rPr>
                        <a:t>Estado </a:t>
                      </a:r>
                      <a:r>
                        <a:rPr lang="es-CO" sz="1800" u="none" strike="noStrike" dirty="0" err="1">
                          <a:effectLst/>
                        </a:rPr>
                        <a:t>metaestable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 err="1">
                          <a:effectLst/>
                        </a:rPr>
                        <a:t>Q</a:t>
                      </a:r>
                      <a:r>
                        <a:rPr lang="es-CO" sz="1800" u="none" strike="noStrike" baseline="-25000" dirty="0" err="1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8" y="3577363"/>
            <a:ext cx="3926900" cy="1984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873852"/>
            <a:ext cx="1440160" cy="1294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520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/>
              <a:t>3.2. </a:t>
            </a:r>
            <a:r>
              <a:rPr lang="es-ES" sz="4600" dirty="0" err="1"/>
              <a:t>Biestable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/>
              <a:t>Flip-flop</a:t>
            </a:r>
            <a:r>
              <a:rPr lang="es-ES" sz="2600" b="1" i="1" dirty="0"/>
              <a:t> D (</a:t>
            </a:r>
            <a:r>
              <a:rPr lang="es-ES" sz="2600" b="1" i="1" dirty="0" err="1"/>
              <a:t>Delay</a:t>
            </a:r>
            <a:r>
              <a:rPr lang="es-ES" sz="2600" b="1" i="1" dirty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197647"/>
              </p:ext>
            </p:extLst>
          </p:nvPr>
        </p:nvGraphicFramePr>
        <p:xfrm>
          <a:off x="5292080" y="4820761"/>
          <a:ext cx="2778171" cy="9124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9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0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D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77" y="3501008"/>
            <a:ext cx="4050449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2924944"/>
            <a:ext cx="1542082" cy="1462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5553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/>
              <a:t>3.2. </a:t>
            </a:r>
            <a:r>
              <a:rPr lang="es-ES" sz="4600" dirty="0" err="1"/>
              <a:t>Biestable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/>
              <a:t>Flip-flop</a:t>
            </a:r>
            <a:r>
              <a:rPr lang="es-ES" sz="2600" b="1" i="1" dirty="0"/>
              <a:t> JK (</a:t>
            </a:r>
            <a:r>
              <a:rPr lang="es-CO" sz="2600" b="1" dirty="0"/>
              <a:t>Jack </a:t>
            </a:r>
            <a:r>
              <a:rPr lang="es-CO" sz="2600" b="1" dirty="0" err="1"/>
              <a:t>Kilby</a:t>
            </a:r>
            <a:r>
              <a:rPr lang="es-ES" sz="2600" b="1" i="1" dirty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879827"/>
              </p:ext>
            </p:extLst>
          </p:nvPr>
        </p:nvGraphicFramePr>
        <p:xfrm>
          <a:off x="5292080" y="4757127"/>
          <a:ext cx="2778171" cy="1480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K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 err="1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>
                          <a:effectLst/>
                        </a:rPr>
                        <a:t>’</a:t>
                      </a:r>
                      <a:endParaRPr lang="es-CO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/>
              <a:t>Flip-Flop</a:t>
            </a:r>
            <a:r>
              <a:rPr lang="es-ES" sz="2600" b="1" i="1" dirty="0"/>
              <a:t> Universal!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501008"/>
            <a:ext cx="4036026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852936"/>
            <a:ext cx="1705148" cy="1586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526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600" dirty="0"/>
              <a:t>3.2. </a:t>
            </a:r>
            <a:r>
              <a:rPr lang="es-ES" sz="4600" dirty="0" err="1"/>
              <a:t>Biestable</a:t>
            </a:r>
            <a:r>
              <a:rPr lang="es-ES" sz="4600" dirty="0"/>
              <a:t>.</a:t>
            </a:r>
            <a:endParaRPr lang="es-CO" sz="46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216477"/>
            <a:ext cx="864096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 err="1"/>
              <a:t>Flip-flop</a:t>
            </a:r>
            <a:r>
              <a:rPr lang="es-ES" sz="2600" b="1" i="1" dirty="0"/>
              <a:t> T (</a:t>
            </a:r>
            <a:r>
              <a:rPr lang="es-ES" sz="2600" b="1" i="1" dirty="0" err="1"/>
              <a:t>Toggle</a:t>
            </a:r>
            <a:r>
              <a:rPr lang="es-ES" sz="2600" b="1" i="1" dirty="0"/>
              <a:t>).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4" name="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640915"/>
              </p:ext>
            </p:extLst>
          </p:nvPr>
        </p:nvGraphicFramePr>
        <p:xfrm>
          <a:off x="5535693" y="5108793"/>
          <a:ext cx="2492691" cy="12477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8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T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CLK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i+1</a:t>
                      </a:r>
                      <a:endParaRPr lang="es-CO" sz="22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0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>
                          <a:effectLst/>
                        </a:rPr>
                        <a:t>i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↑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u="none" strike="noStrike" dirty="0" err="1">
                          <a:effectLst/>
                        </a:rPr>
                        <a:t>Q</a:t>
                      </a:r>
                      <a:r>
                        <a:rPr lang="es-CO" sz="1800" b="1" u="none" strike="noStrike" baseline="-25000" dirty="0" err="1">
                          <a:effectLst/>
                        </a:rPr>
                        <a:t>i</a:t>
                      </a:r>
                      <a:r>
                        <a:rPr lang="es-CO" sz="1800" b="1" u="none" strike="noStrike" baseline="0" dirty="0">
                          <a:effectLst/>
                        </a:rPr>
                        <a:t>’</a:t>
                      </a:r>
                      <a:endParaRPr lang="es-CO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7 Rectángulo"/>
          <p:cNvSpPr/>
          <p:nvPr/>
        </p:nvSpPr>
        <p:spPr>
          <a:xfrm>
            <a:off x="224116" y="5384829"/>
            <a:ext cx="48519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Un </a:t>
            </a:r>
            <a:r>
              <a:rPr lang="es-ES" sz="2400" b="1" i="1" dirty="0" err="1"/>
              <a:t>Flip-Flop</a:t>
            </a:r>
            <a:r>
              <a:rPr lang="es-ES" sz="2400" b="1" i="1" dirty="0"/>
              <a:t> T se puede hacer también a partir de un </a:t>
            </a:r>
            <a:r>
              <a:rPr lang="es-ES" sz="2400" b="1" i="1" dirty="0" err="1"/>
              <a:t>Flip-Flop</a:t>
            </a:r>
            <a:r>
              <a:rPr lang="es-ES" sz="2400" b="1" i="1" dirty="0"/>
              <a:t> RS.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3212976"/>
            <a:ext cx="3348035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703" y="3062461"/>
            <a:ext cx="1571625" cy="159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5180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74550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213285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Circuitos que «cuentan» el número de veces que un evento ha ocurrido, en particular de una señal de reloj.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8" name="7 Rectángulo"/>
          <p:cNvSpPr/>
          <p:nvPr/>
        </p:nvSpPr>
        <p:spPr>
          <a:xfrm>
            <a:off x="817899" y="5487615"/>
            <a:ext cx="48519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Contadores Síncronos.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817899" y="3645024"/>
            <a:ext cx="48519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Contadores de Propagación o Asíncronos.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171" y="3262291"/>
            <a:ext cx="2770237" cy="1534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961" y="5036072"/>
            <a:ext cx="1996658" cy="1489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4835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79512" y="1988840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/>
              <a:t>Contador ascendente de 4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993221"/>
              </p:ext>
            </p:extLst>
          </p:nvPr>
        </p:nvGraphicFramePr>
        <p:xfrm>
          <a:off x="2339750" y="4365104"/>
          <a:ext cx="439249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2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3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06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Número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MSB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..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b="1" u="none" strike="noStrike" baseline="0" dirty="0">
                          <a:effectLst/>
                        </a:rPr>
                        <a:t>LSB</a:t>
                      </a:r>
                      <a:endParaRPr lang="es-CO" sz="16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286" y="2381528"/>
            <a:ext cx="5105412" cy="192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05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75656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/>
              <a:t>Contador ascendente de 3 bits MOD 6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445764"/>
              </p:ext>
            </p:extLst>
          </p:nvPr>
        </p:nvGraphicFramePr>
        <p:xfrm>
          <a:off x="4409542" y="3429764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2561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Número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7" y="3496989"/>
            <a:ext cx="3680155" cy="1732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459797" y="5877272"/>
            <a:ext cx="5976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/>
              <a:t>Un contador ascendiente de 4 bits MOD 10 es conocido también como Contador </a:t>
            </a:r>
            <a:r>
              <a:rPr lang="es-ES" sz="2400" i="1" dirty="0" err="1"/>
              <a:t>decadal</a:t>
            </a:r>
            <a:r>
              <a:rPr lang="es-ES" sz="2400" i="1" dirty="0"/>
              <a:t>.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218521" y="6190968"/>
            <a:ext cx="1820163" cy="469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>
                <a:solidFill>
                  <a:srgbClr val="FF0000"/>
                </a:solidFill>
              </a:rPr>
              <a:t>Bonificación</a:t>
            </a:r>
          </a:p>
        </p:txBody>
      </p:sp>
    </p:spTree>
    <p:extLst>
      <p:ext uri="{BB962C8B-B14F-4D97-AF65-F5344CB8AC3E}">
        <p14:creationId xmlns:p14="http://schemas.microsoft.com/office/powerpoint/2010/main" val="2973670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Contadores Asíncronos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403648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/>
              <a:t>Contador descendiente de 3 bits</a:t>
            </a:r>
          </a:p>
        </p:txBody>
      </p:sp>
      <p:graphicFrame>
        <p:nvGraphicFramePr>
          <p:cNvPr id="12" name="1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10490"/>
              </p:ext>
            </p:extLst>
          </p:nvPr>
        </p:nvGraphicFramePr>
        <p:xfrm>
          <a:off x="4625566" y="3257520"/>
          <a:ext cx="3978882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11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3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6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Número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90" y="3501008"/>
            <a:ext cx="4286890" cy="191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707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358526"/>
            <a:ext cx="7987965" cy="1054250"/>
          </a:xfrm>
        </p:spPr>
        <p:txBody>
          <a:bodyPr/>
          <a:lstStyle/>
          <a:p>
            <a:r>
              <a:rPr lang="es-ES" sz="4800" dirty="0"/>
              <a:t>3.3. Contadores.</a:t>
            </a:r>
            <a:endParaRPr lang="es-CO" sz="4800" dirty="0"/>
          </a:p>
        </p:txBody>
      </p:sp>
      <p:sp>
        <p:nvSpPr>
          <p:cNvPr id="42" name="41 Rectángulo"/>
          <p:cNvSpPr/>
          <p:nvPr/>
        </p:nvSpPr>
        <p:spPr>
          <a:xfrm>
            <a:off x="224116" y="1412776"/>
            <a:ext cx="4320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Contadores Síncronos</a:t>
            </a:r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107504" y="2391271"/>
            <a:ext cx="5976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/>
              <a:t>Contador ascendente de 4 bits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88" y="3027947"/>
            <a:ext cx="4898167" cy="24172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9" name="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3456153"/>
              </p:ext>
            </p:extLst>
          </p:nvPr>
        </p:nvGraphicFramePr>
        <p:xfrm>
          <a:off x="5220073" y="2799824"/>
          <a:ext cx="3528391" cy="2667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2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1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39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069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Número de pulsos</a:t>
                      </a:r>
                      <a:endParaRPr lang="es-CO" sz="22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2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200" b="1" u="none" strike="noStrike" baseline="0" dirty="0">
                          <a:effectLst/>
                        </a:rPr>
                        <a:t>Q</a:t>
                      </a:r>
                      <a:r>
                        <a:rPr lang="es-CO" sz="2200" b="1" u="none" strike="noStrike" baseline="-25000" dirty="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….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u="none" strike="noStrike" dirty="0">
                          <a:effectLst/>
                          <a:latin typeface="+mn-lt"/>
                        </a:rPr>
                        <a:t>15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16</a:t>
                      </a:r>
                      <a:endParaRPr lang="es-CO" sz="1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303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9 Rectángulo"/>
          <p:cNvSpPr/>
          <p:nvPr/>
        </p:nvSpPr>
        <p:spPr>
          <a:xfrm>
            <a:off x="259904" y="5517232"/>
            <a:ext cx="59766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/>
              <a:t>Al igual que con los contadores Asíncronos, los síncronos también se pueden diseñar descendentes y ascendentes con MOD 10.</a:t>
            </a:r>
          </a:p>
        </p:txBody>
      </p:sp>
      <p:sp>
        <p:nvSpPr>
          <p:cNvPr id="12" name="12 Rectángulo">
            <a:extLst>
              <a:ext uri="{FF2B5EF4-FFF2-40B4-BE49-F238E27FC236}">
                <a16:creationId xmlns:a16="http://schemas.microsoft.com/office/drawing/2014/main" id="{A95B1333-7B75-4193-B232-0853134D32CC}"/>
              </a:ext>
            </a:extLst>
          </p:cNvPr>
          <p:cNvSpPr/>
          <p:nvPr/>
        </p:nvSpPr>
        <p:spPr>
          <a:xfrm>
            <a:off x="5642825" y="1687514"/>
            <a:ext cx="354698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>
                <a:solidFill>
                  <a:srgbClr val="FF0000"/>
                </a:solidFill>
              </a:rPr>
              <a:t>Tiempo de propagación!</a:t>
            </a:r>
          </a:p>
        </p:txBody>
      </p:sp>
    </p:spTree>
    <p:extLst>
      <p:ext uri="{BB962C8B-B14F-4D97-AF65-F5344CB8AC3E}">
        <p14:creationId xmlns:p14="http://schemas.microsoft.com/office/powerpoint/2010/main" val="218408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899592" y="4688557"/>
            <a:ext cx="748883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/>
              <a:t>Existen tres tipos básicos:</a:t>
            </a:r>
          </a:p>
          <a:p>
            <a:pPr marL="457200" indent="-457200" algn="ctr">
              <a:buAutoNum type="arabicPeriod"/>
            </a:pPr>
            <a:r>
              <a:rPr lang="es-ES" sz="2600" b="1" i="1" dirty="0"/>
              <a:t>Registro de corrimiento o serie-serie.</a:t>
            </a:r>
          </a:p>
          <a:p>
            <a:pPr marL="457200" indent="-457200" algn="ctr">
              <a:buAutoNum type="arabicPeriod"/>
            </a:pPr>
            <a:r>
              <a:rPr lang="es-ES" sz="2600" b="1" i="1" dirty="0"/>
              <a:t>Registro serie-paralelo.</a:t>
            </a:r>
          </a:p>
          <a:p>
            <a:pPr marL="457200" indent="-457200" algn="ctr">
              <a:buAutoNum type="arabicPeriod"/>
            </a:pPr>
            <a:r>
              <a:rPr lang="es-ES" sz="2600" b="1" i="1" dirty="0"/>
              <a:t>Registro paralelo-serie.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309971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sz="2400" b="1" i="1" dirty="0"/>
              <a:t>Circuitos Secuenciales donde se almacena información temporalmente, para su uso posterior.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3208" y="3359249"/>
            <a:ext cx="51816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923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359160" y="2295842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Registro de Corrimiento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141" y="2996952"/>
            <a:ext cx="85629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323528" y="5445224"/>
            <a:ext cx="64807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También se puede hacer un registro de corrimiento con </a:t>
            </a:r>
            <a:r>
              <a:rPr lang="es-ES" sz="2400" b="1" i="1" dirty="0" err="1"/>
              <a:t>Flip-Flops</a:t>
            </a:r>
            <a:r>
              <a:rPr lang="es-ES" sz="2400" b="1" i="1" dirty="0"/>
              <a:t> JK y D.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1" name="10 Rectángulo"/>
          <p:cNvSpPr/>
          <p:nvPr/>
        </p:nvSpPr>
        <p:spPr>
          <a:xfrm>
            <a:off x="539552" y="5445224"/>
            <a:ext cx="748883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/>
              <a:t>Se añade una salida en cada </a:t>
            </a:r>
            <a:r>
              <a:rPr lang="es-ES" sz="2600" b="1" i="1" dirty="0" err="1"/>
              <a:t>biestable</a:t>
            </a:r>
            <a:r>
              <a:rPr lang="es-ES" sz="2600" b="1" i="1" dirty="0"/>
              <a:t>!</a:t>
            </a:r>
          </a:p>
          <a:p>
            <a:pPr algn="ctr"/>
            <a:r>
              <a:rPr lang="es-ES" sz="2600" b="1" i="1" dirty="0"/>
              <a:t>Este registro es utilizado para cambiar una palabra de serie a paralelo.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467544" y="2204864"/>
            <a:ext cx="84249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Registro Serie-Paralelo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38" y="2708920"/>
            <a:ext cx="7843035" cy="2520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/>
              <a:t>3.4. Registros.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10" name="9 Rectángulo"/>
          <p:cNvSpPr/>
          <p:nvPr/>
        </p:nvSpPr>
        <p:spPr>
          <a:xfrm>
            <a:off x="467544" y="2276872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Registro Paralelo-Serie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852936"/>
            <a:ext cx="5814986" cy="3573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6300192" y="3717032"/>
            <a:ext cx="272229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Su uso consiste en la conversión de una palabra de paralelo a serie.</a:t>
            </a:r>
          </a:p>
        </p:txBody>
      </p:sp>
    </p:spTree>
    <p:extLst>
      <p:ext uri="{BB962C8B-B14F-4D97-AF65-F5344CB8AC3E}">
        <p14:creationId xmlns:p14="http://schemas.microsoft.com/office/powerpoint/2010/main" val="2445408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8490" y="502542"/>
            <a:ext cx="7987965" cy="1054250"/>
          </a:xfrm>
        </p:spPr>
        <p:txBody>
          <a:bodyPr/>
          <a:lstStyle/>
          <a:p>
            <a:r>
              <a:rPr lang="es-ES" sz="4800" dirty="0"/>
              <a:t>3.5. 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1835696" y="6129710"/>
            <a:ext cx="5400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http://home.cogeco.ca/~rpaisley4/LM555.html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0387" y="2558326"/>
            <a:ext cx="3579417" cy="2683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 descr="C:\Users\Calelo\Desktop\aa-555-01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31" y="2256603"/>
            <a:ext cx="4960267" cy="324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4497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/>
              <a:t>3.5. 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60" y="2175247"/>
            <a:ext cx="799288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Monoestable</a:t>
            </a: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80928"/>
            <a:ext cx="7337451" cy="3528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816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/>
              <a:t>3.5. Temporizador 555.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 err="1"/>
              <a:t>Astable</a:t>
            </a:r>
            <a:endParaRPr lang="es-ES" sz="2400" b="1" i="1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708920"/>
            <a:ext cx="6768752" cy="3502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1828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/>
          <a:lstStyle/>
          <a:p>
            <a:r>
              <a:rPr lang="es-ES" sz="4800" dirty="0"/>
              <a:t>3.6. Máquinas de estado.</a:t>
            </a:r>
            <a:endParaRPr lang="es-CO" sz="48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3" name="2 Rectángulo"/>
          <p:cNvSpPr/>
          <p:nvPr/>
        </p:nvSpPr>
        <p:spPr>
          <a:xfrm>
            <a:off x="611559" y="2175247"/>
            <a:ext cx="7860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Circuitos secuenciales en una configuración tal que pasan por una serie de estados determinados por la configuración y las entradas del sistema.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474458"/>
            <a:ext cx="3528392" cy="3113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4488727" y="3693561"/>
            <a:ext cx="461977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i="1" dirty="0"/>
              <a:t>Herramientas para analizar una máquina de estados:</a:t>
            </a:r>
          </a:p>
          <a:p>
            <a:pPr algn="ctr"/>
            <a:r>
              <a:rPr lang="es-ES" sz="2400" i="1" dirty="0"/>
              <a:t>Ecuaciones Lógicas</a:t>
            </a:r>
          </a:p>
          <a:p>
            <a:pPr algn="ctr"/>
            <a:r>
              <a:rPr lang="es-ES" sz="2400" i="1" dirty="0"/>
              <a:t>Tabla de Estados</a:t>
            </a:r>
          </a:p>
          <a:p>
            <a:pPr algn="ctr"/>
            <a:r>
              <a:rPr lang="es-ES" sz="2400" i="1" dirty="0"/>
              <a:t>Diagrama de Estado</a:t>
            </a:r>
          </a:p>
          <a:p>
            <a:pPr algn="ctr"/>
            <a:r>
              <a:rPr lang="es-ES" sz="2400" i="1" dirty="0"/>
              <a:t>Tabla de transición de FF</a:t>
            </a:r>
          </a:p>
          <a:p>
            <a:pPr marL="342900" indent="-342900" algn="ctr">
              <a:buFontTx/>
              <a:buChar char="-"/>
            </a:pPr>
            <a:r>
              <a:rPr lang="es-ES" sz="2400" i="1" dirty="0"/>
              <a:t>Mapa de </a:t>
            </a:r>
            <a:r>
              <a:rPr lang="es-ES" sz="2400" i="1" dirty="0" err="1"/>
              <a:t>Karnaugh</a:t>
            </a:r>
            <a:r>
              <a:rPr lang="es-ES" sz="2400" i="1" dirty="0"/>
              <a:t>.</a:t>
            </a:r>
          </a:p>
        </p:txBody>
      </p:sp>
      <p:sp>
        <p:nvSpPr>
          <p:cNvPr id="9" name="8 Rectángulo"/>
          <p:cNvSpPr/>
          <p:nvPr/>
        </p:nvSpPr>
        <p:spPr>
          <a:xfrm>
            <a:off x="7369047" y="4445325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/>
              <a:t>}</a:t>
            </a:r>
          </a:p>
        </p:txBody>
      </p:sp>
      <p:sp>
        <p:nvSpPr>
          <p:cNvPr id="10" name="9 Rectángulo"/>
          <p:cNvSpPr/>
          <p:nvPr/>
        </p:nvSpPr>
        <p:spPr>
          <a:xfrm rot="10800000">
            <a:off x="4475085" y="5192909"/>
            <a:ext cx="138179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4200" i="1" dirty="0"/>
              <a:t>}</a:t>
            </a:r>
          </a:p>
        </p:txBody>
      </p:sp>
      <p:sp>
        <p:nvSpPr>
          <p:cNvPr id="21" name="20 Flecha en U"/>
          <p:cNvSpPr/>
          <p:nvPr/>
        </p:nvSpPr>
        <p:spPr>
          <a:xfrm rot="5400000">
            <a:off x="8160275" y="4760420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5" name="24 Flecha en U"/>
          <p:cNvSpPr/>
          <p:nvPr/>
        </p:nvSpPr>
        <p:spPr>
          <a:xfrm rot="16200000">
            <a:off x="4362903" y="5474659"/>
            <a:ext cx="685664" cy="683947"/>
          </a:xfrm>
          <a:prstGeom prst="uturnArrow">
            <a:avLst>
              <a:gd name="adj1" fmla="val 15251"/>
              <a:gd name="adj2" fmla="val 17340"/>
              <a:gd name="adj3" fmla="val 18037"/>
              <a:gd name="adj4" fmla="val 44271"/>
              <a:gd name="adj5" fmla="val 75000"/>
            </a:avLst>
          </a:prstGeom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594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3.7. 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6" name="5 Rectángulo"/>
          <p:cNvSpPr/>
          <p:nvPr/>
        </p:nvSpPr>
        <p:spPr>
          <a:xfrm>
            <a:off x="539552" y="3064892"/>
            <a:ext cx="237626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Diseñar una máquina de estados que se comporte de la siguiente forma:</a:t>
            </a:r>
          </a:p>
        </p:txBody>
      </p:sp>
      <p:sp>
        <p:nvSpPr>
          <p:cNvPr id="3" name="2 Conector"/>
          <p:cNvSpPr/>
          <p:nvPr/>
        </p:nvSpPr>
        <p:spPr>
          <a:xfrm>
            <a:off x="5872908" y="2752360"/>
            <a:ext cx="675804" cy="801771"/>
          </a:xfrm>
          <a:prstGeom prst="flowChartConnector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Rectángulo"/>
          <p:cNvSpPr/>
          <p:nvPr/>
        </p:nvSpPr>
        <p:spPr>
          <a:xfrm>
            <a:off x="5946115" y="2999936"/>
            <a:ext cx="529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FF00"/>
                </a:solidFill>
              </a:rPr>
              <a:t>001</a:t>
            </a:r>
          </a:p>
        </p:txBody>
      </p:sp>
      <p:sp>
        <p:nvSpPr>
          <p:cNvPr id="11" name="10 Conector"/>
          <p:cNvSpPr/>
          <p:nvPr/>
        </p:nvSpPr>
        <p:spPr>
          <a:xfrm>
            <a:off x="7568604" y="3299026"/>
            <a:ext cx="675804" cy="801771"/>
          </a:xfrm>
          <a:prstGeom prst="flowChartConnector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11 Rectángulo"/>
          <p:cNvSpPr/>
          <p:nvPr/>
        </p:nvSpPr>
        <p:spPr>
          <a:xfrm>
            <a:off x="7641812" y="3546602"/>
            <a:ext cx="529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FF00"/>
                </a:solidFill>
              </a:rPr>
              <a:t>100</a:t>
            </a:r>
          </a:p>
        </p:txBody>
      </p:sp>
      <p:sp>
        <p:nvSpPr>
          <p:cNvPr id="14" name="13 Conector"/>
          <p:cNvSpPr/>
          <p:nvPr/>
        </p:nvSpPr>
        <p:spPr>
          <a:xfrm>
            <a:off x="3824188" y="3603680"/>
            <a:ext cx="675804" cy="801771"/>
          </a:xfrm>
          <a:prstGeom prst="flowChartConnector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Rectángulo"/>
          <p:cNvSpPr/>
          <p:nvPr/>
        </p:nvSpPr>
        <p:spPr>
          <a:xfrm>
            <a:off x="3897396" y="3851256"/>
            <a:ext cx="529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FF00"/>
                </a:solidFill>
              </a:rPr>
              <a:t>011</a:t>
            </a:r>
          </a:p>
        </p:txBody>
      </p:sp>
      <p:sp>
        <p:nvSpPr>
          <p:cNvPr id="17" name="16 Conector"/>
          <p:cNvSpPr/>
          <p:nvPr/>
        </p:nvSpPr>
        <p:spPr>
          <a:xfrm>
            <a:off x="7118533" y="5114162"/>
            <a:ext cx="675804" cy="801771"/>
          </a:xfrm>
          <a:prstGeom prst="flowChartConnector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17 Rectángulo"/>
          <p:cNvSpPr/>
          <p:nvPr/>
        </p:nvSpPr>
        <p:spPr>
          <a:xfrm>
            <a:off x="7191741" y="5361738"/>
            <a:ext cx="529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FF00"/>
                </a:solidFill>
              </a:rPr>
              <a:t>110</a:t>
            </a:r>
          </a:p>
        </p:txBody>
      </p:sp>
      <p:sp>
        <p:nvSpPr>
          <p:cNvPr id="20" name="19 Conector"/>
          <p:cNvSpPr/>
          <p:nvPr/>
        </p:nvSpPr>
        <p:spPr>
          <a:xfrm>
            <a:off x="5152828" y="5114161"/>
            <a:ext cx="675804" cy="801771"/>
          </a:xfrm>
          <a:prstGeom prst="flowChartConnector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20 Rectángulo"/>
          <p:cNvSpPr/>
          <p:nvPr/>
        </p:nvSpPr>
        <p:spPr>
          <a:xfrm>
            <a:off x="5226036" y="5361737"/>
            <a:ext cx="529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FF00"/>
                </a:solidFill>
              </a:rPr>
              <a:t>010</a:t>
            </a:r>
          </a:p>
        </p:txBody>
      </p:sp>
      <p:sp>
        <p:nvSpPr>
          <p:cNvPr id="32" name="31 Flecha curvada hacia arriba"/>
          <p:cNvSpPr/>
          <p:nvPr/>
        </p:nvSpPr>
        <p:spPr>
          <a:xfrm rot="10800000">
            <a:off x="5859462" y="2434930"/>
            <a:ext cx="749617" cy="369332"/>
          </a:xfrm>
          <a:prstGeom prst="curved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3" name="32 Flecha derecha"/>
          <p:cNvSpPr/>
          <p:nvPr/>
        </p:nvSpPr>
        <p:spPr>
          <a:xfrm rot="9370833">
            <a:off x="4487267" y="3412127"/>
            <a:ext cx="1389176" cy="275482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7" name="36 Flecha curvada hacia arriba"/>
          <p:cNvSpPr/>
          <p:nvPr/>
        </p:nvSpPr>
        <p:spPr>
          <a:xfrm rot="7240581">
            <a:off x="3387364" y="3530934"/>
            <a:ext cx="749617" cy="369332"/>
          </a:xfrm>
          <a:prstGeom prst="curved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8" name="37 Flecha derecha"/>
          <p:cNvSpPr/>
          <p:nvPr/>
        </p:nvSpPr>
        <p:spPr>
          <a:xfrm rot="3069117">
            <a:off x="4223494" y="4733327"/>
            <a:ext cx="1065090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9" name="38 Flecha curvada hacia arriba"/>
          <p:cNvSpPr/>
          <p:nvPr/>
        </p:nvSpPr>
        <p:spPr>
          <a:xfrm rot="1209083">
            <a:off x="4973920" y="5812158"/>
            <a:ext cx="749617" cy="369332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0" name="39 Flecha derecha"/>
          <p:cNvSpPr/>
          <p:nvPr/>
        </p:nvSpPr>
        <p:spPr>
          <a:xfrm rot="19456151">
            <a:off x="5627527" y="4433367"/>
            <a:ext cx="2118839" cy="255185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1" name="40 Flecha curvada hacia arriba"/>
          <p:cNvSpPr/>
          <p:nvPr/>
        </p:nvSpPr>
        <p:spPr>
          <a:xfrm rot="19257827">
            <a:off x="7381472" y="5745156"/>
            <a:ext cx="749617" cy="369332"/>
          </a:xfrm>
          <a:prstGeom prst="curvedUp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42" name="41 Flecha derecha"/>
          <p:cNvSpPr/>
          <p:nvPr/>
        </p:nvSpPr>
        <p:spPr>
          <a:xfrm rot="10800000">
            <a:off x="5927279" y="5406306"/>
            <a:ext cx="1114027" cy="2625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3" name="42 Flecha derecha"/>
          <p:cNvSpPr/>
          <p:nvPr/>
        </p:nvSpPr>
        <p:spPr>
          <a:xfrm rot="6230050">
            <a:off x="7244590" y="4492416"/>
            <a:ext cx="944358" cy="289499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43 Flecha derecha"/>
          <p:cNvSpPr/>
          <p:nvPr/>
        </p:nvSpPr>
        <p:spPr>
          <a:xfrm rot="11893664">
            <a:off x="6646274" y="3245497"/>
            <a:ext cx="919842" cy="297320"/>
          </a:xfrm>
          <a:prstGeom prst="rightArrow">
            <a:avLst>
              <a:gd name="adj1" fmla="val 24944"/>
              <a:gd name="adj2" fmla="val 50649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5" name="44 Rectángulo"/>
          <p:cNvSpPr/>
          <p:nvPr/>
        </p:nvSpPr>
        <p:spPr>
          <a:xfrm>
            <a:off x="5729300" y="2151906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00B0F0"/>
                </a:solidFill>
                <a:latin typeface="Arial Black" pitchFamily="34" charset="0"/>
                <a:cs typeface="Aharoni" pitchFamily="2" charset="-79"/>
              </a:rPr>
              <a:t>X = 0</a:t>
            </a:r>
          </a:p>
        </p:txBody>
      </p:sp>
      <p:sp>
        <p:nvSpPr>
          <p:cNvPr id="46" name="45 Rectángulo"/>
          <p:cNvSpPr/>
          <p:nvPr/>
        </p:nvSpPr>
        <p:spPr>
          <a:xfrm rot="1096599">
            <a:off x="6653988" y="3082067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0000"/>
                </a:solidFill>
                <a:latin typeface="Arial Black" pitchFamily="34" charset="0"/>
              </a:rPr>
              <a:t>X = 1</a:t>
            </a:r>
          </a:p>
        </p:txBody>
      </p:sp>
      <p:sp>
        <p:nvSpPr>
          <p:cNvPr id="47" name="46 Rectángulo"/>
          <p:cNvSpPr/>
          <p:nvPr/>
        </p:nvSpPr>
        <p:spPr>
          <a:xfrm rot="20062726">
            <a:off x="4519042" y="3228365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0000"/>
                </a:solidFill>
                <a:latin typeface="Arial Black" pitchFamily="34" charset="0"/>
              </a:rPr>
              <a:t>X = 1</a:t>
            </a:r>
          </a:p>
        </p:txBody>
      </p:sp>
      <p:sp>
        <p:nvSpPr>
          <p:cNvPr id="48" name="47 Rectángulo"/>
          <p:cNvSpPr/>
          <p:nvPr/>
        </p:nvSpPr>
        <p:spPr>
          <a:xfrm>
            <a:off x="5940152" y="5551140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0000"/>
                </a:solidFill>
                <a:latin typeface="Arial Black" pitchFamily="34" charset="0"/>
              </a:rPr>
              <a:t>X = 1</a:t>
            </a:r>
          </a:p>
        </p:txBody>
      </p:sp>
      <p:sp>
        <p:nvSpPr>
          <p:cNvPr id="49" name="48 Rectángulo"/>
          <p:cNvSpPr/>
          <p:nvPr/>
        </p:nvSpPr>
        <p:spPr>
          <a:xfrm rot="1006072">
            <a:off x="4533214" y="6088853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0000"/>
                </a:solidFill>
                <a:latin typeface="Arial Black" pitchFamily="34" charset="0"/>
              </a:rPr>
              <a:t>X = 1</a:t>
            </a:r>
          </a:p>
        </p:txBody>
      </p:sp>
      <p:sp>
        <p:nvSpPr>
          <p:cNvPr id="50" name="49 Rectángulo"/>
          <p:cNvSpPr/>
          <p:nvPr/>
        </p:nvSpPr>
        <p:spPr>
          <a:xfrm rot="3005757">
            <a:off x="3942978" y="4741044"/>
            <a:ext cx="11521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FF0000"/>
                </a:solidFill>
                <a:latin typeface="Arial Black" pitchFamily="34" charset="0"/>
              </a:rPr>
              <a:t>X = 1</a:t>
            </a:r>
          </a:p>
        </p:txBody>
      </p:sp>
      <p:sp>
        <p:nvSpPr>
          <p:cNvPr id="51" name="50 Rectángulo"/>
          <p:cNvSpPr/>
          <p:nvPr/>
        </p:nvSpPr>
        <p:spPr>
          <a:xfrm rot="19449576">
            <a:off x="5945324" y="436144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00B0F0"/>
                </a:solidFill>
                <a:latin typeface="Arial Black" pitchFamily="34" charset="0"/>
                <a:cs typeface="Aharoni" pitchFamily="2" charset="-79"/>
              </a:rPr>
              <a:t>X = 0</a:t>
            </a:r>
          </a:p>
        </p:txBody>
      </p:sp>
      <p:sp>
        <p:nvSpPr>
          <p:cNvPr id="52" name="51 Rectángulo"/>
          <p:cNvSpPr/>
          <p:nvPr/>
        </p:nvSpPr>
        <p:spPr>
          <a:xfrm rot="17087024">
            <a:off x="7488268" y="4582711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00B0F0"/>
                </a:solidFill>
                <a:latin typeface="Arial Black" pitchFamily="34" charset="0"/>
                <a:cs typeface="Aharoni" pitchFamily="2" charset="-79"/>
              </a:rPr>
              <a:t>X = 0</a:t>
            </a:r>
          </a:p>
        </p:txBody>
      </p:sp>
      <p:sp>
        <p:nvSpPr>
          <p:cNvPr id="53" name="52 Rectángulo"/>
          <p:cNvSpPr/>
          <p:nvPr/>
        </p:nvSpPr>
        <p:spPr>
          <a:xfrm rot="19331600">
            <a:off x="7438442" y="6000183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00B0F0"/>
                </a:solidFill>
                <a:latin typeface="Arial Black" pitchFamily="34" charset="0"/>
                <a:cs typeface="Aharoni" pitchFamily="2" charset="-79"/>
              </a:rPr>
              <a:t>X = 0</a:t>
            </a:r>
          </a:p>
        </p:txBody>
      </p:sp>
      <p:sp>
        <p:nvSpPr>
          <p:cNvPr id="54" name="53 Rectángulo"/>
          <p:cNvSpPr/>
          <p:nvPr/>
        </p:nvSpPr>
        <p:spPr>
          <a:xfrm rot="19266279">
            <a:off x="3040905" y="3265838"/>
            <a:ext cx="10029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b="1" i="1" dirty="0">
                <a:solidFill>
                  <a:srgbClr val="00B0F0"/>
                </a:solidFill>
                <a:latin typeface="Arial Black" pitchFamily="34" charset="0"/>
                <a:cs typeface="Aharoni" pitchFamily="2" charset="-79"/>
              </a:rPr>
              <a:t>X = 0</a:t>
            </a:r>
          </a:p>
        </p:txBody>
      </p:sp>
    </p:spTree>
    <p:extLst>
      <p:ext uri="{BB962C8B-B14F-4D97-AF65-F5344CB8AC3E}">
        <p14:creationId xmlns:p14="http://schemas.microsoft.com/office/powerpoint/2010/main" val="15621356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3.7. 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3" name="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570472"/>
              </p:ext>
            </p:extLst>
          </p:nvPr>
        </p:nvGraphicFramePr>
        <p:xfrm>
          <a:off x="1125148" y="2559678"/>
          <a:ext cx="7131948" cy="349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83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2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9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0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8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315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463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02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60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51735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118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20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280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755576" y="6203404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¿Cómo llenar estos espacios?</a:t>
            </a:r>
          </a:p>
        </p:txBody>
      </p:sp>
      <p:sp>
        <p:nvSpPr>
          <p:cNvPr id="8" name="7 Rectángulo"/>
          <p:cNvSpPr/>
          <p:nvPr/>
        </p:nvSpPr>
        <p:spPr>
          <a:xfrm>
            <a:off x="1164463" y="2069331"/>
            <a:ext cx="68407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b="1" i="1" dirty="0"/>
              <a:t>Tabla de Estados</a:t>
            </a:r>
          </a:p>
        </p:txBody>
      </p:sp>
      <p:sp>
        <p:nvSpPr>
          <p:cNvPr id="4" name="3 Flecha doblada hacia arriba"/>
          <p:cNvSpPr/>
          <p:nvPr/>
        </p:nvSpPr>
        <p:spPr>
          <a:xfrm>
            <a:off x="6314660" y="6161013"/>
            <a:ext cx="850392" cy="330423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7339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3.7. 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000789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>
                          <a:effectLst/>
                        </a:rPr>
                        <a:t>K</a:t>
                      </a:r>
                      <a:endParaRPr lang="es-CO" sz="20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/>
              <a:t>Tabla de transición del </a:t>
            </a:r>
            <a:r>
              <a:rPr lang="es-ES" sz="2200" b="1" i="1" dirty="0" err="1"/>
              <a:t>Flip-Flop</a:t>
            </a:r>
            <a:r>
              <a:rPr lang="es-ES" sz="2200" b="1" i="1" dirty="0"/>
              <a:t> JK</a:t>
            </a:r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547048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1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71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87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86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56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21113696">
            <a:off x="1581124" y="2161757"/>
            <a:ext cx="6455641" cy="1071503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959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3.7. 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387663"/>
              </p:ext>
            </p:extLst>
          </p:nvPr>
        </p:nvGraphicFramePr>
        <p:xfrm>
          <a:off x="429443" y="3789040"/>
          <a:ext cx="2232249" cy="14497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3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125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Q</a:t>
                      </a:r>
                      <a:r>
                        <a:rPr lang="es-CO" sz="2000" b="1" i="0" u="none" strike="noStrike" baseline="-2500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i+1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J</a:t>
                      </a:r>
                      <a:endParaRPr lang="es-CO" sz="20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baseline="0" dirty="0">
                          <a:effectLst/>
                        </a:rPr>
                        <a:t>K</a:t>
                      </a:r>
                      <a:endParaRPr lang="es-CO" sz="20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228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54918" y="5373216"/>
            <a:ext cx="302433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/>
              <a:t>Tabla de transición del </a:t>
            </a:r>
            <a:r>
              <a:rPr lang="es-ES" sz="2200" b="1" i="1" dirty="0" err="1"/>
              <a:t>Flip-Flop</a:t>
            </a:r>
            <a:r>
              <a:rPr lang="es-ES" sz="2200" b="1" i="1" dirty="0"/>
              <a:t> JK</a:t>
            </a:r>
          </a:p>
        </p:txBody>
      </p:sp>
      <p:graphicFrame>
        <p:nvGraphicFramePr>
          <p:cNvPr id="8" name="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594673"/>
              </p:ext>
            </p:extLst>
          </p:nvPr>
        </p:nvGraphicFramePr>
        <p:xfrm>
          <a:off x="3203848" y="2852936"/>
          <a:ext cx="5760640" cy="37486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4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1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8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4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4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565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413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771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875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86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9565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03437">
                <a:tc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Entrada</a:t>
                      </a: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 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Estado Actual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Estado siguiente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 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dirty="0">
                          <a:ln>
                            <a:noFill/>
                          </a:ln>
                          <a:effectLst/>
                        </a:rPr>
                        <a:t>Excitación</a:t>
                      </a:r>
                      <a:r>
                        <a:rPr lang="es-CO" sz="1800" b="1" u="none" strike="noStrike" baseline="0" dirty="0">
                          <a:ln>
                            <a:noFill/>
                          </a:ln>
                          <a:effectLst/>
                        </a:rPr>
                        <a:t> de los </a:t>
                      </a:r>
                      <a:r>
                        <a:rPr lang="es-CO" sz="1800" b="1" u="none" strike="noStrike" dirty="0">
                          <a:ln>
                            <a:noFill/>
                          </a:ln>
                          <a:effectLst/>
                        </a:rPr>
                        <a:t>FF</a:t>
                      </a:r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  <a:p>
                      <a:pPr algn="ctr" fontAlgn="b"/>
                      <a:r>
                        <a:rPr lang="es-CO" sz="2000" b="1" u="none" strike="noStrike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s-CO" sz="20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CO" sz="1800" b="1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032"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X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700" b="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 err="1">
                          <a:ln>
                            <a:noFill/>
                          </a:ln>
                          <a:effectLst/>
                        </a:rPr>
                        <a:t>Ja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Ka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Kb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>
                          <a:ln>
                            <a:noFill/>
                          </a:ln>
                          <a:effectLst/>
                        </a:rPr>
                        <a:t>Jc</a:t>
                      </a:r>
                      <a:endParaRPr lang="es-CO" sz="17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700" b="0" u="none" strike="noStrike" dirty="0">
                          <a:ln>
                            <a:noFill/>
                          </a:ln>
                          <a:effectLst/>
                        </a:rPr>
                        <a:t>Kc</a:t>
                      </a:r>
                      <a:endParaRPr lang="es-CO" sz="17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 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589"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lang="es-CO" sz="1600" b="0" i="0" u="none" strike="noStrik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600" u="none" strike="noStrike" dirty="0">
                          <a:ln>
                            <a:noFill/>
                          </a:ln>
                          <a:solidFill>
                            <a:srgbClr val="281997"/>
                          </a:solidFill>
                          <a:effectLst/>
                        </a:rPr>
                        <a:t>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281997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0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1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CO" sz="1600" u="none" strike="noStrike" dirty="0">
                          <a:ln>
                            <a:noFill/>
                          </a:ln>
                          <a:effectLst/>
                        </a:rPr>
                        <a:t> X</a:t>
                      </a:r>
                      <a:endParaRPr lang="es-CO" sz="1600" b="0" i="0" u="none" strike="noStrike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10 Flecha curvada hacia abajo"/>
          <p:cNvSpPr/>
          <p:nvPr/>
        </p:nvSpPr>
        <p:spPr>
          <a:xfrm rot="847500">
            <a:off x="1319205" y="3755937"/>
            <a:ext cx="5353462" cy="1788614"/>
          </a:xfrm>
          <a:prstGeom prst="curvedDownArrow">
            <a:avLst/>
          </a:prstGeom>
          <a:solidFill>
            <a:srgbClr val="46B846"/>
          </a:solidFill>
          <a:ln>
            <a:solidFill>
              <a:srgbClr val="46B8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9" name="8 Flecha curvada hacia abajo"/>
          <p:cNvSpPr/>
          <p:nvPr/>
        </p:nvSpPr>
        <p:spPr>
          <a:xfrm rot="11759315">
            <a:off x="195498" y="5774180"/>
            <a:ext cx="4148252" cy="894029"/>
          </a:xfrm>
          <a:prstGeom prst="curvedDownArrow">
            <a:avLst/>
          </a:prstGeom>
          <a:solidFill>
            <a:srgbClr val="281997"/>
          </a:solidFill>
          <a:ln>
            <a:solidFill>
              <a:srgbClr val="2819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3" name="2 Elipse"/>
          <p:cNvSpPr/>
          <p:nvPr/>
        </p:nvSpPr>
        <p:spPr>
          <a:xfrm>
            <a:off x="3995936" y="594928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" name="9 Elipse"/>
          <p:cNvSpPr/>
          <p:nvPr/>
        </p:nvSpPr>
        <p:spPr>
          <a:xfrm>
            <a:off x="389062" y="4895430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11 Elipse"/>
          <p:cNvSpPr/>
          <p:nvPr/>
        </p:nvSpPr>
        <p:spPr>
          <a:xfrm>
            <a:off x="5652120" y="596069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3" name="12 Elipse"/>
          <p:cNvSpPr/>
          <p:nvPr/>
        </p:nvSpPr>
        <p:spPr>
          <a:xfrm>
            <a:off x="1043608" y="4880572"/>
            <a:ext cx="504056" cy="49264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13 Elipse"/>
          <p:cNvSpPr/>
          <p:nvPr/>
        </p:nvSpPr>
        <p:spPr>
          <a:xfrm>
            <a:off x="7134572" y="6003174"/>
            <a:ext cx="711696" cy="39971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5" name="14 Elipse"/>
          <p:cNvSpPr/>
          <p:nvPr/>
        </p:nvSpPr>
        <p:spPr>
          <a:xfrm>
            <a:off x="1691680" y="4895430"/>
            <a:ext cx="1008112" cy="3924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5" name="4 Conector recto de flecha"/>
          <p:cNvCxnSpPr/>
          <p:nvPr/>
        </p:nvCxnSpPr>
        <p:spPr>
          <a:xfrm>
            <a:off x="2622054" y="5091677"/>
            <a:ext cx="4512518" cy="1050980"/>
          </a:xfrm>
          <a:prstGeom prst="straightConnector1">
            <a:avLst/>
          </a:prstGeom>
          <a:ln w="57150">
            <a:solidFill>
              <a:srgbClr val="840A3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705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430534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3.7. 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72403"/>
              </p:ext>
            </p:extLst>
          </p:nvPr>
        </p:nvGraphicFramePr>
        <p:xfrm>
          <a:off x="1115616" y="2708920"/>
          <a:ext cx="2088233" cy="1541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11</a:t>
                      </a:r>
                      <a:endParaRPr lang="es-CO" sz="18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6 Rectángulo"/>
          <p:cNvSpPr/>
          <p:nvPr/>
        </p:nvSpPr>
        <p:spPr>
          <a:xfrm>
            <a:off x="467544" y="2113806"/>
            <a:ext cx="799288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i="1" dirty="0"/>
              <a:t>Funciones lógicas para las entradas J</a:t>
            </a:r>
            <a:r>
              <a:rPr lang="es-ES" sz="2200" i="1" baseline="-25000" dirty="0"/>
              <a:t>i</a:t>
            </a:r>
            <a:r>
              <a:rPr lang="es-ES" sz="2200" i="1" dirty="0"/>
              <a:t> K</a:t>
            </a:r>
            <a:r>
              <a:rPr lang="es-ES" sz="2200" i="1" baseline="-25000" dirty="0"/>
              <a:t>i</a:t>
            </a:r>
            <a:r>
              <a:rPr lang="es-ES" sz="2200" i="1" dirty="0"/>
              <a:t> de los </a:t>
            </a:r>
            <a:r>
              <a:rPr lang="es-ES" sz="2200" i="1" dirty="0" err="1"/>
              <a:t>Flip-Flop</a:t>
            </a:r>
            <a:endParaRPr lang="es-ES" sz="2200" i="1" dirty="0"/>
          </a:p>
        </p:txBody>
      </p:sp>
      <p:graphicFrame>
        <p:nvGraphicFramePr>
          <p:cNvPr id="16" name="1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491448"/>
              </p:ext>
            </p:extLst>
          </p:nvPr>
        </p:nvGraphicFramePr>
        <p:xfrm>
          <a:off x="6012159" y="2708920"/>
          <a:ext cx="2088233" cy="1541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11</a:t>
                      </a:r>
                      <a:endParaRPr lang="es-CO" sz="18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828549"/>
              </p:ext>
            </p:extLst>
          </p:nvPr>
        </p:nvGraphicFramePr>
        <p:xfrm>
          <a:off x="3563887" y="2708920"/>
          <a:ext cx="2088233" cy="1541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11</a:t>
                      </a:r>
                      <a:endParaRPr lang="es-CO" sz="18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17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205036"/>
              </p:ext>
            </p:extLst>
          </p:nvPr>
        </p:nvGraphicFramePr>
        <p:xfrm>
          <a:off x="1115616" y="4819248"/>
          <a:ext cx="2088233" cy="1541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11</a:t>
                      </a:r>
                      <a:endParaRPr lang="es-CO" sz="18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9" name="18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806058"/>
              </p:ext>
            </p:extLst>
          </p:nvPr>
        </p:nvGraphicFramePr>
        <p:xfrm>
          <a:off x="6012159" y="4819248"/>
          <a:ext cx="2088233" cy="1541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11</a:t>
                      </a:r>
                      <a:endParaRPr lang="es-CO" sz="18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1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669116"/>
              </p:ext>
            </p:extLst>
          </p:nvPr>
        </p:nvGraphicFramePr>
        <p:xfrm>
          <a:off x="3563887" y="4819248"/>
          <a:ext cx="2088233" cy="15411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2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1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CX\AB</a:t>
                      </a:r>
                      <a:endParaRPr lang="es-CO" sz="13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  <a:endParaRPr lang="es-CO" sz="1800" b="1" i="0" u="none" strike="noStrike" baseline="-25000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11</a:t>
                      </a:r>
                      <a:endParaRPr lang="es-CO" sz="1800" b="1" u="none" strike="noStrike" baseline="-25000" dirty="0">
                        <a:effectLst/>
                      </a:endParaRP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u="none" strike="noStrike" baseline="0" dirty="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8395"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0" i="0" u="none" strike="noStrike" dirty="0">
                          <a:solidFill>
                            <a:srgbClr val="46B846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L="9525" marR="9525" marT="9525" marB="0" anchor="b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20 Rectángulo"/>
          <p:cNvSpPr/>
          <p:nvPr/>
        </p:nvSpPr>
        <p:spPr>
          <a:xfrm>
            <a:off x="986458" y="419824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/>
              <a:t>J</a:t>
            </a:r>
            <a:r>
              <a:rPr lang="es-ES" sz="2200" b="1" i="1" baseline="-25000" dirty="0" err="1"/>
              <a:t>a</a:t>
            </a:r>
            <a:r>
              <a:rPr lang="es-ES" sz="2200" b="1" i="1" dirty="0"/>
              <a:t> = C’· X’</a:t>
            </a:r>
          </a:p>
        </p:txBody>
      </p:sp>
      <p:sp>
        <p:nvSpPr>
          <p:cNvPr id="3" name="2 Elipse"/>
          <p:cNvSpPr/>
          <p:nvPr/>
        </p:nvSpPr>
        <p:spPr>
          <a:xfrm>
            <a:off x="1691680" y="3062592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21 Elipse"/>
          <p:cNvSpPr/>
          <p:nvPr/>
        </p:nvSpPr>
        <p:spPr>
          <a:xfrm>
            <a:off x="4163194" y="3340792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3" name="22 Rectángulo"/>
          <p:cNvSpPr/>
          <p:nvPr/>
        </p:nvSpPr>
        <p:spPr>
          <a:xfrm>
            <a:off x="3472216" y="422543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/>
              <a:t>K</a:t>
            </a:r>
            <a:r>
              <a:rPr lang="es-ES" sz="2200" b="1" i="1" baseline="-25000" dirty="0" err="1"/>
              <a:t>a</a:t>
            </a:r>
            <a:r>
              <a:rPr lang="es-ES" sz="2200" b="1" i="1" dirty="0"/>
              <a:t> = C’· X</a:t>
            </a:r>
          </a:p>
        </p:txBody>
      </p:sp>
      <p:sp>
        <p:nvSpPr>
          <p:cNvPr id="24" name="23 Elipse"/>
          <p:cNvSpPr/>
          <p:nvPr/>
        </p:nvSpPr>
        <p:spPr>
          <a:xfrm>
            <a:off x="6641182" y="3042928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24 Elipse"/>
          <p:cNvSpPr/>
          <p:nvPr/>
        </p:nvSpPr>
        <p:spPr>
          <a:xfrm>
            <a:off x="6660232" y="3614580"/>
            <a:ext cx="1440160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25 Rectángulo"/>
          <p:cNvSpPr/>
          <p:nvPr/>
        </p:nvSpPr>
        <p:spPr>
          <a:xfrm>
            <a:off x="5815186" y="4270248"/>
            <a:ext cx="25234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i="1" dirty="0" err="1"/>
              <a:t>J</a:t>
            </a:r>
            <a:r>
              <a:rPr lang="es-ES" sz="1600" b="1" i="1" baseline="-25000" dirty="0" err="1"/>
              <a:t>b</a:t>
            </a:r>
            <a:r>
              <a:rPr lang="es-ES" sz="1600" b="1" i="1" dirty="0"/>
              <a:t> = C’· X’ + C· X  =  C</a:t>
            </a:r>
            <a:r>
              <a:rPr lang="el-GR" sz="1600" b="1" i="1" dirty="0"/>
              <a:t>Θ</a:t>
            </a:r>
            <a:r>
              <a:rPr lang="es-CO" sz="1600" b="1" i="1" dirty="0"/>
              <a:t>X</a:t>
            </a:r>
            <a:endParaRPr lang="es-ES" sz="1600" b="1" i="1" dirty="0"/>
          </a:p>
        </p:txBody>
      </p:sp>
      <p:sp>
        <p:nvSpPr>
          <p:cNvPr id="27" name="26 Elipse"/>
          <p:cNvSpPr/>
          <p:nvPr/>
        </p:nvSpPr>
        <p:spPr>
          <a:xfrm>
            <a:off x="1638722" y="5141539"/>
            <a:ext cx="936104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8" name="27 Rectángulo"/>
          <p:cNvSpPr/>
          <p:nvPr/>
        </p:nvSpPr>
        <p:spPr>
          <a:xfrm>
            <a:off x="971600" y="6336796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/>
              <a:t>K</a:t>
            </a:r>
            <a:r>
              <a:rPr lang="es-ES" sz="2200" b="1" i="1" baseline="-25000" dirty="0"/>
              <a:t>b</a:t>
            </a:r>
            <a:r>
              <a:rPr lang="es-ES" sz="2200" b="1" i="1" dirty="0"/>
              <a:t> = A’· C’· X’</a:t>
            </a:r>
          </a:p>
        </p:txBody>
      </p:sp>
      <p:sp>
        <p:nvSpPr>
          <p:cNvPr id="29" name="28 Rectángulo"/>
          <p:cNvSpPr/>
          <p:nvPr/>
        </p:nvSpPr>
        <p:spPr>
          <a:xfrm>
            <a:off x="3491880" y="6317131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/>
              <a:t>J</a:t>
            </a:r>
            <a:r>
              <a:rPr lang="es-ES" sz="2200" b="1" i="1" baseline="-25000" dirty="0" err="1"/>
              <a:t>c</a:t>
            </a:r>
            <a:r>
              <a:rPr lang="es-ES" sz="2200" b="1" i="1" dirty="0"/>
              <a:t> = A· B’· X</a:t>
            </a:r>
          </a:p>
        </p:txBody>
      </p:sp>
      <p:sp>
        <p:nvSpPr>
          <p:cNvPr id="30" name="29 Elipse"/>
          <p:cNvSpPr/>
          <p:nvPr/>
        </p:nvSpPr>
        <p:spPr>
          <a:xfrm rot="16200000">
            <a:off x="5155493" y="5551521"/>
            <a:ext cx="629022" cy="4320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2" name="31 Elipse"/>
          <p:cNvSpPr/>
          <p:nvPr/>
        </p:nvSpPr>
        <p:spPr>
          <a:xfrm>
            <a:off x="7014632" y="5420352"/>
            <a:ext cx="742610" cy="70103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3" name="32 Rectángulo"/>
          <p:cNvSpPr/>
          <p:nvPr/>
        </p:nvSpPr>
        <p:spPr>
          <a:xfrm>
            <a:off x="5868144" y="631713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/>
              <a:t>K</a:t>
            </a:r>
            <a:r>
              <a:rPr lang="es-ES" sz="2200" b="1" i="1" baseline="-25000" dirty="0"/>
              <a:t>c</a:t>
            </a:r>
            <a:r>
              <a:rPr lang="es-ES" sz="2200" b="1" i="1" dirty="0"/>
              <a:t> = B· X</a:t>
            </a:r>
          </a:p>
        </p:txBody>
      </p:sp>
    </p:spTree>
    <p:extLst>
      <p:ext uri="{BB962C8B-B14F-4D97-AF65-F5344CB8AC3E}">
        <p14:creationId xmlns:p14="http://schemas.microsoft.com/office/powerpoint/2010/main" val="3047249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3568" y="332656"/>
            <a:ext cx="7987965" cy="1054250"/>
          </a:xfrm>
        </p:spPr>
        <p:txBody>
          <a:bodyPr>
            <a:normAutofit fontScale="90000"/>
          </a:bodyPr>
          <a:lstStyle/>
          <a:p>
            <a:r>
              <a:rPr lang="es-ES" sz="4000" dirty="0"/>
              <a:t>3.7. Análisis y diseño de circuitos secuenciales sincrónicos.</a:t>
            </a:r>
            <a:endParaRPr lang="es-CO" sz="4000" dirty="0"/>
          </a:p>
        </p:txBody>
      </p:sp>
      <p:sp>
        <p:nvSpPr>
          <p:cNvPr id="36" name="35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1" y="2607434"/>
            <a:ext cx="4856186" cy="40899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35496" y="2144469"/>
            <a:ext cx="5005041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600" b="1" i="1" dirty="0"/>
              <a:t>Circuito Lógico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537" y="3786733"/>
            <a:ext cx="392430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 redondeado"/>
          <p:cNvSpPr/>
          <p:nvPr/>
        </p:nvSpPr>
        <p:spPr>
          <a:xfrm>
            <a:off x="99291" y="2649698"/>
            <a:ext cx="4856186" cy="12705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7 Flecha curvada hacia abajo"/>
          <p:cNvSpPr/>
          <p:nvPr/>
        </p:nvSpPr>
        <p:spPr>
          <a:xfrm rot="1320335">
            <a:off x="4319327" y="2270911"/>
            <a:ext cx="3682944" cy="1026596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6015316" y="5589240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/>
              <a:t>J</a:t>
            </a:r>
            <a:r>
              <a:rPr lang="es-ES" sz="2200" b="1" i="1" baseline="-25000" dirty="0" err="1"/>
              <a:t>a</a:t>
            </a:r>
            <a:r>
              <a:rPr lang="es-ES" sz="2200" b="1" i="1" dirty="0"/>
              <a:t> = C’· X’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6015316" y="6023613"/>
            <a:ext cx="230425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200" b="1" i="1" dirty="0" err="1"/>
              <a:t>K</a:t>
            </a:r>
            <a:r>
              <a:rPr lang="es-ES" sz="2200" b="1" i="1" baseline="-25000" dirty="0" err="1"/>
              <a:t>a</a:t>
            </a:r>
            <a:r>
              <a:rPr lang="es-ES" sz="2200" b="1" i="1" dirty="0"/>
              <a:t> = C’· X</a:t>
            </a:r>
          </a:p>
        </p:txBody>
      </p:sp>
    </p:spTree>
    <p:extLst>
      <p:ext uri="{BB962C8B-B14F-4D97-AF65-F5344CB8AC3E}">
        <p14:creationId xmlns:p14="http://schemas.microsoft.com/office/powerpoint/2010/main" val="968705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2102</TotalTime>
  <Words>1537</Words>
  <Application>Microsoft Office PowerPoint</Application>
  <PresentationFormat>On-screen Show (4:3)</PresentationFormat>
  <Paragraphs>1059</Paragraphs>
  <Slides>29</Slides>
  <Notes>22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Aharoni</vt:lpstr>
      <vt:lpstr>Arial Black</vt:lpstr>
      <vt:lpstr>Calibri</vt:lpstr>
      <vt:lpstr>Calisto MT</vt:lpstr>
      <vt:lpstr>Trebuchet MS</vt:lpstr>
      <vt:lpstr>Wingdings</vt:lpstr>
      <vt:lpstr>Wingdings 2</vt:lpstr>
      <vt:lpstr>Slate</vt:lpstr>
      <vt:lpstr>3. Sistemas Secuenciales.</vt:lpstr>
      <vt:lpstr>3.1. Lógica secuencial.</vt:lpstr>
      <vt:lpstr>3.1. Lógica secuencial.</vt:lpstr>
      <vt:lpstr>3.2. Biestable.</vt:lpstr>
      <vt:lpstr>3.2. Biestable.</vt:lpstr>
      <vt:lpstr>3.2. Biestable.</vt:lpstr>
      <vt:lpstr>3.2. Biestable.</vt:lpstr>
      <vt:lpstr>3.2. Biestable.</vt:lpstr>
      <vt:lpstr>3.2. Biestable.</vt:lpstr>
      <vt:lpstr>3.2. Biestable.</vt:lpstr>
      <vt:lpstr>3.3. Contadores.</vt:lpstr>
      <vt:lpstr>3.3. Contadores.</vt:lpstr>
      <vt:lpstr>3.3. Contadores.</vt:lpstr>
      <vt:lpstr>3.3. Contadores.</vt:lpstr>
      <vt:lpstr>3.3. Contadores.</vt:lpstr>
      <vt:lpstr>3.4. Registros.</vt:lpstr>
      <vt:lpstr>3.4. Registros.</vt:lpstr>
      <vt:lpstr>3.4. Registros.</vt:lpstr>
      <vt:lpstr>3.4. Registros.</vt:lpstr>
      <vt:lpstr>3.5. Temporizador 555.</vt:lpstr>
      <vt:lpstr>3.5. Temporizador 555.</vt:lpstr>
      <vt:lpstr>3.5. Temporizador 555.</vt:lpstr>
      <vt:lpstr>3.6. Máquinas de estado.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  <vt:lpstr>3.7. Análisis y diseño de circuitos secuenciales sincrónicos.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Calelo</cp:lastModifiedBy>
  <cp:revision>398</cp:revision>
  <dcterms:created xsi:type="dcterms:W3CDTF">2011-01-25T07:15:41Z</dcterms:created>
  <dcterms:modified xsi:type="dcterms:W3CDTF">2017-08-09T02:47:29Z</dcterms:modified>
</cp:coreProperties>
</file>
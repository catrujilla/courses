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69" r:id="rId4"/>
    <p:sldId id="259" r:id="rId5"/>
    <p:sldId id="268" r:id="rId6"/>
    <p:sldId id="270" r:id="rId7"/>
    <p:sldId id="271" r:id="rId8"/>
    <p:sldId id="273" r:id="rId9"/>
    <p:sldId id="274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69"/>
            <p14:sldId id="259"/>
            <p14:sldId id="268"/>
            <p14:sldId id="270"/>
            <p14:sldId id="271"/>
            <p14:sldId id="273"/>
            <p14:sldId id="274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0380" autoAdjust="0"/>
  </p:normalViewPr>
  <p:slideViewPr>
    <p:cSldViewPr>
      <p:cViewPr varScale="1">
        <p:scale>
          <a:sx n="78" d="100"/>
          <a:sy n="78" d="100"/>
        </p:scale>
        <p:origin x="166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14/09/2017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14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94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617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648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423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202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459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574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008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22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3022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19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709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935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5351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4062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197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pPr/>
              <a:t>14/09/2017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2945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www.google.com.co/url?sa=i&amp;rct=j&amp;q=&amp;esrc=s&amp;frm=1&amp;source=images&amp;cd=&amp;cad=rja&amp;docid=Nle_s8GY7wCmfM&amp;tbnid=9_nv6ZMEX2zVeM:&amp;ved=0CAUQjRw&amp;url=http://www.eoi.es/blogs/elizabethmontesdeoca/2012/06/18/la-comunicacion-como-herramienta-de-direccion/&amp;ei=G6JkUo7cMo3I9gS_7oBQ&amp;bvm=bv.55139894,d.eWU&amp;psig=AFQjCNEi8FkENKXO4FoDFqNMSXE-f4r1tw&amp;ust=138241316745057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2.jpeg"/><Relationship Id="rId7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gif"/><Relationship Id="rId2" Type="http://schemas.openxmlformats.org/officeDocument/2006/relationships/hyperlink" Target="//upload.wikimedia.org/wikipedia/commons/f/fc/SPI_three_slaves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co/url?sa=i&amp;rct=j&amp;q=&amp;esrc=s&amp;frm=1&amp;source=images&amp;cd=&amp;cad=rja&amp;docid=K3tom_wS1lpoqM&amp;tbnid=iAe93IlXjMcxSM:&amp;ved=0CAUQjRw&amp;url=http://www.mikroe.com/chapters/view/28/chapter-10-uart-module/&amp;ei=HaxkUuXCHITo9gT5lYB4&amp;psig=AFQjCNGHxzwl1Jo2WTtcS0rsvGIRk5WB-A&amp;ust=1382415768802309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://www.google.com.co/url?sa=i&amp;rct=j&amp;q=&amp;esrc=s&amp;frm=1&amp;source=images&amp;cd=&amp;cad=rja&amp;docid=ZA-_XVx0pPgi3M&amp;tbnid=hJf_X__EdKjxpM:&amp;ved=0CAUQjRw&amp;url=http://www.totalphase.com/support/kb/10037/&amp;ei=8KtkUrCaMI7o9gTs44AI&amp;psig=AFQjCNFuaZaq5UAMj3JNmgT-IVOtR11leg&amp;ust=138241572209680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hyperlink" Target="http://www.google.com.co/url?sa=i&amp;rct=j&amp;q=&amp;esrc=s&amp;frm=1&amp;source=images&amp;cd=&amp;cad=rja&amp;docid=AVwXiGa2ulLLMM&amp;tbnid=_oKUolAxglq5SM:&amp;ved=0CAUQjRw&amp;url=http://www.avrbeginners.net/architecture/uart/uart.html&amp;ei=Uq5kUsOMHIno8QSloYDADw&amp;psig=AFQjCNF-85ytEr84k4qTYd_Z2XqLt7j8lw&amp;ust=13824163073747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6. Comunicación Serial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/>
          </a:bodyPr>
          <a:lstStyle/>
          <a:p>
            <a:r>
              <a:rPr lang="es-CO" dirty="0"/>
              <a:t>6.1. Comunicación en Tecnología</a:t>
            </a:r>
          </a:p>
          <a:p>
            <a:r>
              <a:rPr lang="es-ES" dirty="0"/>
              <a:t>6.2. </a:t>
            </a:r>
            <a:r>
              <a:rPr lang="es-CO" dirty="0"/>
              <a:t>Comunicación Serial vs Comunicación Paralela</a:t>
            </a:r>
          </a:p>
          <a:p>
            <a:r>
              <a:rPr lang="es-ES" dirty="0"/>
              <a:t>6.3. Tipos de Comunicación Serial</a:t>
            </a:r>
          </a:p>
          <a:p>
            <a:r>
              <a:rPr lang="es-ES" dirty="0"/>
              <a:t>6.4. Protocolo RS232</a:t>
            </a:r>
          </a:p>
          <a:p>
            <a:r>
              <a:rPr lang="es-ES" dirty="0"/>
              <a:t>6.5. Módulo UART del PIC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>
                <a:effectLst/>
              </a:rPr>
              <a:t>Septiembre 13 de 2017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sz="4000" dirty="0"/>
              <a:t>6.1. Comunicación en Tecnología I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es el proceso mediante el cual se puede transmitir información de una entidad a otra.</a:t>
            </a:r>
          </a:p>
        </p:txBody>
      </p:sp>
      <p:pic>
        <p:nvPicPr>
          <p:cNvPr id="3" name="Picture 2" descr="http://www.eoi.es/blogs/elizabethmontesdeoca/files/2012/06/Comunicacion-3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32856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2699792" y="49595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http://www.elementosdelacomunicacion.com/</a:t>
            </a: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70156"/>
            <a:ext cx="8064895" cy="1054250"/>
          </a:xfrm>
        </p:spPr>
        <p:txBody>
          <a:bodyPr/>
          <a:lstStyle/>
          <a:p>
            <a:r>
              <a:rPr lang="es-CO" sz="4000" dirty="0"/>
              <a:t>6.1. Comunicación en Tecnología II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6228184" y="2636912"/>
            <a:ext cx="2828503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entre los dispositivos electrónicos viene dada en señales de voltaje (corriente) u ondas electromagnéticas.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5552491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323528" y="6237312"/>
            <a:ext cx="6085332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https://www.alibaba.com/product-detail/RS232-SIM900A-GSM-GPRS-Wireless-DTU_519988266.html</a:t>
            </a:r>
          </a:p>
        </p:txBody>
      </p:sp>
    </p:spTree>
    <p:extLst>
      <p:ext uri="{BB962C8B-B14F-4D97-AF65-F5344CB8AC3E}">
        <p14:creationId xmlns:p14="http://schemas.microsoft.com/office/powerpoint/2010/main" val="105372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79057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CO" sz="4000" dirty="0"/>
              <a:t>6.2 Comunicación Serial vs Comunicación Paralela</a:t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544664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paralela puede (no siempre) ser más rápida, pero requiere más canales (más cables por ejemplo) para su funcionamiento.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600187"/>
            <a:ext cx="2957137" cy="124791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1" y="3946621"/>
            <a:ext cx="3234533" cy="1636675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395536" y="2175247"/>
            <a:ext cx="312273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http://www.microcontrollerboard.com/pic_serial_communication.html</a:t>
            </a:r>
          </a:p>
        </p:txBody>
      </p:sp>
      <p:pic>
        <p:nvPicPr>
          <p:cNvPr id="2050" name="Picture 2" descr="http://i.ebayimg.com/images/g/WvsAAOSws8ZXHmzb/s-l16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431" y="2492896"/>
            <a:ext cx="3862247" cy="310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3689616" y="2060848"/>
            <a:ext cx="553212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http://www.ebay.com/itm/Two-Serial-RS232-DB9-and-1-Parallel-Port-LPT1-DB25-PCI-Express-PCIe-Card-/282349821966</a:t>
            </a:r>
          </a:p>
        </p:txBody>
      </p:sp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8203990" cy="1054250"/>
          </a:xfrm>
        </p:spPr>
        <p:txBody>
          <a:bodyPr/>
          <a:lstStyle/>
          <a:p>
            <a:r>
              <a:rPr lang="es-ES" sz="4000" dirty="0"/>
              <a:t>6.3. Tipos de Comunicación Serial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5" name="Rectángulo 4"/>
          <p:cNvSpPr/>
          <p:nvPr/>
        </p:nvSpPr>
        <p:spPr>
          <a:xfrm>
            <a:off x="395536" y="3601700"/>
            <a:ext cx="2132872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https://insidetowers.com/cell-tower-news-emerging-wireless-technologies-threaten-wifi-existence/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74" y="2278381"/>
            <a:ext cx="1645943" cy="1294635"/>
          </a:xfrm>
          <a:prstGeom prst="rect">
            <a:avLst/>
          </a:prstGeom>
        </p:spPr>
      </p:pic>
      <p:pic>
        <p:nvPicPr>
          <p:cNvPr id="3074" name="Picture 2" descr="https://static.giantbomb.com/uploads/scale_small/1/13313/1065605-satellite_dish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299" y="2204864"/>
            <a:ext cx="1295927" cy="194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/>
          <p:cNvSpPr/>
          <p:nvPr/>
        </p:nvSpPr>
        <p:spPr>
          <a:xfrm>
            <a:off x="2555776" y="4147238"/>
            <a:ext cx="1938975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http://www.giantbomb.com/satellite-dish/3055-2366/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4536568" y="3637024"/>
            <a:ext cx="1762705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http://www.gravitech.us/xbprozbmo250.html</a:t>
            </a:r>
          </a:p>
        </p:txBody>
      </p:sp>
      <p:pic>
        <p:nvPicPr>
          <p:cNvPr id="3076" name="Picture 4" descr="http://ep.yimg.com/ca/I/yhst-27389313707334_2252_12902636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35" b="93852" l="8000" r="90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4" y="2357695"/>
            <a:ext cx="2055786" cy="136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/>
          <p:cNvSpPr/>
          <p:nvPr/>
        </p:nvSpPr>
        <p:spPr>
          <a:xfrm>
            <a:off x="6319785" y="3579363"/>
            <a:ext cx="2838853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http://diypot.net/computers/tips/how-to-solve-bluetooth-pairing-problems/</a:t>
            </a:r>
          </a:p>
        </p:txBody>
      </p:sp>
      <p:pic>
        <p:nvPicPr>
          <p:cNvPr id="3078" name="Picture 6" descr="http://diypot.net/wp-content/uploads/2016/08/Bluetooth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42" r="100000">
                        <a14:foregroundMark x1="9576" y1="23373" x2="9576" y2="23373"/>
                        <a14:foregroundMark x1="17739" y1="33728" x2="17739" y2="33728"/>
                        <a14:foregroundMark x1="27630" y1="42012" x2="27630" y2="42012"/>
                        <a14:foregroundMark x1="15542" y1="42012" x2="15542" y2="42012"/>
                        <a14:foregroundMark x1="6122" y1="45266" x2="6122" y2="45266"/>
                        <a14:foregroundMark x1="16013" y1="51775" x2="16013" y2="51775"/>
                        <a14:foregroundMark x1="73155" y1="47633" x2="73155" y2="47633"/>
                        <a14:foregroundMark x1="83987" y1="45858" x2="83987" y2="45858"/>
                        <a14:foregroundMark x1="93407" y1="37870" x2="93407" y2="37870"/>
                        <a14:foregroundMark x1="89482" y1="27219" x2="89482" y2="27219"/>
                        <a14:foregroundMark x1="81790" y1="34615" x2="81790" y2="34615"/>
                        <a14:foregroundMark x1="82575" y1="58876" x2="82575" y2="58876"/>
                        <a14:foregroundMark x1="93407" y1="56509" x2="93407" y2="565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869" y="2444619"/>
            <a:ext cx="2126595" cy="11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freakonomics.com/wp-content/uploads/2016/07/PC-Internet--550x34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89" y="4760607"/>
            <a:ext cx="2221741" cy="13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/>
          <p:cNvSpPr/>
          <p:nvPr/>
        </p:nvSpPr>
        <p:spPr>
          <a:xfrm>
            <a:off x="749071" y="6207115"/>
            <a:ext cx="2838853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http://freakonomics.com/podcast/internet/</a:t>
            </a:r>
          </a:p>
        </p:txBody>
      </p:sp>
      <p:pic>
        <p:nvPicPr>
          <p:cNvPr id="3082" name="Picture 10" descr="4G/LTE Wireless Network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441" y="4726661"/>
            <a:ext cx="1951711" cy="130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3747153" y="6019899"/>
            <a:ext cx="2346159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http://www.cablefree.net/wirelesstechnology/4glte/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012160" y="5996937"/>
            <a:ext cx="3122738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http://www.ebay.co.uk/itm/USB-Over-RJ45-Ethernet-LAN-Cat5e-6-Cable-Extension-Extender-Adapter-Set-/171969693802</a:t>
            </a:r>
          </a:p>
        </p:txBody>
      </p:sp>
      <p:pic>
        <p:nvPicPr>
          <p:cNvPr id="3084" name="Picture 12" descr="http://i.ebayimg.com/images/g/WO8AAOSw5ZBWH8wu/s-l1600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375" b="90000" l="75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236" y="4323640"/>
            <a:ext cx="2006585" cy="200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0700" y="570156"/>
            <a:ext cx="8299772" cy="1054250"/>
          </a:xfrm>
        </p:spPr>
        <p:txBody>
          <a:bodyPr/>
          <a:lstStyle/>
          <a:p>
            <a:r>
              <a:rPr lang="es-ES" sz="4000" dirty="0"/>
              <a:t>6.3. Tipos de Comunicación Serial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1231094" y="2780928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Asíncrona</a:t>
            </a:r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766849" y="2636912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Síncrona</a:t>
            </a:r>
          </a:p>
        </p:txBody>
      </p:sp>
      <p:pic>
        <p:nvPicPr>
          <p:cNvPr id="5126" name="Picture 6" descr="File:SPI three slave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54" y="3266182"/>
            <a:ext cx="2230283" cy="17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totalphase.com/image/articles/i2c-diagram.pn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88" y="5085184"/>
            <a:ext cx="3744416" cy="12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ttp://www.mikroe.com/img/publication/dspic-books/programming-pascal-dspic/chapter/10/fig10-9.gif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8" y="3429000"/>
            <a:ext cx="2389944" cy="27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 Subtítulo"/>
          <p:cNvSpPr txBox="1">
            <a:spLocks/>
          </p:cNvSpPr>
          <p:nvPr/>
        </p:nvSpPr>
        <p:spPr>
          <a:xfrm>
            <a:off x="3149016" y="3994770"/>
            <a:ext cx="3001057" cy="648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800" dirty="0" err="1"/>
              <a:t>Microcontroladores</a:t>
            </a:r>
            <a:r>
              <a:rPr lang="es-MX" sz="1800" dirty="0"/>
              <a:t>, Sensores, Memorias, Conversores ADC, etc.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0140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6.4. Protocolo RS232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4931739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/>
              <a:t>Es el protocolo fundamental, a partir de éste se han diseñado todos los demás (asíncronos).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-4899" y="5805264"/>
            <a:ext cx="3220415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>
                <a:solidFill>
                  <a:srgbClr val="FF0000"/>
                </a:solidFill>
              </a:rPr>
              <a:t>Práctica Serial hardware</a:t>
            </a:r>
          </a:p>
        </p:txBody>
      </p:sp>
      <p:pic>
        <p:nvPicPr>
          <p:cNvPr id="1026" name="Picture 2" descr="Image:Rs232protocol_graph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49" y="2348880"/>
            <a:ext cx="5616624" cy="200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2 Subtítulo"/>
          <p:cNvSpPr txBox="1">
            <a:spLocks/>
          </p:cNvSpPr>
          <p:nvPr/>
        </p:nvSpPr>
        <p:spPr>
          <a:xfrm>
            <a:off x="3419872" y="2519647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800" b="1" i="1" dirty="0"/>
              <a:t>Protocolo en este ejemplo:</a:t>
            </a:r>
          </a:p>
          <a:p>
            <a:pPr marL="0" indent="0" algn="ctr">
              <a:buNone/>
            </a:pPr>
            <a:r>
              <a:rPr lang="es-CO" sz="1800" i="1" dirty="0"/>
              <a:t>1 bit de inicio</a:t>
            </a:r>
          </a:p>
          <a:p>
            <a:pPr marL="0" indent="0" algn="ctr">
              <a:buNone/>
            </a:pPr>
            <a:r>
              <a:rPr lang="es-CO" sz="1800" i="1" dirty="0"/>
              <a:t>8 bits de datos (palabra)</a:t>
            </a:r>
          </a:p>
          <a:p>
            <a:pPr marL="0" indent="0" algn="ctr">
              <a:buNone/>
            </a:pPr>
            <a:r>
              <a:rPr lang="es-CO" sz="1800" i="1" dirty="0"/>
              <a:t>1 bit de paridad (opcional)</a:t>
            </a:r>
          </a:p>
          <a:p>
            <a:pPr marL="0" indent="0" algn="ctr">
              <a:buNone/>
            </a:pPr>
            <a:r>
              <a:rPr lang="es-CO" sz="1800" i="1" dirty="0"/>
              <a:t>1 bit de parada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259632" y="4375636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http://www.labautopedia.org/mw/Electronic_interfaces/RS-232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39788" y="6118491"/>
            <a:ext cx="7974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/>
              <a:t>Link </a:t>
            </a:r>
            <a:r>
              <a:rPr lang="en-US" sz="1600" b="1" i="1" dirty="0" err="1"/>
              <a:t>recomendado</a:t>
            </a:r>
            <a:r>
              <a:rPr lang="en-US" sz="1600" b="1" i="1" dirty="0"/>
              <a:t>: </a:t>
            </a:r>
            <a:r>
              <a:rPr lang="en-US" sz="1600" i="1" dirty="0"/>
              <a:t>http://www.best-microcontroller-projects.com/how-rs232-works.html</a:t>
            </a:r>
          </a:p>
        </p:txBody>
      </p:sp>
      <p:sp>
        <p:nvSpPr>
          <p:cNvPr id="10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04926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6.4. Protocolo RS232</a:t>
            </a:r>
            <a:endParaRPr lang="es-CO" sz="4000" dirty="0"/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5436096" y="2442520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>
                <a:solidFill>
                  <a:srgbClr val="FF0000"/>
                </a:solidFill>
              </a:rPr>
              <a:t>Práctica Serial hardware</a:t>
            </a:r>
          </a:p>
        </p:txBody>
      </p:sp>
      <p:pic>
        <p:nvPicPr>
          <p:cNvPr id="2050" name="Picture 2" descr="Resultado de imagen para example rs232 parity b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0" y="3389726"/>
            <a:ext cx="3868065" cy="167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789040"/>
            <a:ext cx="3227585" cy="20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/>
          <p:cNvSpPr/>
          <p:nvPr/>
        </p:nvSpPr>
        <p:spPr>
          <a:xfrm>
            <a:off x="4115816" y="587727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https://www.atlantic.net/blog/ecc-memory-critical-financial-medical-businesses/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36522" y="287944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i="1" dirty="0" err="1"/>
              <a:t>Paridad</a:t>
            </a:r>
            <a:r>
              <a:rPr lang="en-US" b="1" i="1" dirty="0"/>
              <a:t> par o </a:t>
            </a:r>
            <a:r>
              <a:rPr lang="en-US" b="1" i="1" dirty="0" err="1"/>
              <a:t>paridad</a:t>
            </a:r>
            <a:r>
              <a:rPr lang="en-US" b="1" i="1" dirty="0"/>
              <a:t> </a:t>
            </a:r>
            <a:r>
              <a:rPr lang="en-US" b="1" i="1" dirty="0" err="1"/>
              <a:t>impar</a:t>
            </a:r>
            <a:r>
              <a:rPr lang="en-US" b="1" i="1" dirty="0"/>
              <a:t>?</a:t>
            </a:r>
          </a:p>
        </p:txBody>
      </p:sp>
      <p:sp>
        <p:nvSpPr>
          <p:cNvPr id="13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3974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6.4. Protocolo RS232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836712" y="314096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/>
              <a:t>Caracteres </a:t>
            </a:r>
            <a:r>
              <a:rPr lang="es-CO" sz="2200" b="1" i="1" dirty="0" err="1"/>
              <a:t>Ascci</a:t>
            </a:r>
            <a:r>
              <a:rPr lang="es-CO" sz="2200" b="1" i="1" dirty="0"/>
              <a:t>: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1239959" y="2177631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>
                <a:solidFill>
                  <a:srgbClr val="FF0000"/>
                </a:solidFill>
              </a:rPr>
              <a:t>Práctica Serial hardware</a:t>
            </a:r>
          </a:p>
        </p:txBody>
      </p:sp>
      <p:pic>
        <p:nvPicPr>
          <p:cNvPr id="1026" name="Picture 2" descr="https://upload.wikimedia.org/wikipedia/commons/thumb/4/42/ASCII_full.svg/217px-ASCII_ful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19591"/>
            <a:ext cx="3024336" cy="228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001822"/>
            <a:ext cx="2063623" cy="4520321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4154253" y="4293096"/>
            <a:ext cx="504056" cy="550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3816821" y="6486191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http://uepcarmenuruchima.blogspot.com.co/2015/10/ple.html</a:t>
            </a:r>
          </a:p>
        </p:txBody>
      </p:sp>
      <p:sp>
        <p:nvSpPr>
          <p:cNvPr id="12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9" name="Rectángulo 8"/>
          <p:cNvSpPr/>
          <p:nvPr/>
        </p:nvSpPr>
        <p:spPr>
          <a:xfrm>
            <a:off x="89360" y="5839460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000" dirty="0"/>
              <a:t>http://hangul.typographyseoul.com/tshangul/61168</a:t>
            </a:r>
          </a:p>
        </p:txBody>
      </p:sp>
    </p:spTree>
    <p:extLst>
      <p:ext uri="{BB962C8B-B14F-4D97-AF65-F5344CB8AC3E}">
        <p14:creationId xmlns:p14="http://schemas.microsoft.com/office/powerpoint/2010/main" val="336287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4E4293-A724-4C2B-BA46-36A343120C23}"/>
              </a:ext>
            </a:extLst>
          </p:cNvPr>
          <p:cNvSpPr/>
          <p:nvPr/>
        </p:nvSpPr>
        <p:spPr>
          <a:xfrm>
            <a:off x="1907704" y="2036673"/>
            <a:ext cx="5472608" cy="3624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6.5. Módulo UART del PIC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566124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/>
              <a:t>Contiene todos los temporizadores, registros de desplazamiento y </a:t>
            </a:r>
            <a:r>
              <a:rPr lang="es-ES" sz="2000" i="1" dirty="0"/>
              <a:t>buffers</a:t>
            </a:r>
            <a:r>
              <a:rPr lang="es-ES" sz="2000" dirty="0"/>
              <a:t> necesarios para realizar una entrada o una salida serial de datos independientemente de la ejecución normal del microcontrolador.</a:t>
            </a:r>
            <a:endParaRPr lang="es-CO" sz="2000" dirty="0"/>
          </a:p>
        </p:txBody>
      </p:sp>
      <p:pic>
        <p:nvPicPr>
          <p:cNvPr id="7170" name="Picture 2" descr="http://www.avrbeginners.net/architecture/img/uart_overview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8623"/>
            <a:ext cx="54864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2 Subtítulo"/>
          <p:cNvSpPr txBox="1">
            <a:spLocks/>
          </p:cNvSpPr>
          <p:nvPr/>
        </p:nvSpPr>
        <p:spPr>
          <a:xfrm>
            <a:off x="7164288" y="2036673"/>
            <a:ext cx="2199586" cy="5284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>
                <a:solidFill>
                  <a:srgbClr val="FF0000"/>
                </a:solidFill>
              </a:rPr>
              <a:t>Práctica Serial con el PIC</a:t>
            </a:r>
          </a:p>
        </p:txBody>
      </p:sp>
      <p:sp>
        <p:nvSpPr>
          <p:cNvPr id="7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-3204864" y="4082589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err="1"/>
              <a:t>Datasheet</a:t>
            </a:r>
            <a:r>
              <a:rPr lang="es-CO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297251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253</TotalTime>
  <Words>472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Calisto MT</vt:lpstr>
      <vt:lpstr>Trebuchet MS</vt:lpstr>
      <vt:lpstr>Wingdings</vt:lpstr>
      <vt:lpstr>Wingdings 2</vt:lpstr>
      <vt:lpstr>Slate</vt:lpstr>
      <vt:lpstr>6. Comunicación Serial</vt:lpstr>
      <vt:lpstr>6.1. Comunicación en Tecnología I</vt:lpstr>
      <vt:lpstr>6.1. Comunicación en Tecnología II</vt:lpstr>
      <vt:lpstr>6.2 Comunicación Serial vs Comunicación Paralela </vt:lpstr>
      <vt:lpstr>6.3. Tipos de Comunicación Serial I</vt:lpstr>
      <vt:lpstr>6.3. Tipos de Comunicación Serial II</vt:lpstr>
      <vt:lpstr>6.4. Protocolo RS232</vt:lpstr>
      <vt:lpstr>6.4. Protocolo RS232</vt:lpstr>
      <vt:lpstr>6.4. Protocolo RS232</vt:lpstr>
      <vt:lpstr>6.5. Módulo UART del 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Calelo</cp:lastModifiedBy>
  <cp:revision>111</cp:revision>
  <dcterms:created xsi:type="dcterms:W3CDTF">2011-02-14T00:22:22Z</dcterms:created>
  <dcterms:modified xsi:type="dcterms:W3CDTF">2017-09-14T15:46:20Z</dcterms:modified>
</cp:coreProperties>
</file>
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3"/>
  </p:notesMasterIdLst>
  <p:sldIdLst>
    <p:sldId id="256" r:id="rId2"/>
    <p:sldId id="257" r:id="rId3"/>
    <p:sldId id="259" r:id="rId4"/>
    <p:sldId id="268" r:id="rId5"/>
    <p:sldId id="258" r:id="rId6"/>
    <p:sldId id="262" r:id="rId7"/>
    <p:sldId id="260" r:id="rId8"/>
    <p:sldId id="261" r:id="rId9"/>
    <p:sldId id="265" r:id="rId10"/>
    <p:sldId id="263" r:id="rId11"/>
    <p:sldId id="266" r:id="rId12"/>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59"/>
            <p14:sldId id="268"/>
            <p14:sldId id="258"/>
            <p14:sldId id="262"/>
            <p14:sldId id="260"/>
            <p14:sldId id="261"/>
            <p14:sldId id="265"/>
            <p14:sldId id="263"/>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E2"/>
    <a:srgbClr val="281997"/>
    <a:srgbClr val="46B846"/>
    <a:srgbClr val="2CD283"/>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80" autoAdjust="0"/>
  </p:normalViewPr>
  <p:slideViewPr>
    <p:cSldViewPr>
      <p:cViewPr varScale="1">
        <p:scale>
          <a:sx n="105" d="100"/>
          <a:sy n="105" d="100"/>
        </p:scale>
        <p:origin x="176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28/02/2017</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8987BBB-A4C9-40A5-B74E-E45C8F585478}" type="slidenum">
              <a:rPr lang="es-CO" smtClean="0"/>
              <a:t>3</a:t>
            </a:fld>
            <a:endParaRPr lang="es-CO"/>
          </a:p>
        </p:txBody>
      </p:sp>
    </p:spTree>
    <p:extLst>
      <p:ext uri="{BB962C8B-B14F-4D97-AF65-F5344CB8AC3E}">
        <p14:creationId xmlns:p14="http://schemas.microsoft.com/office/powerpoint/2010/main" val="603771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61571ED-39D6-443C-9EF8-3AD8EC129B98}" type="datetimeFigureOut">
              <a:rPr lang="es-CO" smtClean="0"/>
              <a:pPr/>
              <a:t>28/02/2017</a:t>
            </a:fld>
            <a:endParaRPr lang="es-C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6FB919A-4838-4492-BE31-B5808E3145DF}" type="slidenum">
              <a:rPr lang="es-CO" smtClean="0"/>
              <a:pPr/>
              <a:t>‹Nº›</a:t>
            </a:fld>
            <a:endParaRPr lang="es-CO"/>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28/02/2017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061571ED-39D6-443C-9EF8-3AD8EC129B98}" type="datetimeFigureOut">
              <a:rPr lang="es-CO" smtClean="0"/>
              <a:pPr/>
              <a:t>28/02/2017</a:t>
            </a:fld>
            <a:endParaRPr lang="es-CO"/>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CO"/>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C6FB919A-4838-4492-BE31-B5808E3145DF}" type="slidenum">
              <a:rPr lang="es-CO" smtClean="0"/>
              <a:pPr/>
              <a:t>‹Nº›</a:t>
            </a:fld>
            <a:endParaRPr lang="es-CO"/>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476672"/>
            <a:ext cx="7772400" cy="1827634"/>
          </a:xfrm>
        </p:spPr>
        <p:txBody>
          <a:bodyPr>
            <a:normAutofit/>
          </a:bodyPr>
          <a:lstStyle/>
          <a:p>
            <a:r>
              <a:rPr lang="es-ES" sz="5600" dirty="0">
                <a:effectLst/>
              </a:rPr>
              <a:t>5</a:t>
            </a:r>
            <a:r>
              <a:rPr lang="es-ES" sz="5600" dirty="0" smtClean="0">
                <a:effectLst/>
              </a:rPr>
              <a:t>. </a:t>
            </a:r>
            <a:r>
              <a:rPr lang="es-ES" sz="5600" dirty="0" err="1" smtClean="0">
                <a:effectLst/>
              </a:rPr>
              <a:t>Microcontroladores</a:t>
            </a:r>
            <a:r>
              <a:rPr lang="es-ES" sz="5600" dirty="0" smtClean="0">
                <a:effectLst/>
              </a:rPr>
              <a:t>.</a:t>
            </a:r>
            <a:endParaRPr lang="es-CO" sz="5600" dirty="0"/>
          </a:p>
        </p:txBody>
      </p:sp>
      <p:sp>
        <p:nvSpPr>
          <p:cNvPr id="3" name="2 Subtítulo"/>
          <p:cNvSpPr>
            <a:spLocks noGrp="1"/>
          </p:cNvSpPr>
          <p:nvPr>
            <p:ph type="subTitle" idx="1"/>
          </p:nvPr>
        </p:nvSpPr>
        <p:spPr>
          <a:xfrm>
            <a:off x="1403648" y="3645024"/>
            <a:ext cx="6400800" cy="3024336"/>
          </a:xfrm>
        </p:spPr>
        <p:txBody>
          <a:bodyPr>
            <a:normAutofit fontScale="70000" lnSpcReduction="20000"/>
          </a:bodyPr>
          <a:lstStyle/>
          <a:p>
            <a:r>
              <a:rPr lang="es-CO" dirty="0"/>
              <a:t>5</a:t>
            </a:r>
            <a:r>
              <a:rPr lang="es-CO" dirty="0" smtClean="0"/>
              <a:t>.1</a:t>
            </a:r>
            <a:r>
              <a:rPr lang="es-CO" dirty="0"/>
              <a:t>. ¿Qué es un </a:t>
            </a:r>
            <a:r>
              <a:rPr lang="es-CO" dirty="0" err="1"/>
              <a:t>microcontrolador</a:t>
            </a:r>
            <a:r>
              <a:rPr lang="es-CO" dirty="0" smtClean="0"/>
              <a:t>?</a:t>
            </a:r>
          </a:p>
          <a:p>
            <a:r>
              <a:rPr lang="es-ES" dirty="0"/>
              <a:t>5</a:t>
            </a:r>
            <a:r>
              <a:rPr lang="es-ES" dirty="0" smtClean="0"/>
              <a:t>.2</a:t>
            </a:r>
            <a:r>
              <a:rPr lang="es-ES" dirty="0"/>
              <a:t>. </a:t>
            </a:r>
            <a:r>
              <a:rPr lang="es-CO" dirty="0"/>
              <a:t>Procedimiento para hacer funcionar un </a:t>
            </a:r>
            <a:r>
              <a:rPr lang="es-CO" dirty="0" err="1" smtClean="0"/>
              <a:t>microcontrolador</a:t>
            </a:r>
            <a:r>
              <a:rPr lang="es-CO" dirty="0" smtClean="0"/>
              <a:t>.</a:t>
            </a:r>
          </a:p>
          <a:p>
            <a:r>
              <a:rPr lang="es-ES" dirty="0"/>
              <a:t>5</a:t>
            </a:r>
            <a:r>
              <a:rPr lang="es-ES" dirty="0" smtClean="0"/>
              <a:t>.3</a:t>
            </a:r>
            <a:r>
              <a:rPr lang="es-ES" dirty="0"/>
              <a:t>. Estructura de un </a:t>
            </a:r>
            <a:r>
              <a:rPr lang="es-ES" dirty="0" err="1"/>
              <a:t>microcontrolador</a:t>
            </a:r>
            <a:r>
              <a:rPr lang="es-ES" dirty="0" smtClean="0"/>
              <a:t>.</a:t>
            </a:r>
          </a:p>
          <a:p>
            <a:r>
              <a:rPr lang="es-ES" dirty="0"/>
              <a:t>5</a:t>
            </a:r>
            <a:r>
              <a:rPr lang="es-ES" dirty="0" smtClean="0"/>
              <a:t>.4</a:t>
            </a:r>
            <a:r>
              <a:rPr lang="es-ES" dirty="0" smtClean="0"/>
              <a:t>. </a:t>
            </a:r>
            <a:r>
              <a:rPr lang="es-ES" dirty="0"/>
              <a:t>CPU del </a:t>
            </a:r>
            <a:r>
              <a:rPr lang="es-ES" dirty="0" err="1" smtClean="0"/>
              <a:t>microcontrolador</a:t>
            </a:r>
            <a:r>
              <a:rPr lang="es-ES" dirty="0" smtClean="0"/>
              <a:t>.</a:t>
            </a:r>
          </a:p>
          <a:p>
            <a:r>
              <a:rPr lang="es-ES" dirty="0"/>
              <a:t>5</a:t>
            </a:r>
            <a:r>
              <a:rPr lang="es-ES" dirty="0" smtClean="0"/>
              <a:t>.5</a:t>
            </a:r>
            <a:r>
              <a:rPr lang="es-ES" dirty="0" smtClean="0"/>
              <a:t>. </a:t>
            </a:r>
            <a:r>
              <a:rPr lang="es-ES" dirty="0" err="1"/>
              <a:t>Resgistros</a:t>
            </a:r>
            <a:r>
              <a:rPr lang="es-ES" dirty="0" smtClean="0"/>
              <a:t>.</a:t>
            </a:r>
          </a:p>
          <a:p>
            <a:r>
              <a:rPr lang="es-ES" dirty="0"/>
              <a:t>5</a:t>
            </a:r>
            <a:r>
              <a:rPr lang="es-ES" dirty="0" smtClean="0"/>
              <a:t>.6</a:t>
            </a:r>
            <a:r>
              <a:rPr lang="es-ES" dirty="0" smtClean="0"/>
              <a:t>. </a:t>
            </a:r>
            <a:r>
              <a:rPr lang="es-ES" dirty="0"/>
              <a:t>Puertos</a:t>
            </a:r>
            <a:r>
              <a:rPr lang="es-ES" dirty="0" smtClean="0"/>
              <a:t>.</a:t>
            </a:r>
          </a:p>
          <a:p>
            <a:r>
              <a:rPr lang="es-ES" dirty="0"/>
              <a:t>5</a:t>
            </a:r>
            <a:r>
              <a:rPr lang="es-ES" dirty="0" smtClean="0"/>
              <a:t>.7</a:t>
            </a:r>
            <a:r>
              <a:rPr lang="es-ES" dirty="0"/>
              <a:t>. Memorias</a:t>
            </a:r>
            <a:r>
              <a:rPr lang="es-ES" dirty="0" smtClean="0"/>
              <a:t>.</a:t>
            </a:r>
          </a:p>
          <a:p>
            <a:r>
              <a:rPr lang="es-ES" dirty="0"/>
              <a:t>5</a:t>
            </a:r>
            <a:r>
              <a:rPr lang="es-ES" dirty="0" smtClean="0"/>
              <a:t>.8</a:t>
            </a:r>
            <a:r>
              <a:rPr lang="es-ES" dirty="0"/>
              <a:t>. Osciladores.</a:t>
            </a:r>
            <a:endParaRPr lang="es-ES" dirty="0" smtClean="0"/>
          </a:p>
          <a:p>
            <a:r>
              <a:rPr lang="es-ES" dirty="0"/>
              <a:t>5</a:t>
            </a:r>
            <a:r>
              <a:rPr lang="es-ES" dirty="0" smtClean="0"/>
              <a:t>.9</a:t>
            </a:r>
            <a:r>
              <a:rPr lang="es-ES" dirty="0"/>
              <a:t>. </a:t>
            </a:r>
            <a:r>
              <a:rPr lang="es-ES" dirty="0" err="1"/>
              <a:t>Arquitecura</a:t>
            </a:r>
            <a:r>
              <a:rPr lang="es-ES" dirty="0"/>
              <a:t> interna</a:t>
            </a:r>
            <a:r>
              <a:rPr lang="es-ES" dirty="0" smtClean="0"/>
              <a:t>.</a:t>
            </a:r>
          </a:p>
          <a:p>
            <a:r>
              <a:rPr lang="es-ES" dirty="0"/>
              <a:t>5</a:t>
            </a:r>
            <a:r>
              <a:rPr lang="es-ES" dirty="0" smtClean="0"/>
              <a:t>.10</a:t>
            </a:r>
            <a:r>
              <a:rPr lang="es-ES" dirty="0"/>
              <a:t>. </a:t>
            </a:r>
            <a:r>
              <a:rPr lang="es-CO" dirty="0"/>
              <a:t>Tipos de </a:t>
            </a:r>
            <a:r>
              <a:rPr lang="es-CO" dirty="0" err="1"/>
              <a:t>microntroladores</a:t>
            </a:r>
            <a:r>
              <a:rPr lang="es-ES" dirty="0" smtClean="0"/>
              <a:t>.</a:t>
            </a:r>
          </a:p>
        </p:txBody>
      </p:sp>
      <p:sp>
        <p:nvSpPr>
          <p:cNvPr id="4" name="3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75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smtClean="0">
                <a:effectLst/>
              </a:rPr>
              <a:t>Marzo 1 de 2017  Taller 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pPr marL="0" indent="0"/>
            <a:r>
              <a:rPr lang="es-CO" sz="4000" dirty="0"/>
              <a:t>5</a:t>
            </a:r>
            <a:r>
              <a:rPr lang="es-CO" sz="4000" dirty="0" smtClean="0"/>
              <a:t>.1</a:t>
            </a:r>
            <a:r>
              <a:rPr lang="es-CO" sz="4000" dirty="0" smtClean="0"/>
              <a:t>. ¿Qué </a:t>
            </a:r>
            <a:r>
              <a:rPr lang="es-CO" sz="4000" dirty="0"/>
              <a:t>es un </a:t>
            </a:r>
            <a:r>
              <a:rPr lang="es-CO" sz="4000" dirty="0" err="1"/>
              <a:t>microcontrolador</a:t>
            </a:r>
            <a:r>
              <a:rPr lang="es-CO" sz="4000" dirty="0"/>
              <a:t>?</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51520" y="2420887"/>
            <a:ext cx="2796480" cy="2569919"/>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smtClean="0"/>
              <a:t>Es un pequeño «computador» dentro de un circuito integrado que tiene un procesador, memoria y periféricos programables de entrada y salida.</a:t>
            </a:r>
            <a:endParaRPr lang="es-CO"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4853" y="5301208"/>
            <a:ext cx="1586954" cy="119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2 Subtítulo"/>
          <p:cNvSpPr txBox="1">
            <a:spLocks/>
          </p:cNvSpPr>
          <p:nvPr/>
        </p:nvSpPr>
        <p:spPr>
          <a:xfrm>
            <a:off x="3491880" y="5559762"/>
            <a:ext cx="2796480"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n-US" sz="2600" b="1" i="1" dirty="0" smtClean="0"/>
              <a:t>Se </a:t>
            </a:r>
            <a:r>
              <a:rPr lang="en-US" sz="2600" b="1" i="1" dirty="0" err="1" smtClean="0"/>
              <a:t>conocen</a:t>
            </a:r>
            <a:r>
              <a:rPr lang="en-US" sz="2600" b="1" i="1" dirty="0" smtClean="0"/>
              <a:t> </a:t>
            </a:r>
            <a:r>
              <a:rPr lang="en-US" sz="2600" b="1" i="1" dirty="0" err="1" smtClean="0"/>
              <a:t>como</a:t>
            </a:r>
            <a:r>
              <a:rPr lang="en-US" sz="2600" b="1" i="1" dirty="0" smtClean="0"/>
              <a:t>:</a:t>
            </a:r>
          </a:p>
          <a:p>
            <a:pPr marL="0" indent="0" algn="ctr">
              <a:buNone/>
            </a:pPr>
            <a:r>
              <a:rPr lang="el-GR" sz="2600" b="1" i="1" dirty="0" smtClean="0"/>
              <a:t>μ</a:t>
            </a:r>
            <a:r>
              <a:rPr lang="es-CO" sz="2600" b="1" i="1" dirty="0" smtClean="0"/>
              <a:t>C - </a:t>
            </a:r>
            <a:r>
              <a:rPr lang="es-CO" sz="2600" b="1" i="1" dirty="0" err="1" smtClean="0"/>
              <a:t>uC</a:t>
            </a:r>
            <a:r>
              <a:rPr lang="es-CO" sz="2600" b="1" i="1" dirty="0" smtClean="0"/>
              <a:t> - MCU</a:t>
            </a:r>
            <a:endParaRPr lang="es-CO" sz="2600" b="1" i="1" dirty="0"/>
          </a:p>
        </p:txBody>
      </p:sp>
      <p:pic>
        <p:nvPicPr>
          <p:cNvPr id="3" name="Picture 2" descr="Resultado de imagen para Microcontroll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7300" y="2204864"/>
            <a:ext cx="3801044" cy="256377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3419872" y="4749470"/>
            <a:ext cx="4572000" cy="523220"/>
          </a:xfrm>
          <a:prstGeom prst="rect">
            <a:avLst/>
          </a:prstGeom>
        </p:spPr>
        <p:txBody>
          <a:bodyPr>
            <a:spAutoFit/>
          </a:bodyPr>
          <a:lstStyle/>
          <a:p>
            <a:pPr algn="ctr"/>
            <a:r>
              <a:rPr lang="en-US" sz="1400" dirty="0"/>
              <a:t>http://electronicshacking.com/difference-between-microcontroller-and-microprocessor/</a:t>
            </a:r>
          </a:p>
        </p:txBody>
      </p:sp>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871" y="2198593"/>
            <a:ext cx="6087949" cy="419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title"/>
          </p:nvPr>
        </p:nvSpPr>
        <p:spPr>
          <a:xfrm>
            <a:off x="688490" y="570156"/>
            <a:ext cx="7987965" cy="1054250"/>
          </a:xfrm>
        </p:spPr>
        <p:txBody>
          <a:bodyPr/>
          <a:lstStyle/>
          <a:p>
            <a:r>
              <a:rPr lang="es-ES" sz="4000" dirty="0" smtClean="0"/>
              <a:t>5.2</a:t>
            </a:r>
            <a:r>
              <a:rPr lang="es-ES" sz="4000" dirty="0" smtClean="0"/>
              <a:t>. </a:t>
            </a:r>
            <a:r>
              <a:rPr lang="es-CO" sz="4000" dirty="0"/>
              <a:t>Procedimiento para hacer funcionar un </a:t>
            </a:r>
            <a:r>
              <a:rPr lang="es-CO" sz="4000" dirty="0" err="1" smtClean="0"/>
              <a:t>microcontrolador</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Rectángulo 2"/>
          <p:cNvSpPr/>
          <p:nvPr/>
        </p:nvSpPr>
        <p:spPr>
          <a:xfrm>
            <a:off x="2906763" y="2564904"/>
            <a:ext cx="1571084" cy="72008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p:cNvSpPr/>
          <p:nvPr/>
        </p:nvSpPr>
        <p:spPr>
          <a:xfrm>
            <a:off x="1703582" y="3638479"/>
            <a:ext cx="1428258" cy="654618"/>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4" name="Rectángulo 3"/>
          <p:cNvSpPr/>
          <p:nvPr/>
        </p:nvSpPr>
        <p:spPr>
          <a:xfrm>
            <a:off x="179512" y="6336479"/>
            <a:ext cx="8909535" cy="276999"/>
          </a:xfrm>
          <a:prstGeom prst="rect">
            <a:avLst/>
          </a:prstGeom>
        </p:spPr>
        <p:txBody>
          <a:bodyPr>
            <a:spAutoFit/>
          </a:bodyPr>
          <a:lstStyle/>
          <a:p>
            <a:pPr algn="ctr"/>
            <a:r>
              <a:rPr lang="en-US" sz="1200" dirty="0"/>
              <a:t>https://learn.mikroe.com/ebooks/piccprogramming/chapter/introduction-to-the-world-of-microcontrollers/</a:t>
            </a:r>
          </a:p>
        </p:txBody>
      </p:sp>
      <p:sp>
        <p:nvSpPr>
          <p:cNvPr id="5" name="Rectángulo 4"/>
          <p:cNvSpPr/>
          <p:nvPr/>
        </p:nvSpPr>
        <p:spPr>
          <a:xfrm>
            <a:off x="3248697" y="2246628"/>
            <a:ext cx="2448272" cy="1742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p:cNvSpPr/>
          <p:nvPr/>
        </p:nvSpPr>
        <p:spPr>
          <a:xfrm>
            <a:off x="5361208" y="3896422"/>
            <a:ext cx="2091112" cy="369515"/>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p:cNvSpPr/>
          <p:nvPr/>
        </p:nvSpPr>
        <p:spPr>
          <a:xfrm>
            <a:off x="3131840" y="4548699"/>
            <a:ext cx="1345484" cy="1119129"/>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p:cNvSpPr/>
          <p:nvPr/>
        </p:nvSpPr>
        <p:spPr>
          <a:xfrm>
            <a:off x="1667613" y="5636285"/>
            <a:ext cx="1824267" cy="57429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p:cNvSpPr/>
          <p:nvPr/>
        </p:nvSpPr>
        <p:spPr>
          <a:xfrm>
            <a:off x="4689273" y="5252851"/>
            <a:ext cx="1517532" cy="957723"/>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ángulo 12"/>
          <p:cNvSpPr/>
          <p:nvPr/>
        </p:nvSpPr>
        <p:spPr>
          <a:xfrm>
            <a:off x="4704723" y="5686534"/>
            <a:ext cx="1595470" cy="57429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2 Subtítulo"/>
          <p:cNvSpPr txBox="1">
            <a:spLocks/>
          </p:cNvSpPr>
          <p:nvPr/>
        </p:nvSpPr>
        <p:spPr>
          <a:xfrm>
            <a:off x="3005514" y="4509120"/>
            <a:ext cx="1597268"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smtClean="0"/>
              <a:t>Examine la disponibilidad de </a:t>
            </a:r>
            <a:r>
              <a:rPr lang="es-CO" sz="1000" dirty="0" err="1" smtClean="0"/>
              <a:t>microcontroladores</a:t>
            </a:r>
            <a:r>
              <a:rPr lang="es-CO" sz="1000" dirty="0" smtClean="0"/>
              <a:t> y de sus periféricos (número de entradas/salidas, temporizadores, conversores AD…).</a:t>
            </a:r>
            <a:endParaRPr lang="es-CO" sz="1000" dirty="0"/>
          </a:p>
        </p:txBody>
      </p:sp>
      <p:sp>
        <p:nvSpPr>
          <p:cNvPr id="15" name="2 Subtítulo"/>
          <p:cNvSpPr txBox="1">
            <a:spLocks/>
          </p:cNvSpPr>
          <p:nvPr/>
        </p:nvSpPr>
        <p:spPr>
          <a:xfrm>
            <a:off x="1749871" y="3694137"/>
            <a:ext cx="1452062" cy="841726"/>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smtClean="0"/>
              <a:t>Deje comida para sus mascotas y prepárese suficientes </a:t>
            </a:r>
            <a:r>
              <a:rPr lang="es-CO" sz="1000" dirty="0" err="1" smtClean="0"/>
              <a:t>sanduches</a:t>
            </a:r>
            <a:r>
              <a:rPr lang="es-CO" sz="1000" dirty="0" smtClean="0"/>
              <a:t>.</a:t>
            </a:r>
            <a:endParaRPr lang="es-CO" sz="1000" dirty="0"/>
          </a:p>
        </p:txBody>
      </p:sp>
      <p:sp>
        <p:nvSpPr>
          <p:cNvPr id="16" name="2 Subtítulo"/>
          <p:cNvSpPr txBox="1">
            <a:spLocks/>
          </p:cNvSpPr>
          <p:nvPr/>
        </p:nvSpPr>
        <p:spPr>
          <a:xfrm>
            <a:off x="5364088" y="3817964"/>
            <a:ext cx="2043554" cy="475132"/>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smtClean="0"/>
              <a:t>Estudie el sistema que va a manejar el microcontrolador.</a:t>
            </a:r>
            <a:endParaRPr lang="es-CO" sz="1000" dirty="0"/>
          </a:p>
        </p:txBody>
      </p:sp>
      <p:sp>
        <p:nvSpPr>
          <p:cNvPr id="17" name="2 Subtítulo"/>
          <p:cNvSpPr txBox="1">
            <a:spLocks/>
          </p:cNvSpPr>
          <p:nvPr/>
        </p:nvSpPr>
        <p:spPr>
          <a:xfrm>
            <a:off x="1702965" y="5697460"/>
            <a:ext cx="1756995"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smtClean="0"/>
              <a:t>Elija el que pueda cumplir con todos los requisitos del sistema deseado.</a:t>
            </a:r>
            <a:endParaRPr lang="es-CO" sz="1000" dirty="0"/>
          </a:p>
        </p:txBody>
      </p:sp>
      <p:sp>
        <p:nvSpPr>
          <p:cNvPr id="18" name="2 Subtítulo"/>
          <p:cNvSpPr txBox="1">
            <a:spLocks/>
          </p:cNvSpPr>
          <p:nvPr/>
        </p:nvSpPr>
        <p:spPr>
          <a:xfrm>
            <a:off x="3067500" y="2762339"/>
            <a:ext cx="1452062"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smtClean="0"/>
              <a:t>Diga adiós a su familia y amigos.</a:t>
            </a:r>
            <a:endParaRPr lang="es-CO" sz="1000" dirty="0"/>
          </a:p>
        </p:txBody>
      </p:sp>
      <p:sp>
        <p:nvSpPr>
          <p:cNvPr id="19" name="2 Subtítulo"/>
          <p:cNvSpPr txBox="1">
            <a:spLocks/>
          </p:cNvSpPr>
          <p:nvPr/>
        </p:nvSpPr>
        <p:spPr>
          <a:xfrm>
            <a:off x="4615206" y="5157192"/>
            <a:ext cx="1829002"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smtClean="0"/>
              <a:t>Diseñe </a:t>
            </a:r>
            <a:r>
              <a:rPr lang="es-ES" sz="1000" dirty="0"/>
              <a:t>y si es posible construya un prototipo que será manejado por el microcontrolador incluyendo a los dispositivos periféricos que se utilizarán en la aplicación real.</a:t>
            </a:r>
            <a:endParaRPr lang="es-CO" sz="1000" dirty="0"/>
          </a:p>
        </p:txBody>
      </p:sp>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962" y="2150962"/>
            <a:ext cx="6336593" cy="4153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.2</a:t>
            </a:r>
            <a:r>
              <a:rPr lang="es-ES" sz="4000" dirty="0" smtClean="0"/>
              <a:t>. </a:t>
            </a:r>
            <a:r>
              <a:rPr lang="es-CO" sz="4000" dirty="0"/>
              <a:t>Procedimiento para hacer funcionar un </a:t>
            </a:r>
            <a:r>
              <a:rPr lang="es-CO" sz="4000" dirty="0" err="1" smtClean="0"/>
              <a:t>microcontrolador</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Rectángulo 4"/>
          <p:cNvSpPr/>
          <p:nvPr/>
        </p:nvSpPr>
        <p:spPr>
          <a:xfrm>
            <a:off x="179512" y="6336479"/>
            <a:ext cx="8909535" cy="276999"/>
          </a:xfrm>
          <a:prstGeom prst="rect">
            <a:avLst/>
          </a:prstGeom>
        </p:spPr>
        <p:txBody>
          <a:bodyPr>
            <a:spAutoFit/>
          </a:bodyPr>
          <a:lstStyle/>
          <a:p>
            <a:pPr algn="ctr"/>
            <a:r>
              <a:rPr lang="en-US" sz="1200" dirty="0"/>
              <a:t>https://learn.mikroe.com/ebooks/piccprogramming/chapter/introduction-to-the-world-of-microcontrollers/</a:t>
            </a:r>
          </a:p>
        </p:txBody>
      </p:sp>
      <p:sp>
        <p:nvSpPr>
          <p:cNvPr id="6" name="Rectángulo 5"/>
          <p:cNvSpPr/>
          <p:nvPr/>
        </p:nvSpPr>
        <p:spPr>
          <a:xfrm>
            <a:off x="2987824" y="2276872"/>
            <a:ext cx="1428258" cy="180020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p:cNvSpPr/>
          <p:nvPr/>
        </p:nvSpPr>
        <p:spPr>
          <a:xfrm>
            <a:off x="1829744" y="4398562"/>
            <a:ext cx="2166191" cy="542606"/>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p:cNvSpPr/>
          <p:nvPr/>
        </p:nvSpPr>
        <p:spPr>
          <a:xfrm>
            <a:off x="4657843" y="4354868"/>
            <a:ext cx="2650461" cy="542606"/>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p:cNvSpPr/>
          <p:nvPr/>
        </p:nvSpPr>
        <p:spPr>
          <a:xfrm>
            <a:off x="4657843" y="3123278"/>
            <a:ext cx="2146405" cy="984112"/>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p:cNvSpPr/>
          <p:nvPr/>
        </p:nvSpPr>
        <p:spPr>
          <a:xfrm>
            <a:off x="5025390" y="3156239"/>
            <a:ext cx="2146405" cy="459095"/>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p:cNvSpPr/>
          <p:nvPr/>
        </p:nvSpPr>
        <p:spPr>
          <a:xfrm>
            <a:off x="4899604" y="3320731"/>
            <a:ext cx="2146405" cy="459095"/>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2 Subtítulo"/>
          <p:cNvSpPr txBox="1">
            <a:spLocks/>
          </p:cNvSpPr>
          <p:nvPr/>
        </p:nvSpPr>
        <p:spPr>
          <a:xfrm>
            <a:off x="2923671" y="2232023"/>
            <a:ext cx="1597268"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t>Utilice un PC y alguno de los lenguajes de programación de alto nivel disponibles para escribir un programa que se ejecutará en el microcontrolador. También utilice un programa de simulación del entorno real en el que se desempeñará el sistema.</a:t>
            </a:r>
            <a:endParaRPr lang="es-CO" sz="1000" dirty="0"/>
          </a:p>
        </p:txBody>
      </p:sp>
      <p:sp>
        <p:nvSpPr>
          <p:cNvPr id="14" name="2 Subtítulo"/>
          <p:cNvSpPr txBox="1">
            <a:spLocks/>
          </p:cNvSpPr>
          <p:nvPr/>
        </p:nvSpPr>
        <p:spPr>
          <a:xfrm>
            <a:off x="4592120" y="3027988"/>
            <a:ext cx="2356144"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t>Al presionar el botón </a:t>
            </a:r>
            <a:r>
              <a:rPr lang="es-ES" sz="1000" dirty="0" smtClean="0"/>
              <a:t>adecuado </a:t>
            </a:r>
            <a:r>
              <a:rPr lang="es-ES" sz="1000" dirty="0"/>
              <a:t>se convierte </a:t>
            </a:r>
            <a:r>
              <a:rPr lang="es-ES" sz="1000" dirty="0" smtClean="0"/>
              <a:t>el </a:t>
            </a:r>
            <a:r>
              <a:rPr lang="es-ES" sz="1000" dirty="0"/>
              <a:t>código escrito </a:t>
            </a:r>
            <a:r>
              <a:rPr lang="es-ES" sz="1000" dirty="0" smtClean="0"/>
              <a:t>en un lenguaje de alto nivel, en </a:t>
            </a:r>
            <a:r>
              <a:rPr lang="es-ES" sz="1000" dirty="0"/>
              <a:t>código de máquina entendible por el microcontrolador. Use un programador para escribir este código en la memoria del microcontrolador.</a:t>
            </a:r>
            <a:endParaRPr lang="es-CO" sz="1000" dirty="0"/>
          </a:p>
        </p:txBody>
      </p:sp>
      <p:sp>
        <p:nvSpPr>
          <p:cNvPr id="7" name="Rectángulo 6"/>
          <p:cNvSpPr/>
          <p:nvPr/>
        </p:nvSpPr>
        <p:spPr>
          <a:xfrm>
            <a:off x="1475656" y="4365104"/>
            <a:ext cx="1872208" cy="864096"/>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2 Subtítulo"/>
          <p:cNvSpPr txBox="1">
            <a:spLocks/>
          </p:cNvSpPr>
          <p:nvPr/>
        </p:nvSpPr>
        <p:spPr>
          <a:xfrm>
            <a:off x="1474046" y="4353328"/>
            <a:ext cx="2942035"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t>E</a:t>
            </a:r>
            <a:r>
              <a:rPr lang="es-ES" sz="1000" dirty="0" smtClean="0"/>
              <a:t>s </a:t>
            </a:r>
            <a:r>
              <a:rPr lang="es-ES" sz="1000" dirty="0"/>
              <a:t>hora de que el microcontrolador empiece su vida productiva. </a:t>
            </a:r>
            <a:r>
              <a:rPr lang="es-ES" sz="1000" dirty="0" smtClean="0"/>
              <a:t>Desconecte el micro del programador y ubíquelo en el sistema que acaba de construir. Respire </a:t>
            </a:r>
            <a:r>
              <a:rPr lang="es-ES" sz="1000" dirty="0"/>
              <a:t>profundamente y </a:t>
            </a:r>
            <a:r>
              <a:rPr lang="es-ES" sz="1000" dirty="0" smtClean="0"/>
              <a:t>enciéndalo.</a:t>
            </a:r>
            <a:endParaRPr lang="es-ES" sz="1000" dirty="0"/>
          </a:p>
        </p:txBody>
      </p:sp>
      <p:sp>
        <p:nvSpPr>
          <p:cNvPr id="17" name="2 Subtítulo"/>
          <p:cNvSpPr txBox="1">
            <a:spLocks/>
          </p:cNvSpPr>
          <p:nvPr/>
        </p:nvSpPr>
        <p:spPr>
          <a:xfrm>
            <a:off x="4963101" y="4437528"/>
            <a:ext cx="2431435"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smtClean="0"/>
              <a:t>Eso es todo! Disfrute su éxito y empiece a pensar en nuevos proyectos.</a:t>
            </a:r>
            <a:endParaRPr lang="es-ES" sz="1000" dirty="0"/>
          </a:p>
        </p:txBody>
      </p:sp>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.3</a:t>
            </a:r>
            <a:r>
              <a:rPr lang="es-ES" sz="4000" dirty="0" smtClean="0"/>
              <a:t>. Estructura de un </a:t>
            </a:r>
            <a:r>
              <a:rPr lang="es-ES" sz="4000" dirty="0" err="1" smtClean="0"/>
              <a:t>microcontrolador</a:t>
            </a:r>
            <a:r>
              <a:rPr lang="es-ES" sz="4000" dirty="0" smtClean="0"/>
              <a:t>.</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984" y="2225681"/>
            <a:ext cx="5530320" cy="4065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ángulo 2"/>
          <p:cNvSpPr/>
          <p:nvPr/>
        </p:nvSpPr>
        <p:spPr>
          <a:xfrm>
            <a:off x="899592" y="6309320"/>
            <a:ext cx="7363252" cy="276999"/>
          </a:xfrm>
          <a:prstGeom prst="rect">
            <a:avLst/>
          </a:prstGeom>
        </p:spPr>
        <p:txBody>
          <a:bodyPr>
            <a:spAutoFit/>
          </a:bodyPr>
          <a:lstStyle/>
          <a:p>
            <a:pPr algn="ctr"/>
            <a:r>
              <a:rPr lang="en-US" sz="1200" dirty="0"/>
              <a:t>https://learn.mikroe.com/ebooks/picbasicprogramming/chapter/introduction/</a:t>
            </a:r>
          </a:p>
        </p:txBody>
      </p:sp>
    </p:spTree>
    <p:extLst>
      <p:ext uri="{BB962C8B-B14F-4D97-AF65-F5344CB8AC3E}">
        <p14:creationId xmlns:p14="http://schemas.microsoft.com/office/powerpoint/2010/main" val="2729771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.4</a:t>
            </a:r>
            <a:r>
              <a:rPr lang="es-ES" sz="4000" dirty="0" smtClean="0"/>
              <a:t>. CPU del </a:t>
            </a:r>
            <a:r>
              <a:rPr lang="es-ES" sz="4000" dirty="0" err="1" smtClean="0"/>
              <a:t>microcontrolador</a:t>
            </a:r>
            <a:r>
              <a:rPr lang="es-ES" sz="4000" dirty="0" smtClean="0"/>
              <a:t>.</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683568" y="2132856"/>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smtClean="0"/>
              <a:t>«Cerebro»</a:t>
            </a:r>
          </a:p>
          <a:p>
            <a:pPr marL="0" indent="0" algn="ctr">
              <a:buNone/>
            </a:pPr>
            <a:r>
              <a:rPr lang="es-CO" sz="3000" b="1" i="1" dirty="0" smtClean="0"/>
              <a:t>Unidad Central de Procesamiento CPU</a:t>
            </a:r>
            <a:endParaRPr lang="es-CO" sz="3000" b="1" i="1" dirty="0"/>
          </a:p>
        </p:txBody>
      </p:sp>
      <p:pic>
        <p:nvPicPr>
          <p:cNvPr id="1026" name="Picture 2" descr="Resultado de imagen para cpu microcontrol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212976"/>
            <a:ext cx="3746653" cy="3142356"/>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redondeado 2"/>
          <p:cNvSpPr/>
          <p:nvPr/>
        </p:nvSpPr>
        <p:spPr>
          <a:xfrm>
            <a:off x="2231948" y="3977905"/>
            <a:ext cx="2975052" cy="165618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p:cNvSpPr/>
          <p:nvPr/>
        </p:nvSpPr>
        <p:spPr>
          <a:xfrm>
            <a:off x="650171" y="6373333"/>
            <a:ext cx="7181426" cy="276999"/>
          </a:xfrm>
          <a:prstGeom prst="rect">
            <a:avLst/>
          </a:prstGeom>
        </p:spPr>
        <p:txBody>
          <a:bodyPr wrap="square">
            <a:spAutoFit/>
          </a:bodyPr>
          <a:lstStyle/>
          <a:p>
            <a:pPr algn="ctr"/>
            <a:r>
              <a:rPr lang="en-US" sz="1200" dirty="0"/>
              <a:t>http://www.break-ic.com/microprocessor-read/How_to_choose_a_MicroController.htm</a:t>
            </a:r>
          </a:p>
        </p:txBody>
      </p:sp>
    </p:spTree>
    <p:extLst>
      <p:ext uri="{BB962C8B-B14F-4D97-AF65-F5344CB8AC3E}">
        <p14:creationId xmlns:p14="http://schemas.microsoft.com/office/powerpoint/2010/main" val="36023558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.5</a:t>
            </a:r>
            <a:r>
              <a:rPr lang="es-ES" sz="4000" dirty="0" smtClean="0"/>
              <a:t>. Registros.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683568" y="2138731"/>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600" b="1" i="1" dirty="0" smtClean="0"/>
              <a:t>«Configuración del micro»</a:t>
            </a:r>
          </a:p>
          <a:p>
            <a:pPr marL="0" indent="0" algn="ctr">
              <a:buNone/>
            </a:pPr>
            <a:r>
              <a:rPr lang="es-CO" sz="2600" b="1" i="1" dirty="0" smtClean="0"/>
              <a:t>Registros SFR (</a:t>
            </a:r>
            <a:r>
              <a:rPr lang="es-CO" sz="2600" b="1" i="1" dirty="0" err="1" smtClean="0"/>
              <a:t>Special</a:t>
            </a:r>
            <a:r>
              <a:rPr lang="es-CO" sz="2600" b="1" i="1" dirty="0" smtClean="0"/>
              <a:t> </a:t>
            </a:r>
            <a:r>
              <a:rPr lang="es-CO" sz="2600" b="1" i="1" dirty="0" err="1" smtClean="0"/>
              <a:t>Function</a:t>
            </a:r>
            <a:r>
              <a:rPr lang="es-CO" sz="2600" b="1" i="1" dirty="0" smtClean="0"/>
              <a:t> </a:t>
            </a:r>
            <a:r>
              <a:rPr lang="es-CO" sz="2600" b="1" i="1" dirty="0" err="1" smtClean="0"/>
              <a:t>Registers</a:t>
            </a:r>
            <a:r>
              <a:rPr lang="es-CO" sz="2600" b="1" i="1" dirty="0" smtClean="0"/>
              <a:t>)</a:t>
            </a:r>
            <a:endParaRPr lang="es-CO" sz="2600" b="1" i="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13" y="3420469"/>
            <a:ext cx="4555648" cy="2173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988" y="3271614"/>
            <a:ext cx="400050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ángulo 2"/>
          <p:cNvSpPr/>
          <p:nvPr/>
        </p:nvSpPr>
        <p:spPr>
          <a:xfrm>
            <a:off x="1473475" y="5822029"/>
            <a:ext cx="6217399" cy="461665"/>
          </a:xfrm>
          <a:prstGeom prst="rect">
            <a:avLst/>
          </a:prstGeom>
        </p:spPr>
        <p:txBody>
          <a:bodyPr wrap="square">
            <a:spAutoFit/>
          </a:bodyPr>
          <a:lstStyle/>
          <a:p>
            <a:pPr algn="ctr"/>
            <a:r>
              <a:rPr lang="en-US" sz="1200" dirty="0"/>
              <a:t>https://learn.mikroe.com/ebooks/picmicrocontrollersprogramminginassembly/front-matter/introduction-to-the-world-of-microcontrollers/</a:t>
            </a:r>
          </a:p>
        </p:txBody>
      </p:sp>
    </p:spTree>
    <p:extLst>
      <p:ext uri="{BB962C8B-B14F-4D97-AF65-F5344CB8AC3E}">
        <p14:creationId xmlns:p14="http://schemas.microsoft.com/office/powerpoint/2010/main" val="21633226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.6</a:t>
            </a:r>
            <a:r>
              <a:rPr lang="es-ES" sz="4000" dirty="0" smtClean="0"/>
              <a:t>. Puertos.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752420" y="2132856"/>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smtClean="0"/>
              <a:t>Comunicación con el mundo exterior</a:t>
            </a:r>
            <a:endParaRPr lang="es-CO" sz="3000" b="1" i="1" dirty="0"/>
          </a:p>
        </p:txBody>
      </p:sp>
      <p:pic>
        <p:nvPicPr>
          <p:cNvPr id="2050" name="Picture 2" descr="Resultado de imagen para ports  microcontrol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8119" y="2780928"/>
            <a:ext cx="4228706" cy="3578136"/>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p:cNvSpPr/>
          <p:nvPr/>
        </p:nvSpPr>
        <p:spPr>
          <a:xfrm>
            <a:off x="3370344" y="6359064"/>
            <a:ext cx="2497800" cy="276999"/>
          </a:xfrm>
          <a:prstGeom prst="rect">
            <a:avLst/>
          </a:prstGeom>
        </p:spPr>
        <p:txBody>
          <a:bodyPr wrap="none">
            <a:spAutoFit/>
          </a:bodyPr>
          <a:lstStyle/>
          <a:p>
            <a:r>
              <a:rPr lang="en-US" sz="1200" dirty="0"/>
              <a:t>http://trains4africa.co.za/?p=697</a:t>
            </a:r>
          </a:p>
        </p:txBody>
      </p:sp>
    </p:spTree>
    <p:extLst>
      <p:ext uri="{BB962C8B-B14F-4D97-AF65-F5344CB8AC3E}">
        <p14:creationId xmlns:p14="http://schemas.microsoft.com/office/powerpoint/2010/main" val="29821933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.7</a:t>
            </a:r>
            <a:r>
              <a:rPr lang="es-ES" sz="4000" dirty="0" smtClean="0"/>
              <a:t>. Memorias.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4334322" y="2708920"/>
            <a:ext cx="4608512"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smtClean="0"/>
              <a:t>Memorias en el Micro:</a:t>
            </a:r>
            <a:endParaRPr lang="es-CO" sz="3000" b="1" i="1"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564904"/>
            <a:ext cx="3476188" cy="3496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2 Subtítulo"/>
          <p:cNvSpPr txBox="1">
            <a:spLocks/>
          </p:cNvSpPr>
          <p:nvPr/>
        </p:nvSpPr>
        <p:spPr>
          <a:xfrm>
            <a:off x="4357554" y="3751762"/>
            <a:ext cx="4462918"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200" b="1" i="1" dirty="0" smtClean="0"/>
              <a:t>Memoria ROM (Flash)</a:t>
            </a:r>
          </a:p>
          <a:p>
            <a:pPr marL="0" indent="0" algn="ctr">
              <a:buNone/>
            </a:pPr>
            <a:r>
              <a:rPr lang="es-CO" sz="2200" b="1" i="1" dirty="0" smtClean="0"/>
              <a:t>Memoria RAM</a:t>
            </a:r>
          </a:p>
          <a:p>
            <a:pPr marL="0" indent="0" algn="ctr">
              <a:buNone/>
            </a:pPr>
            <a:r>
              <a:rPr lang="es-CO" sz="2200" b="1" i="1" dirty="0" smtClean="0"/>
              <a:t>Memoria EEPROM</a:t>
            </a:r>
            <a:endParaRPr lang="es-CO" sz="2200" b="1" i="1" dirty="0"/>
          </a:p>
        </p:txBody>
      </p:sp>
      <p:sp>
        <p:nvSpPr>
          <p:cNvPr id="8" name="Rectángulo 7"/>
          <p:cNvSpPr/>
          <p:nvPr/>
        </p:nvSpPr>
        <p:spPr>
          <a:xfrm>
            <a:off x="632932" y="6104329"/>
            <a:ext cx="3435012" cy="276999"/>
          </a:xfrm>
          <a:prstGeom prst="rect">
            <a:avLst/>
          </a:prstGeom>
        </p:spPr>
        <p:txBody>
          <a:bodyPr>
            <a:spAutoFit/>
          </a:bodyPr>
          <a:lstStyle/>
          <a:p>
            <a:pPr algn="ctr"/>
            <a:r>
              <a:rPr lang="en-US" sz="1200" dirty="0"/>
              <a:t>https://learn.mikroe.com/ebooks/picbasicprogramming/chapter/introduction/</a:t>
            </a:r>
          </a:p>
        </p:txBody>
      </p:sp>
    </p:spTree>
    <p:extLst>
      <p:ext uri="{BB962C8B-B14F-4D97-AF65-F5344CB8AC3E}">
        <p14:creationId xmlns:p14="http://schemas.microsoft.com/office/powerpoint/2010/main" val="3820620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.8</a:t>
            </a:r>
            <a:r>
              <a:rPr lang="es-ES" sz="4000" dirty="0" smtClean="0"/>
              <a:t>. Osciladores.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683568" y="2078213"/>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smtClean="0"/>
              <a:t>Determinan la velocidad a la que funciona el </a:t>
            </a:r>
            <a:r>
              <a:rPr lang="es-CO" sz="3000" b="1" i="1" dirty="0" err="1" smtClean="0"/>
              <a:t>microcontrolador</a:t>
            </a:r>
            <a:endParaRPr lang="es-CO" sz="3000" b="1" i="1" dirty="0"/>
          </a:p>
        </p:txBody>
      </p:sp>
      <p:sp>
        <p:nvSpPr>
          <p:cNvPr id="3" name="Rectángulo 2"/>
          <p:cNvSpPr/>
          <p:nvPr/>
        </p:nvSpPr>
        <p:spPr>
          <a:xfrm>
            <a:off x="1438996" y="6309320"/>
            <a:ext cx="6085332" cy="276999"/>
          </a:xfrm>
          <a:prstGeom prst="rect">
            <a:avLst/>
          </a:prstGeom>
        </p:spPr>
        <p:txBody>
          <a:bodyPr>
            <a:spAutoFit/>
          </a:bodyPr>
          <a:lstStyle/>
          <a:p>
            <a:pPr algn="ctr"/>
            <a:r>
              <a:rPr lang="en-US" sz="1200" dirty="0"/>
              <a:t>http://kdelectronics.blogspot.com.co/2013/03/using-crystal-resonator-with.html</a:t>
            </a:r>
          </a:p>
        </p:txBody>
      </p:sp>
      <p:pic>
        <p:nvPicPr>
          <p:cNvPr id="3074" name="Picture 2" descr="Resultado de imagen para Oscillator microcontroll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708" y="3140968"/>
            <a:ext cx="5338580" cy="3091511"/>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5580112" y="4797152"/>
            <a:ext cx="1440160" cy="129614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p:cNvSpPr/>
          <p:nvPr/>
        </p:nvSpPr>
        <p:spPr>
          <a:xfrm>
            <a:off x="5533915" y="4689348"/>
            <a:ext cx="1515932" cy="1446550"/>
          </a:xfrm>
          <a:prstGeom prst="rect">
            <a:avLst/>
          </a:prstGeom>
        </p:spPr>
        <p:txBody>
          <a:bodyPr>
            <a:spAutoFit/>
          </a:bodyPr>
          <a:lstStyle/>
          <a:p>
            <a:pPr algn="ctr"/>
            <a:r>
              <a:rPr lang="es-CO" sz="1100" dirty="0" smtClean="0"/>
              <a:t>Este es el circuito que debe agregarse al microcontrolador: un cristal resonador y dos capacitores cerámicos. El resto del circuito está adentro del micro.</a:t>
            </a:r>
            <a:endParaRPr lang="es-CO" sz="1100" dirty="0"/>
          </a:p>
        </p:txBody>
      </p:sp>
    </p:spTree>
    <p:extLst>
      <p:ext uri="{BB962C8B-B14F-4D97-AF65-F5344CB8AC3E}">
        <p14:creationId xmlns:p14="http://schemas.microsoft.com/office/powerpoint/2010/main" val="4035471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5</a:t>
            </a:r>
            <a:r>
              <a:rPr lang="es-ES" sz="4000" dirty="0" smtClean="0"/>
              <a:t>.10</a:t>
            </a:r>
            <a:r>
              <a:rPr lang="es-ES" sz="4000" dirty="0" smtClean="0"/>
              <a:t>. </a:t>
            </a:r>
            <a:r>
              <a:rPr lang="es-CO" sz="4000" dirty="0"/>
              <a:t>Tipos de </a:t>
            </a:r>
            <a:r>
              <a:rPr lang="es-CO" sz="4000" dirty="0" err="1" smtClean="0"/>
              <a:t>microntroladores</a:t>
            </a:r>
            <a:r>
              <a:rPr lang="es-ES" sz="4000" dirty="0" smtClean="0"/>
              <a:t>.</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683568" y="2132856"/>
            <a:ext cx="7636004" cy="401508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b="1" i="1" dirty="0" smtClean="0"/>
              <a:t>Algunos son:</a:t>
            </a:r>
          </a:p>
          <a:p>
            <a:pPr marL="0" indent="0">
              <a:buNone/>
            </a:pPr>
            <a:endParaRPr lang="es-CO" sz="2000" b="1" i="1" dirty="0" smtClean="0"/>
          </a:p>
          <a:p>
            <a:pPr marL="0" indent="0">
              <a:buNone/>
            </a:pPr>
            <a:r>
              <a:rPr lang="es-CO" sz="2000" b="1" i="1" dirty="0"/>
              <a:t> </a:t>
            </a:r>
            <a:r>
              <a:rPr lang="es-CO" sz="2000" b="1" i="1" dirty="0" smtClean="0"/>
              <a:t>   * </a:t>
            </a:r>
            <a:r>
              <a:rPr lang="es-CO" sz="2000" b="1" i="1" dirty="0"/>
              <a:t>Intel </a:t>
            </a:r>
            <a:r>
              <a:rPr lang="es-CO" sz="2000" b="1" i="1" dirty="0" smtClean="0"/>
              <a:t>8051</a:t>
            </a:r>
          </a:p>
          <a:p>
            <a:pPr marL="0" indent="0">
              <a:buNone/>
            </a:pPr>
            <a:r>
              <a:rPr lang="es-CO" sz="2000" b="1" i="1" dirty="0" smtClean="0"/>
              <a:t>    * PIC </a:t>
            </a:r>
            <a:r>
              <a:rPr lang="es-CO" sz="2000" b="1" i="1" dirty="0"/>
              <a:t>(8-bit PIC16, PIC18, 16-bit dsPIC33 / PIC24)</a:t>
            </a:r>
          </a:p>
          <a:p>
            <a:pPr marL="0" indent="0">
              <a:buNone/>
            </a:pPr>
            <a:r>
              <a:rPr lang="es-CO" sz="2000" b="1" i="1" dirty="0"/>
              <a:t>    * </a:t>
            </a:r>
            <a:r>
              <a:rPr lang="es-CO" sz="2000" b="1" i="1" dirty="0" err="1"/>
              <a:t>Silicon</a:t>
            </a:r>
            <a:r>
              <a:rPr lang="es-CO" sz="2000" b="1" i="1" dirty="0"/>
              <a:t> </a:t>
            </a:r>
            <a:r>
              <a:rPr lang="es-CO" sz="2000" b="1" i="1" dirty="0" err="1"/>
              <a:t>Laboratories</a:t>
            </a:r>
            <a:r>
              <a:rPr lang="es-CO" sz="2000" b="1" i="1" dirty="0"/>
              <a:t> </a:t>
            </a:r>
            <a:r>
              <a:rPr lang="es-CO" sz="2000" b="1" i="1" dirty="0" err="1"/>
              <a:t>Pipelined</a:t>
            </a:r>
            <a:r>
              <a:rPr lang="es-CO" sz="2000" b="1" i="1" dirty="0"/>
              <a:t> 8051 </a:t>
            </a:r>
            <a:r>
              <a:rPr lang="es-CO" sz="2000" b="1" i="1" dirty="0" err="1"/>
              <a:t>Microcontrollers</a:t>
            </a:r>
            <a:endParaRPr lang="es-CO" sz="2000" b="1" i="1" dirty="0"/>
          </a:p>
          <a:p>
            <a:pPr marL="0" indent="0">
              <a:buNone/>
            </a:pPr>
            <a:r>
              <a:rPr lang="es-CO" sz="2000" b="1" i="1" dirty="0" smtClean="0"/>
              <a:t>    * </a:t>
            </a:r>
            <a:r>
              <a:rPr lang="es-CO" sz="2000" b="1" i="1" dirty="0" err="1"/>
              <a:t>Atmel</a:t>
            </a:r>
            <a:r>
              <a:rPr lang="es-CO" sz="2000" b="1" i="1" dirty="0"/>
              <a:t> AVR (8-bit), AVR32 (32-bit), and AT91SAM (32-bit)</a:t>
            </a:r>
          </a:p>
          <a:p>
            <a:pPr marL="0" indent="0">
              <a:buNone/>
            </a:pPr>
            <a:r>
              <a:rPr lang="es-CO" sz="2000" b="1" i="1" dirty="0" smtClean="0"/>
              <a:t>    * Hitachi H8, Hitachi </a:t>
            </a:r>
            <a:r>
              <a:rPr lang="es-CO" sz="2000" b="1" i="1" dirty="0" err="1" smtClean="0"/>
              <a:t>SuperH</a:t>
            </a:r>
            <a:r>
              <a:rPr lang="es-CO" sz="2000" b="1" i="1" dirty="0" smtClean="0"/>
              <a:t> (32-bit)</a:t>
            </a:r>
            <a:endParaRPr lang="es-CO" sz="2000" b="1" i="1" dirty="0"/>
          </a:p>
          <a:p>
            <a:pPr marL="0" indent="0">
              <a:buNone/>
            </a:pPr>
            <a:r>
              <a:rPr lang="es-CO" sz="2000" b="1" i="1" dirty="0" smtClean="0"/>
              <a:t>    * </a:t>
            </a:r>
            <a:r>
              <a:rPr lang="en-US" sz="2000" b="1" i="1" dirty="0" err="1"/>
              <a:t>Freescale</a:t>
            </a:r>
            <a:r>
              <a:rPr lang="en-US" sz="2000" b="1" i="1" dirty="0"/>
              <a:t> </a:t>
            </a:r>
            <a:r>
              <a:rPr lang="en-US" sz="2000" b="1" i="1" dirty="0" err="1"/>
              <a:t>ColdFire</a:t>
            </a:r>
            <a:r>
              <a:rPr lang="en-US" sz="2000" b="1" i="1" dirty="0"/>
              <a:t> (32-bit) and S08 (8-bit</a:t>
            </a:r>
            <a:r>
              <a:rPr lang="en-US" sz="2000" b="1" i="1" dirty="0" smtClean="0"/>
              <a:t>)</a:t>
            </a:r>
          </a:p>
          <a:p>
            <a:pPr marL="0" indent="0">
              <a:buNone/>
            </a:pPr>
            <a:r>
              <a:rPr lang="es-CO" sz="2000" b="1" i="1" dirty="0" smtClean="0"/>
              <a:t>    * </a:t>
            </a:r>
            <a:r>
              <a:rPr lang="es-CO" sz="2000" b="1" i="1" dirty="0"/>
              <a:t>Toshiba TLCS-870 (8-bit/16-bit)</a:t>
            </a:r>
          </a:p>
          <a:p>
            <a:pPr marL="0" indent="0">
              <a:buNone/>
            </a:pPr>
            <a:r>
              <a:rPr lang="es-CO" sz="2000" b="1" i="1" dirty="0" smtClean="0"/>
              <a:t>    </a:t>
            </a:r>
            <a:r>
              <a:rPr lang="es-CO" sz="2000" b="1" i="1" dirty="0"/>
              <a:t>* Texas Instruments </a:t>
            </a:r>
            <a:r>
              <a:rPr lang="es-CO" sz="2000" b="1" i="1" dirty="0" err="1"/>
              <a:t>Microcontrollers</a:t>
            </a:r>
            <a:r>
              <a:rPr lang="es-CO" sz="2000" b="1" i="1" dirty="0"/>
              <a:t> MSP430 (16-bit), C2000 (32-bit), and </a:t>
            </a:r>
            <a:r>
              <a:rPr lang="es-CO" sz="2000" b="1" i="1" dirty="0" err="1"/>
              <a:t>Stellaris</a:t>
            </a:r>
            <a:r>
              <a:rPr lang="es-CO" sz="2000" b="1" i="1" dirty="0"/>
              <a:t> (32-bit)</a:t>
            </a:r>
          </a:p>
          <a:p>
            <a:pPr marL="0" indent="0">
              <a:buNone/>
            </a:pPr>
            <a:r>
              <a:rPr lang="es-CO" sz="2000" b="1" i="1" dirty="0"/>
              <a:t>    </a:t>
            </a:r>
            <a:r>
              <a:rPr lang="es-CO" sz="2000" b="1" i="1" dirty="0" smtClean="0"/>
              <a:t>    </a:t>
            </a:r>
            <a:endParaRPr lang="es-CO" sz="2000" b="1" i="1" dirty="0"/>
          </a:p>
        </p:txBody>
      </p:sp>
      <p:sp>
        <p:nvSpPr>
          <p:cNvPr id="3" name="2 Elipse"/>
          <p:cNvSpPr/>
          <p:nvPr/>
        </p:nvSpPr>
        <p:spPr>
          <a:xfrm>
            <a:off x="0" y="5533775"/>
            <a:ext cx="8712968" cy="69036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8 Elipse"/>
          <p:cNvSpPr/>
          <p:nvPr/>
        </p:nvSpPr>
        <p:spPr>
          <a:xfrm>
            <a:off x="228600" y="4716163"/>
            <a:ext cx="6363816" cy="4320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9 Elipse"/>
          <p:cNvSpPr/>
          <p:nvPr/>
        </p:nvSpPr>
        <p:spPr>
          <a:xfrm>
            <a:off x="381000" y="3267619"/>
            <a:ext cx="6999312" cy="432048"/>
          </a:xfrm>
          <a:prstGeom prst="ellipse">
            <a:avLst/>
          </a:prstGeom>
          <a:noFill/>
          <a:ln w="57150">
            <a:solidFill>
              <a:srgbClr val="2819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 name="5 Conector recto de flecha"/>
          <p:cNvCxnSpPr/>
          <p:nvPr/>
        </p:nvCxnSpPr>
        <p:spPr>
          <a:xfrm flipH="1">
            <a:off x="6697960" y="4930960"/>
            <a:ext cx="682352" cy="122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2 Subtítulo"/>
          <p:cNvSpPr txBox="1">
            <a:spLocks/>
          </p:cNvSpPr>
          <p:nvPr/>
        </p:nvSpPr>
        <p:spPr>
          <a:xfrm>
            <a:off x="7335463" y="4712766"/>
            <a:ext cx="1861567" cy="436389"/>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b="1" i="1" dirty="0" smtClean="0">
                <a:solidFill>
                  <a:srgbClr val="FF0000"/>
                </a:solidFill>
              </a:rPr>
              <a:t>Más común.</a:t>
            </a:r>
            <a:endParaRPr lang="es-CO" b="1" i="1" dirty="0">
              <a:solidFill>
                <a:srgbClr val="FF0000"/>
              </a:solidFill>
            </a:endParaRPr>
          </a:p>
        </p:txBody>
      </p:sp>
      <p:cxnSp>
        <p:nvCxnSpPr>
          <p:cNvPr id="15" name="14 Conector recto de flecha"/>
          <p:cNvCxnSpPr/>
          <p:nvPr/>
        </p:nvCxnSpPr>
        <p:spPr>
          <a:xfrm flipH="1">
            <a:off x="6774160" y="2911771"/>
            <a:ext cx="792088" cy="288032"/>
          </a:xfrm>
          <a:prstGeom prst="straightConnector1">
            <a:avLst/>
          </a:prstGeom>
          <a:ln w="38100">
            <a:solidFill>
              <a:srgbClr val="281997"/>
            </a:solidFill>
            <a:tailEnd type="arrow"/>
          </a:ln>
        </p:spPr>
        <p:style>
          <a:lnRef idx="1">
            <a:schemeClr val="accent1"/>
          </a:lnRef>
          <a:fillRef idx="0">
            <a:schemeClr val="accent1"/>
          </a:fillRef>
          <a:effectRef idx="0">
            <a:schemeClr val="accent1"/>
          </a:effectRef>
          <a:fontRef idx="minor">
            <a:schemeClr val="tx1"/>
          </a:fontRef>
        </p:style>
      </p:cxnSp>
      <p:sp>
        <p:nvSpPr>
          <p:cNvPr id="17" name="2 Subtítulo"/>
          <p:cNvSpPr txBox="1">
            <a:spLocks/>
          </p:cNvSpPr>
          <p:nvPr/>
        </p:nvSpPr>
        <p:spPr>
          <a:xfrm>
            <a:off x="7596336" y="2691555"/>
            <a:ext cx="1728192" cy="508248"/>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sz="2200" b="1" i="1" dirty="0" smtClean="0">
                <a:solidFill>
                  <a:srgbClr val="281997"/>
                </a:solidFill>
              </a:rPr>
              <a:t>El nuestro!</a:t>
            </a:r>
            <a:endParaRPr lang="es-CO" sz="2200" b="1" i="1" dirty="0">
              <a:solidFill>
                <a:srgbClr val="281997"/>
              </a:solidFill>
            </a:endParaRPr>
          </a:p>
        </p:txBody>
      </p:sp>
      <p:sp>
        <p:nvSpPr>
          <p:cNvPr id="12" name="2 Subtítulo"/>
          <p:cNvSpPr txBox="1">
            <a:spLocks/>
          </p:cNvSpPr>
          <p:nvPr/>
        </p:nvSpPr>
        <p:spPr>
          <a:xfrm>
            <a:off x="5408828" y="6178883"/>
            <a:ext cx="3627668" cy="27096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b="1" i="1" dirty="0" smtClean="0">
                <a:solidFill>
                  <a:srgbClr val="FF0000"/>
                </a:solidFill>
              </a:rPr>
              <a:t>Lo tenemos en la escuela.</a:t>
            </a:r>
            <a:endParaRPr lang="es-CO" b="1" i="1" dirty="0">
              <a:solidFill>
                <a:srgbClr val="FF0000"/>
              </a:solidFill>
            </a:endParaRPr>
          </a:p>
        </p:txBody>
      </p:sp>
      <p:cxnSp>
        <p:nvCxnSpPr>
          <p:cNvPr id="13" name="5 Conector recto de flecha"/>
          <p:cNvCxnSpPr/>
          <p:nvPr/>
        </p:nvCxnSpPr>
        <p:spPr>
          <a:xfrm flipH="1" flipV="1">
            <a:off x="4925881" y="6314364"/>
            <a:ext cx="582223" cy="6696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0097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3-Sistemas Secuenciales">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3-Sistemas Secuenciales</Template>
  <TotalTime>229</TotalTime>
  <Words>602</Words>
  <Application>Microsoft Office PowerPoint</Application>
  <PresentationFormat>Presentación en pantalla (4:3)</PresentationFormat>
  <Paragraphs>81</Paragraphs>
  <Slides>11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Book Antiqua</vt:lpstr>
      <vt:lpstr>Calibri</vt:lpstr>
      <vt:lpstr>Times New Roman</vt:lpstr>
      <vt:lpstr>Wingdings</vt:lpstr>
      <vt:lpstr>3-Sistemas Secuenciales</vt:lpstr>
      <vt:lpstr>5. Microcontroladores.</vt:lpstr>
      <vt:lpstr>5.1. ¿Qué es un microcontrolador?</vt:lpstr>
      <vt:lpstr>5.2. Procedimiento para hacer funcionar un microcontrolador</vt:lpstr>
      <vt:lpstr>5.2. Procedimiento para hacer funcionar un microcontrolador</vt:lpstr>
      <vt:lpstr>5.3. Estructura de un microcontrolador.</vt:lpstr>
      <vt:lpstr>5.4. CPU del microcontrolador.</vt:lpstr>
      <vt:lpstr>5.5. Registros.</vt:lpstr>
      <vt:lpstr>5.6. Puertos.</vt:lpstr>
      <vt:lpstr>5.7. Memorias.</vt:lpstr>
      <vt:lpstr>5.8. Osciladores.</vt:lpstr>
      <vt:lpstr>5.10. Tipos de microntroladores.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Windows User</cp:lastModifiedBy>
  <cp:revision>81</cp:revision>
  <dcterms:created xsi:type="dcterms:W3CDTF">2011-02-14T00:22:22Z</dcterms:created>
  <dcterms:modified xsi:type="dcterms:W3CDTF">2017-03-01T03:54:04Z</dcterms:modified>
</cp:coreProperties>
</file>
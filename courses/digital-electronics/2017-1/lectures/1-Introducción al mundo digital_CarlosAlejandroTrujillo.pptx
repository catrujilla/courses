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30/01/2017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effectLst/>
              </a:rPr>
              <a:t>1. Introducción </a:t>
            </a:r>
            <a:r>
              <a:rPr lang="es-ES" dirty="0">
                <a:effectLst/>
              </a:rPr>
              <a:t>al mundo digital.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88534"/>
            <a:ext cx="6400800" cy="2664296"/>
          </a:xfrm>
        </p:spPr>
        <p:txBody>
          <a:bodyPr>
            <a:normAutofit/>
          </a:bodyPr>
          <a:lstStyle/>
          <a:p>
            <a:r>
              <a:rPr lang="es-ES" sz="2500" dirty="0">
                <a:effectLst/>
              </a:rPr>
              <a:t>1.1. Electrónica Digital </a:t>
            </a:r>
            <a:r>
              <a:rPr lang="es-ES" sz="2500" i="1" dirty="0">
                <a:effectLst/>
              </a:rPr>
              <a:t>vs</a:t>
            </a:r>
            <a:r>
              <a:rPr lang="es-ES" sz="2500" dirty="0">
                <a:effectLst/>
              </a:rPr>
              <a:t> Electrónica Análoga.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1.2. Sistemas binario y hexadecimal.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1.3. Conversiones de un sistema a otro.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1.4. Operaciones aritméticas básicas en binario</a:t>
            </a:r>
            <a:r>
              <a:rPr lang="es-ES" sz="2500" dirty="0" smtClean="0">
                <a:effectLst/>
              </a:rPr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107504" y="6241970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Enero 30 </a:t>
            </a:r>
            <a:r>
              <a:rPr lang="es-ES" i="1" dirty="0" smtClean="0">
                <a:effectLst/>
              </a:rPr>
              <a:t>de </a:t>
            </a:r>
            <a:r>
              <a:rPr lang="es-ES" i="1" dirty="0" smtClean="0">
                <a:effectLst/>
              </a:rPr>
              <a:t>2017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23295" y="2060848"/>
            <a:ext cx="4374372" cy="532581"/>
          </a:xfrm>
        </p:spPr>
        <p:txBody>
          <a:bodyPr>
            <a:normAutofit/>
          </a:bodyPr>
          <a:lstStyle/>
          <a:p>
            <a:r>
              <a:rPr lang="es-ES" dirty="0" smtClean="0"/>
              <a:t>Señales Análogas, Origen.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57" y="2537963"/>
            <a:ext cx="2356042" cy="137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82" y="2548017"/>
            <a:ext cx="1325478" cy="138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75" y="4792947"/>
            <a:ext cx="1502744" cy="150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810682" y="4074177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Electrónica Análoga.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5961287" y="2485325"/>
            <a:ext cx="1866422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Sensores.</a:t>
            </a:r>
            <a:endParaRPr lang="es-E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0" y="4683087"/>
            <a:ext cx="1493756" cy="172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52" y="3270037"/>
            <a:ext cx="1318929" cy="13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33542"/>
            <a:ext cx="1751660" cy="154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56" y="4869546"/>
            <a:ext cx="1440083" cy="144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2204864"/>
            <a:ext cx="7745505" cy="460573"/>
          </a:xfrm>
        </p:spPr>
        <p:txBody>
          <a:bodyPr>
            <a:normAutofit/>
          </a:bodyPr>
          <a:lstStyle/>
          <a:p>
            <a:r>
              <a:rPr lang="es-ES" dirty="0" smtClean="0"/>
              <a:t>Conversión AD. Beneficios – Desventajas.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8034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36" y="4533907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2" y="2799474"/>
            <a:ext cx="2063222" cy="153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07886"/>
            <a:ext cx="1273473" cy="1273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65" y="4487043"/>
            <a:ext cx="3516312" cy="212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72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5967" y="148478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Electrónica Digital.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2132856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Dos estados lógicos.</a:t>
            </a:r>
            <a:endParaRPr lang="es-E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4764"/>
            <a:ext cx="1987528" cy="160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77651"/>
            <a:ext cx="18097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059" y="2758836"/>
            <a:ext cx="4739512" cy="236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Flecha abajo"/>
          <p:cNvSpPr/>
          <p:nvPr/>
        </p:nvSpPr>
        <p:spPr>
          <a:xfrm>
            <a:off x="2947184" y="5047337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2 Marcador de contenido"/>
          <p:cNvSpPr txBox="1">
            <a:spLocks/>
          </p:cNvSpPr>
          <p:nvPr/>
        </p:nvSpPr>
        <p:spPr>
          <a:xfrm>
            <a:off x="1919648" y="6075992"/>
            <a:ext cx="3024336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i="1" dirty="0" smtClean="0"/>
              <a:t>Sistema binario.</a:t>
            </a:r>
            <a:endParaRPr lang="es-ES" sz="2800" i="1" dirty="0"/>
          </a:p>
        </p:txBody>
      </p: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21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348880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Decimal – Base 10.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1.2. Sistemas de Numeración: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669392" y="4469419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Sistema Binario – Base 2.</a:t>
            </a:r>
            <a:endParaRPr lang="es-ES" sz="2600" b="1" dirty="0"/>
          </a:p>
        </p:txBody>
      </p:sp>
      <p:sp>
        <p:nvSpPr>
          <p:cNvPr id="7" name="6 Rectángulo"/>
          <p:cNvSpPr/>
          <p:nvPr/>
        </p:nvSpPr>
        <p:spPr>
          <a:xfrm>
            <a:off x="392224" y="3269090"/>
            <a:ext cx="80193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5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4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0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, 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-4</a:t>
            </a:r>
            <a:endParaRPr lang="es-CO" sz="3600" dirty="0"/>
          </a:p>
          <a:p>
            <a:pPr algn="ctr"/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92224" y="5311706"/>
            <a:ext cx="83297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4000" i="1" dirty="0"/>
              <a:t>2</a:t>
            </a:r>
            <a:r>
              <a:rPr lang="es-CO" sz="4000" i="1" baseline="30000" dirty="0"/>
              <a:t>n-1</a:t>
            </a:r>
            <a:r>
              <a:rPr lang="es-CO" sz="4000" i="1" dirty="0"/>
              <a:t>....2</a:t>
            </a:r>
            <a:r>
              <a:rPr lang="es-CO" sz="4000" i="1" baseline="30000" dirty="0"/>
              <a:t>4</a:t>
            </a:r>
            <a:r>
              <a:rPr lang="es-CO" sz="4000" i="1" dirty="0"/>
              <a:t>2</a:t>
            </a:r>
            <a:r>
              <a:rPr lang="es-CO" sz="4000" i="1" baseline="30000" dirty="0"/>
              <a:t>3</a:t>
            </a:r>
            <a:r>
              <a:rPr lang="es-CO" sz="4000" i="1" dirty="0"/>
              <a:t>2</a:t>
            </a:r>
            <a:r>
              <a:rPr lang="es-CO" sz="4000" i="1" baseline="30000" dirty="0"/>
              <a:t>2</a:t>
            </a:r>
            <a:r>
              <a:rPr lang="es-CO" sz="4000" i="1" dirty="0"/>
              <a:t>2</a:t>
            </a:r>
            <a:r>
              <a:rPr lang="es-CO" sz="4000" i="1" baseline="30000" dirty="0"/>
              <a:t>1</a:t>
            </a:r>
            <a:r>
              <a:rPr lang="es-CO" sz="4000" i="1" dirty="0"/>
              <a:t>2</a:t>
            </a:r>
            <a:r>
              <a:rPr lang="es-CO" sz="4000" i="1" baseline="30000" dirty="0"/>
              <a:t>0</a:t>
            </a:r>
            <a:r>
              <a:rPr lang="es-CO" sz="4000" i="1" dirty="0"/>
              <a:t>, 2</a:t>
            </a:r>
            <a:r>
              <a:rPr lang="es-CO" sz="4000" i="1" baseline="30000" dirty="0"/>
              <a:t>-1</a:t>
            </a:r>
            <a:r>
              <a:rPr lang="es-CO" sz="4000" i="1" dirty="0"/>
              <a:t>2</a:t>
            </a:r>
            <a:r>
              <a:rPr lang="es-CO" sz="4000" i="1" baseline="30000" dirty="0"/>
              <a:t>-2</a:t>
            </a:r>
            <a:r>
              <a:rPr lang="es-CO" sz="4000" i="1" dirty="0"/>
              <a:t>2</a:t>
            </a:r>
            <a:r>
              <a:rPr lang="es-CO" sz="4000" i="1" baseline="30000" dirty="0"/>
              <a:t>-3</a:t>
            </a:r>
            <a:r>
              <a:rPr lang="es-CO" sz="4000" i="1" dirty="0"/>
              <a:t>......2</a:t>
            </a:r>
            <a:r>
              <a:rPr lang="es-CO" sz="4000" i="1" baseline="30000" dirty="0"/>
              <a:t>-n</a:t>
            </a:r>
            <a:r>
              <a:rPr lang="es-CO" sz="4000" i="1" dirty="0"/>
              <a:t>.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88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0486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Conversión Binario – Decimal.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56" y="2708920"/>
            <a:ext cx="3672408" cy="22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496" y="5101714"/>
            <a:ext cx="8906604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101101,11 = </a:t>
            </a:r>
            <a:endParaRPr lang="es-CO" sz="3000" i="1" dirty="0" smtClean="0"/>
          </a:p>
          <a:p>
            <a:pPr algn="ctr"/>
            <a:r>
              <a:rPr lang="es-CO" sz="3000" i="1" dirty="0" smtClean="0"/>
              <a:t>1x2</a:t>
            </a:r>
            <a:r>
              <a:rPr lang="es-CO" sz="3000" i="1" baseline="30000" dirty="0" smtClean="0"/>
              <a:t>5 </a:t>
            </a:r>
            <a:r>
              <a:rPr lang="es-CO" sz="3000" i="1" dirty="0"/>
              <a:t>+ 0x2</a:t>
            </a:r>
            <a:r>
              <a:rPr lang="es-CO" sz="3000" i="1" baseline="30000" dirty="0"/>
              <a:t>4</a:t>
            </a:r>
            <a:r>
              <a:rPr lang="es-CO" sz="3000" i="1" dirty="0"/>
              <a:t> + 1x2</a:t>
            </a:r>
            <a:r>
              <a:rPr lang="es-CO" sz="3000" i="1" baseline="30000" dirty="0"/>
              <a:t>3 </a:t>
            </a:r>
            <a:r>
              <a:rPr lang="es-CO" sz="3000" i="1" dirty="0"/>
              <a:t>+ 1x2</a:t>
            </a:r>
            <a:r>
              <a:rPr lang="es-CO" sz="3000" i="1" baseline="30000" dirty="0"/>
              <a:t>2</a:t>
            </a:r>
            <a:r>
              <a:rPr lang="es-CO" sz="3000" i="1" dirty="0"/>
              <a:t> + 0x2</a:t>
            </a:r>
            <a:r>
              <a:rPr lang="es-CO" sz="3000" i="1" baseline="30000" dirty="0"/>
              <a:t>1</a:t>
            </a:r>
            <a:r>
              <a:rPr lang="es-CO" sz="3000" i="1" dirty="0"/>
              <a:t> + 1x2</a:t>
            </a:r>
            <a:r>
              <a:rPr lang="es-CO" sz="3000" i="1" baseline="30000" dirty="0"/>
              <a:t>0</a:t>
            </a:r>
            <a:r>
              <a:rPr lang="es-CO" sz="3000" i="1" dirty="0"/>
              <a:t> + 1x2</a:t>
            </a:r>
            <a:r>
              <a:rPr lang="es-CO" sz="3000" i="1" baseline="30000" dirty="0"/>
              <a:t>-1</a:t>
            </a:r>
            <a:r>
              <a:rPr lang="es-CO" sz="3000" i="1" dirty="0"/>
              <a:t> + </a:t>
            </a:r>
            <a:r>
              <a:rPr lang="es-CO" sz="3000" i="1" dirty="0" smtClean="0"/>
              <a:t>1x2</a:t>
            </a:r>
            <a:r>
              <a:rPr lang="es-CO" sz="3000" i="1" baseline="30000" dirty="0" smtClean="0"/>
              <a:t>-2</a:t>
            </a:r>
          </a:p>
          <a:p>
            <a:pPr algn="ctr"/>
            <a:r>
              <a:rPr lang="es-CO" sz="3200" i="1" dirty="0"/>
              <a:t>32 + 8 + 4 + 1 + 0,5 + 0,25= 45,75</a:t>
            </a:r>
            <a:endParaRPr lang="es-CO" sz="3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72759" y="5157193"/>
            <a:ext cx="2831089" cy="46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más significativo</a:t>
            </a:r>
            <a:endParaRPr lang="es-ES" sz="22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6061391" y="5157192"/>
            <a:ext cx="3407153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menos significativo</a:t>
            </a:r>
            <a:endParaRPr lang="es-ES" sz="2200" dirty="0"/>
          </a:p>
        </p:txBody>
      </p:sp>
      <p:cxnSp>
        <p:nvCxnSpPr>
          <p:cNvPr id="8" name="7 Conector curvado"/>
          <p:cNvCxnSpPr>
            <a:stCxn id="7" idx="1"/>
          </p:cNvCxnSpPr>
          <p:nvPr/>
        </p:nvCxnSpPr>
        <p:spPr>
          <a:xfrm rot="10800000">
            <a:off x="5220073" y="5157193"/>
            <a:ext cx="841319" cy="23028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curvado"/>
          <p:cNvCxnSpPr/>
          <p:nvPr/>
        </p:nvCxnSpPr>
        <p:spPr>
          <a:xfrm>
            <a:off x="3131840" y="5387479"/>
            <a:ext cx="457200" cy="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877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Hexadecimal.</a:t>
            </a:r>
            <a:endParaRPr lang="es-ES" sz="2600" b="1" dirty="0"/>
          </a:p>
        </p:txBody>
      </p:sp>
      <p:sp>
        <p:nvSpPr>
          <p:cNvPr id="5" name="4 Rectángulo"/>
          <p:cNvSpPr/>
          <p:nvPr/>
        </p:nvSpPr>
        <p:spPr>
          <a:xfrm>
            <a:off x="323528" y="2852936"/>
            <a:ext cx="43559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 smtClean="0"/>
              <a:t>Sistema Base 16, Números del 0 al 9 más las letras A,B,C,D, E y F.</a:t>
            </a:r>
            <a:endParaRPr lang="es-CO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61" y="2217916"/>
            <a:ext cx="4263709" cy="2733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157192"/>
            <a:ext cx="4325620" cy="14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 smtClean="0"/>
              <a:t>: El </a:t>
            </a:r>
            <a:r>
              <a:rPr lang="es-CO" sz="3200" dirty="0"/>
              <a:t>número 4F5B</a:t>
            </a:r>
            <a:r>
              <a:rPr lang="es-CO" sz="3200" baseline="-25000" dirty="0"/>
              <a:t>16</a:t>
            </a:r>
            <a:r>
              <a:rPr lang="es-CO" sz="3200" dirty="0"/>
              <a:t> en binario equivale a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69360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6112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Suma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/>
              <a:t>: Efectuar la suma de 1</a:t>
            </a:r>
            <a:r>
              <a:rPr lang="es-CO" sz="3200" dirty="0" smtClean="0"/>
              <a:t>01001 </a:t>
            </a:r>
            <a:r>
              <a:rPr lang="es-CO" sz="3200" dirty="0"/>
              <a:t>y </a:t>
            </a:r>
            <a:r>
              <a:rPr lang="es-CO" sz="3200" dirty="0" smtClean="0"/>
              <a:t>111000.</a:t>
            </a:r>
            <a:endParaRPr lang="es-CO" sz="3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628" y="2613350"/>
            <a:ext cx="5070644" cy="20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989105"/>
            <a:ext cx="37814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9965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1980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Resta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1043608" y="4831751"/>
            <a:ext cx="36340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i="1" dirty="0" smtClean="0"/>
              <a:t>Ejemplo</a:t>
            </a:r>
            <a:r>
              <a:rPr lang="es-CO" sz="3000" dirty="0"/>
              <a:t>: Efectuar la </a:t>
            </a:r>
            <a:r>
              <a:rPr lang="es-CO" sz="3000" dirty="0" smtClean="0"/>
              <a:t>resta de 10111 menos 01000. </a:t>
            </a:r>
          </a:p>
          <a:p>
            <a:r>
              <a:rPr lang="es-CO" sz="3000" dirty="0" smtClean="0"/>
              <a:t>(23-8=15)</a:t>
            </a:r>
            <a:endParaRPr lang="es-CO" sz="3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27" y="2564905"/>
            <a:ext cx="5929623" cy="22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965423"/>
            <a:ext cx="2964812" cy="16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5744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397</TotalTime>
  <Words>269</Words>
  <Application>Microsoft Office PowerPoint</Application>
  <PresentationFormat>Presentación en pantalla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Book Antiqua</vt:lpstr>
      <vt:lpstr>Wingdings</vt:lpstr>
      <vt:lpstr>Cartoné</vt:lpstr>
      <vt:lpstr>1. Introducción al mundo digital.</vt:lpstr>
      <vt:lpstr>1.1. Electrónica Digital vs Electrónica Análoga. </vt:lpstr>
      <vt:lpstr>1.1. Electrónica Digital vs Electrónica Análoga. </vt:lpstr>
      <vt:lpstr>1.1. Electrónica Digital vs Electrónica Análoga. </vt:lpstr>
      <vt:lpstr>1.2. Sistemas de Numeración: Binario. </vt:lpstr>
      <vt:lpstr>1.3. Conversión entre sistemas de Numeración. </vt:lpstr>
      <vt:lpstr>1.3. Conversión entre sistemas de Numeración. </vt:lpstr>
      <vt:lpstr>1.4. Operaciones aritméticas básicas en binario. </vt:lpstr>
      <vt:lpstr>1.4. Operaciones aritméticas básicas en binario.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OPTO-DIGITAL-3</cp:lastModifiedBy>
  <cp:revision>99</cp:revision>
  <dcterms:created xsi:type="dcterms:W3CDTF">2011-01-25T07:15:41Z</dcterms:created>
  <dcterms:modified xsi:type="dcterms:W3CDTF">2017-01-30T12:42:11Z</dcterms:modified>
</cp:coreProperties>
</file>
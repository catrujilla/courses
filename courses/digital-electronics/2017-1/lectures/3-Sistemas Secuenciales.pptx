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30.gif" ContentType="image/gif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1" r:id="rId17"/>
    <p:sldId id="282" r:id="rId18"/>
    <p:sldId id="283" r:id="rId19"/>
    <p:sldId id="284" r:id="rId20"/>
    <p:sldId id="271" r:id="rId21"/>
    <p:sldId id="272" r:id="rId22"/>
    <p:sldId id="273" r:id="rId23"/>
    <p:sldId id="274" r:id="rId24"/>
    <p:sldId id="275" r:id="rId25"/>
    <p:sldId id="277" r:id="rId26"/>
    <p:sldId id="276" r:id="rId27"/>
    <p:sldId id="285" r:id="rId28"/>
    <p:sldId id="279" r:id="rId29"/>
    <p:sldId id="278" r:id="rId3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81"/>
            <p14:sldId id="282"/>
            <p14:sldId id="283"/>
            <p14:sldId id="284"/>
            <p14:sldId id="271"/>
            <p14:sldId id="272"/>
            <p14:sldId id="273"/>
            <p14:sldId id="274"/>
            <p14:sldId id="275"/>
            <p14:sldId id="277"/>
            <p14:sldId id="276"/>
            <p14:sldId id="285"/>
            <p14:sldId id="279"/>
            <p14:sldId id="27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0A38"/>
    <a:srgbClr val="2CD283"/>
    <a:srgbClr val="46B846"/>
    <a:srgbClr val="281997"/>
    <a:srgbClr val="ED8C2B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80" autoAdjust="0"/>
  </p:normalViewPr>
  <p:slideViewPr>
    <p:cSldViewPr>
      <p:cViewPr>
        <p:scale>
          <a:sx n="108" d="100"/>
          <a:sy n="108" d="100"/>
        </p:scale>
        <p:origin x="-162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10/02/2017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3593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10/02/2017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10/02/2017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10/02/2017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10/02/2017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10/02/2017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10/02/2017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10/02/2017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10/02/2017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10/02/2017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10/02/2017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10/02/2017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10/02/2017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gif"/><Relationship Id="rId1" Type="http://schemas.microsoft.com/office/2007/relationships/media" Target="../media/media1.gif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>
                <a:effectLst/>
              </a:rPr>
              <a:t>3. Sistemas Secuenciales.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73016"/>
            <a:ext cx="6400800" cy="3024336"/>
          </a:xfrm>
        </p:spPr>
        <p:txBody>
          <a:bodyPr>
            <a:normAutofit fontScale="92500" lnSpcReduction="10000"/>
          </a:bodyPr>
          <a:lstStyle/>
          <a:p>
            <a:r>
              <a:rPr lang="es-ES" dirty="0">
                <a:effectLst/>
              </a:rPr>
              <a:t>3.1. Lógica secuencial.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3.2. </a:t>
            </a:r>
            <a:r>
              <a:rPr lang="es-ES" dirty="0" err="1">
                <a:effectLst/>
              </a:rPr>
              <a:t>Flip-Flop</a:t>
            </a:r>
            <a:r>
              <a:rPr lang="es-ES" dirty="0">
                <a:effectLst/>
              </a:rPr>
              <a:t>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3.3. Contadores.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3.4. </a:t>
            </a:r>
            <a:r>
              <a:rPr lang="es-ES" dirty="0" smtClean="0">
                <a:effectLst/>
              </a:rPr>
              <a:t>Registros.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3.5. </a:t>
            </a:r>
            <a:r>
              <a:rPr lang="es-ES" dirty="0">
                <a:effectLst/>
              </a:rPr>
              <a:t>Temporizador 555.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3.6 </a:t>
            </a:r>
            <a:r>
              <a:rPr lang="es-ES" dirty="0">
                <a:effectLst/>
              </a:rPr>
              <a:t>Máquinas de estado.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3.7. </a:t>
            </a:r>
            <a:r>
              <a:rPr lang="es-ES" dirty="0">
                <a:effectLst/>
              </a:rPr>
              <a:t>Análisis y diseño de circuitos secuenciales sincrónicos.</a:t>
            </a:r>
            <a:endParaRPr lang="es-CO" dirty="0"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Febrero 10 </a:t>
            </a:r>
            <a:r>
              <a:rPr lang="es-ES" i="1" dirty="0" smtClean="0">
                <a:effectLst/>
              </a:rPr>
              <a:t>de </a:t>
            </a:r>
            <a:r>
              <a:rPr lang="es-ES" i="1" dirty="0" smtClean="0">
                <a:effectLst/>
              </a:rPr>
              <a:t>2017  </a:t>
            </a:r>
            <a:r>
              <a:rPr lang="es-ES" i="1" dirty="0" smtClean="0">
                <a:effectLst/>
              </a:rPr>
              <a:t>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3.1. Lógica secuencial.</a:t>
            </a:r>
            <a:endParaRPr lang="es-CO" sz="4000" dirty="0"/>
          </a:p>
        </p:txBody>
      </p:sp>
      <p:sp>
        <p:nvSpPr>
          <p:cNvPr id="3" name="2 Rectángulo"/>
          <p:cNvSpPr/>
          <p:nvPr/>
        </p:nvSpPr>
        <p:spPr>
          <a:xfrm>
            <a:off x="949754" y="2154922"/>
            <a:ext cx="164820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000" b="1" i="1" dirty="0" smtClean="0"/>
              <a:t>Sistema:</a:t>
            </a:r>
            <a:endParaRPr lang="es-CO" sz="3000" b="1" i="1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 descr="Resultado de imagen para logica secuenci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348880"/>
            <a:ext cx="4176464" cy="3750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899592" y="6165304"/>
            <a:ext cx="73448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/>
              <a:t>http://systemonfpga.blogspot.com.co/2015_04_01_archive.html</a:t>
            </a:r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32656"/>
            <a:ext cx="7987965" cy="1054250"/>
          </a:xfrm>
        </p:spPr>
        <p:txBody>
          <a:bodyPr/>
          <a:lstStyle/>
          <a:p>
            <a:r>
              <a:rPr lang="es-ES" sz="4000" dirty="0"/>
              <a:t>3.1. Lógica secuencial.</a:t>
            </a:r>
            <a:endParaRPr lang="es-CO" sz="4000" dirty="0"/>
          </a:p>
        </p:txBody>
      </p:sp>
      <p:sp>
        <p:nvSpPr>
          <p:cNvPr id="42" name="41 Rectángulo"/>
          <p:cNvSpPr/>
          <p:nvPr/>
        </p:nvSpPr>
        <p:spPr>
          <a:xfrm>
            <a:off x="179512" y="2936557"/>
            <a:ext cx="183095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600" b="1" i="1" dirty="0" smtClean="0"/>
              <a:t>Dos clases:</a:t>
            </a:r>
            <a:endParaRPr lang="es-CO" sz="2600" b="1" i="1" dirty="0"/>
          </a:p>
        </p:txBody>
      </p:sp>
      <p:grpSp>
        <p:nvGrpSpPr>
          <p:cNvPr id="14" name="13 Grupo"/>
          <p:cNvGrpSpPr/>
          <p:nvPr/>
        </p:nvGrpSpPr>
        <p:grpSpPr>
          <a:xfrm>
            <a:off x="2281831" y="2182569"/>
            <a:ext cx="6379767" cy="2004611"/>
            <a:chOff x="2224681" y="2144469"/>
            <a:chExt cx="6379767" cy="2004611"/>
          </a:xfrm>
        </p:grpSpPr>
        <p:sp>
          <p:nvSpPr>
            <p:cNvPr id="12" name="11 Rectángulo redondeado"/>
            <p:cNvSpPr/>
            <p:nvPr/>
          </p:nvSpPr>
          <p:spPr>
            <a:xfrm>
              <a:off x="2224681" y="2144469"/>
              <a:ext cx="6379767" cy="2004611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11" name="10 Grupo"/>
            <p:cNvGrpSpPr/>
            <p:nvPr/>
          </p:nvGrpSpPr>
          <p:grpSpPr>
            <a:xfrm>
              <a:off x="2339297" y="2308148"/>
              <a:ext cx="6121135" cy="1840932"/>
              <a:chOff x="1481564" y="2164132"/>
              <a:chExt cx="6121135" cy="1840932"/>
            </a:xfrm>
          </p:grpSpPr>
          <p:grpSp>
            <p:nvGrpSpPr>
              <p:cNvPr id="18" name="17 Grupo"/>
              <p:cNvGrpSpPr/>
              <p:nvPr/>
            </p:nvGrpSpPr>
            <p:grpSpPr>
              <a:xfrm>
                <a:off x="1481564" y="2164132"/>
                <a:ext cx="6121135" cy="1489733"/>
                <a:chOff x="387861" y="4745062"/>
                <a:chExt cx="6333741" cy="1647834"/>
              </a:xfrm>
            </p:grpSpPr>
            <p:grpSp>
              <p:nvGrpSpPr>
                <p:cNvPr id="19" name="18 Grupo"/>
                <p:cNvGrpSpPr/>
                <p:nvPr/>
              </p:nvGrpSpPr>
              <p:grpSpPr>
                <a:xfrm>
                  <a:off x="2739633" y="4745062"/>
                  <a:ext cx="1832367" cy="930588"/>
                  <a:chOff x="4187467" y="5516107"/>
                  <a:chExt cx="1832367" cy="930588"/>
                </a:xfrm>
                <a:noFill/>
              </p:grpSpPr>
              <p:sp>
                <p:nvSpPr>
                  <p:cNvPr id="40" name="39 Rectángulo redondeado"/>
                  <p:cNvSpPr/>
                  <p:nvPr/>
                </p:nvSpPr>
                <p:spPr>
                  <a:xfrm>
                    <a:off x="4275559" y="5516107"/>
                    <a:ext cx="1656184" cy="930588"/>
                  </a:xfrm>
                  <a:prstGeom prst="roundRect">
                    <a:avLst/>
                  </a:prstGeom>
                  <a:grpFill/>
                  <a:ln w="571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sp>
                <p:nvSpPr>
                  <p:cNvPr id="41" name="40 Rectángulo"/>
                  <p:cNvSpPr/>
                  <p:nvPr/>
                </p:nvSpPr>
                <p:spPr>
                  <a:xfrm>
                    <a:off x="4187467" y="5550331"/>
                    <a:ext cx="1832367" cy="851099"/>
                  </a:xfrm>
                  <a:prstGeom prst="rect">
                    <a:avLst/>
                  </a:prstGeom>
                  <a:grpFill/>
                  <a:ln w="5715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s-ES" sz="2200" dirty="0" smtClean="0"/>
                      <a:t>Sistema Síncrono</a:t>
                    </a:r>
                    <a:endParaRPr lang="es-CO" sz="2200" dirty="0"/>
                  </a:p>
                </p:txBody>
              </p:sp>
            </p:grpSp>
            <p:cxnSp>
              <p:nvCxnSpPr>
                <p:cNvPr id="20" name="19 Conector recto de flecha"/>
                <p:cNvCxnSpPr/>
                <p:nvPr/>
              </p:nvCxnSpPr>
              <p:spPr>
                <a:xfrm>
                  <a:off x="1611998" y="5178235"/>
                  <a:ext cx="1152128" cy="0"/>
                </a:xfrm>
                <a:prstGeom prst="straightConnector1">
                  <a:avLst/>
                </a:prstGeom>
                <a:ln w="38100"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20 Rectángulo"/>
                <p:cNvSpPr/>
                <p:nvPr/>
              </p:nvSpPr>
              <p:spPr>
                <a:xfrm>
                  <a:off x="1924494" y="5868619"/>
                  <a:ext cx="1086768" cy="5242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i="1" dirty="0" smtClean="0"/>
                    <a:t>Cambio</a:t>
                  </a:r>
                  <a:endParaRPr lang="es-CO" sz="2200" i="1" dirty="0"/>
                </a:p>
              </p:txBody>
            </p:sp>
            <p:sp>
              <p:nvSpPr>
                <p:cNvPr id="35" name="34 Rectángulo"/>
                <p:cNvSpPr/>
                <p:nvPr/>
              </p:nvSpPr>
              <p:spPr>
                <a:xfrm>
                  <a:off x="387861" y="4938678"/>
                  <a:ext cx="1221121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dirty="0" smtClean="0"/>
                    <a:t>Entrada</a:t>
                  </a:r>
                  <a:endParaRPr lang="es-CO" sz="2200" dirty="0"/>
                </a:p>
              </p:txBody>
            </p:sp>
            <p:cxnSp>
              <p:nvCxnSpPr>
                <p:cNvPr id="37" name="36 Conector recto de flecha"/>
                <p:cNvCxnSpPr/>
                <p:nvPr/>
              </p:nvCxnSpPr>
              <p:spPr>
                <a:xfrm>
                  <a:off x="4597400" y="5199608"/>
                  <a:ext cx="1152128" cy="0"/>
                </a:xfrm>
                <a:prstGeom prst="straightConnector1">
                  <a:avLst/>
                </a:prstGeom>
                <a:ln w="38100"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37 Rectángulo"/>
                <p:cNvSpPr/>
                <p:nvPr/>
              </p:nvSpPr>
              <p:spPr>
                <a:xfrm>
                  <a:off x="5132969" y="5666267"/>
                  <a:ext cx="1086768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i="1" dirty="0" smtClean="0"/>
                    <a:t>Cambio</a:t>
                  </a:r>
                  <a:endParaRPr lang="es-CO" sz="2200" i="1" dirty="0"/>
                </a:p>
              </p:txBody>
            </p:sp>
            <p:sp>
              <p:nvSpPr>
                <p:cNvPr id="39" name="38 Rectángulo"/>
                <p:cNvSpPr/>
                <p:nvPr/>
              </p:nvSpPr>
              <p:spPr>
                <a:xfrm>
                  <a:off x="5737673" y="4941168"/>
                  <a:ext cx="983929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dirty="0" smtClean="0"/>
                    <a:t>Salida</a:t>
                  </a:r>
                  <a:endParaRPr lang="es-CO" sz="2200" dirty="0"/>
                </a:p>
              </p:txBody>
            </p:sp>
          </p:grpSp>
          <p:cxnSp>
            <p:nvCxnSpPr>
              <p:cNvPr id="43" name="42 Conector recto de flecha"/>
              <p:cNvCxnSpPr>
                <a:stCxn id="44" idx="0"/>
              </p:cNvCxnSpPr>
              <p:nvPr/>
            </p:nvCxnSpPr>
            <p:spPr>
              <a:xfrm flipV="1">
                <a:off x="4652067" y="3097681"/>
                <a:ext cx="9989" cy="531429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6 Flecha derecha"/>
              <p:cNvSpPr/>
              <p:nvPr/>
            </p:nvSpPr>
            <p:spPr>
              <a:xfrm>
                <a:off x="4002299" y="3310384"/>
                <a:ext cx="515254" cy="157653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4" name="43 Rectángulo"/>
              <p:cNvSpPr/>
              <p:nvPr/>
            </p:nvSpPr>
            <p:spPr>
              <a:xfrm>
                <a:off x="3347864" y="3604954"/>
                <a:ext cx="260840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" sz="2000" dirty="0" smtClean="0"/>
                  <a:t>Señal de reloj externa</a:t>
                </a:r>
                <a:endParaRPr lang="es-CO" sz="2000" dirty="0"/>
              </a:p>
            </p:txBody>
          </p:sp>
          <p:sp>
            <p:nvSpPr>
              <p:cNvPr id="10" name="9 Flecha doblada hacia arriba"/>
              <p:cNvSpPr/>
              <p:nvPr/>
            </p:nvSpPr>
            <p:spPr>
              <a:xfrm>
                <a:off x="4783832" y="2708920"/>
                <a:ext cx="1385697" cy="729458"/>
              </a:xfrm>
              <a:prstGeom prst="bentUpArrow">
                <a:avLst>
                  <a:gd name="adj1" fmla="val 15148"/>
                  <a:gd name="adj2" fmla="val 17119"/>
                  <a:gd name="adj3" fmla="val 2500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grpSp>
        <p:nvGrpSpPr>
          <p:cNvPr id="13" name="12 Grupo"/>
          <p:cNvGrpSpPr/>
          <p:nvPr/>
        </p:nvGrpSpPr>
        <p:grpSpPr>
          <a:xfrm>
            <a:off x="1126282" y="4354839"/>
            <a:ext cx="6480720" cy="2227655"/>
            <a:chOff x="1979712" y="4297689"/>
            <a:chExt cx="6480720" cy="2227655"/>
          </a:xfrm>
        </p:grpSpPr>
        <p:grpSp>
          <p:nvGrpSpPr>
            <p:cNvPr id="23" name="22 Grupo"/>
            <p:cNvGrpSpPr/>
            <p:nvPr/>
          </p:nvGrpSpPr>
          <p:grpSpPr>
            <a:xfrm>
              <a:off x="2162507" y="4336778"/>
              <a:ext cx="6183309" cy="2188566"/>
              <a:chOff x="323528" y="4149080"/>
              <a:chExt cx="6398074" cy="2420832"/>
            </a:xfrm>
          </p:grpSpPr>
          <p:grpSp>
            <p:nvGrpSpPr>
              <p:cNvPr id="24" name="23 Grupo"/>
              <p:cNvGrpSpPr/>
              <p:nvPr/>
            </p:nvGrpSpPr>
            <p:grpSpPr>
              <a:xfrm>
                <a:off x="2739633" y="4745062"/>
                <a:ext cx="1832367" cy="930588"/>
                <a:chOff x="4187467" y="5516107"/>
                <a:chExt cx="1832367" cy="930588"/>
              </a:xfrm>
              <a:noFill/>
            </p:grpSpPr>
            <p:sp>
              <p:nvSpPr>
                <p:cNvPr id="33" name="32 Rectángulo redondeado"/>
                <p:cNvSpPr/>
                <p:nvPr/>
              </p:nvSpPr>
              <p:spPr>
                <a:xfrm>
                  <a:off x="4275559" y="5516107"/>
                  <a:ext cx="1656184" cy="930588"/>
                </a:xfrm>
                <a:prstGeom prst="roundRect">
                  <a:avLst/>
                </a:prstGeom>
                <a:grp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34" name="33 Rectángulo"/>
                <p:cNvSpPr/>
                <p:nvPr/>
              </p:nvSpPr>
              <p:spPr>
                <a:xfrm>
                  <a:off x="4187467" y="5550331"/>
                  <a:ext cx="1832367" cy="851099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s-ES" sz="2200" dirty="0" smtClean="0"/>
                    <a:t>Sistema Asíncrono</a:t>
                  </a:r>
                  <a:endParaRPr lang="es-CO" sz="2200" dirty="0"/>
                </a:p>
              </p:txBody>
            </p:sp>
          </p:grpSp>
          <p:cxnSp>
            <p:nvCxnSpPr>
              <p:cNvPr id="25" name="24 Conector recto de flecha"/>
              <p:cNvCxnSpPr/>
              <p:nvPr/>
            </p:nvCxnSpPr>
            <p:spPr>
              <a:xfrm>
                <a:off x="1611998" y="5178235"/>
                <a:ext cx="1152128" cy="0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25 Rectángulo"/>
              <p:cNvSpPr/>
              <p:nvPr/>
            </p:nvSpPr>
            <p:spPr>
              <a:xfrm>
                <a:off x="323528" y="4149080"/>
                <a:ext cx="1086768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i="1" dirty="0" smtClean="0"/>
                  <a:t>Cambio</a:t>
                </a:r>
                <a:endParaRPr lang="es-CO" sz="2200" i="1" dirty="0"/>
              </a:p>
            </p:txBody>
          </p:sp>
          <p:sp>
            <p:nvSpPr>
              <p:cNvPr id="27" name="26 Flecha doblada"/>
              <p:cNvSpPr/>
              <p:nvPr/>
            </p:nvSpPr>
            <p:spPr>
              <a:xfrm rot="5400000">
                <a:off x="1490830" y="4264979"/>
                <a:ext cx="813816" cy="868680"/>
              </a:xfrm>
              <a:prstGeom prst="ben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27 Rectángulo"/>
              <p:cNvSpPr/>
              <p:nvPr/>
            </p:nvSpPr>
            <p:spPr>
              <a:xfrm>
                <a:off x="387861" y="4938678"/>
                <a:ext cx="1221121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dirty="0" smtClean="0"/>
                  <a:t>Entrada</a:t>
                </a:r>
                <a:endParaRPr lang="es-CO" sz="2200" dirty="0"/>
              </a:p>
            </p:txBody>
          </p:sp>
          <p:sp>
            <p:nvSpPr>
              <p:cNvPr id="29" name="28 Flecha curvada hacia la derecha"/>
              <p:cNvSpPr/>
              <p:nvPr/>
            </p:nvSpPr>
            <p:spPr>
              <a:xfrm rot="16200000">
                <a:off x="3125384" y="4155536"/>
                <a:ext cx="1165041" cy="3456386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29 Conector recto de flecha"/>
              <p:cNvCxnSpPr/>
              <p:nvPr/>
            </p:nvCxnSpPr>
            <p:spPr>
              <a:xfrm>
                <a:off x="4597400" y="5199608"/>
                <a:ext cx="1152128" cy="0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30 Rectángulo"/>
              <p:cNvSpPr/>
              <p:nvPr/>
            </p:nvSpPr>
            <p:spPr>
              <a:xfrm>
                <a:off x="4667301" y="6093296"/>
                <a:ext cx="1086768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i="1" dirty="0" smtClean="0"/>
                  <a:t>Cambio</a:t>
                </a:r>
                <a:endParaRPr lang="es-CO" sz="2200" i="1" dirty="0"/>
              </a:p>
            </p:txBody>
          </p:sp>
          <p:sp>
            <p:nvSpPr>
              <p:cNvPr id="32" name="31 Rectángulo"/>
              <p:cNvSpPr/>
              <p:nvPr/>
            </p:nvSpPr>
            <p:spPr>
              <a:xfrm>
                <a:off x="5737673" y="4941168"/>
                <a:ext cx="983929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dirty="0" smtClean="0"/>
                  <a:t>Salida</a:t>
                </a:r>
                <a:endParaRPr lang="es-CO" sz="2200" dirty="0"/>
              </a:p>
            </p:txBody>
          </p:sp>
        </p:grpSp>
        <p:sp>
          <p:nvSpPr>
            <p:cNvPr id="45" name="44 Rectángulo redondeado"/>
            <p:cNvSpPr/>
            <p:nvPr/>
          </p:nvSpPr>
          <p:spPr>
            <a:xfrm>
              <a:off x="1979712" y="4297689"/>
              <a:ext cx="6480720" cy="2227655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6" name="4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385" y="3722429"/>
            <a:ext cx="1162178" cy="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991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Biestable</a:t>
            </a:r>
            <a:r>
              <a:rPr lang="es-ES" sz="4600" dirty="0" smtClean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Dispositivo básico de memoria. </a:t>
            </a:r>
          </a:p>
          <a:p>
            <a:pPr algn="ctr"/>
            <a:r>
              <a:rPr lang="es-ES" sz="2600" b="1" i="1" dirty="0" smtClean="0"/>
              <a:t>Es el fundamento de los sistemas secuenciales. </a:t>
            </a:r>
          </a:p>
          <a:p>
            <a:pPr algn="ctr"/>
            <a:r>
              <a:rPr lang="es-ES" sz="2600" b="1" i="1" dirty="0" smtClean="0"/>
              <a:t>Almacena un bit aún después de que desaparezca la señal que lo produce.</a:t>
            </a:r>
            <a:endParaRPr lang="es-CO" sz="2600" b="1" i="1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pSp>
        <p:nvGrpSpPr>
          <p:cNvPr id="70" name="69 Grupo"/>
          <p:cNvGrpSpPr/>
          <p:nvPr/>
        </p:nvGrpSpPr>
        <p:grpSpPr>
          <a:xfrm>
            <a:off x="-64416" y="4437112"/>
            <a:ext cx="7804768" cy="1656184"/>
            <a:chOff x="395536" y="4653136"/>
            <a:chExt cx="7804768" cy="1656184"/>
          </a:xfrm>
        </p:grpSpPr>
        <p:sp>
          <p:nvSpPr>
            <p:cNvPr id="3" name="2 Rectángulo"/>
            <p:cNvSpPr/>
            <p:nvPr/>
          </p:nvSpPr>
          <p:spPr>
            <a:xfrm>
              <a:off x="3059832" y="4653136"/>
              <a:ext cx="2952328" cy="1656184"/>
            </a:xfrm>
            <a:prstGeom prst="rect">
              <a:avLst/>
            </a:prstGeom>
            <a:noFill/>
            <a:ln w="57150">
              <a:solidFill>
                <a:srgbClr val="840A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6" name="45 Rectángulo"/>
            <p:cNvSpPr/>
            <p:nvPr/>
          </p:nvSpPr>
          <p:spPr>
            <a:xfrm>
              <a:off x="3059832" y="4892967"/>
              <a:ext cx="29523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400" b="1" i="1" dirty="0" smtClean="0"/>
                <a:t>Configuración secuencial de compuertas</a:t>
              </a:r>
              <a:endParaRPr lang="es-CO" sz="2400" b="1" i="1" dirty="0"/>
            </a:p>
          </p:txBody>
        </p:sp>
        <p:cxnSp>
          <p:nvCxnSpPr>
            <p:cNvPr id="5" name="4 Conector recto de flecha"/>
            <p:cNvCxnSpPr/>
            <p:nvPr/>
          </p:nvCxnSpPr>
          <p:spPr>
            <a:xfrm>
              <a:off x="2254354" y="5827960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61 Conector recto de flecha"/>
            <p:cNvCxnSpPr/>
            <p:nvPr/>
          </p:nvCxnSpPr>
          <p:spPr>
            <a:xfrm>
              <a:off x="2267744" y="5061942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62 Conector recto de flecha"/>
            <p:cNvCxnSpPr/>
            <p:nvPr/>
          </p:nvCxnSpPr>
          <p:spPr>
            <a:xfrm>
              <a:off x="2253792" y="5277966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63 Rectángulo"/>
            <p:cNvSpPr/>
            <p:nvPr/>
          </p:nvSpPr>
          <p:spPr>
            <a:xfrm>
              <a:off x="395536" y="4907260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Entradas</a:t>
              </a:r>
              <a:endParaRPr lang="es-CO" sz="2600" dirty="0"/>
            </a:p>
          </p:txBody>
        </p:sp>
        <p:sp>
          <p:nvSpPr>
            <p:cNvPr id="65" name="64 Rectángulo"/>
            <p:cNvSpPr/>
            <p:nvPr/>
          </p:nvSpPr>
          <p:spPr>
            <a:xfrm>
              <a:off x="395536" y="5573916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Control</a:t>
              </a:r>
              <a:endParaRPr lang="es-CO" sz="2600" dirty="0"/>
            </a:p>
          </p:txBody>
        </p:sp>
        <p:cxnSp>
          <p:nvCxnSpPr>
            <p:cNvPr id="66" name="65 Conector recto de flecha"/>
            <p:cNvCxnSpPr/>
            <p:nvPr/>
          </p:nvCxnSpPr>
          <p:spPr>
            <a:xfrm>
              <a:off x="6012160" y="5949280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66 Conector recto de flecha"/>
            <p:cNvCxnSpPr/>
            <p:nvPr/>
          </p:nvCxnSpPr>
          <p:spPr>
            <a:xfrm>
              <a:off x="6024810" y="5085184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67 Rectángulo"/>
            <p:cNvSpPr/>
            <p:nvPr/>
          </p:nvSpPr>
          <p:spPr>
            <a:xfrm>
              <a:off x="6040064" y="5719304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Q’</a:t>
              </a:r>
              <a:endParaRPr lang="es-CO" sz="2600" dirty="0"/>
            </a:p>
          </p:txBody>
        </p:sp>
        <p:sp>
          <p:nvSpPr>
            <p:cNvPr id="69" name="68 Rectángulo"/>
            <p:cNvSpPr/>
            <p:nvPr/>
          </p:nvSpPr>
          <p:spPr>
            <a:xfrm>
              <a:off x="6025550" y="4840694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Q</a:t>
              </a:r>
              <a:endParaRPr lang="es-CO" sz="2600" dirty="0"/>
            </a:p>
          </p:txBody>
        </p:sp>
      </p:grpSp>
      <p:sp>
        <p:nvSpPr>
          <p:cNvPr id="71" name="70 Rectángulo"/>
          <p:cNvSpPr/>
          <p:nvPr/>
        </p:nvSpPr>
        <p:spPr>
          <a:xfrm>
            <a:off x="6792983" y="4365104"/>
            <a:ext cx="238752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>
                <a:solidFill>
                  <a:srgbClr val="7030A0"/>
                </a:solidFill>
              </a:rPr>
              <a:t>Flip-flop</a:t>
            </a:r>
            <a:r>
              <a:rPr lang="es-ES" sz="2600" b="1" i="1" dirty="0" smtClean="0">
                <a:solidFill>
                  <a:srgbClr val="7030A0"/>
                </a:solidFill>
              </a:rPr>
              <a:t> (Síncronos)</a:t>
            </a:r>
            <a:endParaRPr lang="es-ES" sz="2600" b="1" i="1" dirty="0" smtClean="0">
              <a:solidFill>
                <a:srgbClr val="7030A0"/>
              </a:solidFill>
            </a:endParaRPr>
          </a:p>
          <a:p>
            <a:pPr algn="ctr"/>
            <a:r>
              <a:rPr lang="es-ES" sz="2600" b="1" i="1" dirty="0" err="1" smtClean="0">
                <a:solidFill>
                  <a:srgbClr val="7030A0"/>
                </a:solidFill>
              </a:rPr>
              <a:t>Latch</a:t>
            </a:r>
            <a:endParaRPr lang="es-ES" sz="2600" b="1" i="1" dirty="0" smtClean="0">
              <a:solidFill>
                <a:srgbClr val="7030A0"/>
              </a:solidFill>
            </a:endParaRPr>
          </a:p>
          <a:p>
            <a:pPr algn="ctr"/>
            <a:r>
              <a:rPr lang="es-ES" sz="2600" b="1" i="1" dirty="0" smtClean="0">
                <a:solidFill>
                  <a:srgbClr val="7030A0"/>
                </a:solidFill>
              </a:rPr>
              <a:t>Cerrojo</a:t>
            </a:r>
          </a:p>
          <a:p>
            <a:pPr algn="ctr"/>
            <a:r>
              <a:rPr lang="es-ES" sz="2600" b="1" i="1" dirty="0" smtClean="0">
                <a:solidFill>
                  <a:srgbClr val="7030A0"/>
                </a:solidFill>
              </a:rPr>
              <a:t>(Asíncronos)</a:t>
            </a:r>
            <a:endParaRPr lang="es-ES" sz="2600" b="1" i="1" dirty="0" smtClean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14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Biestable</a:t>
            </a:r>
            <a:r>
              <a:rPr lang="es-ES" sz="4600" dirty="0" smtClean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Latch</a:t>
            </a:r>
            <a:r>
              <a:rPr lang="es-ES" sz="2600" b="1" i="1" dirty="0" smtClean="0"/>
              <a:t> </a:t>
            </a:r>
            <a:r>
              <a:rPr lang="es-ES" sz="2600" b="1" i="1" dirty="0" smtClean="0"/>
              <a:t>R-S (</a:t>
            </a:r>
            <a:r>
              <a:rPr lang="es-ES" sz="2600" b="1" i="1" dirty="0" err="1" smtClean="0"/>
              <a:t>Reset</a:t>
            </a:r>
            <a:r>
              <a:rPr lang="es-ES" sz="2600" b="1" i="1" dirty="0" smtClean="0"/>
              <a:t> y Set) con compuertas NOR.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758971"/>
              </p:ext>
            </p:extLst>
          </p:nvPr>
        </p:nvGraphicFramePr>
        <p:xfrm>
          <a:off x="5583270" y="4807028"/>
          <a:ext cx="2736302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38"/>
                <a:gridCol w="360040"/>
                <a:gridCol w="2016224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>
                          <a:effectLst/>
                        </a:rPr>
                        <a:t>R</a:t>
                      </a:r>
                      <a:endParaRPr lang="es-CO" sz="22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Estado </a:t>
                      </a:r>
                      <a:r>
                        <a:rPr lang="es-CO" sz="1800" u="none" strike="noStrike" dirty="0" err="1">
                          <a:effectLst/>
                        </a:rPr>
                        <a:t>metaestable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840623"/>
            <a:ext cx="1824922" cy="184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799" y="2818059"/>
            <a:ext cx="196215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R-S_mk2.gif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39552" y="2850561"/>
            <a:ext cx="3578136" cy="2612040"/>
          </a:xfrm>
          <a:prstGeom prst="rect">
            <a:avLst/>
          </a:prstGeom>
        </p:spPr>
      </p:pic>
      <p:sp>
        <p:nvSpPr>
          <p:cNvPr id="6" name="5 Rectángulo"/>
          <p:cNvSpPr/>
          <p:nvPr/>
        </p:nvSpPr>
        <p:spPr>
          <a:xfrm>
            <a:off x="323528" y="5661248"/>
            <a:ext cx="39604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/>
              <a:t>https://en.wikipedia.org/wiki/Flip-flop_(electronics)</a:t>
            </a:r>
          </a:p>
        </p:txBody>
      </p:sp>
    </p:spTree>
    <p:extLst>
      <p:ext uri="{BB962C8B-B14F-4D97-AF65-F5344CB8AC3E}">
        <p14:creationId xmlns:p14="http://schemas.microsoft.com/office/powerpoint/2010/main" val="154433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Biestable</a:t>
            </a:r>
            <a:r>
              <a:rPr lang="es-ES" sz="4600" dirty="0" smtClean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Latch</a:t>
            </a:r>
            <a:r>
              <a:rPr lang="es-ES" sz="2600" b="1" i="1" dirty="0" smtClean="0"/>
              <a:t> </a:t>
            </a:r>
            <a:r>
              <a:rPr lang="es-ES" sz="2600" b="1" i="1" dirty="0" smtClean="0"/>
              <a:t>R-S con compuertas NAND.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696279"/>
              </p:ext>
            </p:extLst>
          </p:nvPr>
        </p:nvGraphicFramePr>
        <p:xfrm>
          <a:off x="5076056" y="4684959"/>
          <a:ext cx="2736302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38"/>
                <a:gridCol w="360040"/>
                <a:gridCol w="2016224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>
                          <a:effectLst/>
                        </a:rPr>
                        <a:t>R</a:t>
                      </a:r>
                      <a:endParaRPr lang="es-CO" sz="22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smtClean="0">
                          <a:effectLst/>
                        </a:rPr>
                        <a:t>Estado </a:t>
                      </a:r>
                      <a:r>
                        <a:rPr lang="es-CO" sz="1800" u="none" strike="noStrike" dirty="0" err="1" smtClean="0">
                          <a:effectLst/>
                        </a:rPr>
                        <a:t>metaestable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51717"/>
            <a:ext cx="3280133" cy="206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641" y="3132584"/>
            <a:ext cx="3848966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838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Biestable</a:t>
            </a:r>
            <a:r>
              <a:rPr lang="es-ES" sz="4600" dirty="0" smtClean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R-S con habilitación. RS Síncrono.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778265"/>
              </p:ext>
            </p:extLst>
          </p:nvPr>
        </p:nvGraphicFramePr>
        <p:xfrm>
          <a:off x="5076056" y="4545290"/>
          <a:ext cx="3096344" cy="1764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173"/>
                <a:gridCol w="318175"/>
                <a:gridCol w="318175"/>
                <a:gridCol w="2141821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R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smtClean="0">
                          <a:effectLst/>
                        </a:rPr>
                        <a:t>Estado </a:t>
                      </a:r>
                      <a:r>
                        <a:rPr lang="es-CO" sz="1800" u="none" strike="noStrike" dirty="0" err="1" smtClean="0">
                          <a:effectLst/>
                        </a:rPr>
                        <a:t>metaestable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08" y="3577363"/>
            <a:ext cx="3926900" cy="198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873852"/>
            <a:ext cx="1440160" cy="1294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20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Biestable</a:t>
            </a:r>
            <a:r>
              <a:rPr lang="es-ES" sz="4600" dirty="0" smtClean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D (</a:t>
            </a:r>
            <a:r>
              <a:rPr lang="es-ES" sz="2600" b="1" i="1" dirty="0" err="1" smtClean="0"/>
              <a:t>Delay</a:t>
            </a:r>
            <a:r>
              <a:rPr lang="es-ES" sz="2600" b="1" i="1" dirty="0" smtClean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97647"/>
              </p:ext>
            </p:extLst>
          </p:nvPr>
        </p:nvGraphicFramePr>
        <p:xfrm>
          <a:off x="5292080" y="4820761"/>
          <a:ext cx="2778171" cy="912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175"/>
                <a:gridCol w="689937"/>
                <a:gridCol w="1770059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D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77" y="3501008"/>
            <a:ext cx="4050449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924944"/>
            <a:ext cx="1542082" cy="1462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555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Biestable</a:t>
            </a:r>
            <a:r>
              <a:rPr lang="es-ES" sz="4600" dirty="0" smtClean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JK (</a:t>
            </a:r>
            <a:r>
              <a:rPr lang="es-CO" sz="2600" b="1" dirty="0"/>
              <a:t>Jack </a:t>
            </a:r>
            <a:r>
              <a:rPr lang="es-CO" sz="2600" b="1" dirty="0" err="1" smtClean="0"/>
              <a:t>Kilby</a:t>
            </a:r>
            <a:r>
              <a:rPr lang="es-ES" sz="2600" b="1" i="1" dirty="0" smtClean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668197"/>
              </p:ext>
            </p:extLst>
          </p:nvPr>
        </p:nvGraphicFramePr>
        <p:xfrm>
          <a:off x="5292080" y="4757127"/>
          <a:ext cx="2778171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480"/>
                <a:gridCol w="285480"/>
                <a:gridCol w="619040"/>
                <a:gridCol w="1588171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r>
                        <a:rPr lang="es-CO" sz="1800" b="1" u="none" strike="noStrike" baseline="0" dirty="0" smtClean="0">
                          <a:effectLst/>
                        </a:rPr>
                        <a:t>’</a:t>
                      </a:r>
                      <a:endParaRPr lang="es-CO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7 Rectángulo"/>
          <p:cNvSpPr/>
          <p:nvPr/>
        </p:nvSpPr>
        <p:spPr>
          <a:xfrm>
            <a:off x="224116" y="5384829"/>
            <a:ext cx="48519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Universal!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501008"/>
            <a:ext cx="4036026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852936"/>
            <a:ext cx="1705148" cy="1586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652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Biestable</a:t>
            </a:r>
            <a:r>
              <a:rPr lang="es-ES" sz="4600" dirty="0" smtClean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</a:t>
            </a:r>
            <a:r>
              <a:rPr lang="es-ES" sz="2600" b="1" i="1" dirty="0"/>
              <a:t>T</a:t>
            </a:r>
            <a:r>
              <a:rPr lang="es-ES" sz="2600" b="1" i="1" dirty="0" smtClean="0"/>
              <a:t> (</a:t>
            </a:r>
            <a:r>
              <a:rPr lang="es-ES" sz="2600" b="1" i="1" dirty="0" err="1" smtClean="0"/>
              <a:t>Toogle</a:t>
            </a:r>
            <a:r>
              <a:rPr lang="es-ES" sz="2600" b="1" i="1" dirty="0" smtClean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640915"/>
              </p:ext>
            </p:extLst>
          </p:nvPr>
        </p:nvGraphicFramePr>
        <p:xfrm>
          <a:off x="5535693" y="5108793"/>
          <a:ext cx="2492691" cy="912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480"/>
                <a:gridCol w="619040"/>
                <a:gridCol w="1588171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T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r>
                        <a:rPr lang="es-CO" sz="1800" b="1" u="none" strike="noStrike" baseline="0" dirty="0" smtClean="0">
                          <a:effectLst/>
                        </a:rPr>
                        <a:t>’</a:t>
                      </a:r>
                      <a:endParaRPr lang="es-CO" sz="1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7 Rectángulo"/>
          <p:cNvSpPr/>
          <p:nvPr/>
        </p:nvSpPr>
        <p:spPr>
          <a:xfrm>
            <a:off x="224116" y="5384829"/>
            <a:ext cx="48519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Un </a:t>
            </a:r>
            <a:r>
              <a:rPr lang="es-ES" sz="2400" b="1" i="1" dirty="0" err="1" smtClean="0"/>
              <a:t>Flip-Flop</a:t>
            </a:r>
            <a:r>
              <a:rPr lang="es-ES" sz="2400" b="1" i="1" dirty="0" smtClean="0"/>
              <a:t> T se puede hacer también a partir de un </a:t>
            </a:r>
            <a:r>
              <a:rPr lang="es-ES" sz="2400" b="1" i="1" dirty="0" err="1" smtClean="0"/>
              <a:t>Flip-Flop</a:t>
            </a:r>
            <a:r>
              <a:rPr lang="es-ES" sz="2400" b="1" i="1" dirty="0" smtClean="0"/>
              <a:t> RS.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12976"/>
            <a:ext cx="3348035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703" y="3062461"/>
            <a:ext cx="157162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11 Rectángulo"/>
          <p:cNvSpPr/>
          <p:nvPr/>
        </p:nvSpPr>
        <p:spPr>
          <a:xfrm>
            <a:off x="3059832" y="6218728"/>
            <a:ext cx="136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36518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132856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Circuitos que «cuentan» el número de veces que un evento ha ocurrido, en particular de una señal de reloj.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7 Rectángulo"/>
          <p:cNvSpPr/>
          <p:nvPr/>
        </p:nvSpPr>
        <p:spPr>
          <a:xfrm>
            <a:off x="817899" y="5487615"/>
            <a:ext cx="48519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Síncronos.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817899" y="3645024"/>
            <a:ext cx="48519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de Propagación o Asíncronos.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171" y="3262291"/>
            <a:ext cx="2770237" cy="1534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961" y="5036072"/>
            <a:ext cx="1996658" cy="1489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483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79512" y="1988840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ascendente de 4 bits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402477"/>
              </p:ext>
            </p:extLst>
          </p:nvPr>
        </p:nvGraphicFramePr>
        <p:xfrm>
          <a:off x="2339750" y="4365104"/>
          <a:ext cx="4392490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2290"/>
                <a:gridCol w="532341"/>
                <a:gridCol w="413608"/>
                <a:gridCol w="413608"/>
                <a:gridCol w="440643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MSB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1" u="none" strike="noStrike" baseline="0" dirty="0" smtClean="0">
                          <a:effectLst/>
                        </a:rPr>
                        <a:t>LSB</a:t>
                      </a:r>
                      <a:endParaRPr lang="es-CO" sz="16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smtClean="0">
                          <a:effectLst/>
                          <a:latin typeface="+mn-lt"/>
                        </a:rPr>
                        <a:t>15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286" y="2381528"/>
            <a:ext cx="5105412" cy="192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0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475656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ascendente de 3 bits MOD 6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278468"/>
              </p:ext>
            </p:extLst>
          </p:nvPr>
        </p:nvGraphicFramePr>
        <p:xfrm>
          <a:off x="4409542" y="3257520"/>
          <a:ext cx="3978882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023"/>
                <a:gridCol w="413608"/>
                <a:gridCol w="413608"/>
                <a:gridCol w="440643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 smtClean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7" y="3496989"/>
            <a:ext cx="3680155" cy="173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459797" y="5877272"/>
            <a:ext cx="59766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Un contador ascendiente de 4 bits MOD 10 es conocido también como Contador </a:t>
            </a:r>
            <a:r>
              <a:rPr lang="es-ES" sz="2400" i="1" dirty="0" err="1" smtClean="0"/>
              <a:t>decadal</a:t>
            </a:r>
            <a:r>
              <a:rPr lang="es-ES" sz="2400" i="1" dirty="0" smtClean="0"/>
              <a:t>.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444845" y="6029672"/>
            <a:ext cx="136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97367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403648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descendiente de 3 bits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192527"/>
              </p:ext>
            </p:extLst>
          </p:nvPr>
        </p:nvGraphicFramePr>
        <p:xfrm>
          <a:off x="4625566" y="3257520"/>
          <a:ext cx="3978882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023"/>
                <a:gridCol w="413608"/>
                <a:gridCol w="413608"/>
                <a:gridCol w="440643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 smtClean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90" y="3501008"/>
            <a:ext cx="4286890" cy="191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0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07504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ascendente de </a:t>
            </a:r>
            <a:r>
              <a:rPr lang="es-ES" sz="2400" i="1" dirty="0"/>
              <a:t>4</a:t>
            </a:r>
            <a:r>
              <a:rPr lang="es-ES" sz="2400" i="1" dirty="0" smtClean="0"/>
              <a:t> bits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88" y="3027947"/>
            <a:ext cx="4898167" cy="2417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79038"/>
              </p:ext>
            </p:extLst>
          </p:nvPr>
        </p:nvGraphicFramePr>
        <p:xfrm>
          <a:off x="5220073" y="2799824"/>
          <a:ext cx="3528391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6223"/>
                <a:gridCol w="360040"/>
                <a:gridCol w="360040"/>
                <a:gridCol w="438129"/>
                <a:gridCol w="353959"/>
              </a:tblGrid>
              <a:tr h="29069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 smtClean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smtClean="0">
                          <a:effectLst/>
                          <a:latin typeface="+mn-lt"/>
                        </a:rPr>
                        <a:t>15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9 Rectángulo"/>
          <p:cNvSpPr/>
          <p:nvPr/>
        </p:nvSpPr>
        <p:spPr>
          <a:xfrm>
            <a:off x="259904" y="5517232"/>
            <a:ext cx="5976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Al igual que con los contadores Asíncronos, los síncronos también se pueden diseñar descendentes y ascendentes con MOD 10.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444845" y="6029672"/>
            <a:ext cx="136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1840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899592" y="4688557"/>
            <a:ext cx="748883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Existen tres tipos básicos:</a:t>
            </a:r>
          </a:p>
          <a:p>
            <a:pPr marL="457200" indent="-457200" algn="ctr">
              <a:buAutoNum type="arabicPeriod"/>
            </a:pPr>
            <a:r>
              <a:rPr lang="es-ES" sz="2600" b="1" i="1" dirty="0" smtClean="0"/>
              <a:t>Registro de corrimiento o serie-serie.</a:t>
            </a:r>
          </a:p>
          <a:p>
            <a:pPr marL="457200" indent="-457200" algn="ctr">
              <a:buAutoNum type="arabicPeriod"/>
            </a:pPr>
            <a:r>
              <a:rPr lang="es-ES" sz="2600" b="1" i="1" dirty="0" smtClean="0"/>
              <a:t>Registro serie-paralelo.</a:t>
            </a:r>
          </a:p>
          <a:p>
            <a:pPr marL="457200" indent="-457200" algn="ctr">
              <a:buAutoNum type="arabicPeriod"/>
            </a:pPr>
            <a:r>
              <a:rPr lang="es-ES" sz="2600" b="1" i="1" dirty="0" smtClean="0"/>
              <a:t>Registro paralelo-serie.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467544" y="2309971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 i="1" dirty="0" smtClean="0"/>
              <a:t>Circuitos Secuenciales donde se almacena información temporalmente, para su uso posterior.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208" y="3359249"/>
            <a:ext cx="5181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2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0" name="9 Rectángulo"/>
          <p:cNvSpPr/>
          <p:nvPr/>
        </p:nvSpPr>
        <p:spPr>
          <a:xfrm>
            <a:off x="359160" y="229584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Registro de Corrimiento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41" y="2996952"/>
            <a:ext cx="8562975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323528" y="5445224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También se puede hacer un registro de corrimiento con </a:t>
            </a:r>
            <a:r>
              <a:rPr lang="es-ES" sz="2400" b="1" i="1" dirty="0" err="1" smtClean="0"/>
              <a:t>Flip-Flops</a:t>
            </a:r>
            <a:r>
              <a:rPr lang="es-ES" sz="2400" b="1" i="1" dirty="0" smtClean="0"/>
              <a:t> JK y D.</a:t>
            </a:r>
          </a:p>
        </p:txBody>
      </p:sp>
      <p:sp>
        <p:nvSpPr>
          <p:cNvPr id="9" name="8 Rectángulo"/>
          <p:cNvSpPr/>
          <p:nvPr/>
        </p:nvSpPr>
        <p:spPr>
          <a:xfrm>
            <a:off x="6504515" y="5629889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539552" y="5445224"/>
            <a:ext cx="748883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Se añade una salida en cada </a:t>
            </a:r>
            <a:r>
              <a:rPr lang="es-ES" sz="2600" b="1" i="1" dirty="0" err="1" smtClean="0"/>
              <a:t>biestable</a:t>
            </a:r>
            <a:r>
              <a:rPr lang="es-ES" sz="2600" b="1" i="1" dirty="0"/>
              <a:t>!</a:t>
            </a:r>
            <a:endParaRPr lang="es-ES" sz="2600" b="1" i="1" dirty="0" smtClean="0"/>
          </a:p>
          <a:p>
            <a:pPr algn="ctr"/>
            <a:r>
              <a:rPr lang="es-ES" sz="2600" b="1" i="1" dirty="0" smtClean="0"/>
              <a:t>Este registro es utilizado para cambiar una palabra de serie a paralelo.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467544" y="2204864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Registro Serie-Paralelo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38" y="2708920"/>
            <a:ext cx="7843035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6516216" y="6238894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0" name="9 Rectángulo"/>
          <p:cNvSpPr/>
          <p:nvPr/>
        </p:nvSpPr>
        <p:spPr>
          <a:xfrm>
            <a:off x="467544" y="2276872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Registro Paralelo-Serie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852936"/>
            <a:ext cx="5814986" cy="3573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6300192" y="3717032"/>
            <a:ext cx="27222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Su uso consiste en la conversión de una palabra de paralelo a serie.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3.5. </a:t>
            </a:r>
            <a:r>
              <a:rPr lang="es-ES" sz="4800" dirty="0"/>
              <a:t>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1835696" y="6129710"/>
            <a:ext cx="540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http://home.cogeco.ca/~rpaisley4/LM555.html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387" y="2558326"/>
            <a:ext cx="3579417" cy="268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C:\Users\Calelo\Desktop\aa-555-01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31" y="2256603"/>
            <a:ext cx="4960267" cy="324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49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 smtClean="0"/>
              <a:t>3.5. </a:t>
            </a:r>
            <a:r>
              <a:rPr lang="es-ES" sz="4800" dirty="0"/>
              <a:t>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60" y="2175247"/>
            <a:ext cx="7992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Monoestable</a:t>
            </a:r>
            <a:endParaRPr lang="es-ES" sz="2400" b="1" i="1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80928"/>
            <a:ext cx="7337451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81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 smtClean="0"/>
              <a:t>3.5. </a:t>
            </a:r>
            <a:r>
              <a:rPr lang="es-ES" sz="4800" dirty="0"/>
              <a:t>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59" y="2175247"/>
            <a:ext cx="78601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err="1" smtClean="0"/>
              <a:t>Astable</a:t>
            </a:r>
            <a:endParaRPr lang="es-ES" sz="2400" b="1" i="1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08920"/>
            <a:ext cx="6768752" cy="3502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182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 smtClean="0"/>
              <a:t>3.6. </a:t>
            </a:r>
            <a:r>
              <a:rPr lang="es-ES" sz="4800" dirty="0"/>
              <a:t>M</a:t>
            </a:r>
            <a:r>
              <a:rPr lang="es-ES" sz="4800" dirty="0" smtClean="0"/>
              <a:t>áquinas </a:t>
            </a:r>
            <a:r>
              <a:rPr lang="es-ES" sz="4800" dirty="0"/>
              <a:t>de estado.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59" y="2175247"/>
            <a:ext cx="78601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Circuitos secuenciales en una configuración tal que pasan por una serie de estados determinados por la configuración y las entradas del sistema.</a:t>
            </a:r>
            <a:endParaRPr lang="es-ES" sz="2400" b="1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474458"/>
            <a:ext cx="3528392" cy="3113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488727" y="3693561"/>
            <a:ext cx="46197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Herramientas para analizar una máquina de estados:</a:t>
            </a:r>
          </a:p>
          <a:p>
            <a:pPr algn="ctr"/>
            <a:r>
              <a:rPr lang="es-ES" sz="2400" i="1" dirty="0" smtClean="0"/>
              <a:t>Ecuaciones Lógicas</a:t>
            </a:r>
          </a:p>
          <a:p>
            <a:pPr algn="ctr"/>
            <a:r>
              <a:rPr lang="es-ES" sz="2400" i="1" dirty="0" smtClean="0"/>
              <a:t>Tabla de Estados</a:t>
            </a:r>
          </a:p>
          <a:p>
            <a:pPr algn="ctr"/>
            <a:r>
              <a:rPr lang="es-ES" sz="2400" i="1" dirty="0" smtClean="0"/>
              <a:t>Diagrama de Estado</a:t>
            </a:r>
          </a:p>
          <a:p>
            <a:pPr algn="ctr"/>
            <a:r>
              <a:rPr lang="es-ES" sz="2400" i="1" dirty="0" smtClean="0"/>
              <a:t>Tabla de transición de FF</a:t>
            </a:r>
          </a:p>
          <a:p>
            <a:pPr marL="342900" indent="-342900" algn="ctr">
              <a:buFontTx/>
              <a:buChar char="-"/>
            </a:pPr>
            <a:r>
              <a:rPr lang="es-ES" sz="2400" i="1" dirty="0" smtClean="0"/>
              <a:t>Mapa de </a:t>
            </a:r>
            <a:r>
              <a:rPr lang="es-ES" sz="2400" i="1" dirty="0" err="1" smtClean="0"/>
              <a:t>Karnaugh</a:t>
            </a:r>
            <a:r>
              <a:rPr lang="es-ES" sz="2400" i="1" dirty="0"/>
              <a:t>.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369047" y="4445325"/>
            <a:ext cx="13817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200" i="1" dirty="0" smtClean="0"/>
              <a:t>}</a:t>
            </a:r>
            <a:endParaRPr lang="es-ES" sz="4200" i="1" dirty="0"/>
          </a:p>
        </p:txBody>
      </p:sp>
      <p:sp>
        <p:nvSpPr>
          <p:cNvPr id="10" name="9 Rectángulo"/>
          <p:cNvSpPr/>
          <p:nvPr/>
        </p:nvSpPr>
        <p:spPr>
          <a:xfrm rot="10800000">
            <a:off x="4475085" y="5192909"/>
            <a:ext cx="13817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200" i="1" dirty="0" smtClean="0"/>
              <a:t>}</a:t>
            </a:r>
            <a:endParaRPr lang="es-ES" sz="4200" i="1" dirty="0"/>
          </a:p>
        </p:txBody>
      </p:sp>
      <p:sp>
        <p:nvSpPr>
          <p:cNvPr id="21" name="20 Flecha en U"/>
          <p:cNvSpPr/>
          <p:nvPr/>
        </p:nvSpPr>
        <p:spPr>
          <a:xfrm rot="5400000">
            <a:off x="8160275" y="4760420"/>
            <a:ext cx="685664" cy="683947"/>
          </a:xfrm>
          <a:prstGeom prst="uturnArrow">
            <a:avLst>
              <a:gd name="adj1" fmla="val 15251"/>
              <a:gd name="adj2" fmla="val 17340"/>
              <a:gd name="adj3" fmla="val 18037"/>
              <a:gd name="adj4" fmla="val 44271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5" name="24 Flecha en U"/>
          <p:cNvSpPr/>
          <p:nvPr/>
        </p:nvSpPr>
        <p:spPr>
          <a:xfrm rot="16200000">
            <a:off x="4362903" y="5474659"/>
            <a:ext cx="685664" cy="683947"/>
          </a:xfrm>
          <a:prstGeom prst="uturnArrow">
            <a:avLst>
              <a:gd name="adj1" fmla="val 15251"/>
              <a:gd name="adj2" fmla="val 17340"/>
              <a:gd name="adj3" fmla="val 18037"/>
              <a:gd name="adj4" fmla="val 44271"/>
              <a:gd name="adj5" fmla="val 75000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59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6" name="5 Rectángulo"/>
          <p:cNvSpPr/>
          <p:nvPr/>
        </p:nvSpPr>
        <p:spPr>
          <a:xfrm>
            <a:off x="539552" y="3064892"/>
            <a:ext cx="23762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Diseñar una máquina de estados que se comporte de la siguiente forma:</a:t>
            </a:r>
            <a:endParaRPr lang="es-ES" sz="2400" b="1" i="1" dirty="0"/>
          </a:p>
        </p:txBody>
      </p:sp>
      <p:grpSp>
        <p:nvGrpSpPr>
          <p:cNvPr id="4" name="3 Grupo"/>
          <p:cNvGrpSpPr/>
          <p:nvPr/>
        </p:nvGrpSpPr>
        <p:grpSpPr>
          <a:xfrm>
            <a:off x="5872908" y="2752360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" name="2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6088358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001</a:t>
              </a:r>
              <a:endParaRPr lang="es-ES" b="1" i="1" dirty="0"/>
            </a:p>
          </p:txBody>
        </p:sp>
      </p:grpSp>
      <p:grpSp>
        <p:nvGrpSpPr>
          <p:cNvPr id="10" name="9 Grupo"/>
          <p:cNvGrpSpPr/>
          <p:nvPr/>
        </p:nvGrpSpPr>
        <p:grpSpPr>
          <a:xfrm>
            <a:off x="7568604" y="3299026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1" name="10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100</a:t>
              </a:r>
              <a:endParaRPr lang="es-ES" b="1" i="1" dirty="0"/>
            </a:p>
          </p:txBody>
        </p:sp>
      </p:grpSp>
      <p:grpSp>
        <p:nvGrpSpPr>
          <p:cNvPr id="13" name="12 Grupo"/>
          <p:cNvGrpSpPr/>
          <p:nvPr/>
        </p:nvGrpSpPr>
        <p:grpSpPr>
          <a:xfrm>
            <a:off x="3824188" y="3603680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4" name="13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14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011</a:t>
              </a:r>
              <a:endParaRPr lang="es-ES" b="1" i="1" dirty="0"/>
            </a:p>
          </p:txBody>
        </p:sp>
      </p:grpSp>
      <p:grpSp>
        <p:nvGrpSpPr>
          <p:cNvPr id="16" name="15 Grupo"/>
          <p:cNvGrpSpPr/>
          <p:nvPr/>
        </p:nvGrpSpPr>
        <p:grpSpPr>
          <a:xfrm>
            <a:off x="7118533" y="5114162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7" name="16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17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110</a:t>
              </a:r>
              <a:endParaRPr lang="es-ES" b="1" i="1" dirty="0"/>
            </a:p>
          </p:txBody>
        </p:sp>
      </p:grpSp>
      <p:grpSp>
        <p:nvGrpSpPr>
          <p:cNvPr id="19" name="18 Grupo"/>
          <p:cNvGrpSpPr/>
          <p:nvPr/>
        </p:nvGrpSpPr>
        <p:grpSpPr>
          <a:xfrm>
            <a:off x="5152828" y="5114161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0" name="19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20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010</a:t>
              </a:r>
              <a:endParaRPr lang="es-ES" b="1" i="1" dirty="0"/>
            </a:p>
          </p:txBody>
        </p:sp>
      </p:grpSp>
      <p:sp>
        <p:nvSpPr>
          <p:cNvPr id="32" name="31 Flecha curvada hacia arriba"/>
          <p:cNvSpPr/>
          <p:nvPr/>
        </p:nvSpPr>
        <p:spPr>
          <a:xfrm rot="10800000">
            <a:off x="5859462" y="2434930"/>
            <a:ext cx="749617" cy="369332"/>
          </a:xfrm>
          <a:prstGeom prst="curvedUp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3" name="32 Flecha derecha"/>
          <p:cNvSpPr/>
          <p:nvPr/>
        </p:nvSpPr>
        <p:spPr>
          <a:xfrm rot="9370833">
            <a:off x="4487267" y="3412127"/>
            <a:ext cx="1389176" cy="275482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36 Flecha curvada hacia arriba"/>
          <p:cNvSpPr/>
          <p:nvPr/>
        </p:nvSpPr>
        <p:spPr>
          <a:xfrm rot="7240581">
            <a:off x="3387364" y="3530934"/>
            <a:ext cx="749617" cy="369332"/>
          </a:xfrm>
          <a:prstGeom prst="curvedUp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8" name="37 Flecha derecha"/>
          <p:cNvSpPr/>
          <p:nvPr/>
        </p:nvSpPr>
        <p:spPr>
          <a:xfrm rot="3069117">
            <a:off x="4223494" y="4733327"/>
            <a:ext cx="1065090" cy="2625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38 Flecha curvada hacia arriba"/>
          <p:cNvSpPr/>
          <p:nvPr/>
        </p:nvSpPr>
        <p:spPr>
          <a:xfrm rot="1209083">
            <a:off x="4973920" y="5812158"/>
            <a:ext cx="749617" cy="36933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40" name="39 Flecha derecha"/>
          <p:cNvSpPr/>
          <p:nvPr/>
        </p:nvSpPr>
        <p:spPr>
          <a:xfrm rot="19456151">
            <a:off x="5627527" y="4433367"/>
            <a:ext cx="2118839" cy="255185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40 Flecha curvada hacia arriba"/>
          <p:cNvSpPr/>
          <p:nvPr/>
        </p:nvSpPr>
        <p:spPr>
          <a:xfrm rot="19257827">
            <a:off x="7381472" y="5745156"/>
            <a:ext cx="749617" cy="369332"/>
          </a:xfrm>
          <a:prstGeom prst="curvedUp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42" name="41 Flecha derecha"/>
          <p:cNvSpPr/>
          <p:nvPr/>
        </p:nvSpPr>
        <p:spPr>
          <a:xfrm rot="10800000">
            <a:off x="5927279" y="5406306"/>
            <a:ext cx="1114027" cy="2625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42 Flecha derecha"/>
          <p:cNvSpPr/>
          <p:nvPr/>
        </p:nvSpPr>
        <p:spPr>
          <a:xfrm rot="6230050">
            <a:off x="7244590" y="4492416"/>
            <a:ext cx="944358" cy="2894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43 Flecha derecha"/>
          <p:cNvSpPr/>
          <p:nvPr/>
        </p:nvSpPr>
        <p:spPr>
          <a:xfrm rot="11893664">
            <a:off x="6646274" y="3245497"/>
            <a:ext cx="919842" cy="297320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44 Rectángulo"/>
          <p:cNvSpPr/>
          <p:nvPr/>
        </p:nvSpPr>
        <p:spPr>
          <a:xfrm>
            <a:off x="5729300" y="2151906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46" name="45 Rectángulo"/>
          <p:cNvSpPr/>
          <p:nvPr/>
        </p:nvSpPr>
        <p:spPr>
          <a:xfrm rot="1096599">
            <a:off x="6653988" y="3082067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7" name="46 Rectángulo"/>
          <p:cNvSpPr/>
          <p:nvPr/>
        </p:nvSpPr>
        <p:spPr>
          <a:xfrm rot="20062726">
            <a:off x="4519042" y="3228365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8" name="47 Rectángulo"/>
          <p:cNvSpPr/>
          <p:nvPr/>
        </p:nvSpPr>
        <p:spPr>
          <a:xfrm>
            <a:off x="5940152" y="5551140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9" name="48 Rectángulo"/>
          <p:cNvSpPr/>
          <p:nvPr/>
        </p:nvSpPr>
        <p:spPr>
          <a:xfrm rot="1006072">
            <a:off x="4533214" y="6088853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50" name="49 Rectángulo"/>
          <p:cNvSpPr/>
          <p:nvPr/>
        </p:nvSpPr>
        <p:spPr>
          <a:xfrm rot="3005757">
            <a:off x="3942978" y="4741044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51" name="50 Rectángulo"/>
          <p:cNvSpPr/>
          <p:nvPr/>
        </p:nvSpPr>
        <p:spPr>
          <a:xfrm rot="19449576">
            <a:off x="5945324" y="4361443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52" name="51 Rectángulo"/>
          <p:cNvSpPr/>
          <p:nvPr/>
        </p:nvSpPr>
        <p:spPr>
          <a:xfrm rot="17087024">
            <a:off x="7488268" y="4582711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53" name="52 Rectángulo"/>
          <p:cNvSpPr/>
          <p:nvPr/>
        </p:nvSpPr>
        <p:spPr>
          <a:xfrm rot="19331600">
            <a:off x="7438442" y="6000183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54" name="53 Rectángulo"/>
          <p:cNvSpPr/>
          <p:nvPr/>
        </p:nvSpPr>
        <p:spPr>
          <a:xfrm rot="19266279">
            <a:off x="3040905" y="3265838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6213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570472"/>
              </p:ext>
            </p:extLst>
          </p:nvPr>
        </p:nvGraphicFramePr>
        <p:xfrm>
          <a:off x="1125148" y="2559678"/>
          <a:ext cx="7131948" cy="349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3717"/>
                <a:gridCol w="640561"/>
                <a:gridCol w="643940"/>
                <a:gridCol w="732891"/>
                <a:gridCol w="666264"/>
                <a:gridCol w="599638"/>
                <a:gridCol w="685890"/>
                <a:gridCol w="366034"/>
                <a:gridCol w="388912"/>
                <a:gridCol w="343157"/>
                <a:gridCol w="394631"/>
                <a:gridCol w="320279"/>
                <a:gridCol w="366034"/>
              </a:tblGrid>
              <a:tr h="65173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 smtClean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8118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755576" y="6203404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¿Cómo llenar estos espacios?</a:t>
            </a:r>
            <a:endParaRPr lang="es-ES" sz="2400" b="1" i="1" dirty="0"/>
          </a:p>
        </p:txBody>
      </p:sp>
      <p:sp>
        <p:nvSpPr>
          <p:cNvPr id="8" name="7 Rectángulo"/>
          <p:cNvSpPr/>
          <p:nvPr/>
        </p:nvSpPr>
        <p:spPr>
          <a:xfrm>
            <a:off x="1164463" y="2069331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Tabla de Estados</a:t>
            </a:r>
            <a:endParaRPr lang="es-ES" sz="2400" b="1" i="1" dirty="0"/>
          </a:p>
        </p:txBody>
      </p:sp>
      <p:sp>
        <p:nvSpPr>
          <p:cNvPr id="4" name="3 Flecha doblada hacia arriba"/>
          <p:cNvSpPr/>
          <p:nvPr/>
        </p:nvSpPr>
        <p:spPr>
          <a:xfrm>
            <a:off x="6314660" y="6161013"/>
            <a:ext cx="850392" cy="330423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733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000789"/>
              </p:ext>
            </p:extLst>
          </p:nvPr>
        </p:nvGraphicFramePr>
        <p:xfrm>
          <a:off x="429443" y="3789040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K</a:t>
                      </a:r>
                      <a:endParaRPr lang="es-CO" sz="20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54918" y="5373216"/>
            <a:ext cx="30243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Tabla de transición del </a:t>
            </a:r>
            <a:r>
              <a:rPr lang="es-ES" sz="2200" b="1" i="1" dirty="0" err="1" smtClean="0"/>
              <a:t>Flip-Flop</a:t>
            </a:r>
            <a:r>
              <a:rPr lang="es-ES" sz="2200" b="1" i="1" dirty="0" smtClean="0"/>
              <a:t> JK</a:t>
            </a:r>
            <a:endParaRPr lang="es-ES" sz="2200" b="1" i="1" dirty="0"/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47048"/>
              </p:ext>
            </p:extLst>
          </p:nvPr>
        </p:nvGraphicFramePr>
        <p:xfrm>
          <a:off x="3203848" y="2852936"/>
          <a:ext cx="5760640" cy="3748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571"/>
                <a:gridCol w="517396"/>
                <a:gridCol w="520125"/>
                <a:gridCol w="591973"/>
                <a:gridCol w="538157"/>
                <a:gridCol w="484342"/>
                <a:gridCol w="554009"/>
                <a:gridCol w="295654"/>
                <a:gridCol w="314133"/>
                <a:gridCol w="277176"/>
                <a:gridCol w="318753"/>
                <a:gridCol w="258697"/>
                <a:gridCol w="295654"/>
              </a:tblGrid>
              <a:tr h="60343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 smtClean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103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 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1" name="10 Flecha curvada hacia abajo"/>
          <p:cNvSpPr/>
          <p:nvPr/>
        </p:nvSpPr>
        <p:spPr>
          <a:xfrm rot="21113696">
            <a:off x="1581124" y="2161757"/>
            <a:ext cx="6455641" cy="1071503"/>
          </a:xfrm>
          <a:prstGeom prst="curvedDown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95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87663"/>
              </p:ext>
            </p:extLst>
          </p:nvPr>
        </p:nvGraphicFramePr>
        <p:xfrm>
          <a:off x="429443" y="3789040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K</a:t>
                      </a:r>
                      <a:endParaRPr lang="es-CO" sz="20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54918" y="5373216"/>
            <a:ext cx="30243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Tabla de transición del </a:t>
            </a:r>
            <a:r>
              <a:rPr lang="es-ES" sz="2200" b="1" i="1" dirty="0" err="1" smtClean="0"/>
              <a:t>Flip-Flop</a:t>
            </a:r>
            <a:r>
              <a:rPr lang="es-ES" sz="2200" b="1" i="1" dirty="0" smtClean="0"/>
              <a:t> JK</a:t>
            </a:r>
            <a:endParaRPr lang="es-ES" sz="2200" b="1" i="1" dirty="0"/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594673"/>
              </p:ext>
            </p:extLst>
          </p:nvPr>
        </p:nvGraphicFramePr>
        <p:xfrm>
          <a:off x="3203848" y="2852936"/>
          <a:ext cx="5760640" cy="3748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571"/>
                <a:gridCol w="517396"/>
                <a:gridCol w="520125"/>
                <a:gridCol w="591973"/>
                <a:gridCol w="538157"/>
                <a:gridCol w="484342"/>
                <a:gridCol w="554009"/>
                <a:gridCol w="295654"/>
                <a:gridCol w="314133"/>
                <a:gridCol w="277176"/>
                <a:gridCol w="318753"/>
                <a:gridCol w="258697"/>
                <a:gridCol w="295654"/>
              </a:tblGrid>
              <a:tr h="60343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 smtClean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103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 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1" name="10 Flecha curvada hacia abajo"/>
          <p:cNvSpPr/>
          <p:nvPr/>
        </p:nvSpPr>
        <p:spPr>
          <a:xfrm rot="847500">
            <a:off x="1319205" y="3755937"/>
            <a:ext cx="5353462" cy="1788614"/>
          </a:xfrm>
          <a:prstGeom prst="curvedDownArrow">
            <a:avLst/>
          </a:prstGeom>
          <a:solidFill>
            <a:srgbClr val="46B846"/>
          </a:solidFill>
          <a:ln>
            <a:solidFill>
              <a:srgbClr val="46B8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9" name="8 Flecha curvada hacia abajo"/>
          <p:cNvSpPr/>
          <p:nvPr/>
        </p:nvSpPr>
        <p:spPr>
          <a:xfrm rot="11759315">
            <a:off x="195498" y="5774180"/>
            <a:ext cx="4148252" cy="894029"/>
          </a:xfrm>
          <a:prstGeom prst="curvedDown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" name="2 Elipse"/>
          <p:cNvSpPr/>
          <p:nvPr/>
        </p:nvSpPr>
        <p:spPr>
          <a:xfrm>
            <a:off x="3995936" y="5949280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Elipse"/>
          <p:cNvSpPr/>
          <p:nvPr/>
        </p:nvSpPr>
        <p:spPr>
          <a:xfrm>
            <a:off x="389062" y="4895430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11 Elipse"/>
          <p:cNvSpPr/>
          <p:nvPr/>
        </p:nvSpPr>
        <p:spPr>
          <a:xfrm>
            <a:off x="5652120" y="5960692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12 Elipse"/>
          <p:cNvSpPr/>
          <p:nvPr/>
        </p:nvSpPr>
        <p:spPr>
          <a:xfrm>
            <a:off x="1043608" y="4880572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13 Elipse"/>
          <p:cNvSpPr/>
          <p:nvPr/>
        </p:nvSpPr>
        <p:spPr>
          <a:xfrm>
            <a:off x="7134572" y="6003174"/>
            <a:ext cx="711696" cy="3997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14 Elipse"/>
          <p:cNvSpPr/>
          <p:nvPr/>
        </p:nvSpPr>
        <p:spPr>
          <a:xfrm>
            <a:off x="1691680" y="4895430"/>
            <a:ext cx="1008112" cy="3924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" name="4 Conector recto de flecha"/>
          <p:cNvCxnSpPr/>
          <p:nvPr/>
        </p:nvCxnSpPr>
        <p:spPr>
          <a:xfrm>
            <a:off x="2622054" y="5091677"/>
            <a:ext cx="4512518" cy="1050980"/>
          </a:xfrm>
          <a:prstGeom prst="straightConnector1">
            <a:avLst/>
          </a:prstGeom>
          <a:ln w="57150">
            <a:solidFill>
              <a:srgbClr val="840A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7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372403"/>
              </p:ext>
            </p:extLst>
          </p:nvPr>
        </p:nvGraphicFramePr>
        <p:xfrm>
          <a:off x="1115616" y="2708920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467544" y="2113806"/>
            <a:ext cx="79928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i="1" dirty="0" smtClean="0"/>
              <a:t>Funciones lógicas para las entradas J</a:t>
            </a:r>
            <a:r>
              <a:rPr lang="es-ES" sz="2200" i="1" baseline="-25000" dirty="0" smtClean="0"/>
              <a:t>i</a:t>
            </a:r>
            <a:r>
              <a:rPr lang="es-ES" sz="2200" i="1" dirty="0" smtClean="0"/>
              <a:t> K</a:t>
            </a:r>
            <a:r>
              <a:rPr lang="es-ES" sz="2200" i="1" baseline="-25000" dirty="0" smtClean="0"/>
              <a:t>i</a:t>
            </a:r>
            <a:r>
              <a:rPr lang="es-ES" sz="2200" i="1" dirty="0" smtClean="0"/>
              <a:t> de los </a:t>
            </a:r>
            <a:r>
              <a:rPr lang="es-ES" sz="2200" i="1" dirty="0" err="1" smtClean="0"/>
              <a:t>Flip-Flop</a:t>
            </a:r>
            <a:endParaRPr lang="es-ES" sz="2200" i="1" dirty="0"/>
          </a:p>
        </p:txBody>
      </p:sp>
      <p:graphicFrame>
        <p:nvGraphicFramePr>
          <p:cNvPr id="16" name="1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491448"/>
              </p:ext>
            </p:extLst>
          </p:nvPr>
        </p:nvGraphicFramePr>
        <p:xfrm>
          <a:off x="6012159" y="2708920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28549"/>
              </p:ext>
            </p:extLst>
          </p:nvPr>
        </p:nvGraphicFramePr>
        <p:xfrm>
          <a:off x="3563887" y="2708920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1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205036"/>
              </p:ext>
            </p:extLst>
          </p:nvPr>
        </p:nvGraphicFramePr>
        <p:xfrm>
          <a:off x="1115616" y="4819248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806058"/>
              </p:ext>
            </p:extLst>
          </p:nvPr>
        </p:nvGraphicFramePr>
        <p:xfrm>
          <a:off x="6012159" y="4819248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1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669116"/>
              </p:ext>
            </p:extLst>
          </p:nvPr>
        </p:nvGraphicFramePr>
        <p:xfrm>
          <a:off x="3563887" y="4819248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20 Rectángulo"/>
          <p:cNvSpPr/>
          <p:nvPr/>
        </p:nvSpPr>
        <p:spPr>
          <a:xfrm>
            <a:off x="986458" y="414908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J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X’</a:t>
            </a:r>
            <a:endParaRPr lang="es-ES" sz="2200" b="1" i="1" dirty="0"/>
          </a:p>
        </p:txBody>
      </p:sp>
      <p:sp>
        <p:nvSpPr>
          <p:cNvPr id="3" name="2 Elipse"/>
          <p:cNvSpPr/>
          <p:nvPr/>
        </p:nvSpPr>
        <p:spPr>
          <a:xfrm>
            <a:off x="1691680" y="2924944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21 Elipse"/>
          <p:cNvSpPr/>
          <p:nvPr/>
        </p:nvSpPr>
        <p:spPr>
          <a:xfrm>
            <a:off x="4163194" y="3212976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22 Rectángulo"/>
          <p:cNvSpPr/>
          <p:nvPr/>
        </p:nvSpPr>
        <p:spPr>
          <a:xfrm>
            <a:off x="3491880" y="414908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K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</a:t>
            </a:r>
            <a:endParaRPr lang="es-ES" sz="2200" b="1" i="1" dirty="0"/>
          </a:p>
        </p:txBody>
      </p:sp>
      <p:sp>
        <p:nvSpPr>
          <p:cNvPr id="24" name="23 Elipse"/>
          <p:cNvSpPr/>
          <p:nvPr/>
        </p:nvSpPr>
        <p:spPr>
          <a:xfrm>
            <a:off x="6641182" y="2924944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24 Elipse"/>
          <p:cNvSpPr/>
          <p:nvPr/>
        </p:nvSpPr>
        <p:spPr>
          <a:xfrm>
            <a:off x="6660232" y="3467100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25 Rectángulo"/>
          <p:cNvSpPr/>
          <p:nvPr/>
        </p:nvSpPr>
        <p:spPr>
          <a:xfrm>
            <a:off x="5815186" y="4221088"/>
            <a:ext cx="2523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i="1" dirty="0" err="1" smtClean="0"/>
              <a:t>J</a:t>
            </a:r>
            <a:r>
              <a:rPr lang="es-ES" sz="1600" b="1" i="1" baseline="-25000" dirty="0" err="1" smtClean="0"/>
              <a:t>b</a:t>
            </a:r>
            <a:r>
              <a:rPr lang="es-ES" sz="1600" b="1" i="1" dirty="0" smtClean="0"/>
              <a:t> = C’· X’ + C· X  =  C</a:t>
            </a:r>
            <a:r>
              <a:rPr lang="el-GR" sz="1600" b="1" i="1" dirty="0" smtClean="0"/>
              <a:t>Θ</a:t>
            </a:r>
            <a:r>
              <a:rPr lang="es-CO" sz="1600" b="1" i="1" dirty="0" smtClean="0"/>
              <a:t>X</a:t>
            </a:r>
            <a:endParaRPr lang="es-ES" sz="1600" b="1" i="1" dirty="0"/>
          </a:p>
        </p:txBody>
      </p:sp>
      <p:sp>
        <p:nvSpPr>
          <p:cNvPr id="27" name="26 Elipse"/>
          <p:cNvSpPr/>
          <p:nvPr/>
        </p:nvSpPr>
        <p:spPr>
          <a:xfrm>
            <a:off x="1638722" y="5033387"/>
            <a:ext cx="936104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27 Rectángulo"/>
          <p:cNvSpPr/>
          <p:nvPr/>
        </p:nvSpPr>
        <p:spPr>
          <a:xfrm>
            <a:off x="971600" y="623847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K</a:t>
            </a:r>
            <a:r>
              <a:rPr lang="es-ES" sz="2200" b="1" i="1" baseline="-25000" dirty="0" smtClean="0"/>
              <a:t>b</a:t>
            </a:r>
            <a:r>
              <a:rPr lang="es-ES" sz="2200" b="1" i="1" dirty="0" smtClean="0"/>
              <a:t> = A’· C’· X’</a:t>
            </a:r>
            <a:endParaRPr lang="es-ES" sz="2200" b="1" i="1" dirty="0"/>
          </a:p>
        </p:txBody>
      </p:sp>
      <p:sp>
        <p:nvSpPr>
          <p:cNvPr id="29" name="28 Rectángulo"/>
          <p:cNvSpPr/>
          <p:nvPr/>
        </p:nvSpPr>
        <p:spPr>
          <a:xfrm>
            <a:off x="3491880" y="623847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J</a:t>
            </a:r>
            <a:r>
              <a:rPr lang="es-ES" sz="2200" b="1" i="1" baseline="-25000" dirty="0" err="1" smtClean="0"/>
              <a:t>c</a:t>
            </a:r>
            <a:r>
              <a:rPr lang="es-ES" sz="2200" b="1" i="1" dirty="0" smtClean="0"/>
              <a:t> = A· B’· X</a:t>
            </a:r>
            <a:endParaRPr lang="es-ES" sz="2200" b="1" i="1" dirty="0"/>
          </a:p>
        </p:txBody>
      </p:sp>
      <p:sp>
        <p:nvSpPr>
          <p:cNvPr id="30" name="29 Elipse"/>
          <p:cNvSpPr/>
          <p:nvPr/>
        </p:nvSpPr>
        <p:spPr>
          <a:xfrm rot="16200000">
            <a:off x="5155493" y="5472865"/>
            <a:ext cx="629022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31 Elipse"/>
          <p:cNvSpPr/>
          <p:nvPr/>
        </p:nvSpPr>
        <p:spPr>
          <a:xfrm>
            <a:off x="7024464" y="5302368"/>
            <a:ext cx="742610" cy="7010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32 Rectángulo"/>
          <p:cNvSpPr/>
          <p:nvPr/>
        </p:nvSpPr>
        <p:spPr>
          <a:xfrm>
            <a:off x="5868144" y="623847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K</a:t>
            </a:r>
            <a:r>
              <a:rPr lang="es-ES" sz="2200" b="1" i="1" baseline="-25000" dirty="0" smtClean="0"/>
              <a:t>c</a:t>
            </a:r>
            <a:r>
              <a:rPr lang="es-ES" sz="2200" b="1" i="1" dirty="0" smtClean="0"/>
              <a:t> = B· X</a:t>
            </a:r>
            <a:endParaRPr lang="es-ES" sz="2200" b="1" i="1" dirty="0"/>
          </a:p>
        </p:txBody>
      </p:sp>
    </p:spTree>
    <p:extLst>
      <p:ext uri="{BB962C8B-B14F-4D97-AF65-F5344CB8AC3E}">
        <p14:creationId xmlns:p14="http://schemas.microsoft.com/office/powerpoint/2010/main" val="304724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332656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1" y="2607434"/>
            <a:ext cx="4856186" cy="4089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35496" y="2144469"/>
            <a:ext cx="500504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Circuito Lógico</a:t>
            </a:r>
            <a:endParaRPr lang="es-ES" sz="2600" b="1" i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537" y="3786733"/>
            <a:ext cx="39243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 redondeado"/>
          <p:cNvSpPr/>
          <p:nvPr/>
        </p:nvSpPr>
        <p:spPr>
          <a:xfrm>
            <a:off x="99291" y="2649698"/>
            <a:ext cx="4856186" cy="12705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7 Flecha curvada hacia abajo"/>
          <p:cNvSpPr/>
          <p:nvPr/>
        </p:nvSpPr>
        <p:spPr>
          <a:xfrm rot="1320335">
            <a:off x="4319327" y="2270911"/>
            <a:ext cx="3682944" cy="102659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015316" y="558924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J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X’</a:t>
            </a:r>
            <a:endParaRPr lang="es-ES" sz="2200" b="1" i="1" dirty="0"/>
          </a:p>
        </p:txBody>
      </p:sp>
      <p:sp>
        <p:nvSpPr>
          <p:cNvPr id="13" name="12 Rectángulo"/>
          <p:cNvSpPr/>
          <p:nvPr/>
        </p:nvSpPr>
        <p:spPr>
          <a:xfrm>
            <a:off x="6015316" y="602361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K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</a:t>
            </a:r>
            <a:endParaRPr lang="es-ES" sz="2200" b="1" i="1" dirty="0"/>
          </a:p>
        </p:txBody>
      </p:sp>
    </p:spTree>
    <p:extLst>
      <p:ext uri="{BB962C8B-B14F-4D97-AF65-F5344CB8AC3E}">
        <p14:creationId xmlns:p14="http://schemas.microsoft.com/office/powerpoint/2010/main" val="9687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2044</TotalTime>
  <Words>1478</Words>
  <Application>Microsoft Office PowerPoint</Application>
  <PresentationFormat>Presentación en pantalla (4:3)</PresentationFormat>
  <Paragraphs>1059</Paragraphs>
  <Slides>29</Slides>
  <Notes>21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0" baseType="lpstr">
      <vt:lpstr>Cartoné</vt:lpstr>
      <vt:lpstr>3. Sistemas Secuenciales.</vt:lpstr>
      <vt:lpstr>3.1. Lógica secuencial.</vt:lpstr>
      <vt:lpstr>3.1. Lógica secuencial.</vt:lpstr>
      <vt:lpstr>3.2. Biestable.</vt:lpstr>
      <vt:lpstr>3.2. Biestable.</vt:lpstr>
      <vt:lpstr>3.2. Biestable.</vt:lpstr>
      <vt:lpstr>3.2. Biestable.</vt:lpstr>
      <vt:lpstr>3.2. Biestable.</vt:lpstr>
      <vt:lpstr>3.2. Biestable.</vt:lpstr>
      <vt:lpstr>3.2. Biestable.</vt:lpstr>
      <vt:lpstr>3.3. Contadores.</vt:lpstr>
      <vt:lpstr>3.3. Contadores.</vt:lpstr>
      <vt:lpstr>3.3. Contadores.</vt:lpstr>
      <vt:lpstr>3.3. Contadores.</vt:lpstr>
      <vt:lpstr>3.3. Contadores.</vt:lpstr>
      <vt:lpstr>3.4. Registros.</vt:lpstr>
      <vt:lpstr>3.4. Registros.</vt:lpstr>
      <vt:lpstr>3.4. Registros.</vt:lpstr>
      <vt:lpstr>3.4. Registros.</vt:lpstr>
      <vt:lpstr>3.5. Temporizador 555.</vt:lpstr>
      <vt:lpstr>3.5. Temporizador 555.</vt:lpstr>
      <vt:lpstr>3.5. Temporizador 555.</vt:lpstr>
      <vt:lpstr>3.6. Máquinas de estado.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optodigital1</cp:lastModifiedBy>
  <cp:revision>379</cp:revision>
  <dcterms:created xsi:type="dcterms:W3CDTF">2011-01-25T07:15:41Z</dcterms:created>
  <dcterms:modified xsi:type="dcterms:W3CDTF">2017-02-10T12:52:58Z</dcterms:modified>
</cp:coreProperties>
</file>
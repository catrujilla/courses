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6"/>
  </p:notesMasterIdLst>
  <p:sldIdLst>
    <p:sldId id="256" r:id="rId2"/>
    <p:sldId id="257" r:id="rId3"/>
    <p:sldId id="269" r:id="rId4"/>
    <p:sldId id="273" r:id="rId5"/>
    <p:sldId id="274" r:id="rId6"/>
    <p:sldId id="259" r:id="rId7"/>
    <p:sldId id="268" r:id="rId8"/>
    <p:sldId id="275" r:id="rId9"/>
    <p:sldId id="270" r:id="rId10"/>
    <p:sldId id="276" r:id="rId11"/>
    <p:sldId id="277" r:id="rId12"/>
    <p:sldId id="278" r:id="rId13"/>
    <p:sldId id="271" r:id="rId14"/>
    <p:sldId id="272" r:id="rId15"/>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95DD5203-7600-4D3F-9C3E-4D6D1CF3420D}">
          <p14:sldIdLst>
            <p14:sldId id="256"/>
            <p14:sldId id="257"/>
            <p14:sldId id="269"/>
            <p14:sldId id="273"/>
            <p14:sldId id="274"/>
            <p14:sldId id="259"/>
            <p14:sldId id="268"/>
            <p14:sldId id="275"/>
            <p14:sldId id="270"/>
            <p14:sldId id="276"/>
            <p14:sldId id="277"/>
            <p14:sldId id="278"/>
            <p14:sldId id="271"/>
            <p14:sldId id="27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D283"/>
    <a:srgbClr val="281997"/>
    <a:srgbClr val="46B846"/>
    <a:srgbClr val="ED8C2B"/>
    <a:srgbClr val="840A38"/>
    <a:srgbClr val="990033"/>
    <a:srgbClr val="1510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380" autoAdjust="0"/>
  </p:normalViewPr>
  <p:slideViewPr>
    <p:cSldViewPr>
      <p:cViewPr varScale="1">
        <p:scale>
          <a:sx n="80" d="100"/>
          <a:sy n="80" d="100"/>
        </p:scale>
        <p:origin x="1522"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D4DB5F-8441-46BC-A2C2-D8C77AB445A6}" type="datetimeFigureOut">
              <a:rPr lang="es-CO" smtClean="0"/>
              <a:t>17/04/2017</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987BBB-A4C9-40A5-B74E-E45C8F585478}" type="slidenum">
              <a:rPr lang="es-CO" smtClean="0"/>
              <a:t>‹Nº›</a:t>
            </a:fld>
            <a:endParaRPr lang="es-CO"/>
          </a:p>
        </p:txBody>
      </p:sp>
    </p:spTree>
    <p:extLst>
      <p:ext uri="{BB962C8B-B14F-4D97-AF65-F5344CB8AC3E}">
        <p14:creationId xmlns:p14="http://schemas.microsoft.com/office/powerpoint/2010/main" val="3365837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061571ED-39D6-443C-9EF8-3AD8EC129B98}" type="datetimeFigureOut">
              <a:rPr lang="es-CO" smtClean="0"/>
              <a:pPr/>
              <a:t>17/04/2017</a:t>
            </a:fld>
            <a:endParaRPr lang="es-CO"/>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s-CO"/>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6FB919A-4838-4492-BE31-B5808E3145DF}" type="slidenum">
              <a:rPr lang="es-CO" smtClean="0"/>
              <a:pPr/>
              <a:t>‹Nº›</a:t>
            </a:fld>
            <a:endParaRPr lang="es-CO"/>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061571ED-39D6-443C-9EF8-3AD8EC129B98}" type="datetimeFigureOut">
              <a:rPr lang="es-CO" smtClean="0"/>
              <a:pPr/>
              <a:t>17/04/2017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
        <p:nvSpPr>
          <p:cNvPr id="11" name="Title 10"/>
          <p:cNvSpPr>
            <a:spLocks noGrp="1"/>
          </p:cNvSpPr>
          <p:nvPr>
            <p:ph type="title"/>
          </p:nvPr>
        </p:nvSpPr>
        <p:spPr/>
        <p:txBody>
          <a:bodyPr/>
          <a:lstStyle/>
          <a:p>
            <a:r>
              <a:rPr lang="es-ES" smtClean="0"/>
              <a:t>Haga clic para modificar el estilo de título del patrón</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061571ED-39D6-443C-9EF8-3AD8EC129B98}" type="datetimeFigureOut">
              <a:rPr lang="es-CO" smtClean="0"/>
              <a:pPr/>
              <a:t>17/04/2017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61571ED-39D6-443C-9EF8-3AD8EC129B98}" type="datetimeFigureOut">
              <a:rPr lang="es-CO" smtClean="0"/>
              <a:pPr/>
              <a:t>17/04/2017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
        <p:nvSpPr>
          <p:cNvPr id="12" name="Title 11"/>
          <p:cNvSpPr>
            <a:spLocks noGrp="1"/>
          </p:cNvSpPr>
          <p:nvPr>
            <p:ph type="title"/>
          </p:nvPr>
        </p:nvSpPr>
        <p:spPr/>
        <p:txBody>
          <a:bodyPr/>
          <a:lstStyle>
            <a:lvl1pPr>
              <a:defRPr>
                <a:solidFill>
                  <a:schemeClr val="tx2"/>
                </a:solidFill>
              </a:defRPr>
            </a:lvl1pPr>
          </a:lstStyle>
          <a:p>
            <a:r>
              <a:rPr lang="es-ES" smtClean="0"/>
              <a:t>Haga clic para modificar el estilo de título del patrón</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061571ED-39D6-443C-9EF8-3AD8EC129B98}" type="datetimeFigureOut">
              <a:rPr lang="es-CO" smtClean="0"/>
              <a:pPr/>
              <a:t>17/04/2017</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061571ED-39D6-443C-9EF8-3AD8EC129B98}" type="datetimeFigureOut">
              <a:rPr lang="es-CO" smtClean="0"/>
              <a:pPr/>
              <a:t>17/04/2017</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1571ED-39D6-443C-9EF8-3AD8EC129B98}" type="datetimeFigureOut">
              <a:rPr lang="es-CO" smtClean="0"/>
              <a:pPr/>
              <a:t>17/04/2017</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C6FB919A-4838-4492-BE31-B5808E3145DF}" type="slidenum">
              <a:rPr lang="es-CO" smtClean="0"/>
              <a:pPr/>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s-ES" smtClean="0"/>
              <a:t>Haga clic para modificar el estilo de título del patrón</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17/04/2017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s-ES" smtClean="0"/>
              <a:t>Haga clic para modificar el estilo de título del patrón</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17/04/2017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p:txBody>
          <a:bodyPr vert="eaVert" anchor="ct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061571ED-39D6-443C-9EF8-3AD8EC129B98}" type="datetimeFigureOut">
              <a:rPr lang="es-CO" smtClean="0"/>
              <a:pPr/>
              <a:t>17/04/2017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061571ED-39D6-443C-9EF8-3AD8EC129B98}" type="datetimeFigureOut">
              <a:rPr lang="es-CO" smtClean="0"/>
              <a:pPr/>
              <a:t>17/04/2017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061571ED-39D6-443C-9EF8-3AD8EC129B98}" type="datetimeFigureOut">
              <a:rPr lang="es-CO" smtClean="0"/>
              <a:pPr/>
              <a:t>17/04/2017</a:t>
            </a:fld>
            <a:endParaRPr lang="es-CO"/>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s-CO"/>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C6FB919A-4838-4492-BE31-B5808E3145DF}" type="slidenum">
              <a:rPr lang="es-CO" smtClean="0"/>
              <a:pPr/>
              <a:t>‹Nº›</a:t>
            </a:fld>
            <a:endParaRPr lang="es-CO"/>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3568" y="1025302"/>
            <a:ext cx="7772400" cy="1827634"/>
          </a:xfrm>
        </p:spPr>
        <p:txBody>
          <a:bodyPr>
            <a:normAutofit/>
          </a:bodyPr>
          <a:lstStyle/>
          <a:p>
            <a:r>
              <a:rPr lang="es-ES" sz="5600" dirty="0">
                <a:effectLst/>
              </a:rPr>
              <a:t>7</a:t>
            </a:r>
            <a:r>
              <a:rPr lang="es-ES" sz="5600" dirty="0" smtClean="0">
                <a:effectLst/>
              </a:rPr>
              <a:t>. </a:t>
            </a:r>
            <a:r>
              <a:rPr lang="es-ES" sz="5600" dirty="0" smtClean="0">
                <a:effectLst/>
              </a:rPr>
              <a:t>Conversión Análogo-Digital</a:t>
            </a:r>
            <a:endParaRPr lang="es-CO" sz="5600" dirty="0"/>
          </a:p>
        </p:txBody>
      </p:sp>
      <p:sp>
        <p:nvSpPr>
          <p:cNvPr id="3" name="2 Subtítulo"/>
          <p:cNvSpPr>
            <a:spLocks noGrp="1"/>
          </p:cNvSpPr>
          <p:nvPr>
            <p:ph type="subTitle" idx="1"/>
          </p:nvPr>
        </p:nvSpPr>
        <p:spPr>
          <a:xfrm>
            <a:off x="1403648" y="3645024"/>
            <a:ext cx="6400800" cy="3024336"/>
          </a:xfrm>
        </p:spPr>
        <p:txBody>
          <a:bodyPr>
            <a:normAutofit fontScale="92500"/>
          </a:bodyPr>
          <a:lstStyle/>
          <a:p>
            <a:r>
              <a:rPr lang="es-CO" dirty="0" smtClean="0"/>
              <a:t>7.1</a:t>
            </a:r>
            <a:r>
              <a:rPr lang="es-CO" dirty="0"/>
              <a:t>. </a:t>
            </a:r>
            <a:r>
              <a:rPr lang="es-CO" dirty="0" smtClean="0"/>
              <a:t>¿Qué es una conversión AD?</a:t>
            </a:r>
          </a:p>
          <a:p>
            <a:r>
              <a:rPr lang="es-ES" dirty="0"/>
              <a:t>7</a:t>
            </a:r>
            <a:r>
              <a:rPr lang="es-ES" dirty="0" smtClean="0"/>
              <a:t>.2</a:t>
            </a:r>
            <a:r>
              <a:rPr lang="es-ES" dirty="0"/>
              <a:t>. </a:t>
            </a:r>
            <a:r>
              <a:rPr lang="es-CO" dirty="0" smtClean="0"/>
              <a:t>Resolución, Error de </a:t>
            </a:r>
            <a:r>
              <a:rPr lang="es-CO" dirty="0" err="1" smtClean="0"/>
              <a:t>cuantización</a:t>
            </a:r>
            <a:r>
              <a:rPr lang="es-CO" dirty="0"/>
              <a:t> </a:t>
            </a:r>
            <a:r>
              <a:rPr lang="es-CO" dirty="0" smtClean="0"/>
              <a:t>y Precisión</a:t>
            </a:r>
          </a:p>
          <a:p>
            <a:r>
              <a:rPr lang="es-ES" dirty="0"/>
              <a:t>7</a:t>
            </a:r>
            <a:r>
              <a:rPr lang="es-ES" dirty="0" smtClean="0"/>
              <a:t>.3</a:t>
            </a:r>
            <a:r>
              <a:rPr lang="es-ES" dirty="0"/>
              <a:t>. </a:t>
            </a:r>
            <a:r>
              <a:rPr lang="es-ES" dirty="0" smtClean="0"/>
              <a:t>Frecuencia de </a:t>
            </a:r>
            <a:r>
              <a:rPr lang="es-ES" dirty="0" smtClean="0"/>
              <a:t>muestreo</a:t>
            </a:r>
          </a:p>
          <a:p>
            <a:r>
              <a:rPr lang="es-ES" dirty="0"/>
              <a:t>7</a:t>
            </a:r>
            <a:r>
              <a:rPr lang="es-ES" dirty="0" smtClean="0"/>
              <a:t>.4</a:t>
            </a:r>
            <a:r>
              <a:rPr lang="es-ES" dirty="0" smtClean="0"/>
              <a:t>. </a:t>
            </a:r>
            <a:r>
              <a:rPr lang="es-ES" i="1" dirty="0" err="1" smtClean="0"/>
              <a:t>Aliasing</a:t>
            </a:r>
            <a:r>
              <a:rPr lang="es-ES" dirty="0"/>
              <a:t> </a:t>
            </a:r>
            <a:r>
              <a:rPr lang="es-ES" dirty="0" smtClean="0"/>
              <a:t>y </a:t>
            </a:r>
            <a:r>
              <a:rPr lang="es-ES" dirty="0" err="1"/>
              <a:t>s</a:t>
            </a:r>
            <a:r>
              <a:rPr lang="es-ES" dirty="0" err="1" smtClean="0"/>
              <a:t>obremuestreo</a:t>
            </a:r>
            <a:endParaRPr lang="es-ES" dirty="0" smtClean="0"/>
          </a:p>
          <a:p>
            <a:r>
              <a:rPr lang="es-ES" dirty="0"/>
              <a:t>7</a:t>
            </a:r>
            <a:r>
              <a:rPr lang="es-ES" dirty="0" smtClean="0"/>
              <a:t>.5 </a:t>
            </a:r>
            <a:r>
              <a:rPr lang="es-ES" dirty="0" smtClean="0"/>
              <a:t>Tipos de ADC</a:t>
            </a:r>
          </a:p>
          <a:p>
            <a:r>
              <a:rPr lang="es-ES" dirty="0"/>
              <a:t>7</a:t>
            </a:r>
            <a:r>
              <a:rPr lang="es-ES" dirty="0" smtClean="0"/>
              <a:t>.6 </a:t>
            </a:r>
            <a:r>
              <a:rPr lang="es-ES" dirty="0" smtClean="0"/>
              <a:t>Aplicaciones</a:t>
            </a:r>
          </a:p>
          <a:p>
            <a:r>
              <a:rPr lang="es-ES" dirty="0"/>
              <a:t>7</a:t>
            </a:r>
            <a:r>
              <a:rPr lang="es-ES" dirty="0" smtClean="0"/>
              <a:t>.7 </a:t>
            </a:r>
            <a:r>
              <a:rPr lang="es-ES" dirty="0" smtClean="0"/>
              <a:t>¿Cómo lo hace el PIC?</a:t>
            </a:r>
          </a:p>
        </p:txBody>
      </p:sp>
      <p:sp>
        <p:nvSpPr>
          <p:cNvPr id="4" name="3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5" name="2 Subtítulo"/>
          <p:cNvSpPr txBox="1">
            <a:spLocks/>
          </p:cNvSpPr>
          <p:nvPr/>
        </p:nvSpPr>
        <p:spPr>
          <a:xfrm>
            <a:off x="-108520" y="476672"/>
            <a:ext cx="4032448" cy="576064"/>
          </a:xfrm>
          <a:prstGeom prst="rect">
            <a:avLst/>
          </a:prstGeom>
        </p:spPr>
        <p:txBody>
          <a:bodyPr vert="horz" lIns="91440" tIns="45720" rIns="91440" bIns="45720" rtlCol="0">
            <a:normAutofit fontScale="70000" lnSpcReduction="20000"/>
          </a:bodyPr>
          <a:lstStyle>
            <a:lvl1pPr marL="0" indent="0" algn="ctr" defTabSz="914400" rtl="0" eaLnBrk="1" latinLnBrk="0" hangingPunct="1">
              <a:spcBef>
                <a:spcPct val="20000"/>
              </a:spcBef>
              <a:buClr>
                <a:schemeClr val="accent1"/>
              </a:buClr>
              <a:buFont typeface="Wingdings" pitchFamily="2" charset="2"/>
              <a:buNone/>
              <a:defRPr sz="2400" kern="1200">
                <a:solidFill>
                  <a:schemeClr val="tx1"/>
                </a:solidFill>
                <a:effectLst>
                  <a:outerShdw blurRad="34925" dist="12700" dir="14400000" rotWithShape="0">
                    <a:prstClr val="black">
                      <a:alpha val="21000"/>
                    </a:prstClr>
                  </a:outerShdw>
                </a:effectLst>
                <a:latin typeface="+mn-lt"/>
                <a:ea typeface="+mn-ea"/>
                <a:cs typeface="+mn-cs"/>
              </a:defRPr>
            </a:lvl1pPr>
            <a:lvl2pPr marL="457200" indent="0" algn="ctr" defTabSz="914400" rtl="0" eaLnBrk="1" latinLnBrk="0" hangingPunct="1">
              <a:spcBef>
                <a:spcPct val="20000"/>
              </a:spcBef>
              <a:buClr>
                <a:schemeClr val="accent1"/>
              </a:buClr>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1"/>
              </a:buClr>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1"/>
              </a:buClr>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1"/>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9pPr>
          </a:lstStyle>
          <a:p>
            <a:r>
              <a:rPr lang="es-ES" i="1" dirty="0" smtClean="0">
                <a:effectLst/>
              </a:rPr>
              <a:t>Abril 19 </a:t>
            </a:r>
            <a:r>
              <a:rPr lang="es-ES" i="1" dirty="0" smtClean="0">
                <a:effectLst/>
              </a:rPr>
              <a:t>de </a:t>
            </a:r>
            <a:r>
              <a:rPr lang="es-ES" i="1" dirty="0" smtClean="0">
                <a:effectLst/>
              </a:rPr>
              <a:t>2017  </a:t>
            </a:r>
            <a:endParaRPr lang="es-ES" i="1" dirty="0" smtClean="0">
              <a:effectLst/>
            </a:endParaRPr>
          </a:p>
          <a:p>
            <a:r>
              <a:rPr lang="es-ES" i="1" dirty="0" smtClean="0">
                <a:effectLst/>
              </a:rPr>
              <a:t>Taller V UNALMED</a:t>
            </a:r>
          </a:p>
        </p:txBody>
      </p:sp>
    </p:spTree>
    <p:extLst>
      <p:ext uri="{BB962C8B-B14F-4D97-AF65-F5344CB8AC3E}">
        <p14:creationId xmlns:p14="http://schemas.microsoft.com/office/powerpoint/2010/main" val="40873791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7987965" cy="1054250"/>
          </a:xfrm>
        </p:spPr>
        <p:txBody>
          <a:bodyPr/>
          <a:lstStyle/>
          <a:p>
            <a:r>
              <a:rPr lang="es-CO" sz="4000" dirty="0"/>
              <a:t>7</a:t>
            </a:r>
            <a:r>
              <a:rPr lang="es-CO" sz="4000" dirty="0" smtClean="0"/>
              <a:t>.1</a:t>
            </a:r>
            <a:r>
              <a:rPr lang="es-CO" sz="4000" dirty="0" smtClean="0"/>
              <a:t>. </a:t>
            </a:r>
            <a:r>
              <a:rPr lang="es-ES" sz="4000" dirty="0"/>
              <a:t>¿Qué es una conversión AD?</a:t>
            </a:r>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229200"/>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dirty="0" smtClean="0"/>
              <a:t>Es el proceso mediante el cual un </a:t>
            </a:r>
            <a:r>
              <a:rPr lang="es-CO" i="1" dirty="0" smtClean="0"/>
              <a:t>dispositivo (un integrado, un microcontrolador…)</a:t>
            </a:r>
            <a:r>
              <a:rPr lang="es-CO" dirty="0" smtClean="0"/>
              <a:t> </a:t>
            </a:r>
            <a:r>
              <a:rPr lang="es-CO" dirty="0" smtClean="0"/>
              <a:t>convierte una cantidad física continua (</a:t>
            </a:r>
            <a:r>
              <a:rPr lang="es-CO" i="1" dirty="0" smtClean="0"/>
              <a:t>voltaje</a:t>
            </a:r>
            <a:r>
              <a:rPr lang="es-CO" dirty="0" smtClean="0"/>
              <a:t>) en un número digital que representa la amplitud de la cantidad.</a:t>
            </a:r>
            <a:endParaRPr lang="es-CO" dirty="0"/>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2404" y="2420888"/>
            <a:ext cx="3865612" cy="2113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2 Subtítulo"/>
          <p:cNvSpPr txBox="1">
            <a:spLocks/>
          </p:cNvSpPr>
          <p:nvPr/>
        </p:nvSpPr>
        <p:spPr>
          <a:xfrm>
            <a:off x="4779753" y="4581127"/>
            <a:ext cx="3896703"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400" dirty="0" smtClean="0"/>
              <a:t>http://www.karbosguide.com/hardware/module7c1.htm</a:t>
            </a:r>
            <a:endParaRPr lang="es-CO" sz="1400" dirty="0"/>
          </a:p>
        </p:txBody>
      </p:sp>
      <p:pic>
        <p:nvPicPr>
          <p:cNvPr id="3" name="Imagen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5536" y="2564904"/>
            <a:ext cx="4231330" cy="1393084"/>
          </a:xfrm>
          <a:prstGeom prst="rect">
            <a:avLst/>
          </a:prstGeom>
        </p:spPr>
      </p:pic>
      <p:sp>
        <p:nvSpPr>
          <p:cNvPr id="4" name="Elipse 3"/>
          <p:cNvSpPr/>
          <p:nvPr/>
        </p:nvSpPr>
        <p:spPr>
          <a:xfrm>
            <a:off x="962644" y="2627663"/>
            <a:ext cx="1377108" cy="13279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2 Subtítulo"/>
          <p:cNvSpPr txBox="1">
            <a:spLocks/>
          </p:cNvSpPr>
          <p:nvPr/>
        </p:nvSpPr>
        <p:spPr>
          <a:xfrm>
            <a:off x="541253" y="4149078"/>
            <a:ext cx="3896703"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400" dirty="0" smtClean="0"/>
              <a:t>http://macao.communications.museum/eng/exhibition/secondfloor/MoreInfo/ADConverter.html</a:t>
            </a:r>
            <a:endParaRPr lang="es-CO" sz="1400" dirty="0"/>
          </a:p>
        </p:txBody>
      </p:sp>
    </p:spTree>
    <p:extLst>
      <p:ext uri="{BB962C8B-B14F-4D97-AF65-F5344CB8AC3E}">
        <p14:creationId xmlns:p14="http://schemas.microsoft.com/office/powerpoint/2010/main" val="24886549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570156"/>
            <a:ext cx="8496944" cy="1054250"/>
          </a:xfrm>
        </p:spPr>
        <p:txBody>
          <a:bodyPr/>
          <a:lstStyle/>
          <a:p>
            <a:r>
              <a:rPr lang="es-ES" sz="3600" dirty="0" smtClean="0"/>
              <a:t>7</a:t>
            </a:r>
            <a:r>
              <a:rPr lang="es-ES" sz="3600" dirty="0" smtClean="0"/>
              <a:t>.2.1. Resolución</a:t>
            </a:r>
            <a:endParaRPr lang="es-ES" sz="3600" dirty="0"/>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373216"/>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dirty="0"/>
              <a:t>La resolución de un </a:t>
            </a:r>
            <a:r>
              <a:rPr lang="es-ES" dirty="0" smtClean="0"/>
              <a:t>ADC indica </a:t>
            </a:r>
            <a:r>
              <a:rPr lang="es-ES" dirty="0"/>
              <a:t>el número de valores discretos </a:t>
            </a:r>
            <a:r>
              <a:rPr lang="es-ES" dirty="0" smtClean="0"/>
              <a:t>de salida que </a:t>
            </a:r>
            <a:r>
              <a:rPr lang="es-ES" dirty="0"/>
              <a:t>puede producir </a:t>
            </a:r>
            <a:r>
              <a:rPr lang="es-ES" dirty="0" smtClean="0"/>
              <a:t>este dispositivo para su rango </a:t>
            </a:r>
            <a:r>
              <a:rPr lang="es-ES" dirty="0"/>
              <a:t>de valores </a:t>
            </a:r>
            <a:r>
              <a:rPr lang="es-ES" dirty="0" smtClean="0"/>
              <a:t>análogos de </a:t>
            </a:r>
            <a:r>
              <a:rPr lang="es-ES" dirty="0" smtClean="0"/>
              <a:t>entrada permitidos.</a:t>
            </a:r>
            <a:endParaRPr lang="es-CO" dirty="0"/>
          </a:p>
        </p:txBody>
      </p:sp>
      <p:pic>
        <p:nvPicPr>
          <p:cNvPr id="1026" name="Picture 2" descr="http://m.eet.com/media/1050787/C0306-Figure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2132856"/>
            <a:ext cx="3528392" cy="3072134"/>
          </a:xfrm>
          <a:prstGeom prst="rect">
            <a:avLst/>
          </a:prstGeom>
          <a:noFill/>
          <a:extLst>
            <a:ext uri="{909E8E84-426E-40DD-AFC4-6F175D3DCCD1}">
              <a14:hiddenFill xmlns:a14="http://schemas.microsoft.com/office/drawing/2010/main">
                <a:solidFill>
                  <a:srgbClr val="FFFFFF"/>
                </a:solidFill>
              </a14:hiddenFill>
            </a:ext>
          </a:extLst>
        </p:spPr>
      </p:pic>
      <p:sp>
        <p:nvSpPr>
          <p:cNvPr id="3" name="2 Elipse"/>
          <p:cNvSpPr/>
          <p:nvPr/>
        </p:nvSpPr>
        <p:spPr>
          <a:xfrm>
            <a:off x="2371651" y="2154122"/>
            <a:ext cx="1152128" cy="28083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37241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570156"/>
            <a:ext cx="8496944" cy="1054250"/>
          </a:xfrm>
        </p:spPr>
        <p:txBody>
          <a:bodyPr/>
          <a:lstStyle/>
          <a:p>
            <a:r>
              <a:rPr lang="es-ES" sz="3600" dirty="0" smtClean="0"/>
              <a:t>7</a:t>
            </a:r>
            <a:r>
              <a:rPr lang="es-ES" sz="3600" dirty="0" smtClean="0"/>
              <a:t>.2.2. Error </a:t>
            </a:r>
            <a:r>
              <a:rPr lang="es-ES" sz="3600" dirty="0"/>
              <a:t>de </a:t>
            </a:r>
            <a:r>
              <a:rPr lang="es-ES" sz="3600" i="1" dirty="0" err="1" smtClean="0"/>
              <a:t>cuantización</a:t>
            </a:r>
            <a:endParaRPr lang="es-ES" sz="3600" dirty="0"/>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085184"/>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El error de </a:t>
            </a:r>
            <a:r>
              <a:rPr lang="es-ES" sz="2000" i="1" dirty="0" err="1" smtClean="0"/>
              <a:t>cuantización</a:t>
            </a:r>
            <a:r>
              <a:rPr lang="es-ES" sz="2000" dirty="0" smtClean="0"/>
              <a:t> es </a:t>
            </a:r>
            <a:r>
              <a:rPr lang="es-ES" sz="2000" dirty="0"/>
              <a:t>el ruido introducido por la </a:t>
            </a:r>
            <a:r>
              <a:rPr lang="es-ES" sz="2000" i="1" dirty="0" err="1"/>
              <a:t>discretización</a:t>
            </a:r>
            <a:r>
              <a:rPr lang="es-ES" sz="2000" dirty="0"/>
              <a:t> en un conversor AD ideal. Es un error de redondeo entre la señal análoga de entrada al ADC y el valor de salida digitalizado. Este ruido es no lineal y depende de cada señal.</a:t>
            </a:r>
            <a:endParaRPr lang="es-CO" sz="2000" dirty="0"/>
          </a:p>
        </p:txBody>
      </p:sp>
      <p:pic>
        <p:nvPicPr>
          <p:cNvPr id="2050" name="Picture 2" descr="http://4.bp.blogspot.com/-J4A-XhaXNFk/Ua0nnbqTqAI/AAAAAAAAABQ/UcBYXIYdk3w/s1600/Comunnicacion+de+Systemas_clip_image003_0000.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5587" y="2348880"/>
            <a:ext cx="3305175" cy="2400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0083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570156"/>
            <a:ext cx="8496944" cy="1054250"/>
          </a:xfrm>
        </p:spPr>
        <p:txBody>
          <a:bodyPr/>
          <a:lstStyle/>
          <a:p>
            <a:r>
              <a:rPr lang="es-ES" sz="3600" dirty="0" smtClean="0"/>
              <a:t>7</a:t>
            </a:r>
            <a:r>
              <a:rPr lang="es-ES" sz="3600" dirty="0" smtClean="0"/>
              <a:t>.2.3. Precisión</a:t>
            </a:r>
            <a:endParaRPr lang="es-ES" sz="3600" dirty="0"/>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589239"/>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La precisión de una cantidad es una medida del detalle en el cual la cantidad se puede expresar.</a:t>
            </a:r>
            <a:endParaRPr lang="es-CO" sz="2000" dirty="0"/>
          </a:p>
        </p:txBody>
      </p:sp>
      <p:pic>
        <p:nvPicPr>
          <p:cNvPr id="5" name="Picture 2" descr="http://m.eet.com/media/1050787/C0306-Figure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2132856"/>
            <a:ext cx="3528392" cy="3072134"/>
          </a:xfrm>
          <a:prstGeom prst="rect">
            <a:avLst/>
          </a:prstGeom>
          <a:noFill/>
          <a:extLst>
            <a:ext uri="{909E8E84-426E-40DD-AFC4-6F175D3DCCD1}">
              <a14:hiddenFill xmlns:a14="http://schemas.microsoft.com/office/drawing/2010/main">
                <a:solidFill>
                  <a:srgbClr val="FFFFFF"/>
                </a:solidFill>
              </a14:hiddenFill>
            </a:ext>
          </a:extLst>
        </p:spPr>
      </p:pic>
      <p:sp>
        <p:nvSpPr>
          <p:cNvPr id="6" name="5 Elipse"/>
          <p:cNvSpPr/>
          <p:nvPr/>
        </p:nvSpPr>
        <p:spPr>
          <a:xfrm rot="5400000">
            <a:off x="3872111" y="3410851"/>
            <a:ext cx="1152128" cy="28083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59493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790574"/>
            <a:ext cx="7987965" cy="1054250"/>
          </a:xfrm>
        </p:spPr>
        <p:txBody>
          <a:bodyPr/>
          <a:lstStyle/>
          <a:p>
            <a:r>
              <a:rPr lang="es-CO" sz="4000" dirty="0"/>
              <a:t>7</a:t>
            </a:r>
            <a:r>
              <a:rPr lang="es-CO" sz="4000" dirty="0" smtClean="0"/>
              <a:t>.3</a:t>
            </a:r>
            <a:r>
              <a:rPr lang="es-CO" sz="4000" dirty="0"/>
              <a:t>. </a:t>
            </a:r>
            <a:r>
              <a:rPr lang="es-CO" sz="4000" dirty="0" smtClean="0"/>
              <a:t>Frecuencia de </a:t>
            </a:r>
            <a:r>
              <a:rPr lang="es-CO" sz="4000" dirty="0" smtClean="0"/>
              <a:t>muestreo</a:t>
            </a:r>
            <a:r>
              <a:rPr lang="es-CO" sz="4000" dirty="0"/>
              <a:t/>
            </a:r>
            <a:br>
              <a:rPr lang="es-CO" sz="4000" dirty="0"/>
            </a:b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301208"/>
            <a:ext cx="8352928" cy="1440160"/>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dirty="0" smtClean="0"/>
              <a:t>La cantidad de valores </a:t>
            </a:r>
            <a:r>
              <a:rPr lang="es-ES" dirty="0"/>
              <a:t>digitales </a:t>
            </a:r>
            <a:r>
              <a:rPr lang="es-ES" dirty="0" smtClean="0"/>
              <a:t>que se </a:t>
            </a:r>
            <a:r>
              <a:rPr lang="es-ES" dirty="0"/>
              <a:t>obtienen de </a:t>
            </a:r>
            <a:r>
              <a:rPr lang="es-ES" dirty="0" smtClean="0"/>
              <a:t>una señal análoga </a:t>
            </a:r>
            <a:r>
              <a:rPr lang="es-ES" dirty="0" smtClean="0"/>
              <a:t>por unidad de tiempo se </a:t>
            </a:r>
            <a:r>
              <a:rPr lang="es-ES" dirty="0"/>
              <a:t>denomina la </a:t>
            </a:r>
            <a:r>
              <a:rPr lang="es-ES" dirty="0" smtClean="0"/>
              <a:t>rata, tasa o frecuencia de </a:t>
            </a:r>
            <a:r>
              <a:rPr lang="es-ES" dirty="0" smtClean="0"/>
              <a:t>muestreo.</a:t>
            </a:r>
            <a:endParaRPr lang="es-CO" dirty="0"/>
          </a:p>
        </p:txBody>
      </p:sp>
      <p:pic>
        <p:nvPicPr>
          <p:cNvPr id="1028" name="Picture 4" descr="http://www.mathworks.com/help/releases/R2013b/dsp/ref/refex_mfilt_farrowsrc.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9804" y="2182759"/>
            <a:ext cx="4060085" cy="3045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24189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8203990" cy="1054250"/>
          </a:xfrm>
        </p:spPr>
        <p:txBody>
          <a:bodyPr/>
          <a:lstStyle/>
          <a:p>
            <a:r>
              <a:rPr lang="es-ES" sz="4000" dirty="0" smtClean="0"/>
              <a:t>7</a:t>
            </a:r>
            <a:r>
              <a:rPr lang="es-ES" sz="4000" dirty="0" smtClean="0"/>
              <a:t>.4.1. </a:t>
            </a:r>
            <a:r>
              <a:rPr lang="es-ES" sz="4000" dirty="0" err="1" smtClean="0"/>
              <a:t>Aliasing</a:t>
            </a:r>
            <a:endParaRPr lang="es-ES"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4" name="2 Subtítulo"/>
          <p:cNvSpPr txBox="1">
            <a:spLocks/>
          </p:cNvSpPr>
          <p:nvPr/>
        </p:nvSpPr>
        <p:spPr>
          <a:xfrm>
            <a:off x="271711" y="5373216"/>
            <a:ext cx="8352928" cy="812933"/>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El </a:t>
            </a:r>
            <a:r>
              <a:rPr lang="es-ES" sz="2000" i="1" dirty="0" err="1" smtClean="0"/>
              <a:t>aliasing</a:t>
            </a:r>
            <a:r>
              <a:rPr lang="es-ES" sz="2000" dirty="0" smtClean="0"/>
              <a:t> es el fenómeno que ocurre cuando se </a:t>
            </a:r>
            <a:r>
              <a:rPr lang="es-ES" sz="2000" dirty="0" smtClean="0"/>
              <a:t>muestrean componentes de una señal análoga cuyas frecuencias exceden la </a:t>
            </a:r>
            <a:r>
              <a:rPr lang="es-ES" sz="2000" dirty="0" smtClean="0"/>
              <a:t>frecuencia máxima permitida por el teorema de muestreo para la misma </a:t>
            </a:r>
            <a:r>
              <a:rPr lang="es-ES" sz="2000" dirty="0" smtClean="0"/>
              <a:t>señal muestreándose a una frecuencia de muestreo dada.</a:t>
            </a:r>
            <a:endParaRPr lang="es-CO" sz="2000" dirty="0"/>
          </a:p>
        </p:txBody>
      </p:sp>
      <p:pic>
        <p:nvPicPr>
          <p:cNvPr id="2052" name="Picture 4" descr="http://www.xyobalancer.com/images/blog/Neil_Fig1_Feb11_201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6045" y="2060848"/>
            <a:ext cx="5009392" cy="3170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8917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8203990" cy="1054250"/>
          </a:xfrm>
        </p:spPr>
        <p:txBody>
          <a:bodyPr/>
          <a:lstStyle/>
          <a:p>
            <a:r>
              <a:rPr lang="es-ES" sz="4000" dirty="0" smtClean="0"/>
              <a:t>7</a:t>
            </a:r>
            <a:r>
              <a:rPr lang="es-ES" sz="4000" dirty="0" smtClean="0"/>
              <a:t>.4.2. </a:t>
            </a:r>
            <a:r>
              <a:rPr lang="es-ES" sz="4000" dirty="0" err="1" smtClean="0"/>
              <a:t>Sobremuestreo</a:t>
            </a:r>
            <a:r>
              <a:rPr lang="es-ES" sz="4000" dirty="0" smtClean="0"/>
              <a:t> (</a:t>
            </a:r>
            <a:r>
              <a:rPr lang="es-ES" sz="4000" i="1" dirty="0" err="1" smtClean="0"/>
              <a:t>oversampling</a:t>
            </a:r>
            <a:r>
              <a:rPr lang="es-ES" sz="4000" dirty="0" smtClean="0"/>
              <a:t>)</a:t>
            </a:r>
            <a:endParaRPr lang="es-ES"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4" name="2 Subtítulo"/>
          <p:cNvSpPr txBox="1">
            <a:spLocks/>
          </p:cNvSpPr>
          <p:nvPr/>
        </p:nvSpPr>
        <p:spPr>
          <a:xfrm>
            <a:off x="271711" y="4797152"/>
            <a:ext cx="8352928" cy="812933"/>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solidFill>
                  <a:srgbClr val="FF0000"/>
                </a:solidFill>
              </a:rPr>
              <a:t>Normalmente las señales se muestrean a la mínima </a:t>
            </a:r>
            <a:r>
              <a:rPr lang="es-ES" sz="2000" dirty="0" smtClean="0">
                <a:solidFill>
                  <a:srgbClr val="FF0000"/>
                </a:solidFill>
              </a:rPr>
              <a:t>frecuencia </a:t>
            </a:r>
            <a:r>
              <a:rPr lang="es-ES" sz="2000" dirty="0" smtClean="0">
                <a:solidFill>
                  <a:srgbClr val="FF0000"/>
                </a:solidFill>
              </a:rPr>
              <a:t>posible para </a:t>
            </a:r>
            <a:r>
              <a:rPr lang="es-ES" sz="2000" dirty="0" smtClean="0">
                <a:solidFill>
                  <a:srgbClr val="FF0000"/>
                </a:solidFill>
              </a:rPr>
              <a:t>hacerlo correctamente (Ingeniería).</a:t>
            </a:r>
            <a:r>
              <a:rPr lang="es-ES" sz="2000" dirty="0" smtClean="0"/>
              <a:t> </a:t>
            </a:r>
            <a:r>
              <a:rPr lang="es-ES" sz="2000" dirty="0" smtClean="0">
                <a:solidFill>
                  <a:srgbClr val="00B050"/>
                </a:solidFill>
              </a:rPr>
              <a:t>El </a:t>
            </a:r>
            <a:r>
              <a:rPr lang="es-ES" sz="2000" i="1" dirty="0" err="1" smtClean="0">
                <a:solidFill>
                  <a:srgbClr val="00B050"/>
                </a:solidFill>
              </a:rPr>
              <a:t>oversampling</a:t>
            </a:r>
            <a:r>
              <a:rPr lang="es-ES" sz="2000" dirty="0" smtClean="0">
                <a:solidFill>
                  <a:srgbClr val="00B050"/>
                </a:solidFill>
              </a:rPr>
              <a:t> permite </a:t>
            </a:r>
            <a:r>
              <a:rPr lang="es-ES" sz="2000" dirty="0" smtClean="0">
                <a:solidFill>
                  <a:srgbClr val="00B050"/>
                </a:solidFill>
              </a:rPr>
              <a:t>facilitar la labor de filtros (Digitales y análogos</a:t>
            </a:r>
            <a:r>
              <a:rPr lang="es-ES" sz="2000" dirty="0" smtClean="0">
                <a:solidFill>
                  <a:srgbClr val="00B050"/>
                </a:solidFill>
              </a:rPr>
              <a:t>) e </a:t>
            </a:r>
            <a:r>
              <a:rPr lang="es-ES" sz="2000" dirty="0" smtClean="0">
                <a:solidFill>
                  <a:srgbClr val="00B050"/>
                </a:solidFill>
              </a:rPr>
              <a:t>incrementar la </a:t>
            </a:r>
            <a:r>
              <a:rPr lang="es-ES" sz="2000" dirty="0" smtClean="0">
                <a:solidFill>
                  <a:srgbClr val="00B050"/>
                </a:solidFill>
              </a:rPr>
              <a:t>calidad de </a:t>
            </a:r>
            <a:r>
              <a:rPr lang="es-ES" sz="2000" dirty="0" smtClean="0">
                <a:solidFill>
                  <a:srgbClr val="00B050"/>
                </a:solidFill>
              </a:rPr>
              <a:t>la </a:t>
            </a:r>
            <a:r>
              <a:rPr lang="es-ES" sz="2000" dirty="0" smtClean="0">
                <a:solidFill>
                  <a:srgbClr val="00B050"/>
                </a:solidFill>
              </a:rPr>
              <a:t>reconstrucción digital de la señal (junto a otros elementos</a:t>
            </a:r>
            <a:r>
              <a:rPr lang="es-ES" sz="2000" dirty="0" smtClean="0">
                <a:solidFill>
                  <a:srgbClr val="00B050"/>
                </a:solidFill>
              </a:rPr>
              <a:t>). </a:t>
            </a:r>
            <a:r>
              <a:rPr lang="es-ES" sz="2000" dirty="0" smtClean="0">
                <a:solidFill>
                  <a:srgbClr val="0070C0"/>
                </a:solidFill>
              </a:rPr>
              <a:t>Por </a:t>
            </a:r>
            <a:r>
              <a:rPr lang="es-ES" sz="2000" dirty="0" smtClean="0">
                <a:solidFill>
                  <a:srgbClr val="0070C0"/>
                </a:solidFill>
              </a:rPr>
              <a:t>otra parte, puede hacer el conversor más sensible al </a:t>
            </a:r>
            <a:r>
              <a:rPr lang="es-ES" sz="2000" dirty="0" smtClean="0">
                <a:solidFill>
                  <a:srgbClr val="0070C0"/>
                </a:solidFill>
              </a:rPr>
              <a:t>ruido y el sistema requiere de una capacidad de memoria mayor.</a:t>
            </a:r>
            <a:endParaRPr lang="es-CO" sz="2000" dirty="0">
              <a:solidFill>
                <a:srgbClr val="0070C0"/>
              </a:solidFill>
            </a:endParaRPr>
          </a:p>
        </p:txBody>
      </p:sp>
      <p:pic>
        <p:nvPicPr>
          <p:cNvPr id="3074" name="Picture 2" descr="http://edocs.soco.agilent.com/download/attachments/115608483/adshbapp-4-1-06_rev1.gif?version=1&amp;modificationDate=12820394510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2204864"/>
            <a:ext cx="4772025" cy="2371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24452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a:t>7</a:t>
            </a:r>
            <a:r>
              <a:rPr lang="es-ES" sz="4000" dirty="0" smtClean="0"/>
              <a:t>.5 </a:t>
            </a:r>
            <a:r>
              <a:rPr lang="es-ES" sz="4000" dirty="0"/>
              <a:t>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4098" name="Picture 2" descr="File:Flash AD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5219" y="2386643"/>
            <a:ext cx="3382965" cy="3265864"/>
          </a:xfrm>
          <a:prstGeom prst="rect">
            <a:avLst/>
          </a:prstGeom>
          <a:noFill/>
          <a:extLst>
            <a:ext uri="{909E8E84-426E-40DD-AFC4-6F175D3DCCD1}">
              <a14:hiddenFill xmlns:a14="http://schemas.microsoft.com/office/drawing/2010/main">
                <a:solidFill>
                  <a:srgbClr val="FFFFFF"/>
                </a:solidFill>
              </a14:hiddenFill>
            </a:ext>
          </a:extLst>
        </p:spPr>
      </p:pic>
      <p:sp>
        <p:nvSpPr>
          <p:cNvPr id="15" name="2 Subtítulo"/>
          <p:cNvSpPr txBox="1">
            <a:spLocks/>
          </p:cNvSpPr>
          <p:nvPr/>
        </p:nvSpPr>
        <p:spPr>
          <a:xfrm>
            <a:off x="1595594" y="5759429"/>
            <a:ext cx="5705162" cy="739030"/>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b="1" dirty="0" smtClean="0"/>
              <a:t>ADC Directa:</a:t>
            </a:r>
          </a:p>
          <a:p>
            <a:pPr marL="0" indent="0" algn="ctr">
              <a:buNone/>
            </a:pPr>
            <a:r>
              <a:rPr lang="es-CO" sz="2000" dirty="0" smtClean="0"/>
              <a:t>Extremadamente rápido.</a:t>
            </a:r>
          </a:p>
          <a:p>
            <a:pPr marL="0" indent="0" algn="ctr">
              <a:buNone/>
            </a:pPr>
            <a:r>
              <a:rPr lang="es-CO" sz="2000" dirty="0" smtClean="0"/>
              <a:t>Consume mucha corriente.</a:t>
            </a:r>
            <a:endParaRPr lang="es-CO" sz="2000" dirty="0"/>
          </a:p>
        </p:txBody>
      </p:sp>
    </p:spTree>
    <p:extLst>
      <p:ext uri="{BB962C8B-B14F-4D97-AF65-F5344CB8AC3E}">
        <p14:creationId xmlns:p14="http://schemas.microsoft.com/office/powerpoint/2010/main" val="18014082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a:t>7</a:t>
            </a:r>
            <a:r>
              <a:rPr lang="es-ES" sz="4000" dirty="0" smtClean="0"/>
              <a:t>.5 </a:t>
            </a:r>
            <a:r>
              <a:rPr lang="es-ES" sz="4000" dirty="0"/>
              <a:t>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5" name="2 Subtítulo"/>
          <p:cNvSpPr txBox="1">
            <a:spLocks/>
          </p:cNvSpPr>
          <p:nvPr/>
        </p:nvSpPr>
        <p:spPr>
          <a:xfrm>
            <a:off x="271711" y="5587937"/>
            <a:ext cx="8352928" cy="1082014"/>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b="1" dirty="0" smtClean="0"/>
              <a:t>ADC Aproximaciones Sucesivas:</a:t>
            </a:r>
          </a:p>
          <a:p>
            <a:pPr marL="0" indent="0" algn="ctr">
              <a:buNone/>
            </a:pPr>
            <a:r>
              <a:rPr lang="es-CO" sz="2000" dirty="0" smtClean="0"/>
              <a:t>Bajo consumo de </a:t>
            </a:r>
            <a:r>
              <a:rPr lang="es-CO" sz="2000" dirty="0" smtClean="0"/>
              <a:t>corriente.</a:t>
            </a:r>
            <a:endParaRPr lang="es-CO" sz="2000" dirty="0" smtClean="0"/>
          </a:p>
          <a:p>
            <a:pPr marL="0" indent="0" algn="ctr">
              <a:buNone/>
            </a:pPr>
            <a:r>
              <a:rPr lang="es-CO" sz="2000" dirty="0" smtClean="0"/>
              <a:t>La velocidad de conversión y la resolución son medias.</a:t>
            </a:r>
            <a:endParaRPr lang="es-CO" sz="20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086" y="3005311"/>
            <a:ext cx="3371850" cy="1647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descr="http://upload.wikimedia.org/wikipedia/en/6/61/SA_ADC_block_diagram.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55976" y="2420888"/>
            <a:ext cx="3565469" cy="2857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4719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a:t>7</a:t>
            </a:r>
            <a:r>
              <a:rPr lang="es-ES" sz="4000" dirty="0" smtClean="0"/>
              <a:t>.5 </a:t>
            </a:r>
            <a:r>
              <a:rPr lang="es-ES" sz="4000" dirty="0"/>
              <a:t>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5" name="2 Subtítulo"/>
          <p:cNvSpPr txBox="1">
            <a:spLocks/>
          </p:cNvSpPr>
          <p:nvPr/>
        </p:nvSpPr>
        <p:spPr>
          <a:xfrm>
            <a:off x="2090670" y="5876561"/>
            <a:ext cx="4715010" cy="50476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dirty="0" smtClean="0"/>
              <a:t>ADC por integración</a:t>
            </a:r>
            <a:endParaRPr lang="es-CO" sz="2000" dirty="0"/>
          </a:p>
        </p:txBody>
      </p:sp>
      <p:pic>
        <p:nvPicPr>
          <p:cNvPr id="6146" name="Picture 2" descr="File:Basic integrating adc.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924944"/>
            <a:ext cx="4124325" cy="185737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V_{in} = -V_{ref}\dfrac{t_{d}}{t_{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6935" y="3646117"/>
            <a:ext cx="2008021" cy="725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3157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smtClean="0"/>
              <a:t>7.5 </a:t>
            </a:r>
            <a:r>
              <a:rPr lang="es-ES" sz="4000" dirty="0"/>
              <a:t>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5" name="2 Subtítulo"/>
          <p:cNvSpPr txBox="1">
            <a:spLocks/>
          </p:cNvSpPr>
          <p:nvPr/>
        </p:nvSpPr>
        <p:spPr>
          <a:xfrm>
            <a:off x="2090670" y="5445224"/>
            <a:ext cx="4715010" cy="50476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b="1" dirty="0" smtClean="0"/>
              <a:t>ADC Delta Sigma:</a:t>
            </a:r>
          </a:p>
          <a:p>
            <a:pPr marL="0" indent="0" algn="ctr">
              <a:buNone/>
            </a:pPr>
            <a:r>
              <a:rPr lang="es-CO" sz="2000" dirty="0" smtClean="0"/>
              <a:t>Es el de mayor resolución.</a:t>
            </a:r>
          </a:p>
          <a:p>
            <a:pPr marL="0" indent="0" algn="ctr">
              <a:buNone/>
            </a:pPr>
            <a:r>
              <a:rPr lang="es-CO" sz="2000" dirty="0" smtClean="0"/>
              <a:t>Es el más </a:t>
            </a:r>
            <a:r>
              <a:rPr lang="es-CO" sz="2000" dirty="0" smtClean="0"/>
              <a:t>lento (aunque cada vez mejorando su velocidad).</a:t>
            </a:r>
            <a:endParaRPr lang="es-CO" sz="2000" dirty="0"/>
          </a:p>
        </p:txBody>
      </p:sp>
      <p:pic>
        <p:nvPicPr>
          <p:cNvPr id="7170" name="Picture 2" descr="File:DeltaSigma1.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2780928"/>
            <a:ext cx="5210175" cy="2038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76013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ES" sz="4000" dirty="0"/>
              <a:t>7</a:t>
            </a:r>
            <a:r>
              <a:rPr lang="es-ES" sz="4000" dirty="0" smtClean="0"/>
              <a:t>.6 </a:t>
            </a:r>
            <a:r>
              <a:rPr lang="es-ES" sz="4000" dirty="0"/>
              <a:t>Aplicaciones</a:t>
            </a:r>
          </a:p>
        </p:txBody>
      </p:sp>
      <p:pic>
        <p:nvPicPr>
          <p:cNvPr id="8196" name="Picture 4" descr="http://4.bp.blogspot.com/-ZI-b1CpXTek/T2bUYKV-p8I/AAAAAAAAAFo/bqTmg0edFZY/s1600/dspi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3716150"/>
            <a:ext cx="2761625" cy="2737186"/>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http://blog-imgs-62.fc2.com/a/u/d/audiokun/stax01_2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564904"/>
            <a:ext cx="2414100" cy="1811920"/>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http://www.pce-instruments.com/english/slot/2/artimg/large/pce-instruments-multimeter-pce-em-886-61318_527959.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4924" y="2371997"/>
            <a:ext cx="2172154" cy="2688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92641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ES" sz="4000" dirty="0"/>
              <a:t>7</a:t>
            </a:r>
            <a:r>
              <a:rPr lang="es-ES" sz="4000" dirty="0" smtClean="0"/>
              <a:t>.7 </a:t>
            </a:r>
            <a:r>
              <a:rPr lang="es-ES" sz="4000" dirty="0"/>
              <a:t>¿Cómo lo hace el PIC?</a:t>
            </a:r>
          </a:p>
        </p:txBody>
      </p:sp>
      <p:sp>
        <p:nvSpPr>
          <p:cNvPr id="5" name="2 Subtítulo"/>
          <p:cNvSpPr txBox="1">
            <a:spLocks/>
          </p:cNvSpPr>
          <p:nvPr/>
        </p:nvSpPr>
        <p:spPr>
          <a:xfrm>
            <a:off x="467544" y="5085184"/>
            <a:ext cx="8352928" cy="936104"/>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El PIC tiene un módulo ADC de 10 bits que se basa en aproximaciones sucesivas, el cual, bien configurado devuelve un valor digital en un par de registros justo después de llevar a cabo la conversión en un pin </a:t>
            </a:r>
            <a:r>
              <a:rPr lang="es-ES" sz="2000" dirty="0" smtClean="0"/>
              <a:t>previamente seleccionado</a:t>
            </a:r>
            <a:r>
              <a:rPr lang="es-ES" sz="2000" dirty="0" smtClean="0"/>
              <a:t>.</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3727" y="2188861"/>
            <a:ext cx="3636547" cy="27567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9725108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3-Sistemas Secuenciales">
  <a:themeElements>
    <a:clrScheme name="Cartoné">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Cartoné">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artoné">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3-Sistemas Secuenciales</Template>
  <TotalTime>376</TotalTime>
  <Words>494</Words>
  <Application>Microsoft Office PowerPoint</Application>
  <PresentationFormat>Presentación en pantalla (4:3)</PresentationFormat>
  <Paragraphs>55</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Book Antiqua</vt:lpstr>
      <vt:lpstr>Calibri</vt:lpstr>
      <vt:lpstr>Wingdings</vt:lpstr>
      <vt:lpstr>3-Sistemas Secuenciales</vt:lpstr>
      <vt:lpstr>7. Conversión Análogo-Digital</vt:lpstr>
      <vt:lpstr>7.1. ¿Qué es una conversión AD?</vt:lpstr>
      <vt:lpstr>7.2.1. Resolución</vt:lpstr>
      <vt:lpstr>7.2.2. Error de cuantización</vt:lpstr>
      <vt:lpstr>7.2.3. Precisión</vt:lpstr>
      <vt:lpstr>7.3. Frecuencia de muestreo </vt:lpstr>
      <vt:lpstr>7.4.1. Aliasing</vt:lpstr>
      <vt:lpstr>7.4.2. Sobremuestreo (oversampling)</vt:lpstr>
      <vt:lpstr>7.5 Tipos de ADC</vt:lpstr>
      <vt:lpstr>7.5 Tipos de ADC</vt:lpstr>
      <vt:lpstr>7.5 Tipos de ADC</vt:lpstr>
      <vt:lpstr>7.5 Tipos de ADC</vt:lpstr>
      <vt:lpstr>7.6 Aplicaciones</vt:lpstr>
      <vt:lpstr>7.7 ¿Cómo lo hace el PIC?</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Sistemas Secuenciales.</dc:title>
  <dc:creator>MeliCalelo</dc:creator>
  <cp:lastModifiedBy>Calelo</cp:lastModifiedBy>
  <cp:revision>145</cp:revision>
  <dcterms:created xsi:type="dcterms:W3CDTF">2011-02-14T00:22:22Z</dcterms:created>
  <dcterms:modified xsi:type="dcterms:W3CDTF">2017-04-18T03:50:07Z</dcterms:modified>
</cp:coreProperties>
</file>
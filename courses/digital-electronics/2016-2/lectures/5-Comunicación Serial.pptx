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256" r:id="rId2"/>
    <p:sldId id="257" r:id="rId3"/>
    <p:sldId id="269" r:id="rId4"/>
    <p:sldId id="259" r:id="rId5"/>
    <p:sldId id="268" r:id="rId6"/>
    <p:sldId id="270" r:id="rId7"/>
    <p:sldId id="271" r:id="rId8"/>
    <p:sldId id="273" r:id="rId9"/>
    <p:sldId id="272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69"/>
            <p14:sldId id="259"/>
            <p14:sldId id="268"/>
            <p14:sldId id="270"/>
            <p14:sldId id="271"/>
            <p14:sldId id="273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6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12/10/2016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12/10/2016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.co/url?sa=i&amp;rct=j&amp;q=&amp;esrc=s&amp;frm=1&amp;source=images&amp;cd=&amp;cad=rja&amp;docid=Nle_s8GY7wCmfM&amp;tbnid=9_nv6ZMEX2zVeM:&amp;ved=0CAUQjRw&amp;url=http://www.eoi.es/blogs/elizabethmontesdeoca/2012/06/18/la-comunicacion-como-herramienta-de-direccion/&amp;ei=G6JkUo7cMo3I9gS_7oBQ&amp;bvm=bv.55139894,d.eWU&amp;psig=AFQjCNEi8FkENKXO4FoDFqNMSXE-f4r1tw&amp;ust=138241316745057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om.co/url?sa=i&amp;rct=j&amp;q=&amp;esrc=s&amp;frm=1&amp;source=images&amp;cd=&amp;cad=rja&amp;docid=GiEu3N_TTcGn7M&amp;tbnid=q9vPP84lIzmI-M:&amp;ved=0CAUQjRw&amp;url=http://www.hispazone.com/Guia/72/Bluetooth-El-Futuro-de-las-Comunicaciones-I.html&amp;ei=haVkUqbwDJLU9ATUz4CYAg&amp;psig=AFQjCNEwnKnwxFU6cnZWqup6Ui-V7Pi6ug&amp;ust=138241390642477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yaizaaurrecoechea.files.wordpress.com/2012/10/db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hyperlink" Target="http://www.google.com.co/url?sa=i&amp;source=images&amp;cd=&amp;cad=rja&amp;docid=b84WW8GcDki3QM&amp;tbnid=ogTk_F8MGMEANM:&amp;ved=0CAgQjRwwAA&amp;url=http://www.isodaq.co.uk/page/communication-options&amp;ei=FqpkUtSyFYKQ9gTI44EQ&amp;psig=AFQjCNEdAxytRalrOVNJNM81q3M8WgZwXg&amp;ust=1382415254396558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://www.google.com.co/url?sa=i&amp;rct=j&amp;q=&amp;esrc=s&amp;frm=1&amp;source=images&amp;cd=&amp;cad=rja&amp;docid=RLxm70GmdIgWfM&amp;tbnid=Asq0luJ0a9c-_M:&amp;ved=0CAUQjRw&amp;url=http://ubuntuymas.com/como-desactivar-el-bluetooth-al-inicio-en-ubuntu&amp;ei=t6hkUtreDIay9gSWw4Bo&amp;psig=AFQjCNF45j-7F3GmiU6HdA_PXYcRmwAbAQ&amp;ust=1382414891174879" TargetMode="External"/><Relationship Id="rId12" Type="http://schemas.openxmlformats.org/officeDocument/2006/relationships/image" Target="../media/image13.jpeg"/><Relationship Id="rId2" Type="http://schemas.openxmlformats.org/officeDocument/2006/relationships/hyperlink" Target="http://www.google.com.co/url?sa=i&amp;rct=j&amp;q=&amp;esrc=s&amp;frm=1&amp;source=images&amp;cd=&amp;cad=rja&amp;docid=PwAvh5novMY0qM&amp;tbnid=HEu_GN5OlRTpCM:&amp;ved=0CAUQjRw&amp;url=http://www.jasonfrasca.com/deconstructing-everyday-blog/send-sms-texts-during-wireless-cellular-network-failures-caused-by-disasters/&amp;ei=HqhkUqznApTI9gSw0ICADw&amp;psig=AFQjCNFYQulv-a-b6OFYlWmvWQLsmnd0sQ&amp;ust=138241468690150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hyperlink" Target="http://www.google.com.co/url?sa=i&amp;source=images&amp;cd=&amp;cad=rja&amp;docid=LIoLqLm6vjUhrM&amp;tbnid=rFeFcNeH9hkJuM:&amp;ved=0CAgQjRwwAA&amp;url=http://www.energyharvestingjournal.com/articles/zigbee-alliance-debuts-battery-free-option-with-new-green-power-00005034.asp&amp;ei=xqlkUprcH4HM9QTPh4Bw&amp;psig=AFQjCNG6Nd23GMlqd10C4-sx9KQB7thG8w&amp;ust=1382415174571550" TargetMode="External"/><Relationship Id="rId5" Type="http://schemas.openxmlformats.org/officeDocument/2006/relationships/hyperlink" Target="http://www.google.com.co/url?sa=i&amp;rct=j&amp;q=&amp;esrc=s&amp;frm=1&amp;source=images&amp;cd=&amp;cad=rja&amp;docid=3xMyeojj4ReFnM&amp;tbnid=2NE6b1IoEOShcM:&amp;ved=0CAUQjRw&amp;url=http://linuxreflejo.wordpress.com/2008/11/17/llega-la-nueva-version-del-puerto-usb/&amp;ei=h6hkUvLcEIP49gSn44GIAQ&amp;psig=AFQjCNEApsmbToSHSAUsnbiuFuBmrFSwxw&amp;ust=1382414799847905" TargetMode="External"/><Relationship Id="rId15" Type="http://schemas.openxmlformats.org/officeDocument/2006/relationships/image" Target="../media/image15.jpeg"/><Relationship Id="rId10" Type="http://schemas.openxmlformats.org/officeDocument/2006/relationships/image" Target="../media/image12.gif"/><Relationship Id="rId4" Type="http://schemas.microsoft.com/office/2007/relationships/hdphoto" Target="../media/hdphoto1.wdp"/><Relationship Id="rId9" Type="http://schemas.openxmlformats.org/officeDocument/2006/relationships/hyperlink" Target="http://www.google.com.co/url?sa=i&amp;rct=j&amp;q=&amp;esrc=s&amp;frm=1&amp;source=images&amp;cd=&amp;cad=rja&amp;docid=npHcZYgruy5w8M&amp;tbnid=q0tS1llgNoGXfM:&amp;ved=0CAUQjRw&amp;url=http://neereeaa.wordpress.com/category/informatica/&amp;ei=AalkUuHDN43Y8gTnzoDoDw&amp;psig=AFQjCNFq-L9NJnHi_ZQ0gBtrlIS-0jIzSg&amp;ust=1382414939059613" TargetMode="External"/><Relationship Id="rId1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gif"/><Relationship Id="rId2" Type="http://schemas.openxmlformats.org/officeDocument/2006/relationships/hyperlink" Target="//upload.wikimedia.org/wikipedia/commons/f/fc/SPI_three_slaves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co/url?sa=i&amp;rct=j&amp;q=&amp;esrc=s&amp;frm=1&amp;source=images&amp;cd=&amp;cad=rja&amp;docid=K3tom_wS1lpoqM&amp;tbnid=iAe93IlXjMcxSM:&amp;ved=0CAUQjRw&amp;url=http://www.mikroe.com/chapters/view/28/chapter-10-uart-module/&amp;ei=HaxkUuXCHITo9gT5lYB4&amp;psig=AFQjCNGHxzwl1Jo2WTtcS0rsvGIRk5WB-A&amp;ust=1382415768802309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://www.google.com.co/url?sa=i&amp;rct=j&amp;q=&amp;esrc=s&amp;frm=1&amp;source=images&amp;cd=&amp;cad=rja&amp;docid=ZA-_XVx0pPgi3M&amp;tbnid=hJf_X__EdKjxpM:&amp;ved=0CAUQjRw&amp;url=http://www.totalphase.com/support/kb/10037/&amp;ei=8KtkUrCaMI7o9gTs44AI&amp;psig=AFQjCNFuaZaq5UAMj3JNmgT-IVOtR11leg&amp;ust=138241572209680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hyperlink" Target="http://www.google.com.co/url?sa=i&amp;rct=j&amp;q=&amp;esrc=s&amp;frm=1&amp;source=images&amp;cd=&amp;cad=rja&amp;docid=lIbydPpQKMS1ZM&amp;tbnid=Px4VscNIvHpUnM:&amp;ved=0CAUQjRw&amp;url=http://www.eva.uji.es/mcxcf/DocSerie.html&amp;ei=O61kUpz3F4WS9QS-vYBY&amp;psig=AFQjCNEEpSlCrpxa04gkKuSi2YcKF2sIZA&amp;ust=138241604896333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hyperlink" Target="http://www.google.com.co/url?sa=i&amp;rct=j&amp;q=&amp;esrc=s&amp;frm=1&amp;source=images&amp;cd=&amp;cad=rja&amp;docid=AVwXiGa2ulLLMM&amp;tbnid=_oKUolAxglq5SM:&amp;ved=0CAUQjRw&amp;url=http://www.avrbeginners.net/architecture/uart/uart.html&amp;ei=Uq5kUsOMHIno8QSloYDADw&amp;psig=AFQjCNF-85ytEr84k4qTYd_Z2XqLt7j8lw&amp;ust=13824163073747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 smtClean="0">
                <a:effectLst/>
              </a:rPr>
              <a:t>5. Comunicación Serial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/>
          </a:bodyPr>
          <a:lstStyle/>
          <a:p>
            <a:r>
              <a:rPr lang="es-CO" dirty="0" smtClean="0"/>
              <a:t>5.1</a:t>
            </a:r>
            <a:r>
              <a:rPr lang="es-CO" dirty="0"/>
              <a:t>. </a:t>
            </a:r>
            <a:r>
              <a:rPr lang="es-CO" dirty="0" smtClean="0"/>
              <a:t>Comunicación en Tecnología</a:t>
            </a:r>
          </a:p>
          <a:p>
            <a:r>
              <a:rPr lang="es-ES" dirty="0" smtClean="0"/>
              <a:t>5.2</a:t>
            </a:r>
            <a:r>
              <a:rPr lang="es-ES" dirty="0"/>
              <a:t>. </a:t>
            </a:r>
            <a:r>
              <a:rPr lang="es-CO" dirty="0" smtClean="0"/>
              <a:t>Comunicación Serial vs Comunicación Paralela</a:t>
            </a:r>
          </a:p>
          <a:p>
            <a:r>
              <a:rPr lang="es-ES" dirty="0" smtClean="0"/>
              <a:t>5.3</a:t>
            </a:r>
            <a:r>
              <a:rPr lang="es-ES" dirty="0"/>
              <a:t>. </a:t>
            </a:r>
            <a:r>
              <a:rPr lang="es-ES" dirty="0" smtClean="0"/>
              <a:t>Tipos de Comunicación Serial</a:t>
            </a:r>
          </a:p>
          <a:p>
            <a:r>
              <a:rPr lang="es-ES" dirty="0" smtClean="0"/>
              <a:t>5.4. Protocolo RS232</a:t>
            </a:r>
          </a:p>
          <a:p>
            <a:r>
              <a:rPr lang="es-ES" dirty="0" smtClean="0"/>
              <a:t>5.5. Módulo USART del PIC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Octubre 12 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sz="4000" dirty="0" smtClean="0"/>
              <a:t>5.1.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es el proceso mediante el cual se puede transmitir información de una entidad a otra.</a:t>
            </a:r>
          </a:p>
        </p:txBody>
      </p:sp>
      <p:pic>
        <p:nvPicPr>
          <p:cNvPr id="3" name="Picture 2" descr="http://www.eoi.es/blogs/elizabethmontesdeoca/files/2012/06/Comunicacion-3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76872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570156"/>
            <a:ext cx="8064895" cy="1054250"/>
          </a:xfrm>
        </p:spPr>
        <p:txBody>
          <a:bodyPr/>
          <a:lstStyle/>
          <a:p>
            <a:r>
              <a:rPr lang="es-CO" sz="4000" dirty="0" smtClean="0"/>
              <a:t>5.1.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entre los dispositivos electrónicos viene dada en señales de voltaje.</a:t>
            </a:r>
            <a:endParaRPr lang="es-CO" dirty="0"/>
          </a:p>
        </p:txBody>
      </p:sp>
      <p:pic>
        <p:nvPicPr>
          <p:cNvPr id="2052" name="Picture 4" descr="http://www.hispazone.com/imagenes/tutoriales/72-1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348880"/>
            <a:ext cx="4625512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72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790574"/>
            <a:ext cx="7987965" cy="1054250"/>
          </a:xfrm>
        </p:spPr>
        <p:txBody>
          <a:bodyPr/>
          <a:lstStyle/>
          <a:p>
            <a:r>
              <a:rPr lang="es-CO" sz="4000" dirty="0" smtClean="0"/>
              <a:t>5.2 Comunicación </a:t>
            </a:r>
            <a:r>
              <a:rPr lang="es-CO" sz="4000" dirty="0"/>
              <a:t>Serial vs Comunicación Paralela</a:t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4" name="Picture 2" descr="http://yaizaaurrecoechea.files.wordpress.com/2012/10/db.jpg?w=82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420888"/>
            <a:ext cx="2304255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ansmisión por un puerto paralel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74" y="2896741"/>
            <a:ext cx="24384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ransmisión en un puerto seri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34" y="2850257"/>
            <a:ext cx="24955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2 Subtítulo"/>
          <p:cNvSpPr txBox="1">
            <a:spLocks/>
          </p:cNvSpPr>
          <p:nvPr/>
        </p:nvSpPr>
        <p:spPr>
          <a:xfrm>
            <a:off x="271711" y="5013176"/>
            <a:ext cx="835292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paralela puede ser más rápida, pero requiere más canales (cables por ejemplo) para su funcionamiento.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8203990" cy="1054250"/>
          </a:xfrm>
        </p:spPr>
        <p:txBody>
          <a:bodyPr/>
          <a:lstStyle/>
          <a:p>
            <a:r>
              <a:rPr lang="es-ES" sz="4000" dirty="0" smtClean="0"/>
              <a:t>5.3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102" name="Picture 6" descr="http://www.jasonfrasca.com/wp-content/uploads/2013/04/WIFI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67" b="100000" l="2467" r="100000">
                        <a14:foregroundMark x1="25067" y1="47133" x2="25067" y2="47133"/>
                        <a14:foregroundMark x1="42133" y1="50933" x2="42133" y2="50933"/>
                        <a14:foregroundMark x1="41067" y1="41600" x2="41067" y2="41600"/>
                        <a14:foregroundMark x1="70267" y1="37733" x2="70267" y2="37733"/>
                        <a14:foregroundMark x1="62981" y1="45913" x2="62981" y2="45913"/>
                        <a14:foregroundMark x1="82933" y1="48798" x2="82933" y2="48798"/>
                        <a14:foregroundMark x1="81731" y1="41587" x2="81731" y2="415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491781"/>
            <a:ext cx="1729307" cy="17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://linuxreflejo.files.wordpress.com/2008/11/usb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990" y="4869160"/>
            <a:ext cx="1721768" cy="148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ttp://ubuntuymas.com/wp-content/uploads/2013/03/bluetooth.jpg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886" y="2492896"/>
            <a:ext cx="1872208" cy="194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http://neereeaa.files.wordpress.com/2010/05/tcp-ip.gif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83" y="4595685"/>
            <a:ext cx="2271257" cy="130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http://www.energyharvestingjournal.com/images/v5/articles/820x615/main5034.jpg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332" y="3422715"/>
            <a:ext cx="1585292" cy="11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http://www.isodaq.co.uk/content/images/m/gprs-logo.jpg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510" y="4892824"/>
            <a:ext cx="171450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Circuito electrónic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396" y="2084053"/>
            <a:ext cx="2060228" cy="99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0700" y="570156"/>
            <a:ext cx="8299772" cy="1054250"/>
          </a:xfrm>
        </p:spPr>
        <p:txBody>
          <a:bodyPr/>
          <a:lstStyle/>
          <a:p>
            <a:r>
              <a:rPr lang="es-ES" sz="4000" dirty="0" smtClean="0"/>
              <a:t>5.3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2 Subtítulo"/>
          <p:cNvSpPr txBox="1">
            <a:spLocks/>
          </p:cNvSpPr>
          <p:nvPr/>
        </p:nvSpPr>
        <p:spPr>
          <a:xfrm>
            <a:off x="1231094" y="2780928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Asíncrona</a:t>
            </a:r>
            <a:endParaRPr lang="es-CO" dirty="0"/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5766849" y="2636912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Síncrona</a:t>
            </a:r>
            <a:endParaRPr lang="es-CO" dirty="0"/>
          </a:p>
        </p:txBody>
      </p:sp>
      <p:pic>
        <p:nvPicPr>
          <p:cNvPr id="5126" name="Picture 6" descr="File:SPI three slaves.sv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654" y="3266182"/>
            <a:ext cx="2230283" cy="176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www.totalphase.com/image/articles/i2c-diagram.pn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88" y="5085184"/>
            <a:ext cx="3744416" cy="129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http://www.mikroe.com/img/publication/dspic-books/programming-pascal-dspic/chapter/10/fig10-9.gif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28" y="3429000"/>
            <a:ext cx="2389944" cy="277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2 Subtítulo"/>
          <p:cNvSpPr txBox="1">
            <a:spLocks/>
          </p:cNvSpPr>
          <p:nvPr/>
        </p:nvSpPr>
        <p:spPr>
          <a:xfrm>
            <a:off x="3149016" y="3994770"/>
            <a:ext cx="3001057" cy="648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1800" dirty="0" err="1" smtClean="0"/>
              <a:t>Microcontroladores</a:t>
            </a:r>
            <a:r>
              <a:rPr lang="es-MX" sz="1800" dirty="0" smtClean="0"/>
              <a:t>, Sensores, Memorias, Conversores ADC, etc.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80140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5.4.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pic>
        <p:nvPicPr>
          <p:cNvPr id="6146" name="Picture 2" descr="http://www.eva.uji.es/mcxcf/DocSerie_archivos/image002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92896"/>
            <a:ext cx="5616624" cy="312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/>
          <p:cNvSpPr txBox="1">
            <a:spLocks/>
          </p:cNvSpPr>
          <p:nvPr/>
        </p:nvSpPr>
        <p:spPr>
          <a:xfrm>
            <a:off x="467544" y="5805264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i="1" dirty="0" smtClean="0"/>
              <a:t>Es el protocolo fundamental, a partir de éste se han diseñado todos los demás (asíncronos).</a:t>
            </a:r>
            <a:endParaRPr lang="es-CO" sz="2200" i="1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6977329" y="2036673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6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5.4.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836712" y="2302869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i="1" dirty="0" smtClean="0"/>
              <a:t>Caracteres </a:t>
            </a:r>
            <a:r>
              <a:rPr lang="es-CO" sz="2200" i="1" dirty="0" err="1" smtClean="0"/>
              <a:t>Ascci</a:t>
            </a:r>
            <a:endParaRPr lang="es-CO" sz="2200" i="1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7308304" y="1484784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https://upload.wikimedia.org/wikipedia/commons/thumb/4/42/ASCII_full.svg/217px-ASCII_full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852936"/>
            <a:ext cx="3024336" cy="228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706" y="2204864"/>
            <a:ext cx="2063623" cy="4520321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4211960" y="3720738"/>
            <a:ext cx="504056" cy="550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4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5.5. Módulo USART del </a:t>
            </a:r>
            <a:r>
              <a:rPr lang="es-ES" sz="4000" dirty="0" smtClean="0"/>
              <a:t>PIC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566124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/>
              <a:t>Contiene todos los </a:t>
            </a:r>
            <a:r>
              <a:rPr lang="es-ES" sz="2000" dirty="0" smtClean="0"/>
              <a:t>temporizadores, </a:t>
            </a:r>
            <a:r>
              <a:rPr lang="es-ES" sz="2000" dirty="0"/>
              <a:t>registros de desplazamiento y </a:t>
            </a:r>
            <a:r>
              <a:rPr lang="es-ES" sz="2000" i="1" dirty="0" smtClean="0"/>
              <a:t>buffers</a:t>
            </a:r>
            <a:r>
              <a:rPr lang="es-ES" sz="2000" dirty="0" smtClean="0"/>
              <a:t> </a:t>
            </a:r>
            <a:r>
              <a:rPr lang="es-ES" sz="2000" dirty="0"/>
              <a:t>necesarios para realizar una entrada o una salida </a:t>
            </a:r>
            <a:r>
              <a:rPr lang="es-ES" sz="2000" dirty="0" smtClean="0"/>
              <a:t>serial </a:t>
            </a:r>
            <a:r>
              <a:rPr lang="es-ES" sz="2000" dirty="0"/>
              <a:t>de </a:t>
            </a:r>
            <a:r>
              <a:rPr lang="es-ES" sz="2000" dirty="0" smtClean="0"/>
              <a:t>datos independientemente </a:t>
            </a:r>
            <a:r>
              <a:rPr lang="es-ES" sz="2000" dirty="0"/>
              <a:t>de la ejecución </a:t>
            </a:r>
            <a:r>
              <a:rPr lang="es-ES" sz="2000" dirty="0" smtClean="0"/>
              <a:t>normal del microcontrolador.</a:t>
            </a:r>
            <a:endParaRPr lang="es-CO" sz="2000" dirty="0"/>
          </a:p>
        </p:txBody>
      </p:sp>
      <p:pic>
        <p:nvPicPr>
          <p:cNvPr id="7170" name="Picture 2" descr="http://www.avrbeginners.net/architecture/img/uart_overview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8623"/>
            <a:ext cx="54864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/>
          <p:cNvSpPr txBox="1">
            <a:spLocks/>
          </p:cNvSpPr>
          <p:nvPr/>
        </p:nvSpPr>
        <p:spPr>
          <a:xfrm>
            <a:off x="6977329" y="2036673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25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189</TotalTime>
  <Words>214</Words>
  <Application>Microsoft Office PowerPoint</Application>
  <PresentationFormat>Presentación en pantalla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Book Antiqua</vt:lpstr>
      <vt:lpstr>Calibri</vt:lpstr>
      <vt:lpstr>Wingdings</vt:lpstr>
      <vt:lpstr>3-Sistemas Secuenciales</vt:lpstr>
      <vt:lpstr>5. Comunicación Serial</vt:lpstr>
      <vt:lpstr>5.1. Comunicación en Tecnología I</vt:lpstr>
      <vt:lpstr>5.1. Comunicación en Tecnología II</vt:lpstr>
      <vt:lpstr>5.2 Comunicación Serial vs Comunicación Paralela </vt:lpstr>
      <vt:lpstr>5.3. Tipos de Comunicación Serial I</vt:lpstr>
      <vt:lpstr>5.3. Tipos de Comunicación Serial II</vt:lpstr>
      <vt:lpstr>5.4. Protocolo RS232</vt:lpstr>
      <vt:lpstr>5.4. Protocolo RS232</vt:lpstr>
      <vt:lpstr>5.5. Módulo USART del PIC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Windows User</cp:lastModifiedBy>
  <cp:revision>73</cp:revision>
  <dcterms:created xsi:type="dcterms:W3CDTF">2011-02-14T00:22:22Z</dcterms:created>
  <dcterms:modified xsi:type="dcterms:W3CDTF">2016-10-12T05:56:42Z</dcterms:modified>
</cp:coreProperties>
</file>
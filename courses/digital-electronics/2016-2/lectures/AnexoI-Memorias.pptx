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95DD5203-7600-4D3F-9C3E-4D6D1CF342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1997"/>
    <a:srgbClr val="46B846"/>
    <a:srgbClr val="2CD283"/>
    <a:srgbClr val="ED8C2B"/>
    <a:srgbClr val="840A38"/>
    <a:srgbClr val="990033"/>
    <a:srgbClr val="1510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0380" autoAdjust="0"/>
  </p:normalViewPr>
  <p:slideViewPr>
    <p:cSldViewPr>
      <p:cViewPr varScale="1">
        <p:scale>
          <a:sx n="105" d="100"/>
          <a:sy n="105" d="100"/>
        </p:scale>
        <p:origin x="1764" y="-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D4DB5F-8441-46BC-A2C2-D8C77AB445A6}" type="datetimeFigureOut">
              <a:rPr lang="es-CO" smtClean="0"/>
              <a:t>21/09/2016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87BBB-A4C9-40A5-B74E-E45C8F58547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58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verOverlay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21/09/2016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8" name="Group 7"/>
          <p:cNvGrpSpPr/>
          <p:nvPr/>
        </p:nvGrpSpPr>
        <p:grpSpPr>
          <a:xfrm>
            <a:off x="1194101" y="2887530"/>
            <a:ext cx="6779110" cy="923330"/>
            <a:chOff x="1172584" y="1381459"/>
            <a:chExt cx="6779110" cy="923330"/>
          </a:xfrm>
          <a:effectLst>
            <a:outerShdw blurRad="38100" dist="12700" dir="16200000" rotWithShape="0">
              <a:prstClr val="black">
                <a:alpha val="30000"/>
              </a:prstClr>
            </a:outerShdw>
          </a:effectLst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ln w="3175">
                    <a:solidFill>
                      <a:schemeClr val="tx2">
                        <a:alpha val="60000"/>
                      </a:schemeClr>
                    </a:solidFill>
                  </a:ln>
                  <a:solidFill>
                    <a:schemeClr val="tx2">
                      <a:lumMod val="90000"/>
                    </a:schemeClr>
                  </a:solidFill>
                  <a:effectLst>
                    <a:outerShdw blurRad="34925" dist="12700" dir="14400000" algn="ctr" rotWithShape="0">
                      <a:srgbClr val="000000">
                        <a:alpha val="21000"/>
                      </a:srgbClr>
                    </a:outerShdw>
                  </a:effectLst>
                  <a:latin typeface="Wingdings" pitchFamily="2" charset="2"/>
                </a:rPr>
                <a:t></a:t>
              </a:r>
              <a:endParaRPr lang="en-US" sz="5400" dirty="0">
                <a:ln w="3175">
                  <a:solidFill>
                    <a:schemeClr val="tx2">
                      <a:alpha val="60000"/>
                    </a:schemeClr>
                  </a:solidFill>
                </a:ln>
                <a:solidFill>
                  <a:schemeClr val="tx2">
                    <a:lumMod val="90000"/>
                  </a:schemeClr>
                </a:solidFill>
                <a:effectLst>
                  <a:outerShdw blurRad="34925" dist="12700" dir="14400000" algn="ctr" rotWithShape="0">
                    <a:srgbClr val="000000">
                      <a:alpha val="21000"/>
                    </a:srgbClr>
                  </a:outerShdw>
                </a:effectLst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293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9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3341" y="1387737"/>
            <a:ext cx="6777318" cy="1731982"/>
          </a:xfrm>
        </p:spPr>
        <p:txBody>
          <a:bodyPr anchor="b"/>
          <a:lstStyle>
            <a:lvl1pPr>
              <a:defRPr>
                <a:ln w="3175">
                  <a:solidFill>
                    <a:schemeClr val="tx1">
                      <a:alpha val="65000"/>
                    </a:schemeClr>
                  </a:solidFill>
                </a:ln>
                <a:solidFill>
                  <a:schemeClr val="tx1"/>
                </a:solidFill>
                <a:effectLst>
                  <a:outerShdw blurRad="25400" dist="12700" dir="14220000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67862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21/09/2016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3" name="TextBox 12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4" name="Straight Connector 13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CoverOverlay.png"/>
          <p:cNvPicPr>
            <a:picLocks noChangeAspect="1"/>
          </p:cNvPicPr>
          <p:nvPr/>
        </p:nvPicPr>
        <p:blipFill>
          <a:blip r:embed="rId2" cstate="print">
            <a:lum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1172584" y="2887579"/>
            <a:ext cx="6779110" cy="923330"/>
            <a:chOff x="1172584" y="1381459"/>
            <a:chExt cx="6779110" cy="923330"/>
          </a:xfrm>
        </p:grpSpPr>
        <p:sp>
          <p:nvSpPr>
            <p:cNvPr id="9" name="TextBox 8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rot="10800000">
              <a:off x="4831976" y="1927412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40" y="1204857"/>
            <a:ext cx="7754713" cy="1910716"/>
          </a:xfrm>
        </p:spPr>
        <p:txBody>
          <a:bodyPr anchor="b"/>
          <a:lstStyle>
            <a:lvl1pPr algn="ctr">
              <a:defRPr sz="5400" b="0" cap="none" baseline="0"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8" y="3767316"/>
            <a:ext cx="7734747" cy="15001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21/09/2016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21/09/2016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685800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4"/>
          </p:nvPr>
        </p:nvSpPr>
        <p:spPr>
          <a:xfrm>
            <a:off x="4645151" y="2240280"/>
            <a:ext cx="3803904" cy="3877056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2240280"/>
            <a:ext cx="3442446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8488" y="2947595"/>
            <a:ext cx="3803904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02306" y="2240280"/>
            <a:ext cx="3447288" cy="658368"/>
          </a:xfrm>
        </p:spPr>
        <p:txBody>
          <a:bodyPr anchor="b"/>
          <a:lstStyle>
            <a:lvl1pPr marL="0" indent="0" algn="ctr">
              <a:buNone/>
              <a:defRPr sz="24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944368"/>
            <a:ext cx="3799728" cy="317296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21/09/2016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4" name="Group 13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6" name="TextBox 15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21/09/2016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0" name="Group 9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4" name="TextBox 13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5" name="Straight Connector 14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21/09/2016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4579" y="1678195"/>
            <a:ext cx="3422483" cy="1886921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001" y="559398"/>
            <a:ext cx="4116667" cy="5566765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4579" y="3603812"/>
            <a:ext cx="3411725" cy="2517289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21/09/2016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731" y="4668818"/>
            <a:ext cx="7767021" cy="644729"/>
          </a:xfrm>
        </p:spPr>
        <p:txBody>
          <a:bodyPr anchor="b"/>
          <a:lstStyle>
            <a:lvl1pPr algn="ctr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240000">
            <a:off x="2183792" y="666965"/>
            <a:ext cx="4772156" cy="3598016"/>
          </a:xfr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24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8489" y="5324306"/>
            <a:ext cx="7756264" cy="804862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21/09/2016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21/09/2016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>
            <a:off x="1172584" y="1392217"/>
            <a:ext cx="6779110" cy="923330"/>
            <a:chOff x="1172584" y="1381459"/>
            <a:chExt cx="6779110" cy="923330"/>
          </a:xfrm>
        </p:grpSpPr>
        <p:sp>
          <p:nvSpPr>
            <p:cNvPr id="15" name="TextBox 14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>
            <a:xfrm rot="10800000">
              <a:off x="1172584" y="192562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831976" y="1922650"/>
              <a:ext cx="3119718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6560" y="559398"/>
            <a:ext cx="1678193" cy="556676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8488" y="849854"/>
            <a:ext cx="5507917" cy="5023821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pPr/>
              <a:t>21/09/2016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  <p:grpSp>
        <p:nvGrpSpPr>
          <p:cNvPr id="11" name="Group 10"/>
          <p:cNvGrpSpPr/>
          <p:nvPr/>
        </p:nvGrpSpPr>
        <p:grpSpPr>
          <a:xfrm rot="5400000">
            <a:off x="3909050" y="2880823"/>
            <a:ext cx="5480154" cy="923330"/>
            <a:chOff x="1815339" y="1381459"/>
            <a:chExt cx="5480154" cy="923330"/>
          </a:xfrm>
        </p:grpSpPr>
        <p:sp>
          <p:nvSpPr>
            <p:cNvPr id="12" name="TextBox 11"/>
            <p:cNvSpPr txBox="1"/>
            <p:nvPr/>
          </p:nvSpPr>
          <p:spPr>
            <a:xfrm>
              <a:off x="4147073" y="1381459"/>
              <a:ext cx="87716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 smtClean="0">
                  <a:solidFill>
                    <a:schemeClr val="tx2">
                      <a:lumMod val="60000"/>
                      <a:lumOff val="40000"/>
                    </a:schemeClr>
                  </a:solidFill>
                  <a:latin typeface="Wingdings" pitchFamily="2" charset="2"/>
                </a:rPr>
                <a:t></a:t>
              </a:r>
              <a:endParaRPr lang="en-US" sz="5400" dirty="0">
                <a:solidFill>
                  <a:schemeClr val="tx2">
                    <a:lumMod val="60000"/>
                    <a:lumOff val="40000"/>
                  </a:schemeClr>
                </a:solidFill>
                <a:latin typeface="Wingdings" pitchFamily="2" charset="2"/>
              </a:endParaRPr>
            </a:p>
          </p:txBody>
        </p:sp>
        <p:cxnSp>
          <p:nvCxnSpPr>
            <p:cNvPr id="13" name="Straight Connector 12"/>
            <p:cNvCxnSpPr/>
            <p:nvPr/>
          </p:nvCxnSpPr>
          <p:spPr>
            <a:xfrm flipH="1" flipV="1">
              <a:off x="1815339" y="1924709"/>
              <a:ext cx="2468880" cy="2505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4826613" y="1927417"/>
              <a:ext cx="2468880" cy="1588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83000">
                <a:schemeClr val="bg1">
                  <a:alpha val="11000"/>
                </a:schemeClr>
              </a:gs>
              <a:gs pos="100000">
                <a:schemeClr val="bg2">
                  <a:lumMod val="75000"/>
                  <a:alpha val="23000"/>
                </a:schemeClr>
              </a:gs>
            </a:gsLst>
            <a:path path="rect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8490" y="570156"/>
            <a:ext cx="7756263" cy="1054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9247" y="2248347"/>
            <a:ext cx="7745505" cy="38778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60378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061571ED-39D6-443C-9EF8-3AD8EC129B98}" type="datetimeFigureOut">
              <a:rPr lang="es-CO" smtClean="0"/>
              <a:pPr/>
              <a:t>21/09/2016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16144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39264" y="616144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6FB919A-4838-4492-BE31-B5808E3145DF}" type="slidenum">
              <a:rPr lang="es-CO" smtClean="0"/>
              <a:pPr/>
              <a:t>‹Nº›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5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576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77724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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36576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50876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0" indent="-320040" algn="l" defTabSz="914400" rtl="0" eaLnBrk="1" latinLnBrk="0" hangingPunct="1">
        <a:spcBef>
          <a:spcPct val="20000"/>
        </a:spcBef>
        <a:buClr>
          <a:schemeClr val="accent1"/>
        </a:buClr>
        <a:buFont typeface="Wingdings" pitchFamily="2" charset="2"/>
        <a:buChar char="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14884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indent="-274320" algn="l" defTabSz="914400" rtl="0" eaLnBrk="1" latinLnBrk="0" hangingPunct="1">
        <a:spcBef>
          <a:spcPts val="400"/>
        </a:spcBef>
        <a:buClr>
          <a:schemeClr val="accent1"/>
        </a:buClr>
        <a:buFont typeface="Wingdings" pitchFamily="2" charset="2"/>
        <a:buChar char="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052736"/>
            <a:ext cx="7772400" cy="1251570"/>
          </a:xfrm>
        </p:spPr>
        <p:txBody>
          <a:bodyPr>
            <a:normAutofit/>
          </a:bodyPr>
          <a:lstStyle/>
          <a:p>
            <a:r>
              <a:rPr lang="es-CO" sz="5000" dirty="0" smtClean="0"/>
              <a:t>Memorias</a:t>
            </a:r>
            <a:endParaRPr lang="es-CO" sz="5000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3645024"/>
            <a:ext cx="6400800" cy="252028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s-CO" dirty="0" smtClean="0"/>
              <a:t>Memoria.</a:t>
            </a:r>
            <a:endParaRPr lang="es-ES" dirty="0"/>
          </a:p>
          <a:p>
            <a:pPr marL="457200" indent="-457200">
              <a:buAutoNum type="arabicPeriod"/>
            </a:pPr>
            <a:r>
              <a:rPr lang="es-ES" dirty="0" smtClean="0"/>
              <a:t>Tipos de memoria.</a:t>
            </a:r>
          </a:p>
          <a:p>
            <a:pPr marL="457200" indent="-457200">
              <a:buAutoNum type="arabicPeriod"/>
            </a:pPr>
            <a:r>
              <a:rPr lang="es-CO" dirty="0" smtClean="0"/>
              <a:t>Usos de las memorias.</a:t>
            </a:r>
          </a:p>
          <a:p>
            <a:pPr marL="457200" indent="-457200">
              <a:buAutoNum type="arabicPeriod"/>
            </a:pPr>
            <a:endParaRPr lang="es-CO" dirty="0" smtClean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 smtClean="0">
                <a:effectLst/>
              </a:rPr>
              <a:t>Septiembre 21 </a:t>
            </a:r>
            <a:r>
              <a:rPr lang="es-ES" i="1" dirty="0" smtClean="0">
                <a:effectLst/>
              </a:rPr>
              <a:t>de 2016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104331"/>
            <a:ext cx="7745505" cy="9646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CO" sz="2200" b="1" i="1" dirty="0" smtClean="0"/>
              <a:t>Dispositivos capaces de almacenar temporal o permanentemente información, en particular en forma de bits.</a:t>
            </a:r>
          </a:p>
          <a:p>
            <a:pPr marL="0" indent="0">
              <a:buNone/>
            </a:pPr>
            <a:r>
              <a:rPr lang="es-CO" sz="2200" b="1" i="1" dirty="0" smtClean="0"/>
              <a:t>Controlan la misma, y permiten a diferentes dispositivos realizar funciones dependiendo de la información que almacenan (Computadores, </a:t>
            </a:r>
            <a:r>
              <a:rPr lang="es-CO" sz="2200" b="1" i="1" dirty="0" err="1" smtClean="0"/>
              <a:t>Microcontroladores</a:t>
            </a:r>
            <a:r>
              <a:rPr lang="es-CO" sz="2200" b="1" i="1" dirty="0" smtClean="0"/>
              <a:t>, Dispositivos de almacenamiento masivo, </a:t>
            </a:r>
            <a:r>
              <a:rPr lang="es-CO" sz="2200" b="1" i="1" dirty="0" err="1" smtClean="0"/>
              <a:t>etc</a:t>
            </a:r>
            <a:r>
              <a:rPr lang="es-CO" sz="2200" b="1" i="1" dirty="0" smtClean="0"/>
              <a:t>).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1.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653136"/>
            <a:ext cx="2880320" cy="18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4650432"/>
            <a:ext cx="2736304" cy="1878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1155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Funcionamiento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1.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611560" y="2636912"/>
            <a:ext cx="3240360" cy="676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sz="2000" b="1" i="1" dirty="0" smtClean="0"/>
              <a:t>Un arreglo de celdas almacena datos en forma de palabras de n bits.</a:t>
            </a:r>
          </a:p>
          <a:p>
            <a:pPr marL="0" indent="0" algn="ctr">
              <a:buFont typeface="Wingdings" pitchFamily="2" charset="2"/>
              <a:buNone/>
            </a:pPr>
            <a:r>
              <a:rPr lang="es-CO" sz="2000" b="1" i="1" dirty="0" smtClean="0"/>
              <a:t>Una memoria debe: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r>
              <a:rPr lang="es-CO" sz="2000" b="1" i="1" dirty="0" smtClean="0"/>
              <a:t>Apuntar el lugar de memoria que se desea.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r>
              <a:rPr lang="es-CO" sz="2000" b="1" i="1" smtClean="0"/>
              <a:t>Determinar </a:t>
            </a:r>
            <a:r>
              <a:rPr lang="es-CO" sz="2000" b="1" i="1" dirty="0" smtClean="0"/>
              <a:t>la operación (L/E).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r>
              <a:rPr lang="es-CO" sz="2000" b="1" i="1" dirty="0" smtClean="0"/>
              <a:t>Cargar los datos a almacenar (E) o retener el dato (L).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r>
              <a:rPr lang="es-CO" sz="2000" b="1" i="1" dirty="0" smtClean="0"/>
              <a:t>Habilitar la memoria.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sz="2000" b="1" i="1" dirty="0" smtClean="0"/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sz="2000" b="1" i="1" dirty="0"/>
          </a:p>
          <a:p>
            <a:pPr marL="0" indent="0" algn="ctr">
              <a:buNone/>
            </a:pPr>
            <a:endParaRPr lang="es-CO" sz="2000" b="1" i="1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325" y="2780928"/>
            <a:ext cx="3334898" cy="3577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796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Memorias de Acceso Aleatorio RAM.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611560" y="3140968"/>
            <a:ext cx="3240360" cy="2664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Memoria de escritura/lectura que tiene la capacidad de seleccionar cualquier dirección de la memoria sin depender de la posición en la que se encuentre.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 smtClean="0"/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/>
          </a:p>
          <a:p>
            <a:pPr marL="0" indent="0" algn="ctr">
              <a:buNone/>
            </a:pPr>
            <a:endParaRPr lang="es-CO" b="1" i="1" dirty="0" smtClean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619" y="5442835"/>
            <a:ext cx="3498221" cy="920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889" y="2780928"/>
            <a:ext cx="3615683" cy="250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7886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Memorias de Acceso Aleatorio RAM.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3119636"/>
            <a:ext cx="3240360" cy="26642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SRAM: RAM estática; construidas por </a:t>
            </a:r>
            <a:r>
              <a:rPr lang="es-CO" b="1" i="1" dirty="0" err="1" smtClean="0"/>
              <a:t>flip-flop</a:t>
            </a:r>
            <a:r>
              <a:rPr lang="es-CO" b="1" i="1" dirty="0" smtClean="0"/>
              <a:t>.</a:t>
            </a:r>
          </a:p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DRAM: RAM dinámica; construidas por celdas a base de condensadores.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 smtClean="0"/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/>
          </a:p>
          <a:p>
            <a:pPr marL="0" indent="0" algn="ctr">
              <a:buNone/>
            </a:pPr>
            <a:endParaRPr lang="es-CO" b="1" i="1" dirty="0" smtClean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137334"/>
            <a:ext cx="4969823" cy="25958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1 Marcador de contenido"/>
          <p:cNvSpPr txBox="1">
            <a:spLocks/>
          </p:cNvSpPr>
          <p:nvPr/>
        </p:nvSpPr>
        <p:spPr>
          <a:xfrm>
            <a:off x="4764863" y="5783932"/>
            <a:ext cx="3240360" cy="7311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Memorias volátiles.</a:t>
            </a:r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 smtClean="0"/>
          </a:p>
          <a:p>
            <a:pPr marL="457200" indent="-457200" algn="ctr">
              <a:buFont typeface="Wingdings" pitchFamily="2" charset="2"/>
              <a:buAutoNum type="arabicPeriod"/>
            </a:pPr>
            <a:endParaRPr lang="es-CO" b="1" i="1" dirty="0"/>
          </a:p>
          <a:p>
            <a:pPr marL="0" indent="0" algn="ctr">
              <a:buNone/>
            </a:pPr>
            <a:endParaRPr lang="es-CO" b="1" i="1" dirty="0" smtClean="0"/>
          </a:p>
        </p:txBody>
      </p:sp>
    </p:spTree>
    <p:extLst>
      <p:ext uri="{BB962C8B-B14F-4D97-AF65-F5344CB8AC3E}">
        <p14:creationId xmlns:p14="http://schemas.microsoft.com/office/powerpoint/2010/main" val="2989937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 de sólo lectura. ROM.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2831604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b="1" i="1" dirty="0" smtClean="0"/>
              <a:t>Memorias no volátiles; tienen capacidad para almacenar información permanentemente.</a:t>
            </a:r>
            <a:endParaRPr lang="es-CO" b="1" i="1" dirty="0"/>
          </a:p>
          <a:p>
            <a:pPr marL="0" indent="0" algn="ctr">
              <a:buNone/>
            </a:pPr>
            <a:endParaRPr lang="es-CO" b="1" i="1" dirty="0" smtClean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125266"/>
            <a:ext cx="2133600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4230985"/>
            <a:ext cx="2466975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 descr="Resultado de imagen para hard disk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138866"/>
            <a:ext cx="3015153" cy="2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504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 de sólo lectura. ROM.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2831604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000" b="1" i="1" dirty="0" smtClean="0"/>
              <a:t>ROM</a:t>
            </a:r>
            <a:r>
              <a:rPr lang="es-CO" sz="2000" b="1" i="1" dirty="0"/>
              <a:t>: (</a:t>
            </a:r>
            <a:r>
              <a:rPr lang="es-CO" sz="2000" b="1" i="1" dirty="0" err="1"/>
              <a:t>Read</a:t>
            </a:r>
            <a:r>
              <a:rPr lang="es-CO" sz="2000" b="1" i="1" dirty="0"/>
              <a:t> </a:t>
            </a:r>
            <a:r>
              <a:rPr lang="es-CO" sz="2000" b="1" i="1" dirty="0" err="1"/>
              <a:t>Only</a:t>
            </a:r>
            <a:r>
              <a:rPr lang="es-CO" sz="2000" b="1" i="1" dirty="0"/>
              <a:t> </a:t>
            </a:r>
            <a:r>
              <a:rPr lang="es-CO" sz="2000" b="1" i="1" dirty="0" err="1"/>
              <a:t>Memory</a:t>
            </a:r>
            <a:r>
              <a:rPr lang="es-CO" sz="2000" b="1" i="1" dirty="0"/>
              <a:t>): </a:t>
            </a:r>
            <a:r>
              <a:rPr lang="es-CO" sz="2000" dirty="0"/>
              <a:t>Se usan principalmente en microprogramación de sistemas. Los fabricantes las suelen emplear cuando producen componentes de forma masiva.</a:t>
            </a:r>
          </a:p>
          <a:p>
            <a:pPr marL="0" indent="0" algn="just">
              <a:buNone/>
            </a:pPr>
            <a:r>
              <a:rPr lang="es-CO" sz="2000" b="1" i="1" dirty="0" smtClean="0"/>
              <a:t>PROM</a:t>
            </a:r>
            <a:r>
              <a:rPr lang="es-CO" sz="2000" b="1" i="1" dirty="0"/>
              <a:t>: (</a:t>
            </a:r>
            <a:r>
              <a:rPr lang="es-CO" sz="2000" b="1" i="1" dirty="0" err="1"/>
              <a:t>Programmable</a:t>
            </a:r>
            <a:r>
              <a:rPr lang="es-CO" sz="2000" b="1" i="1" dirty="0"/>
              <a:t> </a:t>
            </a:r>
            <a:r>
              <a:rPr lang="es-CO" sz="2000" b="1" i="1" dirty="0" err="1"/>
              <a:t>Read</a:t>
            </a:r>
            <a:r>
              <a:rPr lang="es-CO" sz="2000" b="1" i="1" dirty="0"/>
              <a:t> </a:t>
            </a:r>
            <a:r>
              <a:rPr lang="es-CO" sz="2000" b="1" i="1" dirty="0" err="1"/>
              <a:t>Only</a:t>
            </a:r>
            <a:r>
              <a:rPr lang="es-CO" sz="2000" b="1" i="1" dirty="0"/>
              <a:t> </a:t>
            </a:r>
            <a:r>
              <a:rPr lang="es-CO" sz="2000" b="1" i="1" dirty="0" err="1"/>
              <a:t>Memory</a:t>
            </a:r>
            <a:r>
              <a:rPr lang="es-CO" sz="2000" b="1" i="1" dirty="0"/>
              <a:t>): </a:t>
            </a:r>
            <a:r>
              <a:rPr lang="es-CO" sz="2000" dirty="0"/>
              <a:t>El proceso de escritura es electrónico. Se puede grabar posteriormente a la fabricación del chip, a diferencia de las anteriores que se graba durante la fabricación. Permite una única grabación y es más cara que la ROM.</a:t>
            </a:r>
          </a:p>
          <a:p>
            <a:pPr marL="0" indent="0" algn="just">
              <a:buNone/>
            </a:pPr>
            <a:r>
              <a:rPr lang="es-CO" sz="2000" b="1" i="1" dirty="0" smtClean="0"/>
              <a:t>EPROM </a:t>
            </a:r>
            <a:r>
              <a:rPr lang="es-CO" sz="2000" b="1" i="1" dirty="0"/>
              <a:t>(</a:t>
            </a:r>
            <a:r>
              <a:rPr lang="es-CO" sz="2000" b="1" i="1" dirty="0" err="1"/>
              <a:t>Erasable</a:t>
            </a:r>
            <a:r>
              <a:rPr lang="es-CO" sz="2000" b="1" i="1" dirty="0"/>
              <a:t> </a:t>
            </a:r>
            <a:r>
              <a:rPr lang="es-CO" sz="2000" b="1" i="1" dirty="0" err="1"/>
              <a:t>Programmable</a:t>
            </a:r>
            <a:r>
              <a:rPr lang="es-CO" sz="2000" b="1" i="1" dirty="0"/>
              <a:t> </a:t>
            </a:r>
            <a:r>
              <a:rPr lang="es-CO" sz="2000" b="1" i="1" dirty="0" err="1"/>
              <a:t>Read</a:t>
            </a:r>
            <a:r>
              <a:rPr lang="es-CO" sz="2000" b="1" i="1" dirty="0"/>
              <a:t> </a:t>
            </a:r>
            <a:r>
              <a:rPr lang="es-CO" sz="2000" b="1" i="1" dirty="0" err="1"/>
              <a:t>Only</a:t>
            </a:r>
            <a:r>
              <a:rPr lang="es-CO" sz="2000" b="1" i="1" dirty="0"/>
              <a:t> </a:t>
            </a:r>
            <a:r>
              <a:rPr lang="es-CO" sz="2000" b="1" i="1" dirty="0" err="1"/>
              <a:t>Memory</a:t>
            </a:r>
            <a:r>
              <a:rPr lang="es-CO" sz="2000" b="1" i="1" dirty="0"/>
              <a:t>): </a:t>
            </a:r>
            <a:r>
              <a:rPr lang="es-CO" sz="2000" dirty="0"/>
              <a:t>Se puede escribir varias veces de forma eléctrica, sin embargo, el borrado de los contenidos es completo y a través de la exposición a rayos ultravioletas (de esto que suelen tener una pequeña ‘ventanita’ en el chip</a:t>
            </a:r>
            <a:r>
              <a:rPr lang="es-CO" sz="2000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48657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699247" y="2060848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 de sólo lectura. ROM.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2. Tipos de memoria.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2852936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000" b="1" i="1" dirty="0" smtClean="0"/>
              <a:t>EEPROM </a:t>
            </a:r>
            <a:r>
              <a:rPr lang="es-CO" sz="2000" b="1" i="1" dirty="0"/>
              <a:t>(</a:t>
            </a:r>
            <a:r>
              <a:rPr lang="es-CO" sz="2000" b="1" i="1" dirty="0" err="1"/>
              <a:t>Electrically</a:t>
            </a:r>
            <a:r>
              <a:rPr lang="es-CO" sz="2000" b="1" i="1" dirty="0"/>
              <a:t> </a:t>
            </a:r>
            <a:r>
              <a:rPr lang="es-CO" sz="2000" b="1" i="1" dirty="0" err="1"/>
              <a:t>Erasable</a:t>
            </a:r>
            <a:r>
              <a:rPr lang="es-CO" sz="2000" b="1" i="1" dirty="0"/>
              <a:t> </a:t>
            </a:r>
            <a:r>
              <a:rPr lang="es-CO" sz="2000" b="1" i="1" dirty="0" err="1"/>
              <a:t>Programmable</a:t>
            </a:r>
            <a:r>
              <a:rPr lang="es-CO" sz="2000" b="1" i="1" dirty="0"/>
              <a:t> </a:t>
            </a:r>
            <a:r>
              <a:rPr lang="es-CO" sz="2000" b="1" i="1" dirty="0" err="1"/>
              <a:t>Read</a:t>
            </a:r>
            <a:r>
              <a:rPr lang="es-CO" sz="2000" b="1" i="1" dirty="0"/>
              <a:t> </a:t>
            </a:r>
            <a:r>
              <a:rPr lang="es-CO" sz="2000" b="1" i="1" dirty="0" err="1"/>
              <a:t>Only</a:t>
            </a:r>
            <a:r>
              <a:rPr lang="es-CO" sz="2000" b="1" i="1" dirty="0"/>
              <a:t> </a:t>
            </a:r>
            <a:r>
              <a:rPr lang="es-CO" sz="2000" b="1" i="1" dirty="0" err="1"/>
              <a:t>Memory</a:t>
            </a:r>
            <a:r>
              <a:rPr lang="es-CO" sz="2000" b="1" i="1" dirty="0"/>
              <a:t>): </a:t>
            </a:r>
            <a:r>
              <a:rPr lang="es-CO" sz="2000" dirty="0"/>
              <a:t>Se puede borrar selectivamente byte a byte con corriente eléctrica. Es más cara que la EPROM.</a:t>
            </a:r>
          </a:p>
          <a:p>
            <a:pPr marL="0" indent="0" algn="just">
              <a:buNone/>
            </a:pPr>
            <a:r>
              <a:rPr lang="es-CO" sz="2000" b="1" i="1" dirty="0" smtClean="0"/>
              <a:t>Memoria </a:t>
            </a:r>
            <a:r>
              <a:rPr lang="es-CO" sz="2000" b="1" i="1" dirty="0"/>
              <a:t>flash: </a:t>
            </a:r>
            <a:r>
              <a:rPr lang="es-CO" sz="2000" b="1" i="1" dirty="0" smtClean="0"/>
              <a:t>P</a:t>
            </a:r>
            <a:r>
              <a:rPr lang="es-CO" sz="2000" dirty="0" smtClean="0"/>
              <a:t>ermite </a:t>
            </a:r>
            <a:r>
              <a:rPr lang="es-CO" sz="2000" dirty="0"/>
              <a:t>la </a:t>
            </a:r>
            <a:r>
              <a:rPr lang="es-CO" sz="2000" dirty="0" err="1"/>
              <a:t>lecto</a:t>
            </a:r>
            <a:r>
              <a:rPr lang="es-CO" sz="2000" dirty="0"/>
              <a:t>-escritura </a:t>
            </a:r>
            <a:r>
              <a:rPr lang="es-CO" sz="2000" dirty="0" smtClean="0"/>
              <a:t>(ultravioleta) de </a:t>
            </a:r>
            <a:r>
              <a:rPr lang="es-CO" sz="2000" dirty="0"/>
              <a:t>múltiples posiciones de memoria en la misma operación. </a:t>
            </a:r>
            <a:r>
              <a:rPr lang="es-CO" sz="2000" dirty="0" smtClean="0"/>
              <a:t>Tiene velocidades </a:t>
            </a:r>
            <a:r>
              <a:rPr lang="es-CO" sz="2000" dirty="0"/>
              <a:t>de funcionamiento muy superiores </a:t>
            </a:r>
            <a:r>
              <a:rPr lang="es-CO" sz="2000" dirty="0" smtClean="0"/>
              <a:t>a </a:t>
            </a:r>
            <a:r>
              <a:rPr lang="es-CO" sz="2000" dirty="0"/>
              <a:t>la tecnología </a:t>
            </a:r>
            <a:r>
              <a:rPr lang="es-CO" sz="2000" dirty="0" smtClean="0"/>
              <a:t>EEPROM. </a:t>
            </a:r>
          </a:p>
        </p:txBody>
      </p:sp>
      <p:pic>
        <p:nvPicPr>
          <p:cNvPr id="2052" name="Picture 4" descr="Resultado de imagen para memoria eeprom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3576" y="4520707"/>
            <a:ext cx="2666090" cy="2666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2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contenido"/>
          <p:cNvSpPr>
            <a:spLocks noGrp="1"/>
          </p:cNvSpPr>
          <p:nvPr>
            <p:ph idx="1"/>
          </p:nvPr>
        </p:nvSpPr>
        <p:spPr>
          <a:xfrm>
            <a:off x="786935" y="2204864"/>
            <a:ext cx="7745505" cy="67659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CO" sz="3200" b="1" i="1" dirty="0" smtClean="0"/>
              <a:t>Memorias RAM:</a:t>
            </a:r>
          </a:p>
        </p:txBody>
      </p:sp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sz="4800" dirty="0" smtClean="0"/>
              <a:t>3. Usos de las memorias.</a:t>
            </a:r>
            <a:endParaRPr lang="es-CO" sz="4800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 smtClean="0"/>
              <a:t>CATA</a:t>
            </a:r>
            <a:endParaRPr lang="es-CO" sz="1200" dirty="0"/>
          </a:p>
        </p:txBody>
      </p:sp>
      <p:sp>
        <p:nvSpPr>
          <p:cNvPr id="7" name="1 Marcador de contenido"/>
          <p:cNvSpPr txBox="1">
            <a:spLocks/>
          </p:cNvSpPr>
          <p:nvPr/>
        </p:nvSpPr>
        <p:spPr>
          <a:xfrm>
            <a:off x="323528" y="3047628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000" b="1" dirty="0" smtClean="0"/>
              <a:t>Se usan como memorias para el almacenamiento temporal de datos en computadores y </a:t>
            </a:r>
            <a:r>
              <a:rPr lang="es-CO" sz="2000" b="1" dirty="0" err="1" smtClean="0"/>
              <a:t>microcontroladores</a:t>
            </a:r>
            <a:r>
              <a:rPr lang="es-CO" sz="2000" b="1" dirty="0" smtClean="0"/>
              <a:t>.</a:t>
            </a:r>
          </a:p>
          <a:p>
            <a:pPr marL="0" indent="0" algn="just">
              <a:buNone/>
            </a:pPr>
            <a:r>
              <a:rPr lang="es-CO" sz="2000" b="1" dirty="0" smtClean="0"/>
              <a:t>Se usan como memoria CACHE y como memoria de video en los PC.</a:t>
            </a:r>
          </a:p>
        </p:txBody>
      </p:sp>
      <p:sp>
        <p:nvSpPr>
          <p:cNvPr id="6" name="1 Marcador de contenido"/>
          <p:cNvSpPr txBox="1">
            <a:spLocks/>
          </p:cNvSpPr>
          <p:nvPr/>
        </p:nvSpPr>
        <p:spPr>
          <a:xfrm>
            <a:off x="785292" y="4408587"/>
            <a:ext cx="7745505" cy="6765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CO" sz="3200" b="1" i="1" dirty="0" smtClean="0"/>
              <a:t>Memorias ROM:</a:t>
            </a:r>
          </a:p>
        </p:txBody>
      </p:sp>
      <p:sp>
        <p:nvSpPr>
          <p:cNvPr id="8" name="1 Marcador de contenido"/>
          <p:cNvSpPr txBox="1">
            <a:spLocks/>
          </p:cNvSpPr>
          <p:nvPr/>
        </p:nvSpPr>
        <p:spPr>
          <a:xfrm>
            <a:off x="475928" y="5135860"/>
            <a:ext cx="8208912" cy="957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s-CO" sz="2000" b="1" dirty="0" smtClean="0"/>
              <a:t>Se usan para programas y datos.</a:t>
            </a:r>
          </a:p>
          <a:p>
            <a:pPr marL="0" indent="0" algn="just">
              <a:buNone/>
            </a:pPr>
            <a:r>
              <a:rPr lang="es-CO" sz="2000" b="1" dirty="0" smtClean="0"/>
              <a:t>Almacenan tablas de datos para posterior uso en operaciones aritméticas.</a:t>
            </a:r>
          </a:p>
        </p:txBody>
      </p:sp>
    </p:spTree>
    <p:extLst>
      <p:ext uri="{BB962C8B-B14F-4D97-AF65-F5344CB8AC3E}">
        <p14:creationId xmlns:p14="http://schemas.microsoft.com/office/powerpoint/2010/main" val="126582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-Sistemas Secuenciales">
  <a:themeElements>
    <a:clrScheme name="Cartoné">
      <a:dk1>
        <a:sysClr val="windowText" lastClr="000000"/>
      </a:dk1>
      <a:lt1>
        <a:sysClr val="window" lastClr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Cartoné">
      <a:maj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궁서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S明朝E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rtoné">
      <a:fillStyleLst>
        <a:solidFill>
          <a:schemeClr val="phClr"/>
        </a:solidFill>
        <a:solidFill>
          <a:schemeClr val="phClr">
            <a:tint val="68000"/>
            <a:shade val="94000"/>
            <a:satMod val="300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80000"/>
                <a:lumMod val="98000"/>
              </a:schemeClr>
            </a:gs>
            <a:gs pos="100000">
              <a:schemeClr val="phClr">
                <a:satMod val="130000"/>
              </a:schemeClr>
            </a:gs>
          </a:gsLst>
          <a:lin ang="5160000" scaled="0"/>
        </a:gradFill>
      </a:fillStyleLst>
      <a:lnStyleLst>
        <a:ln w="12700" cap="flat" cmpd="sng" algn="ctr">
          <a:solidFill>
            <a:schemeClr val="phClr">
              <a:shade val="90000"/>
              <a:lumMod val="90000"/>
            </a:schemeClr>
          </a:solidFill>
          <a:prstDash val="solid"/>
        </a:ln>
        <a:ln w="19050" cap="flat" cmpd="sng" algn="ctr">
          <a:solidFill>
            <a:schemeClr val="phClr">
              <a:shade val="75000"/>
              <a:lumMod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12700" dir="5400000" rotWithShape="0">
              <a:srgbClr val="000000">
                <a:alpha val="1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6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400000"/>
            </a:lightRig>
          </a:scene3d>
          <a:sp3d>
            <a:bevelT w="25400" h="25400"/>
          </a:sp3d>
        </a:effectStyle>
      </a:effectStyleLst>
      <a:bgFillStyleLst>
        <a:solidFill>
          <a:schemeClr val="phClr">
            <a:tint val="96000"/>
            <a:lumMod val="11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3000"/>
                <a:shade val="20000"/>
              </a:schemeClr>
              <a:schemeClr val="phClr">
                <a:tint val="90000"/>
                <a:shade val="85000"/>
                <a:satMod val="115000"/>
              </a:schemeClr>
            </a:duotone>
          </a:blip>
          <a:tile tx="0" ty="0" sx="60000" sy="6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hade val="50000"/>
                <a:satMod val="340000"/>
                <a:lumMod val="40000"/>
              </a:schemeClr>
              <a:schemeClr val="phClr">
                <a:tint val="92000"/>
                <a:shade val="94000"/>
                <a:hueMod val="110000"/>
                <a:satMod val="236000"/>
                <a:lum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3-Sistemas Secuenciales</Template>
  <TotalTime>177</TotalTime>
  <Words>502</Words>
  <Application>Microsoft Office PowerPoint</Application>
  <PresentationFormat>Presentación en pantalla (4:3)</PresentationFormat>
  <Paragraphs>56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Book Antiqua</vt:lpstr>
      <vt:lpstr>Calibri</vt:lpstr>
      <vt:lpstr>Wingdings</vt:lpstr>
      <vt:lpstr>3-Sistemas Secuenciales</vt:lpstr>
      <vt:lpstr>Memorias</vt:lpstr>
      <vt:lpstr>1. Memoria.</vt:lpstr>
      <vt:lpstr>1. Memoria.</vt:lpstr>
      <vt:lpstr>2. Tipos de memoria.</vt:lpstr>
      <vt:lpstr>2. Tipos de memoria.</vt:lpstr>
      <vt:lpstr>2. Tipos de memoria.</vt:lpstr>
      <vt:lpstr>2. Tipos de memoria.</vt:lpstr>
      <vt:lpstr>2. Tipos de memoria.</vt:lpstr>
      <vt:lpstr>3. Usos de las memorias.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Sistemas Secuenciales.</dc:title>
  <dc:creator>MeliCalelo</dc:creator>
  <cp:lastModifiedBy>Windows User</cp:lastModifiedBy>
  <cp:revision>75</cp:revision>
  <dcterms:created xsi:type="dcterms:W3CDTF">2011-02-14T00:22:22Z</dcterms:created>
  <dcterms:modified xsi:type="dcterms:W3CDTF">2016-09-21T12:45:28Z</dcterms:modified>
</cp:coreProperties>
</file>
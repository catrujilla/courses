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81" r:id="rId17"/>
    <p:sldId id="282" r:id="rId18"/>
    <p:sldId id="283" r:id="rId19"/>
    <p:sldId id="284" r:id="rId20"/>
    <p:sldId id="271" r:id="rId21"/>
    <p:sldId id="272" r:id="rId22"/>
    <p:sldId id="273" r:id="rId23"/>
    <p:sldId id="274" r:id="rId24"/>
    <p:sldId id="275" r:id="rId25"/>
    <p:sldId id="277" r:id="rId26"/>
    <p:sldId id="276" r:id="rId27"/>
    <p:sldId id="285" r:id="rId28"/>
    <p:sldId id="279" r:id="rId29"/>
    <p:sldId id="278" r:id="rId30"/>
  </p:sldIdLst>
  <p:sldSz cx="9144000" cy="6858000" type="screen4x3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ción predeterminada" id="{95DD5203-7600-4D3F-9C3E-4D6D1CF3420D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81"/>
            <p14:sldId id="282"/>
            <p14:sldId id="283"/>
            <p14:sldId id="284"/>
            <p14:sldId id="271"/>
            <p14:sldId id="272"/>
            <p14:sldId id="273"/>
            <p14:sldId id="274"/>
            <p14:sldId id="275"/>
            <p14:sldId id="277"/>
            <p14:sldId id="276"/>
            <p14:sldId id="285"/>
            <p14:sldId id="279"/>
            <p14:sldId id="27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40A38"/>
    <a:srgbClr val="2CD283"/>
    <a:srgbClr val="46B846"/>
    <a:srgbClr val="281997"/>
    <a:srgbClr val="ED8C2B"/>
    <a:srgbClr val="990033"/>
    <a:srgbClr val="1510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0380" autoAdjust="0"/>
  </p:normalViewPr>
  <p:slideViewPr>
    <p:cSldViewPr>
      <p:cViewPr varScale="1">
        <p:scale>
          <a:sx n="105" d="100"/>
          <a:sy n="105" d="100"/>
        </p:scale>
        <p:origin x="1794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D4DB5F-8441-46BC-A2C2-D8C77AB445A6}" type="datetimeFigureOut">
              <a:rPr lang="es-CO" smtClean="0"/>
              <a:t>11/02/2016</a:t>
            </a:fld>
            <a:endParaRPr lang="es-CO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987BBB-A4C9-40A5-B74E-E45C8F58547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658375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987BBB-A4C9-40A5-B74E-E45C8F585478}" type="slidenum">
              <a:rPr lang="es-CO" smtClean="0"/>
              <a:t>10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492639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987BBB-A4C9-40A5-B74E-E45C8F585478}" type="slidenum">
              <a:rPr lang="es-CO" smtClean="0"/>
              <a:t>11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492639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987BBB-A4C9-40A5-B74E-E45C8F585478}" type="slidenum">
              <a:rPr lang="es-CO" smtClean="0"/>
              <a:t>12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492639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987BBB-A4C9-40A5-B74E-E45C8F585478}" type="slidenum">
              <a:rPr lang="es-CO" smtClean="0"/>
              <a:t>13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492639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987BBB-A4C9-40A5-B74E-E45C8F585478}" type="slidenum">
              <a:rPr lang="es-CO" smtClean="0"/>
              <a:t>14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492639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987BBB-A4C9-40A5-B74E-E45C8F585478}" type="slidenum">
              <a:rPr lang="es-CO" smtClean="0"/>
              <a:t>15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492639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987BBB-A4C9-40A5-B74E-E45C8F585478}" type="slidenum">
              <a:rPr lang="es-CO" smtClean="0"/>
              <a:t>16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492639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987BBB-A4C9-40A5-B74E-E45C8F585478}" type="slidenum">
              <a:rPr lang="es-CO" smtClean="0"/>
              <a:t>17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492639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987BBB-A4C9-40A5-B74E-E45C8F585478}" type="slidenum">
              <a:rPr lang="es-CO" smtClean="0"/>
              <a:t>18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492639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987BBB-A4C9-40A5-B74E-E45C8F585478}" type="slidenum">
              <a:rPr lang="es-CO" smtClean="0"/>
              <a:t>19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4926395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987BBB-A4C9-40A5-B74E-E45C8F585478}" type="slidenum">
              <a:rPr lang="es-CO" smtClean="0"/>
              <a:t>20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4926395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987BBB-A4C9-40A5-B74E-E45C8F585478}" type="slidenum">
              <a:rPr lang="es-CO" smtClean="0"/>
              <a:t>21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4926395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987BBB-A4C9-40A5-B74E-E45C8F585478}" type="slidenum">
              <a:rPr lang="es-CO" smtClean="0"/>
              <a:t>22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4926395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987BBB-A4C9-40A5-B74E-E45C8F585478}" type="slidenum">
              <a:rPr lang="es-CO" smtClean="0"/>
              <a:t>23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4926395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987BBB-A4C9-40A5-B74E-E45C8F585478}" type="slidenum">
              <a:rPr lang="es-CO" smtClean="0"/>
              <a:t>24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4926395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987BBB-A4C9-40A5-B74E-E45C8F585478}" type="slidenum">
              <a:rPr lang="es-CO" smtClean="0"/>
              <a:t>25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4926395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987BBB-A4C9-40A5-B74E-E45C8F585478}" type="slidenum">
              <a:rPr lang="es-CO" smtClean="0"/>
              <a:t>26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4926395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987BBB-A4C9-40A5-B74E-E45C8F585478}" type="slidenum">
              <a:rPr lang="es-CO" smtClean="0"/>
              <a:t>27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4926395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987BBB-A4C9-40A5-B74E-E45C8F585478}" type="slidenum">
              <a:rPr lang="es-CO" smtClean="0"/>
              <a:t>28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4926395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987BBB-A4C9-40A5-B74E-E45C8F585478}" type="slidenum">
              <a:rPr lang="es-CO" smtClean="0"/>
              <a:t>29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492639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overOverlay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61571ED-39D6-443C-9EF8-3AD8EC129B98}" type="datetimeFigureOut">
              <a:rPr lang="es-CO" smtClean="0"/>
              <a:pPr/>
              <a:t>11/02/2016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  <p:grpSp>
        <p:nvGrpSpPr>
          <p:cNvPr id="8" name="Group 7"/>
          <p:cNvGrpSpPr/>
          <p:nvPr/>
        </p:nvGrpSpPr>
        <p:grpSpPr>
          <a:xfrm>
            <a:off x="1194101" y="2887530"/>
            <a:ext cx="6779110" cy="923330"/>
            <a:chOff x="1172584" y="1381459"/>
            <a:chExt cx="6779110" cy="923330"/>
          </a:xfrm>
          <a:effectLst>
            <a:outerShdw blurRad="38100" dist="12700" dir="16200000" rotWithShape="0">
              <a:prstClr val="black">
                <a:alpha val="30000"/>
              </a:prstClr>
            </a:outerShdw>
          </a:effectLst>
        </p:grpSpPr>
        <p:sp>
          <p:nvSpPr>
            <p:cNvPr id="9" name="TextBox 8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ln w="3175">
                    <a:solidFill>
                      <a:schemeClr val="tx2">
                        <a:alpha val="60000"/>
                      </a:schemeClr>
                    </a:solidFill>
                  </a:ln>
                  <a:solidFill>
                    <a:schemeClr val="tx2">
                      <a:lumMod val="90000"/>
                    </a:schemeClr>
                  </a:solidFill>
                  <a:effectLst>
                    <a:outerShdw blurRad="34925" dist="12700" dir="14400000" algn="ctr" rotWithShape="0">
                      <a:srgbClr val="000000">
                        <a:alpha val="21000"/>
                      </a:srgbClr>
                    </a:outerShdw>
                  </a:effectLst>
                  <a:latin typeface="Wingdings" pitchFamily="2" charset="2"/>
                </a:rPr>
                <a:t></a:t>
              </a:r>
              <a:endParaRPr lang="en-US" sz="5400" dirty="0">
                <a:ln w="3175">
                  <a:solidFill>
                    <a:schemeClr val="tx2">
                      <a:alpha val="60000"/>
                    </a:schemeClr>
                  </a:solidFill>
                </a:ln>
                <a:solidFill>
                  <a:schemeClr val="tx2">
                    <a:lumMod val="90000"/>
                  </a:schemeClr>
                </a:solidFill>
                <a:effectLst>
                  <a:outerShdw blurRad="34925" dist="12700" dir="14400000" algn="ctr" rotWithShape="0">
                    <a:srgbClr val="000000">
                      <a:alpha val="21000"/>
                    </a:srgbClr>
                  </a:outerShdw>
                </a:effectLst>
                <a:latin typeface="Wingdings" pitchFamily="2" charset="2"/>
              </a:endParaRPr>
            </a:p>
          </p:txBody>
        </p:sp>
        <p:cxnSp>
          <p:nvCxnSpPr>
            <p:cNvPr id="10" name="Straight Connector 9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9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rot="10800000">
              <a:off x="4831976" y="192293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9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83341" y="1387737"/>
            <a:ext cx="6777318" cy="1731982"/>
          </a:xfrm>
        </p:spPr>
        <p:txBody>
          <a:bodyPr anchor="b"/>
          <a:lstStyle>
            <a:lvl1pPr>
              <a:defRPr>
                <a:ln w="3175">
                  <a:solidFill>
                    <a:schemeClr val="tx1">
                      <a:alpha val="65000"/>
                    </a:schemeClr>
                  </a:solidFill>
                </a:ln>
                <a:solidFill>
                  <a:schemeClr val="tx1"/>
                </a:solidFill>
                <a:effectLst>
                  <a:outerShdw blurRad="25400" dist="12700" dir="14220000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767862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  <a:effectLst>
                  <a:outerShdw blurRad="34925" dist="12700" dir="14400000" rotWithShape="0">
                    <a:prstClr val="black">
                      <a:alpha val="21000"/>
                    </a:prstClr>
                  </a:outerShdw>
                </a:effectLst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11/02/2016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grpSp>
        <p:nvGrpSpPr>
          <p:cNvPr id="12" name="Group 11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3" name="TextBox 12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4" name="Straight Connector 13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CoverOverlay.png"/>
          <p:cNvPicPr>
            <a:picLocks noChangeAspect="1"/>
          </p:cNvPicPr>
          <p:nvPr/>
        </p:nvPicPr>
        <p:blipFill>
          <a:blip r:embed="rId2" cstate="print">
            <a:lum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1172584" y="2887579"/>
            <a:ext cx="6779110" cy="923330"/>
            <a:chOff x="1172584" y="1381459"/>
            <a:chExt cx="6779110" cy="923330"/>
          </a:xfrm>
        </p:grpSpPr>
        <p:sp>
          <p:nvSpPr>
            <p:cNvPr id="9" name="TextBox 8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0" name="Straight Connector 9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rot="10800000">
              <a:off x="4831976" y="1927412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40" y="1204857"/>
            <a:ext cx="7754713" cy="1910716"/>
          </a:xfrm>
        </p:spPr>
        <p:txBody>
          <a:bodyPr anchor="b"/>
          <a:lstStyle>
            <a:lvl1pPr algn="ctr">
              <a:defRPr sz="5400" b="0" cap="none" baseline="0">
                <a:solidFill>
                  <a:schemeClr val="tx2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9248" y="3767316"/>
            <a:ext cx="7734747" cy="15001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11/02/2016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11/02/2016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grpSp>
        <p:nvGrpSpPr>
          <p:cNvPr id="13" name="Group 12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4" name="TextBox 13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5" name="Straight Connector 14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685800" y="2240280"/>
            <a:ext cx="3803904" cy="3877056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4"/>
          </p:nvPr>
        </p:nvSpPr>
        <p:spPr>
          <a:xfrm>
            <a:off x="4645151" y="2240280"/>
            <a:ext cx="3803904" cy="3877056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51560" y="2240280"/>
            <a:ext cx="3442446" cy="658368"/>
          </a:xfrm>
        </p:spPr>
        <p:txBody>
          <a:bodyPr anchor="b"/>
          <a:lstStyle>
            <a:lvl1pPr marL="0" indent="0" algn="ctr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8488" y="2947595"/>
            <a:ext cx="3803904" cy="317296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02306" y="2240280"/>
            <a:ext cx="3447288" cy="658368"/>
          </a:xfrm>
        </p:spPr>
        <p:txBody>
          <a:bodyPr anchor="b"/>
          <a:lstStyle>
            <a:lvl1pPr marL="0" indent="0" algn="ctr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44368"/>
            <a:ext cx="3799728" cy="317296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11/02/2016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  <p:grpSp>
        <p:nvGrpSpPr>
          <p:cNvPr id="14" name="Group 13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6" name="TextBox 15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7" name="Straight Connector 16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11/02/2016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  <p:grpSp>
        <p:nvGrpSpPr>
          <p:cNvPr id="10" name="Group 9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4" name="TextBox 13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5" name="Straight Connector 14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11/02/2016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4579" y="1678195"/>
            <a:ext cx="3422483" cy="1886921"/>
          </a:xfrm>
        </p:spPr>
        <p:txBody>
          <a:bodyPr anchor="b"/>
          <a:lstStyle>
            <a:lvl1pPr algn="l">
              <a:defRPr sz="28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2001" y="559398"/>
            <a:ext cx="4116667" cy="5566765"/>
          </a:xfrm>
        </p:spPr>
        <p:txBody>
          <a:bodyPr anchor="ctr"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34579" y="3603812"/>
            <a:ext cx="3411725" cy="2517289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11/02/2016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731" y="4668818"/>
            <a:ext cx="7767021" cy="644729"/>
          </a:xfrm>
        </p:spPr>
        <p:txBody>
          <a:bodyPr anchor="b"/>
          <a:lstStyle>
            <a:lvl1pPr algn="ctr">
              <a:defRPr sz="28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240000">
            <a:off x="2183792" y="666965"/>
            <a:ext cx="4772156" cy="3598016"/>
          </a:xfr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24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8489" y="5324306"/>
            <a:ext cx="7756264" cy="804862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11/02/2016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11/02/2016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  <p:grpSp>
        <p:nvGrpSpPr>
          <p:cNvPr id="11" name="Group 10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5" name="TextBox 14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6" name="Straight Connector 15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66560" y="559398"/>
            <a:ext cx="1678193" cy="556676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8488" y="849854"/>
            <a:ext cx="5507917" cy="5023821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11/02/2016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  <p:grpSp>
        <p:nvGrpSpPr>
          <p:cNvPr id="11" name="Group 10"/>
          <p:cNvGrpSpPr/>
          <p:nvPr/>
        </p:nvGrpSpPr>
        <p:grpSpPr>
          <a:xfrm rot="5400000">
            <a:off x="3909050" y="2880823"/>
            <a:ext cx="5480154" cy="923330"/>
            <a:chOff x="1815339" y="1381459"/>
            <a:chExt cx="5480154" cy="923330"/>
          </a:xfrm>
        </p:grpSpPr>
        <p:sp>
          <p:nvSpPr>
            <p:cNvPr id="12" name="TextBox 11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3" name="Straight Connector 12"/>
            <p:cNvCxnSpPr/>
            <p:nvPr/>
          </p:nvCxnSpPr>
          <p:spPr>
            <a:xfrm flipH="1" flipV="1">
              <a:off x="1815339" y="1924709"/>
              <a:ext cx="2468880" cy="2505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rot="10800000">
              <a:off x="4826613" y="1927417"/>
              <a:ext cx="2468880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flip="none" rotWithShape="1">
            <a:gsLst>
              <a:gs pos="83000">
                <a:schemeClr val="bg1">
                  <a:alpha val="11000"/>
                </a:schemeClr>
              </a:gs>
              <a:gs pos="100000">
                <a:schemeClr val="bg2">
                  <a:lumMod val="75000"/>
                  <a:alpha val="23000"/>
                </a:schemeClr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8490" y="570156"/>
            <a:ext cx="7756263" cy="10542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9247" y="2248347"/>
            <a:ext cx="7745505" cy="38778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60378" y="616144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061571ED-39D6-443C-9EF8-3AD8EC129B98}" type="datetimeFigureOut">
              <a:rPr lang="es-CO" smtClean="0"/>
              <a:pPr/>
              <a:t>11/02/2016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16144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639264" y="616144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54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6576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77724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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14300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508760" indent="-32004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828800" indent="-32004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14884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46888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78892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gi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3568" y="908720"/>
            <a:ext cx="7772400" cy="1827634"/>
          </a:xfrm>
        </p:spPr>
        <p:txBody>
          <a:bodyPr>
            <a:normAutofit/>
          </a:bodyPr>
          <a:lstStyle/>
          <a:p>
            <a:r>
              <a:rPr lang="es-ES" sz="5600" dirty="0">
                <a:effectLst/>
              </a:rPr>
              <a:t>3. Sistemas Secuenciales.</a:t>
            </a:r>
            <a:endParaRPr lang="es-CO" sz="5600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403648" y="3573016"/>
            <a:ext cx="6400800" cy="3024336"/>
          </a:xfrm>
        </p:spPr>
        <p:txBody>
          <a:bodyPr>
            <a:normAutofit fontScale="92500" lnSpcReduction="10000"/>
          </a:bodyPr>
          <a:lstStyle/>
          <a:p>
            <a:r>
              <a:rPr lang="es-ES" dirty="0">
                <a:effectLst/>
              </a:rPr>
              <a:t>3.1. Lógica secuencial.</a:t>
            </a:r>
            <a:endParaRPr lang="es-CO" dirty="0">
              <a:effectLst/>
            </a:endParaRPr>
          </a:p>
          <a:p>
            <a:r>
              <a:rPr lang="es-ES" dirty="0">
                <a:effectLst/>
              </a:rPr>
              <a:t>3.2. </a:t>
            </a:r>
            <a:r>
              <a:rPr lang="es-ES" dirty="0" err="1">
                <a:effectLst/>
              </a:rPr>
              <a:t>Flip-Flop</a:t>
            </a:r>
            <a:r>
              <a:rPr lang="es-ES" dirty="0">
                <a:effectLst/>
              </a:rPr>
              <a:t>.</a:t>
            </a:r>
            <a:endParaRPr lang="es-CO" dirty="0">
              <a:effectLst/>
            </a:endParaRPr>
          </a:p>
          <a:p>
            <a:r>
              <a:rPr lang="es-ES" dirty="0">
                <a:effectLst/>
              </a:rPr>
              <a:t>3.3. Contadores.</a:t>
            </a:r>
            <a:endParaRPr lang="es-CO" dirty="0">
              <a:effectLst/>
            </a:endParaRPr>
          </a:p>
          <a:p>
            <a:r>
              <a:rPr lang="es-ES" dirty="0">
                <a:effectLst/>
              </a:rPr>
              <a:t>3.4. </a:t>
            </a:r>
            <a:r>
              <a:rPr lang="es-ES" dirty="0" smtClean="0">
                <a:effectLst/>
              </a:rPr>
              <a:t>Registros.</a:t>
            </a:r>
            <a:endParaRPr lang="es-CO" dirty="0">
              <a:effectLst/>
            </a:endParaRPr>
          </a:p>
          <a:p>
            <a:r>
              <a:rPr lang="es-ES" dirty="0" smtClean="0">
                <a:effectLst/>
              </a:rPr>
              <a:t>3.5. </a:t>
            </a:r>
            <a:r>
              <a:rPr lang="es-ES" dirty="0">
                <a:effectLst/>
              </a:rPr>
              <a:t>Temporizador 555.</a:t>
            </a:r>
            <a:endParaRPr lang="es-CO" dirty="0">
              <a:effectLst/>
            </a:endParaRPr>
          </a:p>
          <a:p>
            <a:r>
              <a:rPr lang="es-ES" dirty="0" smtClean="0">
                <a:effectLst/>
              </a:rPr>
              <a:t>3.6 </a:t>
            </a:r>
            <a:r>
              <a:rPr lang="es-ES" dirty="0">
                <a:effectLst/>
              </a:rPr>
              <a:t>Máquinas de estado.</a:t>
            </a:r>
            <a:endParaRPr lang="es-CO" dirty="0">
              <a:effectLst/>
            </a:endParaRPr>
          </a:p>
          <a:p>
            <a:r>
              <a:rPr lang="es-ES" dirty="0" smtClean="0">
                <a:effectLst/>
              </a:rPr>
              <a:t>3.7. </a:t>
            </a:r>
            <a:r>
              <a:rPr lang="es-ES" dirty="0">
                <a:effectLst/>
              </a:rPr>
              <a:t>Análisis y diseño de circuitos secuenciales sincrónicos.</a:t>
            </a:r>
            <a:endParaRPr lang="es-CO" dirty="0">
              <a:effectLst/>
            </a:endParaRPr>
          </a:p>
        </p:txBody>
      </p:sp>
      <p:sp>
        <p:nvSpPr>
          <p:cNvPr id="4" name="3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sp>
        <p:nvSpPr>
          <p:cNvPr id="5" name="2 Subtítulo"/>
          <p:cNvSpPr txBox="1">
            <a:spLocks/>
          </p:cNvSpPr>
          <p:nvPr/>
        </p:nvSpPr>
        <p:spPr>
          <a:xfrm>
            <a:off x="-108520" y="476672"/>
            <a:ext cx="4032448" cy="576064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2400" kern="1200">
                <a:solidFill>
                  <a:schemeClr val="tx1"/>
                </a:solidFill>
                <a:effectLst>
                  <a:outerShdw blurRad="34925" dist="12700" dir="14400000" rotWithShape="0">
                    <a:prstClr val="black">
                      <a:alpha val="21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i="1" dirty="0" smtClean="0">
                <a:effectLst/>
              </a:rPr>
              <a:t>Febrero 11 de 2016  </a:t>
            </a:r>
            <a:r>
              <a:rPr lang="es-ES" i="1" dirty="0" smtClean="0">
                <a:effectLst/>
              </a:rPr>
              <a:t>Taller V UNALMED</a:t>
            </a:r>
          </a:p>
        </p:txBody>
      </p:sp>
    </p:spTree>
    <p:extLst>
      <p:ext uri="{BB962C8B-B14F-4D97-AF65-F5344CB8AC3E}">
        <p14:creationId xmlns:p14="http://schemas.microsoft.com/office/powerpoint/2010/main" val="4087379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8490" y="570156"/>
            <a:ext cx="7987965" cy="1054250"/>
          </a:xfrm>
        </p:spPr>
        <p:txBody>
          <a:bodyPr/>
          <a:lstStyle/>
          <a:p>
            <a:r>
              <a:rPr lang="es-ES" sz="4000" dirty="0"/>
              <a:t>3.1. Lógica secuencial.</a:t>
            </a:r>
            <a:endParaRPr lang="es-CO" sz="4000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354" y="2939166"/>
            <a:ext cx="7422054" cy="33701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2 Rectángulo"/>
          <p:cNvSpPr/>
          <p:nvPr/>
        </p:nvSpPr>
        <p:spPr>
          <a:xfrm>
            <a:off x="949754" y="2154922"/>
            <a:ext cx="1648208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3000" b="1" i="1" dirty="0" smtClean="0"/>
              <a:t>Sistema:</a:t>
            </a:r>
            <a:endParaRPr lang="es-CO" sz="3000" b="1" i="1" dirty="0"/>
          </a:p>
        </p:txBody>
      </p:sp>
      <p:sp>
        <p:nvSpPr>
          <p:cNvPr id="35" name="34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2488654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8490" y="332656"/>
            <a:ext cx="7987965" cy="1054250"/>
          </a:xfrm>
        </p:spPr>
        <p:txBody>
          <a:bodyPr/>
          <a:lstStyle/>
          <a:p>
            <a:r>
              <a:rPr lang="es-ES" sz="4000" dirty="0"/>
              <a:t>3.1. Lógica secuencial.</a:t>
            </a:r>
            <a:endParaRPr lang="es-CO" sz="4000" dirty="0"/>
          </a:p>
        </p:txBody>
      </p:sp>
      <p:sp>
        <p:nvSpPr>
          <p:cNvPr id="42" name="41 Rectángulo"/>
          <p:cNvSpPr/>
          <p:nvPr/>
        </p:nvSpPr>
        <p:spPr>
          <a:xfrm>
            <a:off x="179512" y="2936557"/>
            <a:ext cx="1830950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2600" b="1" i="1" dirty="0" smtClean="0"/>
              <a:t>Dos clases:</a:t>
            </a:r>
            <a:endParaRPr lang="es-CO" sz="2600" b="1" i="1" dirty="0"/>
          </a:p>
        </p:txBody>
      </p:sp>
      <p:grpSp>
        <p:nvGrpSpPr>
          <p:cNvPr id="14" name="13 Grupo"/>
          <p:cNvGrpSpPr/>
          <p:nvPr/>
        </p:nvGrpSpPr>
        <p:grpSpPr>
          <a:xfrm>
            <a:off x="2281831" y="2182569"/>
            <a:ext cx="6379767" cy="2004611"/>
            <a:chOff x="2224681" y="2144469"/>
            <a:chExt cx="6379767" cy="2004611"/>
          </a:xfrm>
        </p:grpSpPr>
        <p:sp>
          <p:nvSpPr>
            <p:cNvPr id="12" name="11 Rectángulo redondeado"/>
            <p:cNvSpPr/>
            <p:nvPr/>
          </p:nvSpPr>
          <p:spPr>
            <a:xfrm>
              <a:off x="2224681" y="2144469"/>
              <a:ext cx="6379767" cy="2004611"/>
            </a:xfrm>
            <a:prstGeom prst="roundRect">
              <a:avLst/>
            </a:prstGeom>
            <a:noFill/>
            <a:ln w="38100">
              <a:solidFill>
                <a:schemeClr val="accent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grpSp>
          <p:nvGrpSpPr>
            <p:cNvPr id="11" name="10 Grupo"/>
            <p:cNvGrpSpPr/>
            <p:nvPr/>
          </p:nvGrpSpPr>
          <p:grpSpPr>
            <a:xfrm>
              <a:off x="2339297" y="2308148"/>
              <a:ext cx="6121135" cy="1840932"/>
              <a:chOff x="1481564" y="2164132"/>
              <a:chExt cx="6121135" cy="1840932"/>
            </a:xfrm>
          </p:grpSpPr>
          <p:grpSp>
            <p:nvGrpSpPr>
              <p:cNvPr id="18" name="17 Grupo"/>
              <p:cNvGrpSpPr/>
              <p:nvPr/>
            </p:nvGrpSpPr>
            <p:grpSpPr>
              <a:xfrm>
                <a:off x="1481564" y="2164132"/>
                <a:ext cx="6121135" cy="1489733"/>
                <a:chOff x="387861" y="4745062"/>
                <a:chExt cx="6333741" cy="1647834"/>
              </a:xfrm>
            </p:grpSpPr>
            <p:grpSp>
              <p:nvGrpSpPr>
                <p:cNvPr id="19" name="18 Grupo"/>
                <p:cNvGrpSpPr/>
                <p:nvPr/>
              </p:nvGrpSpPr>
              <p:grpSpPr>
                <a:xfrm>
                  <a:off x="2739633" y="4745062"/>
                  <a:ext cx="1832367" cy="930588"/>
                  <a:chOff x="4187467" y="5516107"/>
                  <a:chExt cx="1832367" cy="930588"/>
                </a:xfrm>
                <a:noFill/>
              </p:grpSpPr>
              <p:sp>
                <p:nvSpPr>
                  <p:cNvPr id="40" name="39 Rectángulo redondeado"/>
                  <p:cNvSpPr/>
                  <p:nvPr/>
                </p:nvSpPr>
                <p:spPr>
                  <a:xfrm>
                    <a:off x="4275559" y="5516107"/>
                    <a:ext cx="1656184" cy="930588"/>
                  </a:xfrm>
                  <a:prstGeom prst="roundRect">
                    <a:avLst/>
                  </a:prstGeom>
                  <a:grpFill/>
                  <a:ln w="5715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CO"/>
                  </a:p>
                </p:txBody>
              </p:sp>
              <p:sp>
                <p:nvSpPr>
                  <p:cNvPr id="41" name="40 Rectángulo"/>
                  <p:cNvSpPr/>
                  <p:nvPr/>
                </p:nvSpPr>
                <p:spPr>
                  <a:xfrm>
                    <a:off x="4187467" y="5550331"/>
                    <a:ext cx="1832367" cy="851099"/>
                  </a:xfrm>
                  <a:prstGeom prst="rect">
                    <a:avLst/>
                  </a:prstGeom>
                  <a:grpFill/>
                  <a:ln w="57150">
                    <a:noFill/>
                  </a:ln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:r>
                      <a:rPr lang="es-ES" sz="2200" dirty="0" smtClean="0"/>
                      <a:t>Sistema Síncrono</a:t>
                    </a:r>
                    <a:endParaRPr lang="es-CO" sz="2200" dirty="0"/>
                  </a:p>
                </p:txBody>
              </p:sp>
            </p:grpSp>
            <p:cxnSp>
              <p:nvCxnSpPr>
                <p:cNvPr id="20" name="19 Conector recto de flecha"/>
                <p:cNvCxnSpPr/>
                <p:nvPr/>
              </p:nvCxnSpPr>
              <p:spPr>
                <a:xfrm>
                  <a:off x="1611998" y="5178235"/>
                  <a:ext cx="1152128" cy="0"/>
                </a:xfrm>
                <a:prstGeom prst="straightConnector1">
                  <a:avLst/>
                </a:prstGeom>
                <a:ln w="38100">
                  <a:prstDash val="solid"/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1" name="20 Rectángulo"/>
                <p:cNvSpPr/>
                <p:nvPr/>
              </p:nvSpPr>
              <p:spPr>
                <a:xfrm>
                  <a:off x="1924494" y="5868619"/>
                  <a:ext cx="1086768" cy="52427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s-ES" sz="2200" i="1" dirty="0" smtClean="0"/>
                    <a:t>Cambio</a:t>
                  </a:r>
                  <a:endParaRPr lang="es-CO" sz="2200" i="1" dirty="0"/>
                </a:p>
              </p:txBody>
            </p:sp>
            <p:sp>
              <p:nvSpPr>
                <p:cNvPr id="35" name="34 Rectángulo"/>
                <p:cNvSpPr/>
                <p:nvPr/>
              </p:nvSpPr>
              <p:spPr>
                <a:xfrm>
                  <a:off x="387861" y="4938678"/>
                  <a:ext cx="1221121" cy="476616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s-ES" sz="2200" dirty="0" smtClean="0"/>
                    <a:t>Entrada</a:t>
                  </a:r>
                  <a:endParaRPr lang="es-CO" sz="2200" dirty="0"/>
                </a:p>
              </p:txBody>
            </p:sp>
            <p:cxnSp>
              <p:nvCxnSpPr>
                <p:cNvPr id="37" name="36 Conector recto de flecha"/>
                <p:cNvCxnSpPr/>
                <p:nvPr/>
              </p:nvCxnSpPr>
              <p:spPr>
                <a:xfrm>
                  <a:off x="4597400" y="5199608"/>
                  <a:ext cx="1152128" cy="0"/>
                </a:xfrm>
                <a:prstGeom prst="straightConnector1">
                  <a:avLst/>
                </a:prstGeom>
                <a:ln w="38100">
                  <a:prstDash val="solid"/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8" name="37 Rectángulo"/>
                <p:cNvSpPr/>
                <p:nvPr/>
              </p:nvSpPr>
              <p:spPr>
                <a:xfrm>
                  <a:off x="5132969" y="5666267"/>
                  <a:ext cx="1086768" cy="476616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s-ES" sz="2200" i="1" dirty="0" smtClean="0"/>
                    <a:t>Cambio</a:t>
                  </a:r>
                  <a:endParaRPr lang="es-CO" sz="2200" i="1" dirty="0"/>
                </a:p>
              </p:txBody>
            </p:sp>
            <p:sp>
              <p:nvSpPr>
                <p:cNvPr id="39" name="38 Rectángulo"/>
                <p:cNvSpPr/>
                <p:nvPr/>
              </p:nvSpPr>
              <p:spPr>
                <a:xfrm>
                  <a:off x="5737673" y="4941168"/>
                  <a:ext cx="983929" cy="476616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s-ES" sz="2200" dirty="0" smtClean="0"/>
                    <a:t>Salida</a:t>
                  </a:r>
                  <a:endParaRPr lang="es-CO" sz="2200" dirty="0"/>
                </a:p>
              </p:txBody>
            </p:sp>
          </p:grpSp>
          <p:cxnSp>
            <p:nvCxnSpPr>
              <p:cNvPr id="43" name="42 Conector recto de flecha"/>
              <p:cNvCxnSpPr>
                <a:stCxn id="44" idx="0"/>
              </p:cNvCxnSpPr>
              <p:nvPr/>
            </p:nvCxnSpPr>
            <p:spPr>
              <a:xfrm flipV="1">
                <a:off x="4652067" y="3097681"/>
                <a:ext cx="9989" cy="531429"/>
              </a:xfrm>
              <a:prstGeom prst="straightConnector1">
                <a:avLst/>
              </a:prstGeom>
              <a:ln w="38100">
                <a:prstDash val="solid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" name="6 Flecha derecha"/>
              <p:cNvSpPr/>
              <p:nvPr/>
            </p:nvSpPr>
            <p:spPr>
              <a:xfrm>
                <a:off x="4002299" y="3310384"/>
                <a:ext cx="515254" cy="157653"/>
              </a:xfrm>
              <a:prstGeom prst="rightArrow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44" name="43 Rectángulo"/>
              <p:cNvSpPr/>
              <p:nvPr/>
            </p:nvSpPr>
            <p:spPr>
              <a:xfrm>
                <a:off x="3347864" y="3604954"/>
                <a:ext cx="2608406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s-ES" sz="2000" dirty="0" smtClean="0"/>
                  <a:t>Señal de reloj externa</a:t>
                </a:r>
                <a:endParaRPr lang="es-CO" sz="2000" dirty="0"/>
              </a:p>
            </p:txBody>
          </p:sp>
          <p:sp>
            <p:nvSpPr>
              <p:cNvPr id="10" name="9 Flecha doblada hacia arriba"/>
              <p:cNvSpPr/>
              <p:nvPr/>
            </p:nvSpPr>
            <p:spPr>
              <a:xfrm>
                <a:off x="4783832" y="2708920"/>
                <a:ext cx="1385697" cy="729458"/>
              </a:xfrm>
              <a:prstGeom prst="bentUpArrow">
                <a:avLst>
                  <a:gd name="adj1" fmla="val 15148"/>
                  <a:gd name="adj2" fmla="val 17119"/>
                  <a:gd name="adj3" fmla="val 25000"/>
                </a:avLst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</p:grpSp>
      </p:grpSp>
      <p:grpSp>
        <p:nvGrpSpPr>
          <p:cNvPr id="13" name="12 Grupo"/>
          <p:cNvGrpSpPr/>
          <p:nvPr/>
        </p:nvGrpSpPr>
        <p:grpSpPr>
          <a:xfrm>
            <a:off x="1126282" y="4354839"/>
            <a:ext cx="6480720" cy="2227655"/>
            <a:chOff x="1979712" y="4297689"/>
            <a:chExt cx="6480720" cy="2227655"/>
          </a:xfrm>
        </p:grpSpPr>
        <p:grpSp>
          <p:nvGrpSpPr>
            <p:cNvPr id="23" name="22 Grupo"/>
            <p:cNvGrpSpPr/>
            <p:nvPr/>
          </p:nvGrpSpPr>
          <p:grpSpPr>
            <a:xfrm>
              <a:off x="2162507" y="4336778"/>
              <a:ext cx="6183309" cy="2188566"/>
              <a:chOff x="323528" y="4149080"/>
              <a:chExt cx="6398074" cy="2420832"/>
            </a:xfrm>
          </p:grpSpPr>
          <p:grpSp>
            <p:nvGrpSpPr>
              <p:cNvPr id="24" name="23 Grupo"/>
              <p:cNvGrpSpPr/>
              <p:nvPr/>
            </p:nvGrpSpPr>
            <p:grpSpPr>
              <a:xfrm>
                <a:off x="2739633" y="4745062"/>
                <a:ext cx="1832367" cy="930588"/>
                <a:chOff x="4187467" y="5516107"/>
                <a:chExt cx="1832367" cy="930588"/>
              </a:xfrm>
              <a:noFill/>
            </p:grpSpPr>
            <p:sp>
              <p:nvSpPr>
                <p:cNvPr id="33" name="32 Rectángulo redondeado"/>
                <p:cNvSpPr/>
                <p:nvPr/>
              </p:nvSpPr>
              <p:spPr>
                <a:xfrm>
                  <a:off x="4275559" y="5516107"/>
                  <a:ext cx="1656184" cy="930588"/>
                </a:xfrm>
                <a:prstGeom prst="roundRect">
                  <a:avLst/>
                </a:prstGeom>
                <a:grpFill/>
                <a:ln w="5715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CO"/>
                </a:p>
              </p:txBody>
            </p:sp>
            <p:sp>
              <p:nvSpPr>
                <p:cNvPr id="34" name="33 Rectángulo"/>
                <p:cNvSpPr/>
                <p:nvPr/>
              </p:nvSpPr>
              <p:spPr>
                <a:xfrm>
                  <a:off x="4187467" y="5550331"/>
                  <a:ext cx="1832367" cy="851099"/>
                </a:xfrm>
                <a:prstGeom prst="rect">
                  <a:avLst/>
                </a:prstGeom>
                <a:grpFill/>
                <a:ln w="57150"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s-ES" sz="2200" dirty="0" smtClean="0"/>
                    <a:t>Sistema Asíncrono</a:t>
                  </a:r>
                  <a:endParaRPr lang="es-CO" sz="2200" dirty="0"/>
                </a:p>
              </p:txBody>
            </p:sp>
          </p:grpSp>
          <p:cxnSp>
            <p:nvCxnSpPr>
              <p:cNvPr id="25" name="24 Conector recto de flecha"/>
              <p:cNvCxnSpPr/>
              <p:nvPr/>
            </p:nvCxnSpPr>
            <p:spPr>
              <a:xfrm>
                <a:off x="1611998" y="5178235"/>
                <a:ext cx="1152128" cy="0"/>
              </a:xfrm>
              <a:prstGeom prst="straightConnector1">
                <a:avLst/>
              </a:prstGeom>
              <a:ln w="38100">
                <a:prstDash val="solid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" name="25 Rectángulo"/>
              <p:cNvSpPr/>
              <p:nvPr/>
            </p:nvSpPr>
            <p:spPr>
              <a:xfrm>
                <a:off x="323528" y="4149080"/>
                <a:ext cx="1086768" cy="47661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s-ES" sz="2200" i="1" dirty="0" smtClean="0"/>
                  <a:t>Cambio</a:t>
                </a:r>
                <a:endParaRPr lang="es-CO" sz="2200" i="1" dirty="0"/>
              </a:p>
            </p:txBody>
          </p:sp>
          <p:sp>
            <p:nvSpPr>
              <p:cNvPr id="27" name="26 Flecha doblada"/>
              <p:cNvSpPr/>
              <p:nvPr/>
            </p:nvSpPr>
            <p:spPr>
              <a:xfrm rot="5400000">
                <a:off x="1490830" y="4264979"/>
                <a:ext cx="813816" cy="868680"/>
              </a:xfrm>
              <a:prstGeom prst="bentArrow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>
                  <a:solidFill>
                    <a:schemeClr val="tx1"/>
                  </a:solidFill>
                </a:endParaRPr>
              </a:p>
            </p:txBody>
          </p:sp>
          <p:sp>
            <p:nvSpPr>
              <p:cNvPr id="28" name="27 Rectángulo"/>
              <p:cNvSpPr/>
              <p:nvPr/>
            </p:nvSpPr>
            <p:spPr>
              <a:xfrm>
                <a:off x="387861" y="4938678"/>
                <a:ext cx="1221121" cy="47661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s-ES" sz="2200" dirty="0" smtClean="0"/>
                  <a:t>Entrada</a:t>
                </a:r>
                <a:endParaRPr lang="es-CO" sz="2200" dirty="0"/>
              </a:p>
            </p:txBody>
          </p:sp>
          <p:sp>
            <p:nvSpPr>
              <p:cNvPr id="29" name="28 Flecha curvada hacia la derecha"/>
              <p:cNvSpPr/>
              <p:nvPr/>
            </p:nvSpPr>
            <p:spPr>
              <a:xfrm rot="16200000">
                <a:off x="3125384" y="4155536"/>
                <a:ext cx="1165041" cy="3456386"/>
              </a:xfrm>
              <a:prstGeom prst="curvedRight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30" name="29 Conector recto de flecha"/>
              <p:cNvCxnSpPr/>
              <p:nvPr/>
            </p:nvCxnSpPr>
            <p:spPr>
              <a:xfrm>
                <a:off x="4597400" y="5199608"/>
                <a:ext cx="1152128" cy="0"/>
              </a:xfrm>
              <a:prstGeom prst="straightConnector1">
                <a:avLst/>
              </a:prstGeom>
              <a:ln w="38100">
                <a:prstDash val="solid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" name="30 Rectángulo"/>
              <p:cNvSpPr/>
              <p:nvPr/>
            </p:nvSpPr>
            <p:spPr>
              <a:xfrm>
                <a:off x="4667301" y="6093296"/>
                <a:ext cx="1086768" cy="47661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s-ES" sz="2200" i="1" dirty="0" smtClean="0"/>
                  <a:t>Cambio</a:t>
                </a:r>
                <a:endParaRPr lang="es-CO" sz="2200" i="1" dirty="0"/>
              </a:p>
            </p:txBody>
          </p:sp>
          <p:sp>
            <p:nvSpPr>
              <p:cNvPr id="32" name="31 Rectángulo"/>
              <p:cNvSpPr/>
              <p:nvPr/>
            </p:nvSpPr>
            <p:spPr>
              <a:xfrm>
                <a:off x="5737673" y="4941168"/>
                <a:ext cx="983929" cy="47661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s-ES" sz="2200" dirty="0" smtClean="0"/>
                  <a:t>Salida</a:t>
                </a:r>
                <a:endParaRPr lang="es-CO" sz="2200" dirty="0"/>
              </a:p>
            </p:txBody>
          </p:sp>
        </p:grpSp>
        <p:sp>
          <p:nvSpPr>
            <p:cNvPr id="45" name="44 Rectángulo redondeado"/>
            <p:cNvSpPr/>
            <p:nvPr/>
          </p:nvSpPr>
          <p:spPr>
            <a:xfrm>
              <a:off x="1979712" y="4297689"/>
              <a:ext cx="6480720" cy="2227655"/>
            </a:xfrm>
            <a:prstGeom prst="roundRect">
              <a:avLst/>
            </a:prstGeom>
            <a:noFill/>
            <a:ln w="38100">
              <a:solidFill>
                <a:schemeClr val="accent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sp>
        <p:nvSpPr>
          <p:cNvPr id="46" name="45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0385" y="3722429"/>
            <a:ext cx="1162178" cy="4314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29912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8490" y="574550"/>
            <a:ext cx="7987965" cy="1054250"/>
          </a:xfrm>
        </p:spPr>
        <p:txBody>
          <a:bodyPr/>
          <a:lstStyle/>
          <a:p>
            <a:r>
              <a:rPr lang="es-ES" sz="4600" dirty="0" smtClean="0"/>
              <a:t>3.2. </a:t>
            </a:r>
            <a:r>
              <a:rPr lang="es-ES" sz="4600" dirty="0" err="1" smtClean="0"/>
              <a:t>Flip-Flop</a:t>
            </a:r>
            <a:r>
              <a:rPr lang="es-ES" sz="4600" dirty="0"/>
              <a:t>.</a:t>
            </a:r>
            <a:endParaRPr lang="es-CO" sz="4600" dirty="0"/>
          </a:p>
        </p:txBody>
      </p:sp>
      <p:sp>
        <p:nvSpPr>
          <p:cNvPr id="42" name="41 Rectángulo"/>
          <p:cNvSpPr/>
          <p:nvPr/>
        </p:nvSpPr>
        <p:spPr>
          <a:xfrm>
            <a:off x="224116" y="2248416"/>
            <a:ext cx="8640960" cy="16927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600" b="1" i="1" dirty="0" smtClean="0"/>
              <a:t>Dispositivo básico de memoria. </a:t>
            </a:r>
          </a:p>
          <a:p>
            <a:pPr algn="ctr"/>
            <a:r>
              <a:rPr lang="es-ES" sz="2600" b="1" i="1" dirty="0" smtClean="0"/>
              <a:t>Es el fundamento de los sistemas secuenciales. </a:t>
            </a:r>
          </a:p>
          <a:p>
            <a:pPr algn="ctr"/>
            <a:r>
              <a:rPr lang="es-ES" sz="2600" b="1" i="1" dirty="0" smtClean="0"/>
              <a:t>Almacena un bit aún después de que desaparezca la señal que lo produce.</a:t>
            </a:r>
            <a:endParaRPr lang="es-CO" sz="2600" b="1" i="1" dirty="0"/>
          </a:p>
        </p:txBody>
      </p:sp>
      <p:sp>
        <p:nvSpPr>
          <p:cNvPr id="36" name="35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grpSp>
        <p:nvGrpSpPr>
          <p:cNvPr id="70" name="69 Grupo"/>
          <p:cNvGrpSpPr/>
          <p:nvPr/>
        </p:nvGrpSpPr>
        <p:grpSpPr>
          <a:xfrm>
            <a:off x="-64416" y="4437112"/>
            <a:ext cx="7804768" cy="1656184"/>
            <a:chOff x="395536" y="4653136"/>
            <a:chExt cx="7804768" cy="1656184"/>
          </a:xfrm>
        </p:grpSpPr>
        <p:sp>
          <p:nvSpPr>
            <p:cNvPr id="3" name="2 Rectángulo"/>
            <p:cNvSpPr/>
            <p:nvPr/>
          </p:nvSpPr>
          <p:spPr>
            <a:xfrm>
              <a:off x="3059832" y="4653136"/>
              <a:ext cx="2952328" cy="1656184"/>
            </a:xfrm>
            <a:prstGeom prst="rect">
              <a:avLst/>
            </a:prstGeom>
            <a:noFill/>
            <a:ln w="57150">
              <a:solidFill>
                <a:srgbClr val="840A3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46" name="45 Rectángulo"/>
            <p:cNvSpPr/>
            <p:nvPr/>
          </p:nvSpPr>
          <p:spPr>
            <a:xfrm>
              <a:off x="3059832" y="4892967"/>
              <a:ext cx="2952328" cy="120032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s-ES" sz="2400" b="1" i="1" dirty="0" smtClean="0"/>
                <a:t>Configuración secuencial de compuertas</a:t>
              </a:r>
              <a:endParaRPr lang="es-CO" sz="2400" b="1" i="1" dirty="0"/>
            </a:p>
          </p:txBody>
        </p:sp>
        <p:cxnSp>
          <p:nvCxnSpPr>
            <p:cNvPr id="5" name="4 Conector recto de flecha"/>
            <p:cNvCxnSpPr/>
            <p:nvPr/>
          </p:nvCxnSpPr>
          <p:spPr>
            <a:xfrm>
              <a:off x="2254354" y="5827960"/>
              <a:ext cx="779438" cy="0"/>
            </a:xfrm>
            <a:prstGeom prst="straightConnector1">
              <a:avLst/>
            </a:prstGeom>
            <a:ln w="381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61 Conector recto de flecha"/>
            <p:cNvCxnSpPr/>
            <p:nvPr/>
          </p:nvCxnSpPr>
          <p:spPr>
            <a:xfrm>
              <a:off x="2267744" y="5061942"/>
              <a:ext cx="779438" cy="0"/>
            </a:xfrm>
            <a:prstGeom prst="straightConnector1">
              <a:avLst/>
            </a:prstGeom>
            <a:ln w="381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62 Conector recto de flecha"/>
            <p:cNvCxnSpPr/>
            <p:nvPr/>
          </p:nvCxnSpPr>
          <p:spPr>
            <a:xfrm>
              <a:off x="2253792" y="5277966"/>
              <a:ext cx="779438" cy="0"/>
            </a:xfrm>
            <a:prstGeom prst="straightConnector1">
              <a:avLst/>
            </a:prstGeom>
            <a:ln w="381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63 Rectángulo"/>
            <p:cNvSpPr/>
            <p:nvPr/>
          </p:nvSpPr>
          <p:spPr>
            <a:xfrm>
              <a:off x="395536" y="4907260"/>
              <a:ext cx="2160240" cy="49244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s-ES" sz="2600" dirty="0" smtClean="0"/>
                <a:t>Entradas</a:t>
              </a:r>
              <a:endParaRPr lang="es-CO" sz="2600" dirty="0"/>
            </a:p>
          </p:txBody>
        </p:sp>
        <p:sp>
          <p:nvSpPr>
            <p:cNvPr id="65" name="64 Rectángulo"/>
            <p:cNvSpPr/>
            <p:nvPr/>
          </p:nvSpPr>
          <p:spPr>
            <a:xfrm>
              <a:off x="395536" y="5573916"/>
              <a:ext cx="2160240" cy="49244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s-ES" sz="2600" dirty="0" smtClean="0"/>
                <a:t>Control</a:t>
              </a:r>
              <a:endParaRPr lang="es-CO" sz="2600" dirty="0"/>
            </a:p>
          </p:txBody>
        </p:sp>
        <p:cxnSp>
          <p:nvCxnSpPr>
            <p:cNvPr id="66" name="65 Conector recto de flecha"/>
            <p:cNvCxnSpPr/>
            <p:nvPr/>
          </p:nvCxnSpPr>
          <p:spPr>
            <a:xfrm>
              <a:off x="6012160" y="5949280"/>
              <a:ext cx="779438" cy="0"/>
            </a:xfrm>
            <a:prstGeom prst="straightConnector1">
              <a:avLst/>
            </a:prstGeom>
            <a:ln w="381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66 Conector recto de flecha"/>
            <p:cNvCxnSpPr/>
            <p:nvPr/>
          </p:nvCxnSpPr>
          <p:spPr>
            <a:xfrm>
              <a:off x="6024810" y="5085184"/>
              <a:ext cx="779438" cy="0"/>
            </a:xfrm>
            <a:prstGeom prst="straightConnector1">
              <a:avLst/>
            </a:prstGeom>
            <a:ln w="381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67 Rectángulo"/>
            <p:cNvSpPr/>
            <p:nvPr/>
          </p:nvSpPr>
          <p:spPr>
            <a:xfrm>
              <a:off x="6040064" y="5719304"/>
              <a:ext cx="2160240" cy="49244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s-ES" sz="2600" dirty="0" smtClean="0"/>
                <a:t>Q’</a:t>
              </a:r>
              <a:endParaRPr lang="es-CO" sz="2600" dirty="0"/>
            </a:p>
          </p:txBody>
        </p:sp>
        <p:sp>
          <p:nvSpPr>
            <p:cNvPr id="69" name="68 Rectángulo"/>
            <p:cNvSpPr/>
            <p:nvPr/>
          </p:nvSpPr>
          <p:spPr>
            <a:xfrm>
              <a:off x="6025550" y="4840694"/>
              <a:ext cx="2160240" cy="49244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s-ES" sz="2600" dirty="0" smtClean="0"/>
                <a:t>Q</a:t>
              </a:r>
              <a:endParaRPr lang="es-CO" sz="2600" dirty="0"/>
            </a:p>
          </p:txBody>
        </p:sp>
      </p:grpSp>
      <p:sp>
        <p:nvSpPr>
          <p:cNvPr id="71" name="70 Rectángulo"/>
          <p:cNvSpPr/>
          <p:nvPr/>
        </p:nvSpPr>
        <p:spPr>
          <a:xfrm>
            <a:off x="6576959" y="4656618"/>
            <a:ext cx="2387529" cy="12926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600" b="1" i="1" dirty="0" err="1" smtClean="0">
                <a:solidFill>
                  <a:srgbClr val="7030A0"/>
                </a:solidFill>
              </a:rPr>
              <a:t>Biestable</a:t>
            </a:r>
            <a:endParaRPr lang="es-ES" sz="2600" b="1" i="1" dirty="0" smtClean="0">
              <a:solidFill>
                <a:srgbClr val="7030A0"/>
              </a:solidFill>
            </a:endParaRPr>
          </a:p>
          <a:p>
            <a:pPr algn="ctr"/>
            <a:r>
              <a:rPr lang="es-ES" sz="2600" b="1" i="1" dirty="0" err="1" smtClean="0">
                <a:solidFill>
                  <a:srgbClr val="7030A0"/>
                </a:solidFill>
              </a:rPr>
              <a:t>Latch</a:t>
            </a:r>
            <a:endParaRPr lang="es-ES" sz="2600" b="1" i="1" dirty="0" smtClean="0">
              <a:solidFill>
                <a:srgbClr val="7030A0"/>
              </a:solidFill>
            </a:endParaRPr>
          </a:p>
          <a:p>
            <a:pPr algn="ctr"/>
            <a:r>
              <a:rPr lang="es-ES" sz="2600" b="1" i="1" dirty="0" smtClean="0">
                <a:solidFill>
                  <a:srgbClr val="7030A0"/>
                </a:solidFill>
              </a:rPr>
              <a:t>Cerrojo</a:t>
            </a:r>
          </a:p>
        </p:txBody>
      </p:sp>
    </p:spTree>
    <p:extLst>
      <p:ext uri="{BB962C8B-B14F-4D97-AF65-F5344CB8AC3E}">
        <p14:creationId xmlns:p14="http://schemas.microsoft.com/office/powerpoint/2010/main" val="20991431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8490" y="574550"/>
            <a:ext cx="7987965" cy="1054250"/>
          </a:xfrm>
        </p:spPr>
        <p:txBody>
          <a:bodyPr/>
          <a:lstStyle/>
          <a:p>
            <a:r>
              <a:rPr lang="es-ES" sz="4600" dirty="0" smtClean="0"/>
              <a:t>3.2. </a:t>
            </a:r>
            <a:r>
              <a:rPr lang="es-ES" sz="4600" dirty="0" err="1" smtClean="0"/>
              <a:t>Flip-Flop</a:t>
            </a:r>
            <a:r>
              <a:rPr lang="es-ES" sz="4600" dirty="0"/>
              <a:t>.</a:t>
            </a:r>
            <a:endParaRPr lang="es-CO" sz="4600" dirty="0"/>
          </a:p>
        </p:txBody>
      </p:sp>
      <p:sp>
        <p:nvSpPr>
          <p:cNvPr id="42" name="41 Rectángulo"/>
          <p:cNvSpPr/>
          <p:nvPr/>
        </p:nvSpPr>
        <p:spPr>
          <a:xfrm>
            <a:off x="224116" y="2248416"/>
            <a:ext cx="8640960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600" b="1" i="1" dirty="0" err="1" smtClean="0"/>
              <a:t>Flip-flop</a:t>
            </a:r>
            <a:r>
              <a:rPr lang="es-ES" sz="2600" b="1" i="1" dirty="0" smtClean="0"/>
              <a:t> R-S (</a:t>
            </a:r>
            <a:r>
              <a:rPr lang="es-ES" sz="2600" b="1" i="1" dirty="0" err="1" smtClean="0"/>
              <a:t>Reset</a:t>
            </a:r>
            <a:r>
              <a:rPr lang="es-ES" sz="2600" b="1" i="1" dirty="0" smtClean="0"/>
              <a:t> y Set) con compuertas NOR.</a:t>
            </a:r>
          </a:p>
        </p:txBody>
      </p:sp>
      <p:sp>
        <p:nvSpPr>
          <p:cNvPr id="36" name="35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1363" y="3429000"/>
            <a:ext cx="3446621" cy="26102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4" name="3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9682811"/>
              </p:ext>
            </p:extLst>
          </p:nvPr>
        </p:nvGraphicFramePr>
        <p:xfrm>
          <a:off x="4836390" y="4973151"/>
          <a:ext cx="2736302" cy="148018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0038"/>
                <a:gridCol w="360040"/>
                <a:gridCol w="2016224"/>
              </a:tblGrid>
              <a:tr h="200025">
                <a:tc>
                  <a:txBody>
                    <a:bodyPr/>
                    <a:lstStyle/>
                    <a:p>
                      <a:pPr algn="ctr" fontAlgn="b"/>
                      <a:r>
                        <a:rPr lang="es-CO" sz="2200" b="1" u="none" strike="noStrike" dirty="0">
                          <a:effectLst/>
                        </a:rPr>
                        <a:t>S</a:t>
                      </a:r>
                      <a:endParaRPr lang="es-CO" sz="22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200" b="1" u="none" strike="noStrike">
                          <a:effectLst/>
                        </a:rPr>
                        <a:t>R</a:t>
                      </a:r>
                      <a:endParaRPr lang="es-CO" sz="22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200" b="1" u="none" strike="noStrike" dirty="0">
                          <a:effectLst/>
                        </a:rPr>
                        <a:t>Q</a:t>
                      </a:r>
                      <a:r>
                        <a:rPr lang="es-CO" sz="2200" b="1" u="none" strike="noStrike" baseline="-25000" dirty="0">
                          <a:effectLst/>
                        </a:rPr>
                        <a:t>i+1</a:t>
                      </a:r>
                      <a:endParaRPr lang="es-CO" sz="22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u="none" strike="noStrike">
                          <a:effectLst/>
                        </a:rPr>
                        <a:t>0</a:t>
                      </a:r>
                      <a:endParaRPr lang="es-CO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u="none" strike="noStrike">
                          <a:effectLst/>
                        </a:rPr>
                        <a:t>0</a:t>
                      </a:r>
                      <a:endParaRPr lang="es-CO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u="none" strike="noStrike" dirty="0" err="1" smtClean="0">
                          <a:effectLst/>
                        </a:rPr>
                        <a:t>Q</a:t>
                      </a:r>
                      <a:r>
                        <a:rPr lang="es-CO" sz="1800" u="none" strike="noStrike" baseline="-25000" dirty="0" err="1" smtClean="0">
                          <a:effectLst/>
                        </a:rPr>
                        <a:t>i</a:t>
                      </a:r>
                      <a:endParaRPr lang="es-CO" sz="1800" b="0" i="0" u="none" strike="noStrike" baseline="-2500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u="none" strike="noStrike">
                          <a:effectLst/>
                        </a:rPr>
                        <a:t>0</a:t>
                      </a:r>
                      <a:endParaRPr lang="es-CO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u="none" strike="noStrike" dirty="0">
                          <a:effectLst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u="none" strike="noStrike" dirty="0">
                          <a:effectLst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u="none" strike="noStrike">
                          <a:effectLst/>
                        </a:rPr>
                        <a:t>1</a:t>
                      </a:r>
                      <a:endParaRPr lang="es-CO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u="none" strike="noStrike">
                          <a:effectLst/>
                        </a:rPr>
                        <a:t>0</a:t>
                      </a:r>
                      <a:endParaRPr lang="es-CO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u="none" strike="noStrike">
                          <a:effectLst/>
                        </a:rPr>
                        <a:t>1</a:t>
                      </a:r>
                      <a:endParaRPr lang="es-CO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u="none" strike="noStrike">
                          <a:effectLst/>
                        </a:rPr>
                        <a:t>1</a:t>
                      </a:r>
                      <a:endParaRPr lang="es-CO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u="none" strike="noStrike">
                          <a:effectLst/>
                        </a:rPr>
                        <a:t>1</a:t>
                      </a:r>
                      <a:endParaRPr lang="es-CO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u="none" strike="noStrike" dirty="0">
                          <a:effectLst/>
                        </a:rPr>
                        <a:t>Estado </a:t>
                      </a:r>
                      <a:r>
                        <a:rPr lang="es-CO" sz="1800" u="none" strike="noStrike" dirty="0" err="1">
                          <a:effectLst/>
                        </a:rPr>
                        <a:t>metaestable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6016" y="2840623"/>
            <a:ext cx="1824922" cy="18443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9799" y="2818059"/>
            <a:ext cx="1962150" cy="1866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443306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8490" y="574550"/>
            <a:ext cx="7987965" cy="1054250"/>
          </a:xfrm>
        </p:spPr>
        <p:txBody>
          <a:bodyPr/>
          <a:lstStyle/>
          <a:p>
            <a:r>
              <a:rPr lang="es-ES" sz="4600" dirty="0" smtClean="0"/>
              <a:t>3.2. </a:t>
            </a:r>
            <a:r>
              <a:rPr lang="es-ES" sz="4600" dirty="0" err="1" smtClean="0"/>
              <a:t>Flip-Flop</a:t>
            </a:r>
            <a:r>
              <a:rPr lang="es-ES" sz="4600" dirty="0"/>
              <a:t>.</a:t>
            </a:r>
            <a:endParaRPr lang="es-CO" sz="4600" dirty="0"/>
          </a:p>
        </p:txBody>
      </p:sp>
      <p:sp>
        <p:nvSpPr>
          <p:cNvPr id="42" name="41 Rectángulo"/>
          <p:cNvSpPr/>
          <p:nvPr/>
        </p:nvSpPr>
        <p:spPr>
          <a:xfrm>
            <a:off x="224116" y="2248416"/>
            <a:ext cx="8640960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600" b="1" i="1" dirty="0" err="1" smtClean="0"/>
              <a:t>Flip-flop</a:t>
            </a:r>
            <a:r>
              <a:rPr lang="es-ES" sz="2600" b="1" i="1" dirty="0" smtClean="0"/>
              <a:t> R-S con compuertas NAND.</a:t>
            </a:r>
          </a:p>
        </p:txBody>
      </p:sp>
      <p:sp>
        <p:nvSpPr>
          <p:cNvPr id="36" name="35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graphicFrame>
        <p:nvGraphicFramePr>
          <p:cNvPr id="4" name="3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6696279"/>
              </p:ext>
            </p:extLst>
          </p:nvPr>
        </p:nvGraphicFramePr>
        <p:xfrm>
          <a:off x="5076056" y="4684959"/>
          <a:ext cx="2736302" cy="148018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0038"/>
                <a:gridCol w="360040"/>
                <a:gridCol w="2016224"/>
              </a:tblGrid>
              <a:tr h="200025">
                <a:tc>
                  <a:txBody>
                    <a:bodyPr/>
                    <a:lstStyle/>
                    <a:p>
                      <a:pPr algn="ctr" fontAlgn="b"/>
                      <a:r>
                        <a:rPr lang="es-CO" sz="2200" b="1" u="none" strike="noStrike" dirty="0">
                          <a:effectLst/>
                        </a:rPr>
                        <a:t>S</a:t>
                      </a:r>
                      <a:endParaRPr lang="es-CO" sz="22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200" b="1" u="none" strike="noStrike">
                          <a:effectLst/>
                        </a:rPr>
                        <a:t>R</a:t>
                      </a:r>
                      <a:endParaRPr lang="es-CO" sz="22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200" b="1" u="none" strike="noStrike" dirty="0">
                          <a:effectLst/>
                        </a:rPr>
                        <a:t>Q</a:t>
                      </a:r>
                      <a:r>
                        <a:rPr lang="es-CO" sz="2200" b="1" u="none" strike="noStrike" baseline="-25000" dirty="0">
                          <a:effectLst/>
                        </a:rPr>
                        <a:t>i+1</a:t>
                      </a:r>
                      <a:endParaRPr lang="es-CO" sz="22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u="none" strike="noStrike">
                          <a:effectLst/>
                        </a:rPr>
                        <a:t>0</a:t>
                      </a:r>
                      <a:endParaRPr lang="es-CO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u="none" strike="noStrike">
                          <a:effectLst/>
                        </a:rPr>
                        <a:t>0</a:t>
                      </a:r>
                      <a:endParaRPr lang="es-CO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u="none" strike="noStrike" dirty="0" smtClean="0">
                          <a:effectLst/>
                        </a:rPr>
                        <a:t>Estado </a:t>
                      </a:r>
                      <a:r>
                        <a:rPr lang="es-CO" sz="1800" u="none" strike="noStrike" dirty="0" err="1" smtClean="0">
                          <a:effectLst/>
                        </a:rPr>
                        <a:t>metaestable</a:t>
                      </a:r>
                      <a:endParaRPr lang="es-CO" sz="18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u="none" strike="noStrike" dirty="0">
                          <a:effectLst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u="none" strike="noStrike" dirty="0">
                          <a:effectLst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u="none" strike="noStrike">
                          <a:effectLst/>
                        </a:rPr>
                        <a:t>1</a:t>
                      </a:r>
                      <a:endParaRPr lang="es-CO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u="none" strike="noStrike">
                          <a:effectLst/>
                        </a:rPr>
                        <a:t>0</a:t>
                      </a:r>
                      <a:endParaRPr lang="es-CO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u="none" strike="noStrike">
                          <a:effectLst/>
                        </a:rPr>
                        <a:t>1</a:t>
                      </a:r>
                      <a:endParaRPr lang="es-CO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u="none" strike="noStrike" dirty="0">
                          <a:effectLst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u="none" strike="noStrike" dirty="0" err="1" smtClean="0">
                          <a:effectLst/>
                        </a:rPr>
                        <a:t>Q</a:t>
                      </a:r>
                      <a:r>
                        <a:rPr lang="es-CO" sz="1800" u="none" strike="noStrike" baseline="-25000" dirty="0" err="1" smtClean="0">
                          <a:effectLst/>
                        </a:rPr>
                        <a:t>i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3651717"/>
            <a:ext cx="3280133" cy="20664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4641" y="3132584"/>
            <a:ext cx="3848966" cy="12241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083814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8490" y="574550"/>
            <a:ext cx="7987965" cy="1054250"/>
          </a:xfrm>
        </p:spPr>
        <p:txBody>
          <a:bodyPr/>
          <a:lstStyle/>
          <a:p>
            <a:r>
              <a:rPr lang="es-ES" sz="4600" dirty="0" smtClean="0"/>
              <a:t>3.2. </a:t>
            </a:r>
            <a:r>
              <a:rPr lang="es-ES" sz="4600" dirty="0" err="1" smtClean="0"/>
              <a:t>Flip-Flop</a:t>
            </a:r>
            <a:r>
              <a:rPr lang="es-ES" sz="4600" dirty="0"/>
              <a:t>.</a:t>
            </a:r>
            <a:endParaRPr lang="es-CO" sz="4600" dirty="0"/>
          </a:p>
        </p:txBody>
      </p:sp>
      <p:sp>
        <p:nvSpPr>
          <p:cNvPr id="42" name="41 Rectángulo"/>
          <p:cNvSpPr/>
          <p:nvPr/>
        </p:nvSpPr>
        <p:spPr>
          <a:xfrm>
            <a:off x="224116" y="2216477"/>
            <a:ext cx="8640960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600" b="1" i="1" dirty="0" err="1" smtClean="0"/>
              <a:t>Flip-flop</a:t>
            </a:r>
            <a:r>
              <a:rPr lang="es-ES" sz="2600" b="1" i="1" dirty="0" smtClean="0"/>
              <a:t> R-S con habilitación. RS Síncrono.</a:t>
            </a:r>
          </a:p>
        </p:txBody>
      </p:sp>
      <p:sp>
        <p:nvSpPr>
          <p:cNvPr id="36" name="35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graphicFrame>
        <p:nvGraphicFramePr>
          <p:cNvPr id="4" name="3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0778265"/>
              </p:ext>
            </p:extLst>
          </p:nvPr>
        </p:nvGraphicFramePr>
        <p:xfrm>
          <a:off x="5076056" y="4545290"/>
          <a:ext cx="3096344" cy="176403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8173"/>
                <a:gridCol w="318175"/>
                <a:gridCol w="318175"/>
                <a:gridCol w="2141821"/>
              </a:tblGrid>
              <a:tr h="200025">
                <a:tc>
                  <a:txBody>
                    <a:bodyPr/>
                    <a:lstStyle/>
                    <a:p>
                      <a:pPr algn="ctr" fontAlgn="b"/>
                      <a:r>
                        <a:rPr lang="es-CO" sz="2200" b="1" u="none" strike="noStrike" dirty="0">
                          <a:effectLst/>
                        </a:rPr>
                        <a:t>S</a:t>
                      </a:r>
                      <a:endParaRPr lang="es-CO" sz="22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200" b="1" u="none" strike="noStrike" dirty="0">
                          <a:effectLst/>
                        </a:rPr>
                        <a:t>R</a:t>
                      </a:r>
                      <a:endParaRPr lang="es-CO" sz="22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E</a:t>
                      </a:r>
                      <a:endParaRPr lang="es-CO" sz="22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200" b="1" u="none" strike="noStrike" dirty="0">
                          <a:effectLst/>
                        </a:rPr>
                        <a:t>Q</a:t>
                      </a:r>
                      <a:r>
                        <a:rPr lang="es-CO" sz="2200" b="1" u="none" strike="noStrike" baseline="-25000" dirty="0">
                          <a:effectLst/>
                        </a:rPr>
                        <a:t>i+1</a:t>
                      </a:r>
                      <a:endParaRPr lang="es-CO" sz="22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u="none" strike="noStrike">
                          <a:effectLst/>
                        </a:rPr>
                        <a:t>0</a:t>
                      </a:r>
                      <a:endParaRPr lang="es-CO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u="none" strike="noStrike">
                          <a:effectLst/>
                        </a:rPr>
                        <a:t>0</a:t>
                      </a:r>
                      <a:endParaRPr lang="es-CO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u="none" strike="noStrike" dirty="0" err="1" smtClean="0">
                          <a:effectLst/>
                        </a:rPr>
                        <a:t>Q</a:t>
                      </a:r>
                      <a:r>
                        <a:rPr lang="es-CO" sz="1800" u="none" strike="noStrike" baseline="-25000" dirty="0" err="1" smtClean="0">
                          <a:effectLst/>
                        </a:rPr>
                        <a:t>i</a:t>
                      </a:r>
                      <a:endParaRPr lang="es-CO" sz="18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u="none" strike="noStrike" dirty="0">
                          <a:effectLst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u="none" strike="noStrike" dirty="0">
                          <a:effectLst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u="none" strike="noStrike">
                          <a:effectLst/>
                        </a:rPr>
                        <a:t>1</a:t>
                      </a:r>
                      <a:endParaRPr lang="es-CO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u="none" strike="noStrike">
                          <a:effectLst/>
                        </a:rPr>
                        <a:t>0</a:t>
                      </a:r>
                      <a:endParaRPr lang="es-CO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u="none" strike="noStrike">
                          <a:effectLst/>
                        </a:rPr>
                        <a:t>1</a:t>
                      </a:r>
                      <a:endParaRPr lang="es-CO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u="none" strike="noStrike" dirty="0">
                          <a:effectLst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u="none" strike="noStrike" dirty="0" smtClean="0">
                          <a:effectLst/>
                        </a:rPr>
                        <a:t>Estado </a:t>
                      </a:r>
                      <a:r>
                        <a:rPr lang="es-CO" sz="1800" u="none" strike="noStrike" dirty="0" err="1" smtClean="0">
                          <a:effectLst/>
                        </a:rPr>
                        <a:t>metaestable</a:t>
                      </a:r>
                      <a:endParaRPr lang="es-CO" sz="18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X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X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u="none" strike="noStrike" dirty="0" err="1" smtClean="0">
                          <a:effectLst/>
                        </a:rPr>
                        <a:t>Q</a:t>
                      </a:r>
                      <a:r>
                        <a:rPr lang="es-CO" sz="1800" u="none" strike="noStrike" baseline="-25000" dirty="0" err="1" smtClean="0">
                          <a:effectLst/>
                        </a:rPr>
                        <a:t>i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108" y="3577363"/>
            <a:ext cx="3926900" cy="1984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152" y="2873852"/>
            <a:ext cx="1440160" cy="12946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55204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8490" y="574550"/>
            <a:ext cx="7987965" cy="1054250"/>
          </a:xfrm>
        </p:spPr>
        <p:txBody>
          <a:bodyPr/>
          <a:lstStyle/>
          <a:p>
            <a:r>
              <a:rPr lang="es-ES" sz="4600" dirty="0" smtClean="0"/>
              <a:t>3.2. </a:t>
            </a:r>
            <a:r>
              <a:rPr lang="es-ES" sz="4600" dirty="0" err="1" smtClean="0"/>
              <a:t>Flip-Flop</a:t>
            </a:r>
            <a:r>
              <a:rPr lang="es-ES" sz="4600" dirty="0"/>
              <a:t>.</a:t>
            </a:r>
            <a:endParaRPr lang="es-CO" sz="4600" dirty="0"/>
          </a:p>
        </p:txBody>
      </p:sp>
      <p:sp>
        <p:nvSpPr>
          <p:cNvPr id="42" name="41 Rectángulo"/>
          <p:cNvSpPr/>
          <p:nvPr/>
        </p:nvSpPr>
        <p:spPr>
          <a:xfrm>
            <a:off x="224116" y="2216477"/>
            <a:ext cx="8640960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600" b="1" i="1" dirty="0" err="1" smtClean="0"/>
              <a:t>Flip-flop</a:t>
            </a:r>
            <a:r>
              <a:rPr lang="es-ES" sz="2600" b="1" i="1" dirty="0" smtClean="0"/>
              <a:t> D (</a:t>
            </a:r>
            <a:r>
              <a:rPr lang="es-ES" sz="2600" b="1" i="1" dirty="0" err="1" smtClean="0"/>
              <a:t>Delay</a:t>
            </a:r>
            <a:r>
              <a:rPr lang="es-ES" sz="2600" b="1" i="1" dirty="0" smtClean="0"/>
              <a:t>).</a:t>
            </a:r>
          </a:p>
        </p:txBody>
      </p:sp>
      <p:sp>
        <p:nvSpPr>
          <p:cNvPr id="36" name="35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graphicFrame>
        <p:nvGraphicFramePr>
          <p:cNvPr id="4" name="3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7197647"/>
              </p:ext>
            </p:extLst>
          </p:nvPr>
        </p:nvGraphicFramePr>
        <p:xfrm>
          <a:off x="5292080" y="4820761"/>
          <a:ext cx="2778171" cy="91249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8175"/>
                <a:gridCol w="689937"/>
                <a:gridCol w="1770059"/>
              </a:tblGrid>
              <a:tr h="200025">
                <a:tc>
                  <a:txBody>
                    <a:bodyPr/>
                    <a:lstStyle/>
                    <a:p>
                      <a:pPr algn="ctr" fontAlgn="b"/>
                      <a:r>
                        <a:rPr lang="es-CO" sz="2200" b="1" i="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D</a:t>
                      </a:r>
                      <a:endParaRPr lang="es-CO" sz="22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CLK</a:t>
                      </a:r>
                      <a:endParaRPr lang="es-CO" sz="22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200" b="1" u="none" strike="noStrike" dirty="0">
                          <a:effectLst/>
                        </a:rPr>
                        <a:t>Q</a:t>
                      </a:r>
                      <a:r>
                        <a:rPr lang="es-CO" sz="2200" b="1" u="none" strike="noStrike" baseline="-25000" dirty="0">
                          <a:effectLst/>
                        </a:rPr>
                        <a:t>i+1</a:t>
                      </a:r>
                      <a:endParaRPr lang="es-CO" sz="22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u="none" strike="noStrike" dirty="0">
                          <a:effectLst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↑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u="none" strike="noStrike" dirty="0">
                          <a:effectLst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↑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177" y="3501008"/>
            <a:ext cx="4050449" cy="180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8144" y="2924944"/>
            <a:ext cx="1542082" cy="14625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655534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8490" y="574550"/>
            <a:ext cx="7987965" cy="1054250"/>
          </a:xfrm>
        </p:spPr>
        <p:txBody>
          <a:bodyPr/>
          <a:lstStyle/>
          <a:p>
            <a:r>
              <a:rPr lang="es-ES" sz="4600" dirty="0" smtClean="0"/>
              <a:t>3.2. </a:t>
            </a:r>
            <a:r>
              <a:rPr lang="es-ES" sz="4600" dirty="0" err="1" smtClean="0"/>
              <a:t>Flip-Flop</a:t>
            </a:r>
            <a:r>
              <a:rPr lang="es-ES" sz="4600" dirty="0"/>
              <a:t>.</a:t>
            </a:r>
            <a:endParaRPr lang="es-CO" sz="4600" dirty="0"/>
          </a:p>
        </p:txBody>
      </p:sp>
      <p:sp>
        <p:nvSpPr>
          <p:cNvPr id="42" name="41 Rectángulo"/>
          <p:cNvSpPr/>
          <p:nvPr/>
        </p:nvSpPr>
        <p:spPr>
          <a:xfrm>
            <a:off x="224116" y="2216477"/>
            <a:ext cx="8640960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600" b="1" i="1" dirty="0" err="1" smtClean="0"/>
              <a:t>Flip-flop</a:t>
            </a:r>
            <a:r>
              <a:rPr lang="es-ES" sz="2600" b="1" i="1" dirty="0" smtClean="0"/>
              <a:t> JK (</a:t>
            </a:r>
            <a:r>
              <a:rPr lang="es-CO" sz="2600" b="1" dirty="0"/>
              <a:t>Jack </a:t>
            </a:r>
            <a:r>
              <a:rPr lang="es-CO" sz="2600" b="1" dirty="0" err="1" smtClean="0"/>
              <a:t>Kilby</a:t>
            </a:r>
            <a:r>
              <a:rPr lang="es-ES" sz="2600" b="1" i="1" dirty="0" smtClean="0"/>
              <a:t>).</a:t>
            </a:r>
          </a:p>
        </p:txBody>
      </p:sp>
      <p:sp>
        <p:nvSpPr>
          <p:cNvPr id="36" name="35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graphicFrame>
        <p:nvGraphicFramePr>
          <p:cNvPr id="4" name="3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5668197"/>
              </p:ext>
            </p:extLst>
          </p:nvPr>
        </p:nvGraphicFramePr>
        <p:xfrm>
          <a:off x="5292080" y="4757127"/>
          <a:ext cx="2778171" cy="148018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5480"/>
                <a:gridCol w="285480"/>
                <a:gridCol w="619040"/>
                <a:gridCol w="1588171"/>
              </a:tblGrid>
              <a:tr h="200025">
                <a:tc>
                  <a:txBody>
                    <a:bodyPr/>
                    <a:lstStyle/>
                    <a:p>
                      <a:pPr algn="ctr" fontAlgn="b"/>
                      <a:r>
                        <a:rPr lang="es-CO" sz="2200" b="1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J</a:t>
                      </a:r>
                      <a:endParaRPr lang="es-CO" sz="22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200" b="1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K</a:t>
                      </a:r>
                      <a:endParaRPr lang="es-CO" sz="22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CLK</a:t>
                      </a:r>
                      <a:endParaRPr lang="es-CO" sz="22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200" b="1" u="none" strike="noStrike" dirty="0">
                          <a:effectLst/>
                        </a:rPr>
                        <a:t>Q</a:t>
                      </a:r>
                      <a:r>
                        <a:rPr lang="es-CO" sz="2200" b="1" u="none" strike="noStrike" baseline="-25000" dirty="0">
                          <a:effectLst/>
                        </a:rPr>
                        <a:t>i+1</a:t>
                      </a:r>
                      <a:endParaRPr lang="es-CO" sz="22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u="none" strike="noStrike" dirty="0"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↑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1" u="none" strike="noStrike" dirty="0" err="1" smtClean="0">
                          <a:effectLst/>
                        </a:rPr>
                        <a:t>Q</a:t>
                      </a:r>
                      <a:r>
                        <a:rPr lang="es-CO" sz="1800" b="1" u="none" strike="noStrike" baseline="-25000" dirty="0" err="1" smtClean="0">
                          <a:effectLst/>
                        </a:rPr>
                        <a:t>i</a:t>
                      </a:r>
                      <a:endParaRPr lang="es-CO" sz="18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↑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↑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↑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u="none" strike="noStrike" dirty="0" err="1" smtClean="0">
                          <a:effectLst/>
                        </a:rPr>
                        <a:t>Q</a:t>
                      </a:r>
                      <a:r>
                        <a:rPr lang="es-CO" sz="1800" b="1" u="none" strike="noStrike" baseline="-25000" dirty="0" err="1" smtClean="0">
                          <a:effectLst/>
                        </a:rPr>
                        <a:t>i</a:t>
                      </a:r>
                      <a:r>
                        <a:rPr lang="es-CO" sz="1800" b="1" u="none" strike="noStrike" baseline="0" dirty="0" smtClean="0">
                          <a:effectLst/>
                        </a:rPr>
                        <a:t>’</a:t>
                      </a:r>
                      <a:endParaRPr lang="es-CO" sz="1800" b="0" i="0" u="none" strike="noStrike" baseline="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7 Rectángulo"/>
          <p:cNvSpPr/>
          <p:nvPr/>
        </p:nvSpPr>
        <p:spPr>
          <a:xfrm>
            <a:off x="224116" y="5384829"/>
            <a:ext cx="4851940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600" b="1" i="1" dirty="0" err="1" smtClean="0"/>
              <a:t>Flip-Flop</a:t>
            </a:r>
            <a:r>
              <a:rPr lang="es-ES" sz="2600" b="1" i="1" dirty="0" smtClean="0"/>
              <a:t> Universal!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3501008"/>
            <a:ext cx="4036026" cy="17281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136" y="2852936"/>
            <a:ext cx="1705148" cy="15869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465269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8490" y="574550"/>
            <a:ext cx="7987965" cy="1054250"/>
          </a:xfrm>
        </p:spPr>
        <p:txBody>
          <a:bodyPr/>
          <a:lstStyle/>
          <a:p>
            <a:r>
              <a:rPr lang="es-ES" sz="4600" dirty="0" smtClean="0"/>
              <a:t>3.2. </a:t>
            </a:r>
            <a:r>
              <a:rPr lang="es-ES" sz="4600" dirty="0" err="1" smtClean="0"/>
              <a:t>Flip-Flop</a:t>
            </a:r>
            <a:r>
              <a:rPr lang="es-ES" sz="4600" dirty="0"/>
              <a:t>.</a:t>
            </a:r>
            <a:endParaRPr lang="es-CO" sz="4600" dirty="0"/>
          </a:p>
        </p:txBody>
      </p:sp>
      <p:sp>
        <p:nvSpPr>
          <p:cNvPr id="42" name="41 Rectángulo"/>
          <p:cNvSpPr/>
          <p:nvPr/>
        </p:nvSpPr>
        <p:spPr>
          <a:xfrm>
            <a:off x="224116" y="2216477"/>
            <a:ext cx="8640960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600" b="1" i="1" dirty="0" err="1" smtClean="0"/>
              <a:t>Flip-flop</a:t>
            </a:r>
            <a:r>
              <a:rPr lang="es-ES" sz="2600" b="1" i="1" dirty="0" smtClean="0"/>
              <a:t> </a:t>
            </a:r>
            <a:r>
              <a:rPr lang="es-ES" sz="2600" b="1" i="1" dirty="0"/>
              <a:t>T</a:t>
            </a:r>
            <a:r>
              <a:rPr lang="es-ES" sz="2600" b="1" i="1" dirty="0" smtClean="0"/>
              <a:t> (</a:t>
            </a:r>
            <a:r>
              <a:rPr lang="es-ES" sz="2600" b="1" i="1" dirty="0" err="1" smtClean="0"/>
              <a:t>Toogle</a:t>
            </a:r>
            <a:r>
              <a:rPr lang="es-ES" sz="2600" b="1" i="1" dirty="0" smtClean="0"/>
              <a:t>).</a:t>
            </a:r>
          </a:p>
        </p:txBody>
      </p:sp>
      <p:sp>
        <p:nvSpPr>
          <p:cNvPr id="36" name="35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graphicFrame>
        <p:nvGraphicFramePr>
          <p:cNvPr id="4" name="3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8640915"/>
              </p:ext>
            </p:extLst>
          </p:nvPr>
        </p:nvGraphicFramePr>
        <p:xfrm>
          <a:off x="5535693" y="5108793"/>
          <a:ext cx="2492691" cy="91249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5480"/>
                <a:gridCol w="619040"/>
                <a:gridCol w="1588171"/>
              </a:tblGrid>
              <a:tr h="200025">
                <a:tc>
                  <a:txBody>
                    <a:bodyPr/>
                    <a:lstStyle/>
                    <a:p>
                      <a:pPr algn="ctr" fontAlgn="b"/>
                      <a:r>
                        <a:rPr lang="es-CO" sz="2200" b="1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T</a:t>
                      </a:r>
                      <a:endParaRPr lang="es-CO" sz="22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CLK</a:t>
                      </a:r>
                      <a:endParaRPr lang="es-CO" sz="22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200" b="1" u="none" strike="noStrike" dirty="0">
                          <a:effectLst/>
                        </a:rPr>
                        <a:t>Q</a:t>
                      </a:r>
                      <a:r>
                        <a:rPr lang="es-CO" sz="2200" b="1" u="none" strike="noStrike" baseline="-25000" dirty="0">
                          <a:effectLst/>
                        </a:rPr>
                        <a:t>i+1</a:t>
                      </a:r>
                      <a:endParaRPr lang="es-CO" sz="22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u="none" strike="noStrike" dirty="0"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↑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1" u="none" strike="noStrike" dirty="0" err="1" smtClean="0">
                          <a:effectLst/>
                        </a:rPr>
                        <a:t>Q</a:t>
                      </a:r>
                      <a:r>
                        <a:rPr lang="es-CO" sz="1800" b="1" u="none" strike="noStrike" baseline="-25000" dirty="0" err="1" smtClean="0">
                          <a:effectLst/>
                        </a:rPr>
                        <a:t>i</a:t>
                      </a:r>
                      <a:endParaRPr lang="es-CO" sz="18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↑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1" u="none" strike="noStrike" dirty="0" err="1" smtClean="0">
                          <a:effectLst/>
                        </a:rPr>
                        <a:t>Q</a:t>
                      </a:r>
                      <a:r>
                        <a:rPr lang="es-CO" sz="1800" b="1" u="none" strike="noStrike" baseline="-25000" dirty="0" err="1" smtClean="0">
                          <a:effectLst/>
                        </a:rPr>
                        <a:t>i</a:t>
                      </a:r>
                      <a:r>
                        <a:rPr lang="es-CO" sz="1800" b="1" u="none" strike="noStrike" baseline="0" dirty="0" smtClean="0">
                          <a:effectLst/>
                        </a:rPr>
                        <a:t>’</a:t>
                      </a:r>
                      <a:endParaRPr lang="es-CO" sz="1800" b="0" i="0" u="none" strike="noStrike" baseline="0" dirty="0" smtClean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7 Rectángulo"/>
          <p:cNvSpPr/>
          <p:nvPr/>
        </p:nvSpPr>
        <p:spPr>
          <a:xfrm>
            <a:off x="224116" y="5384829"/>
            <a:ext cx="485194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400" b="1" i="1" dirty="0" smtClean="0"/>
              <a:t>Un </a:t>
            </a:r>
            <a:r>
              <a:rPr lang="es-ES" sz="2400" b="1" i="1" dirty="0" err="1" smtClean="0"/>
              <a:t>Flip-Flop</a:t>
            </a:r>
            <a:r>
              <a:rPr lang="es-ES" sz="2400" b="1" i="1" dirty="0" smtClean="0"/>
              <a:t> T se puede hacer también a partir de un </a:t>
            </a:r>
            <a:r>
              <a:rPr lang="es-ES" sz="2400" b="1" i="1" dirty="0" err="1" smtClean="0"/>
              <a:t>Flip-Flop</a:t>
            </a:r>
            <a:r>
              <a:rPr lang="es-ES" sz="2400" b="1" i="1" dirty="0" smtClean="0"/>
              <a:t> RS.</a:t>
            </a:r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3212976"/>
            <a:ext cx="3348035" cy="180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2703" y="3062461"/>
            <a:ext cx="1571625" cy="159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11 Rectángulo"/>
          <p:cNvSpPr/>
          <p:nvPr/>
        </p:nvSpPr>
        <p:spPr>
          <a:xfrm>
            <a:off x="3059832" y="6218728"/>
            <a:ext cx="136751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400" b="1" i="1" dirty="0" smtClean="0">
                <a:solidFill>
                  <a:srgbClr val="FF0000"/>
                </a:solidFill>
              </a:rPr>
              <a:t>Práctica</a:t>
            </a:r>
          </a:p>
        </p:txBody>
      </p:sp>
    </p:spTree>
    <p:extLst>
      <p:ext uri="{BB962C8B-B14F-4D97-AF65-F5344CB8AC3E}">
        <p14:creationId xmlns:p14="http://schemas.microsoft.com/office/powerpoint/2010/main" val="2365180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8490" y="574550"/>
            <a:ext cx="7987965" cy="1054250"/>
          </a:xfrm>
        </p:spPr>
        <p:txBody>
          <a:bodyPr/>
          <a:lstStyle/>
          <a:p>
            <a:r>
              <a:rPr lang="es-ES" sz="4800" dirty="0"/>
              <a:t>3.3. Contadores.</a:t>
            </a:r>
            <a:endParaRPr lang="es-CO" sz="4800" dirty="0"/>
          </a:p>
        </p:txBody>
      </p:sp>
      <p:sp>
        <p:nvSpPr>
          <p:cNvPr id="42" name="41 Rectángulo"/>
          <p:cNvSpPr/>
          <p:nvPr/>
        </p:nvSpPr>
        <p:spPr>
          <a:xfrm>
            <a:off x="224116" y="2132856"/>
            <a:ext cx="864096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400" b="1" i="1" dirty="0" smtClean="0"/>
              <a:t>Circuitos que «cuentan» el número de veces que un evento ha ocurrido, en particular de una señal de reloj.</a:t>
            </a:r>
          </a:p>
        </p:txBody>
      </p:sp>
      <p:sp>
        <p:nvSpPr>
          <p:cNvPr id="36" name="35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sp>
        <p:nvSpPr>
          <p:cNvPr id="8" name="7 Rectángulo"/>
          <p:cNvSpPr/>
          <p:nvPr/>
        </p:nvSpPr>
        <p:spPr>
          <a:xfrm>
            <a:off x="817899" y="5487615"/>
            <a:ext cx="485194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400" b="1" i="1" dirty="0" smtClean="0"/>
              <a:t>Contadores Síncronos.</a:t>
            </a:r>
          </a:p>
        </p:txBody>
      </p:sp>
      <p:sp>
        <p:nvSpPr>
          <p:cNvPr id="10" name="9 Rectángulo"/>
          <p:cNvSpPr/>
          <p:nvPr/>
        </p:nvSpPr>
        <p:spPr>
          <a:xfrm>
            <a:off x="817899" y="3645024"/>
            <a:ext cx="485194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400" b="1" i="1" dirty="0" smtClean="0"/>
              <a:t>Contadores de Propagación o Asíncronos.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4171" y="3262291"/>
            <a:ext cx="2770237" cy="15348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0961" y="5036072"/>
            <a:ext cx="1996658" cy="14892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44835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8490" y="358526"/>
            <a:ext cx="7987965" cy="1054250"/>
          </a:xfrm>
        </p:spPr>
        <p:txBody>
          <a:bodyPr/>
          <a:lstStyle/>
          <a:p>
            <a:r>
              <a:rPr lang="es-ES" sz="4800" dirty="0"/>
              <a:t>3.3. Contadores.</a:t>
            </a:r>
            <a:endParaRPr lang="es-CO" sz="4800" dirty="0"/>
          </a:p>
        </p:txBody>
      </p:sp>
      <p:sp>
        <p:nvSpPr>
          <p:cNvPr id="42" name="41 Rectángulo"/>
          <p:cNvSpPr/>
          <p:nvPr/>
        </p:nvSpPr>
        <p:spPr>
          <a:xfrm>
            <a:off x="224116" y="1412776"/>
            <a:ext cx="432048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400" b="1" i="1" dirty="0" smtClean="0"/>
              <a:t>Contadores Asíncronos</a:t>
            </a:r>
          </a:p>
        </p:txBody>
      </p:sp>
      <p:sp>
        <p:nvSpPr>
          <p:cNvPr id="36" name="35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0238" y="2492896"/>
            <a:ext cx="5343525" cy="1771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10 Rectángulo"/>
          <p:cNvSpPr/>
          <p:nvPr/>
        </p:nvSpPr>
        <p:spPr>
          <a:xfrm>
            <a:off x="179512" y="1988840"/>
            <a:ext cx="432048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400" i="1" dirty="0" smtClean="0"/>
              <a:t>Contador ascendente de 4 bits</a:t>
            </a:r>
          </a:p>
        </p:txBody>
      </p:sp>
      <p:graphicFrame>
        <p:nvGraphicFramePr>
          <p:cNvPr id="12" name="11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9287443"/>
              </p:ext>
            </p:extLst>
          </p:nvPr>
        </p:nvGraphicFramePr>
        <p:xfrm>
          <a:off x="2339750" y="4365104"/>
          <a:ext cx="4392490" cy="2331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11023"/>
                <a:gridCol w="413608"/>
                <a:gridCol w="413608"/>
                <a:gridCol w="413608"/>
                <a:gridCol w="440643"/>
              </a:tblGrid>
              <a:tr h="200025">
                <a:tc>
                  <a:txBody>
                    <a:bodyPr/>
                    <a:lstStyle/>
                    <a:p>
                      <a:pPr algn="ctr" fontAlgn="b"/>
                      <a:r>
                        <a:rPr lang="es-CO" sz="2200" b="1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Numero de pulsos</a:t>
                      </a:r>
                      <a:endParaRPr lang="es-CO" sz="22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4º</a:t>
                      </a:r>
                      <a:endParaRPr lang="es-CO" sz="22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3º</a:t>
                      </a:r>
                      <a:endParaRPr lang="es-CO" sz="22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2º</a:t>
                      </a:r>
                      <a:endParaRPr lang="es-CO" sz="22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200" b="1" u="none" strike="noStrike" baseline="0" dirty="0" smtClean="0">
                          <a:effectLst/>
                        </a:rPr>
                        <a:t>1º</a:t>
                      </a:r>
                      <a:endParaRPr lang="es-CO" sz="2200" b="1" u="none" strike="noStrike" baseline="-25000" dirty="0" smtClean="0">
                        <a:effectLst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….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CO" sz="18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u="none" strike="noStrike" dirty="0" smtClean="0">
                          <a:effectLst/>
                          <a:latin typeface="+mn-lt"/>
                        </a:rPr>
                        <a:t>15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16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17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850055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8490" y="358526"/>
            <a:ext cx="7987965" cy="1054250"/>
          </a:xfrm>
        </p:spPr>
        <p:txBody>
          <a:bodyPr/>
          <a:lstStyle/>
          <a:p>
            <a:r>
              <a:rPr lang="es-ES" sz="4800" dirty="0"/>
              <a:t>3.3. Contadores.</a:t>
            </a:r>
            <a:endParaRPr lang="es-CO" sz="4800" dirty="0"/>
          </a:p>
        </p:txBody>
      </p:sp>
      <p:sp>
        <p:nvSpPr>
          <p:cNvPr id="42" name="41 Rectángulo"/>
          <p:cNvSpPr/>
          <p:nvPr/>
        </p:nvSpPr>
        <p:spPr>
          <a:xfrm>
            <a:off x="224116" y="1412776"/>
            <a:ext cx="432048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400" b="1" i="1" dirty="0" smtClean="0"/>
              <a:t>Contadores Asíncronos</a:t>
            </a:r>
          </a:p>
        </p:txBody>
      </p:sp>
      <p:sp>
        <p:nvSpPr>
          <p:cNvPr id="36" name="35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sp>
        <p:nvSpPr>
          <p:cNvPr id="11" name="10 Rectángulo"/>
          <p:cNvSpPr/>
          <p:nvPr/>
        </p:nvSpPr>
        <p:spPr>
          <a:xfrm>
            <a:off x="1475656" y="2391271"/>
            <a:ext cx="597666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400" i="1" dirty="0" smtClean="0"/>
              <a:t>Contador ascendente de 3 bits MOD 6</a:t>
            </a:r>
          </a:p>
        </p:txBody>
      </p:sp>
      <p:graphicFrame>
        <p:nvGraphicFramePr>
          <p:cNvPr id="12" name="11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6278468"/>
              </p:ext>
            </p:extLst>
          </p:nvPr>
        </p:nvGraphicFramePr>
        <p:xfrm>
          <a:off x="4409542" y="3257520"/>
          <a:ext cx="3978882" cy="2331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11023"/>
                <a:gridCol w="413608"/>
                <a:gridCol w="413608"/>
                <a:gridCol w="440643"/>
              </a:tblGrid>
              <a:tr h="200025">
                <a:tc>
                  <a:txBody>
                    <a:bodyPr/>
                    <a:lstStyle/>
                    <a:p>
                      <a:pPr algn="ctr" fontAlgn="b"/>
                      <a:r>
                        <a:rPr lang="es-CO" sz="2200" b="1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Numero de pulsos</a:t>
                      </a:r>
                      <a:endParaRPr lang="es-CO" sz="22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Q</a:t>
                      </a:r>
                      <a:r>
                        <a:rPr lang="es-CO" sz="2200" b="1" i="0" u="none" strike="noStrike" baseline="-250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</a:t>
                      </a:r>
                      <a:endParaRPr lang="es-CO" sz="22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Q</a:t>
                      </a:r>
                      <a:r>
                        <a:rPr lang="es-CO" sz="2200" b="1" i="0" u="none" strike="noStrike" baseline="-250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22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200" b="1" u="none" strike="noStrike" baseline="0" dirty="0" smtClean="0">
                          <a:effectLst/>
                        </a:rPr>
                        <a:t>Q</a:t>
                      </a:r>
                      <a:r>
                        <a:rPr lang="es-CO" sz="2200" b="1" u="none" strike="noStrike" baseline="-25000" dirty="0" smtClean="0">
                          <a:effectLst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….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CO" sz="18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5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6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797" y="3496989"/>
            <a:ext cx="3680155" cy="1732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9 Rectángulo"/>
          <p:cNvSpPr/>
          <p:nvPr/>
        </p:nvSpPr>
        <p:spPr>
          <a:xfrm>
            <a:off x="459797" y="5877272"/>
            <a:ext cx="597666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400" i="1" dirty="0" smtClean="0"/>
              <a:t>Un contador ascendiente de 4 bits MOD 10 es conocido también como Contador </a:t>
            </a:r>
            <a:r>
              <a:rPr lang="es-ES" sz="2400" i="1" dirty="0" err="1" smtClean="0"/>
              <a:t>decadal</a:t>
            </a:r>
            <a:r>
              <a:rPr lang="es-ES" sz="2400" i="1" dirty="0" smtClean="0"/>
              <a:t>.</a:t>
            </a:r>
          </a:p>
        </p:txBody>
      </p:sp>
      <p:sp>
        <p:nvSpPr>
          <p:cNvPr id="13" name="12 Rectángulo"/>
          <p:cNvSpPr/>
          <p:nvPr/>
        </p:nvSpPr>
        <p:spPr>
          <a:xfrm>
            <a:off x="6444845" y="6029672"/>
            <a:ext cx="136751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400" b="1" i="1" dirty="0" smtClean="0">
                <a:solidFill>
                  <a:srgbClr val="FF0000"/>
                </a:solidFill>
              </a:rPr>
              <a:t>Práctica</a:t>
            </a:r>
          </a:p>
        </p:txBody>
      </p:sp>
    </p:spTree>
    <p:extLst>
      <p:ext uri="{BB962C8B-B14F-4D97-AF65-F5344CB8AC3E}">
        <p14:creationId xmlns:p14="http://schemas.microsoft.com/office/powerpoint/2010/main" val="29736706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8490" y="358526"/>
            <a:ext cx="7987965" cy="1054250"/>
          </a:xfrm>
        </p:spPr>
        <p:txBody>
          <a:bodyPr/>
          <a:lstStyle/>
          <a:p>
            <a:r>
              <a:rPr lang="es-ES" sz="4800" dirty="0"/>
              <a:t>3.3. Contadores.</a:t>
            </a:r>
            <a:endParaRPr lang="es-CO" sz="4800" dirty="0"/>
          </a:p>
        </p:txBody>
      </p:sp>
      <p:sp>
        <p:nvSpPr>
          <p:cNvPr id="42" name="41 Rectángulo"/>
          <p:cNvSpPr/>
          <p:nvPr/>
        </p:nvSpPr>
        <p:spPr>
          <a:xfrm>
            <a:off x="224116" y="1412776"/>
            <a:ext cx="432048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400" b="1" i="1" dirty="0" smtClean="0"/>
              <a:t>Contadores Asíncronos</a:t>
            </a:r>
          </a:p>
        </p:txBody>
      </p:sp>
      <p:sp>
        <p:nvSpPr>
          <p:cNvPr id="36" name="35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sp>
        <p:nvSpPr>
          <p:cNvPr id="11" name="10 Rectángulo"/>
          <p:cNvSpPr/>
          <p:nvPr/>
        </p:nvSpPr>
        <p:spPr>
          <a:xfrm>
            <a:off x="1403648" y="2391271"/>
            <a:ext cx="597666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400" i="1" dirty="0" smtClean="0"/>
              <a:t>Contador descendiente de 3 bits</a:t>
            </a:r>
          </a:p>
        </p:txBody>
      </p:sp>
      <p:graphicFrame>
        <p:nvGraphicFramePr>
          <p:cNvPr id="12" name="11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8192527"/>
              </p:ext>
            </p:extLst>
          </p:nvPr>
        </p:nvGraphicFramePr>
        <p:xfrm>
          <a:off x="4625566" y="3257520"/>
          <a:ext cx="3978882" cy="2331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11023"/>
                <a:gridCol w="413608"/>
                <a:gridCol w="413608"/>
                <a:gridCol w="440643"/>
              </a:tblGrid>
              <a:tr h="200025">
                <a:tc>
                  <a:txBody>
                    <a:bodyPr/>
                    <a:lstStyle/>
                    <a:p>
                      <a:pPr algn="ctr" fontAlgn="b"/>
                      <a:r>
                        <a:rPr lang="es-CO" sz="2200" b="1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Numero de pulsos</a:t>
                      </a:r>
                      <a:endParaRPr lang="es-CO" sz="22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Q</a:t>
                      </a:r>
                      <a:r>
                        <a:rPr lang="es-CO" sz="2200" b="1" i="0" u="none" strike="noStrike" baseline="-250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</a:t>
                      </a:r>
                      <a:endParaRPr lang="es-CO" sz="22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Q</a:t>
                      </a:r>
                      <a:r>
                        <a:rPr lang="es-CO" sz="2200" b="1" i="0" u="none" strike="noStrike" baseline="-250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22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200" b="1" u="none" strike="noStrike" baseline="0" dirty="0" smtClean="0">
                          <a:effectLst/>
                        </a:rPr>
                        <a:t>Q</a:t>
                      </a:r>
                      <a:r>
                        <a:rPr lang="es-CO" sz="2200" b="1" u="none" strike="noStrike" baseline="-25000" dirty="0" smtClean="0">
                          <a:effectLst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….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CO" sz="18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5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6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001" y="3429000"/>
            <a:ext cx="4024975" cy="180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927072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8490" y="358526"/>
            <a:ext cx="7987965" cy="1054250"/>
          </a:xfrm>
        </p:spPr>
        <p:txBody>
          <a:bodyPr/>
          <a:lstStyle/>
          <a:p>
            <a:r>
              <a:rPr lang="es-ES" sz="4800" dirty="0"/>
              <a:t>3.3. Contadores.</a:t>
            </a:r>
            <a:endParaRPr lang="es-CO" sz="4800" dirty="0"/>
          </a:p>
        </p:txBody>
      </p:sp>
      <p:sp>
        <p:nvSpPr>
          <p:cNvPr id="42" name="41 Rectángulo"/>
          <p:cNvSpPr/>
          <p:nvPr/>
        </p:nvSpPr>
        <p:spPr>
          <a:xfrm>
            <a:off x="224116" y="1412776"/>
            <a:ext cx="432048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400" b="1" i="1" dirty="0" smtClean="0"/>
              <a:t>Contadores Síncronos</a:t>
            </a:r>
          </a:p>
        </p:txBody>
      </p:sp>
      <p:sp>
        <p:nvSpPr>
          <p:cNvPr id="36" name="35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sp>
        <p:nvSpPr>
          <p:cNvPr id="11" name="10 Rectángulo"/>
          <p:cNvSpPr/>
          <p:nvPr/>
        </p:nvSpPr>
        <p:spPr>
          <a:xfrm>
            <a:off x="107504" y="2391271"/>
            <a:ext cx="597666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400" i="1" dirty="0" smtClean="0"/>
              <a:t>Contador ascendente de </a:t>
            </a:r>
            <a:r>
              <a:rPr lang="es-ES" sz="2400" i="1" dirty="0"/>
              <a:t>4</a:t>
            </a:r>
            <a:r>
              <a:rPr lang="es-ES" sz="2400" i="1" dirty="0" smtClean="0"/>
              <a:t> bits</a:t>
            </a: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888" y="3027947"/>
            <a:ext cx="4898167" cy="24172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9" name="8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7079038"/>
              </p:ext>
            </p:extLst>
          </p:nvPr>
        </p:nvGraphicFramePr>
        <p:xfrm>
          <a:off x="5220073" y="2799824"/>
          <a:ext cx="3528391" cy="2667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16223"/>
                <a:gridCol w="360040"/>
                <a:gridCol w="360040"/>
                <a:gridCol w="438129"/>
                <a:gridCol w="353959"/>
              </a:tblGrid>
              <a:tr h="290697">
                <a:tc>
                  <a:txBody>
                    <a:bodyPr/>
                    <a:lstStyle/>
                    <a:p>
                      <a:pPr algn="ctr" fontAlgn="b"/>
                      <a:r>
                        <a:rPr lang="es-CO" sz="2200" b="1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Numero de pulsos</a:t>
                      </a:r>
                      <a:endParaRPr lang="es-CO" sz="22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Q</a:t>
                      </a:r>
                      <a:r>
                        <a:rPr lang="es-CO" sz="2200" b="1" i="0" u="none" strike="noStrike" baseline="-250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</a:t>
                      </a:r>
                      <a:endParaRPr lang="es-CO" sz="22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Q</a:t>
                      </a:r>
                      <a:r>
                        <a:rPr lang="es-CO" sz="2200" b="1" i="0" u="none" strike="noStrike" baseline="-250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</a:t>
                      </a:r>
                      <a:endParaRPr lang="es-CO" sz="22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Q</a:t>
                      </a:r>
                      <a:r>
                        <a:rPr lang="es-CO" sz="2200" b="1" i="0" u="none" strike="noStrike" baseline="-250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22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200" b="1" u="none" strike="noStrike" baseline="0" dirty="0" smtClean="0">
                          <a:effectLst/>
                        </a:rPr>
                        <a:t>Q</a:t>
                      </a:r>
                      <a:r>
                        <a:rPr lang="es-CO" sz="2200" b="1" u="none" strike="noStrike" baseline="-25000" dirty="0" smtClean="0">
                          <a:effectLst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9303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9303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9303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9303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….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CO" sz="18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9303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u="none" strike="noStrike" dirty="0" smtClean="0">
                          <a:effectLst/>
                          <a:latin typeface="+mn-lt"/>
                        </a:rPr>
                        <a:t>15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9303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16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9303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17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9 Rectángulo"/>
          <p:cNvSpPr/>
          <p:nvPr/>
        </p:nvSpPr>
        <p:spPr>
          <a:xfrm>
            <a:off x="259904" y="5517232"/>
            <a:ext cx="597666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400" i="1" dirty="0" smtClean="0"/>
              <a:t>Al igual que con los contadores Asíncronos, los síncronos también se pueden diseñar descendentes y ascendentes con MOD 10.</a:t>
            </a:r>
          </a:p>
        </p:txBody>
      </p:sp>
      <p:sp>
        <p:nvSpPr>
          <p:cNvPr id="13" name="12 Rectángulo"/>
          <p:cNvSpPr/>
          <p:nvPr/>
        </p:nvSpPr>
        <p:spPr>
          <a:xfrm>
            <a:off x="6444845" y="6029672"/>
            <a:ext cx="136751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400" b="1" i="1" dirty="0" smtClean="0">
                <a:solidFill>
                  <a:srgbClr val="FF0000"/>
                </a:solidFill>
              </a:rPr>
              <a:t>Práctica</a:t>
            </a:r>
          </a:p>
        </p:txBody>
      </p:sp>
    </p:spTree>
    <p:extLst>
      <p:ext uri="{BB962C8B-B14F-4D97-AF65-F5344CB8AC3E}">
        <p14:creationId xmlns:p14="http://schemas.microsoft.com/office/powerpoint/2010/main" val="2184088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8490" y="502542"/>
            <a:ext cx="7987965" cy="1054250"/>
          </a:xfrm>
        </p:spPr>
        <p:txBody>
          <a:bodyPr/>
          <a:lstStyle/>
          <a:p>
            <a:r>
              <a:rPr lang="es-ES" sz="4800" dirty="0" smtClean="0"/>
              <a:t>3.4. Registros.</a:t>
            </a:r>
            <a:endParaRPr lang="es-CO" sz="4800" dirty="0"/>
          </a:p>
        </p:txBody>
      </p:sp>
      <p:sp>
        <p:nvSpPr>
          <p:cNvPr id="36" name="35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sp>
        <p:nvSpPr>
          <p:cNvPr id="11" name="10 Rectángulo"/>
          <p:cNvSpPr/>
          <p:nvPr/>
        </p:nvSpPr>
        <p:spPr>
          <a:xfrm>
            <a:off x="899592" y="4688557"/>
            <a:ext cx="7488832" cy="16927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600" b="1" i="1" dirty="0" smtClean="0"/>
              <a:t>Existen tres tipos básicos:</a:t>
            </a:r>
          </a:p>
          <a:p>
            <a:pPr marL="457200" indent="-457200" algn="ctr">
              <a:buAutoNum type="arabicPeriod"/>
            </a:pPr>
            <a:r>
              <a:rPr lang="es-ES" sz="2600" b="1" i="1" dirty="0" smtClean="0"/>
              <a:t>Registro de corrimiento o serie-serie.</a:t>
            </a:r>
          </a:p>
          <a:p>
            <a:pPr marL="457200" indent="-457200" algn="ctr">
              <a:buAutoNum type="arabicPeriod"/>
            </a:pPr>
            <a:r>
              <a:rPr lang="es-ES" sz="2600" b="1" i="1" dirty="0" smtClean="0"/>
              <a:t>Registro serie-paralelo.</a:t>
            </a:r>
          </a:p>
          <a:p>
            <a:pPr marL="457200" indent="-457200" algn="ctr">
              <a:buAutoNum type="arabicPeriod"/>
            </a:pPr>
            <a:r>
              <a:rPr lang="es-ES" sz="2600" b="1" i="1" dirty="0" smtClean="0"/>
              <a:t>Registro paralelo-serie.</a:t>
            </a:r>
          </a:p>
        </p:txBody>
      </p:sp>
      <p:sp>
        <p:nvSpPr>
          <p:cNvPr id="10" name="9 Rectángulo"/>
          <p:cNvSpPr/>
          <p:nvPr/>
        </p:nvSpPr>
        <p:spPr>
          <a:xfrm>
            <a:off x="467544" y="2309971"/>
            <a:ext cx="842493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ES" sz="2400" b="1" i="1" dirty="0" smtClean="0"/>
              <a:t>Circuitos Secuenciales donde se almacena información temporalmente, para su uso posterior.</a:t>
            </a: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3208" y="3359249"/>
            <a:ext cx="5181600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49233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8490" y="502542"/>
            <a:ext cx="7987965" cy="1054250"/>
          </a:xfrm>
        </p:spPr>
        <p:txBody>
          <a:bodyPr/>
          <a:lstStyle/>
          <a:p>
            <a:r>
              <a:rPr lang="es-ES" sz="4800" dirty="0" smtClean="0"/>
              <a:t>3.4. Registros.</a:t>
            </a:r>
            <a:endParaRPr lang="es-CO" sz="4800" dirty="0"/>
          </a:p>
        </p:txBody>
      </p:sp>
      <p:sp>
        <p:nvSpPr>
          <p:cNvPr id="36" name="35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sp>
        <p:nvSpPr>
          <p:cNvPr id="10" name="9 Rectángulo"/>
          <p:cNvSpPr/>
          <p:nvPr/>
        </p:nvSpPr>
        <p:spPr>
          <a:xfrm>
            <a:off x="359160" y="2295842"/>
            <a:ext cx="842493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400" b="1" i="1" dirty="0" smtClean="0"/>
              <a:t>Registro de Corrimiento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141" y="2996952"/>
            <a:ext cx="8562975" cy="2038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7 Rectángulo"/>
          <p:cNvSpPr/>
          <p:nvPr/>
        </p:nvSpPr>
        <p:spPr>
          <a:xfrm>
            <a:off x="323528" y="5445224"/>
            <a:ext cx="648072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400" b="1" i="1" dirty="0" smtClean="0"/>
              <a:t>También se puede hacer un registro de corrimiento con </a:t>
            </a:r>
            <a:r>
              <a:rPr lang="es-ES" sz="2400" b="1" i="1" dirty="0" err="1" smtClean="0"/>
              <a:t>Flip-Flops</a:t>
            </a:r>
            <a:r>
              <a:rPr lang="es-ES" sz="2400" b="1" i="1" dirty="0" smtClean="0"/>
              <a:t> JK y D.</a:t>
            </a:r>
          </a:p>
        </p:txBody>
      </p:sp>
      <p:sp>
        <p:nvSpPr>
          <p:cNvPr id="9" name="8 Rectángulo"/>
          <p:cNvSpPr/>
          <p:nvPr/>
        </p:nvSpPr>
        <p:spPr>
          <a:xfrm>
            <a:off x="6504515" y="5629889"/>
            <a:ext cx="151216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400" b="1" i="1" dirty="0" smtClean="0">
                <a:solidFill>
                  <a:srgbClr val="FF0000"/>
                </a:solidFill>
              </a:rPr>
              <a:t>Práctica</a:t>
            </a:r>
          </a:p>
        </p:txBody>
      </p:sp>
    </p:spTree>
    <p:extLst>
      <p:ext uri="{BB962C8B-B14F-4D97-AF65-F5344CB8AC3E}">
        <p14:creationId xmlns:p14="http://schemas.microsoft.com/office/powerpoint/2010/main" val="24454086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8490" y="502542"/>
            <a:ext cx="7987965" cy="1054250"/>
          </a:xfrm>
        </p:spPr>
        <p:txBody>
          <a:bodyPr/>
          <a:lstStyle/>
          <a:p>
            <a:r>
              <a:rPr lang="es-ES" sz="4800" dirty="0" smtClean="0"/>
              <a:t>3.4. Registros.</a:t>
            </a:r>
            <a:endParaRPr lang="es-CO" sz="4800" dirty="0"/>
          </a:p>
        </p:txBody>
      </p:sp>
      <p:sp>
        <p:nvSpPr>
          <p:cNvPr id="36" name="35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sp>
        <p:nvSpPr>
          <p:cNvPr id="11" name="10 Rectángulo"/>
          <p:cNvSpPr/>
          <p:nvPr/>
        </p:nvSpPr>
        <p:spPr>
          <a:xfrm>
            <a:off x="539552" y="5445224"/>
            <a:ext cx="7488832" cy="12926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600" b="1" i="1" dirty="0" smtClean="0"/>
              <a:t>Se añade una salida en cada </a:t>
            </a:r>
            <a:r>
              <a:rPr lang="es-ES" sz="2600" b="1" i="1" dirty="0" err="1" smtClean="0"/>
              <a:t>biestable</a:t>
            </a:r>
            <a:r>
              <a:rPr lang="es-ES" sz="2600" b="1" i="1" dirty="0"/>
              <a:t>!</a:t>
            </a:r>
            <a:endParaRPr lang="es-ES" sz="2600" b="1" i="1" dirty="0" smtClean="0"/>
          </a:p>
          <a:p>
            <a:pPr algn="ctr"/>
            <a:r>
              <a:rPr lang="es-ES" sz="2600" b="1" i="1" dirty="0" smtClean="0"/>
              <a:t>Este registro es utilizado para cambiar una palabra de serie a paralelo.</a:t>
            </a:r>
          </a:p>
        </p:txBody>
      </p:sp>
      <p:sp>
        <p:nvSpPr>
          <p:cNvPr id="10" name="9 Rectángulo"/>
          <p:cNvSpPr/>
          <p:nvPr/>
        </p:nvSpPr>
        <p:spPr>
          <a:xfrm>
            <a:off x="467544" y="2204864"/>
            <a:ext cx="842493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400" b="1" i="1" dirty="0" smtClean="0"/>
              <a:t>Registro Serie-Paralelo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538" y="2708920"/>
            <a:ext cx="7843035" cy="25202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7 Rectángulo"/>
          <p:cNvSpPr/>
          <p:nvPr/>
        </p:nvSpPr>
        <p:spPr>
          <a:xfrm>
            <a:off x="6516216" y="6238894"/>
            <a:ext cx="151216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400" b="1" i="1" dirty="0" smtClean="0">
                <a:solidFill>
                  <a:srgbClr val="FF0000"/>
                </a:solidFill>
              </a:rPr>
              <a:t>Práctica</a:t>
            </a:r>
          </a:p>
        </p:txBody>
      </p:sp>
    </p:spTree>
    <p:extLst>
      <p:ext uri="{BB962C8B-B14F-4D97-AF65-F5344CB8AC3E}">
        <p14:creationId xmlns:p14="http://schemas.microsoft.com/office/powerpoint/2010/main" val="24454086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8490" y="502542"/>
            <a:ext cx="7987965" cy="1054250"/>
          </a:xfrm>
        </p:spPr>
        <p:txBody>
          <a:bodyPr/>
          <a:lstStyle/>
          <a:p>
            <a:r>
              <a:rPr lang="es-ES" sz="4800" dirty="0" smtClean="0"/>
              <a:t>3.4. Registros.</a:t>
            </a:r>
            <a:endParaRPr lang="es-CO" sz="4800" dirty="0"/>
          </a:p>
        </p:txBody>
      </p:sp>
      <p:sp>
        <p:nvSpPr>
          <p:cNvPr id="36" name="35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sp>
        <p:nvSpPr>
          <p:cNvPr id="10" name="9 Rectángulo"/>
          <p:cNvSpPr/>
          <p:nvPr/>
        </p:nvSpPr>
        <p:spPr>
          <a:xfrm>
            <a:off x="467544" y="2276872"/>
            <a:ext cx="54006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400" b="1" i="1" dirty="0" smtClean="0"/>
              <a:t>Registro Paralelo-Serie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2852936"/>
            <a:ext cx="5814986" cy="35731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7 Rectángulo"/>
          <p:cNvSpPr/>
          <p:nvPr/>
        </p:nvSpPr>
        <p:spPr>
          <a:xfrm>
            <a:off x="6300192" y="3717032"/>
            <a:ext cx="272229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400" b="1" i="1" dirty="0" smtClean="0"/>
              <a:t>Su uso consiste en la conversión de una palabra de paralelo a serie.</a:t>
            </a:r>
          </a:p>
        </p:txBody>
      </p:sp>
    </p:spTree>
    <p:extLst>
      <p:ext uri="{BB962C8B-B14F-4D97-AF65-F5344CB8AC3E}">
        <p14:creationId xmlns:p14="http://schemas.microsoft.com/office/powerpoint/2010/main" val="24454086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8490" y="502542"/>
            <a:ext cx="7987965" cy="1054250"/>
          </a:xfrm>
        </p:spPr>
        <p:txBody>
          <a:bodyPr/>
          <a:lstStyle/>
          <a:p>
            <a:r>
              <a:rPr lang="es-ES" sz="4800" dirty="0" smtClean="0"/>
              <a:t>3.5. </a:t>
            </a:r>
            <a:r>
              <a:rPr lang="es-ES" sz="4800" dirty="0"/>
              <a:t>Temporizador 555.</a:t>
            </a:r>
            <a:endParaRPr lang="es-CO" sz="4800" dirty="0"/>
          </a:p>
        </p:txBody>
      </p:sp>
      <p:sp>
        <p:nvSpPr>
          <p:cNvPr id="36" name="35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sp>
        <p:nvSpPr>
          <p:cNvPr id="3" name="2 Rectángulo"/>
          <p:cNvSpPr/>
          <p:nvPr/>
        </p:nvSpPr>
        <p:spPr>
          <a:xfrm>
            <a:off x="1835696" y="6129710"/>
            <a:ext cx="54006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dirty="0"/>
              <a:t>http://home.cogeco.ca/~rpaisley4/LM555.html</a:t>
            </a:r>
          </a:p>
        </p:txBody>
      </p:sp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0387" y="2558326"/>
            <a:ext cx="3579417" cy="26830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0" name="Picture 2" descr="C:\Users\Calelo\Desktop\aa-555-01.gif"/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131" y="2256603"/>
            <a:ext cx="4960267" cy="3248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44972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3568" y="430534"/>
            <a:ext cx="7987965" cy="1054250"/>
          </a:xfrm>
        </p:spPr>
        <p:txBody>
          <a:bodyPr/>
          <a:lstStyle/>
          <a:p>
            <a:r>
              <a:rPr lang="es-ES" sz="4800" dirty="0" smtClean="0"/>
              <a:t>3.5. </a:t>
            </a:r>
            <a:r>
              <a:rPr lang="es-ES" sz="4800" dirty="0"/>
              <a:t>Temporizador 555.</a:t>
            </a:r>
            <a:endParaRPr lang="es-CO" sz="4800" dirty="0"/>
          </a:p>
        </p:txBody>
      </p:sp>
      <p:sp>
        <p:nvSpPr>
          <p:cNvPr id="36" name="35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sp>
        <p:nvSpPr>
          <p:cNvPr id="3" name="2 Rectángulo"/>
          <p:cNvSpPr/>
          <p:nvPr/>
        </p:nvSpPr>
        <p:spPr>
          <a:xfrm>
            <a:off x="611560" y="2175247"/>
            <a:ext cx="799288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400" b="1" i="1" dirty="0" smtClean="0"/>
              <a:t>Monoestable</a:t>
            </a:r>
            <a:endParaRPr lang="es-ES" sz="2400" b="1" i="1" dirty="0"/>
          </a:p>
        </p:txBody>
      </p:sp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2780928"/>
            <a:ext cx="7337451" cy="35283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1816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3568" y="430534"/>
            <a:ext cx="7987965" cy="1054250"/>
          </a:xfrm>
        </p:spPr>
        <p:txBody>
          <a:bodyPr/>
          <a:lstStyle/>
          <a:p>
            <a:r>
              <a:rPr lang="es-ES" sz="4800" dirty="0" smtClean="0"/>
              <a:t>3.5. </a:t>
            </a:r>
            <a:r>
              <a:rPr lang="es-ES" sz="4800" dirty="0"/>
              <a:t>Temporizador 555.</a:t>
            </a:r>
            <a:endParaRPr lang="es-CO" sz="4800" dirty="0"/>
          </a:p>
        </p:txBody>
      </p:sp>
      <p:sp>
        <p:nvSpPr>
          <p:cNvPr id="36" name="35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sp>
        <p:nvSpPr>
          <p:cNvPr id="3" name="2 Rectángulo"/>
          <p:cNvSpPr/>
          <p:nvPr/>
        </p:nvSpPr>
        <p:spPr>
          <a:xfrm>
            <a:off x="611559" y="2175247"/>
            <a:ext cx="786013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400" b="1" i="1" dirty="0" err="1" smtClean="0"/>
              <a:t>Astable</a:t>
            </a:r>
            <a:endParaRPr lang="es-ES" sz="2400" b="1" i="1" dirty="0"/>
          </a:p>
        </p:txBody>
      </p:sp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2708920"/>
            <a:ext cx="6768752" cy="35022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318283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3568" y="430534"/>
            <a:ext cx="7987965" cy="1054250"/>
          </a:xfrm>
        </p:spPr>
        <p:txBody>
          <a:bodyPr/>
          <a:lstStyle/>
          <a:p>
            <a:r>
              <a:rPr lang="es-ES" sz="4800" dirty="0" smtClean="0"/>
              <a:t>3.6. </a:t>
            </a:r>
            <a:r>
              <a:rPr lang="es-ES" sz="4800" dirty="0"/>
              <a:t>M</a:t>
            </a:r>
            <a:r>
              <a:rPr lang="es-ES" sz="4800" dirty="0" smtClean="0"/>
              <a:t>áquinas </a:t>
            </a:r>
            <a:r>
              <a:rPr lang="es-ES" sz="4800" dirty="0"/>
              <a:t>de estado.</a:t>
            </a:r>
            <a:endParaRPr lang="es-CO" sz="4800" dirty="0"/>
          </a:p>
        </p:txBody>
      </p:sp>
      <p:sp>
        <p:nvSpPr>
          <p:cNvPr id="36" name="35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sp>
        <p:nvSpPr>
          <p:cNvPr id="3" name="2 Rectángulo"/>
          <p:cNvSpPr/>
          <p:nvPr/>
        </p:nvSpPr>
        <p:spPr>
          <a:xfrm>
            <a:off x="611559" y="2175247"/>
            <a:ext cx="786013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400" b="1" i="1" dirty="0" smtClean="0"/>
              <a:t>Circuitos secuenciales en una configuración tal que pasan por una serie de estados determinados por la configuración y las entradas del sistema.</a:t>
            </a:r>
            <a:endParaRPr lang="es-ES" sz="2400" b="1" i="1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3474458"/>
            <a:ext cx="3528392" cy="31138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7 Rectángulo"/>
          <p:cNvSpPr/>
          <p:nvPr/>
        </p:nvSpPr>
        <p:spPr>
          <a:xfrm>
            <a:off x="4488727" y="3693561"/>
            <a:ext cx="4619777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400" i="1" dirty="0" smtClean="0"/>
              <a:t>Herramientas para analizar una máquina de estados:</a:t>
            </a:r>
          </a:p>
          <a:p>
            <a:pPr algn="ctr"/>
            <a:r>
              <a:rPr lang="es-ES" sz="2400" i="1" dirty="0" smtClean="0"/>
              <a:t>Ecuaciones Lógicas</a:t>
            </a:r>
          </a:p>
          <a:p>
            <a:pPr algn="ctr"/>
            <a:r>
              <a:rPr lang="es-ES" sz="2400" i="1" dirty="0" smtClean="0"/>
              <a:t>Tabla de Estados</a:t>
            </a:r>
          </a:p>
          <a:p>
            <a:pPr algn="ctr"/>
            <a:r>
              <a:rPr lang="es-ES" sz="2400" i="1" dirty="0" smtClean="0"/>
              <a:t>Diagrama de Estado</a:t>
            </a:r>
          </a:p>
          <a:p>
            <a:pPr algn="ctr"/>
            <a:r>
              <a:rPr lang="es-ES" sz="2400" i="1" dirty="0" smtClean="0"/>
              <a:t>Tabla de transición de FF</a:t>
            </a:r>
          </a:p>
          <a:p>
            <a:pPr marL="342900" indent="-342900" algn="ctr">
              <a:buFontTx/>
              <a:buChar char="-"/>
            </a:pPr>
            <a:r>
              <a:rPr lang="es-ES" sz="2400" i="1" dirty="0" smtClean="0"/>
              <a:t>Mapa de </a:t>
            </a:r>
            <a:r>
              <a:rPr lang="es-ES" sz="2400" i="1" dirty="0" err="1" smtClean="0"/>
              <a:t>Karnaugh</a:t>
            </a:r>
            <a:r>
              <a:rPr lang="es-ES" sz="2400" i="1" dirty="0"/>
              <a:t>.</a:t>
            </a:r>
          </a:p>
        </p:txBody>
      </p:sp>
      <p:sp>
        <p:nvSpPr>
          <p:cNvPr id="9" name="8 Rectángulo"/>
          <p:cNvSpPr/>
          <p:nvPr/>
        </p:nvSpPr>
        <p:spPr>
          <a:xfrm>
            <a:off x="7369047" y="4445325"/>
            <a:ext cx="1381794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4200" i="1" dirty="0" smtClean="0"/>
              <a:t>}</a:t>
            </a:r>
            <a:endParaRPr lang="es-ES" sz="4200" i="1" dirty="0"/>
          </a:p>
        </p:txBody>
      </p:sp>
      <p:sp>
        <p:nvSpPr>
          <p:cNvPr id="10" name="9 Rectángulo"/>
          <p:cNvSpPr/>
          <p:nvPr/>
        </p:nvSpPr>
        <p:spPr>
          <a:xfrm rot="10800000">
            <a:off x="4475085" y="5192909"/>
            <a:ext cx="1381794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4200" i="1" dirty="0" smtClean="0"/>
              <a:t>}</a:t>
            </a:r>
            <a:endParaRPr lang="es-ES" sz="4200" i="1" dirty="0"/>
          </a:p>
        </p:txBody>
      </p:sp>
      <p:sp>
        <p:nvSpPr>
          <p:cNvPr id="21" name="20 Flecha en U"/>
          <p:cNvSpPr/>
          <p:nvPr/>
        </p:nvSpPr>
        <p:spPr>
          <a:xfrm rot="5400000">
            <a:off x="8160275" y="4760420"/>
            <a:ext cx="685664" cy="683947"/>
          </a:xfrm>
          <a:prstGeom prst="uturnArrow">
            <a:avLst>
              <a:gd name="adj1" fmla="val 15251"/>
              <a:gd name="adj2" fmla="val 17340"/>
              <a:gd name="adj3" fmla="val 18037"/>
              <a:gd name="adj4" fmla="val 44271"/>
              <a:gd name="adj5" fmla="val 75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tx1"/>
              </a:solidFill>
            </a:endParaRPr>
          </a:p>
        </p:txBody>
      </p:sp>
      <p:sp>
        <p:nvSpPr>
          <p:cNvPr id="25" name="24 Flecha en U"/>
          <p:cNvSpPr/>
          <p:nvPr/>
        </p:nvSpPr>
        <p:spPr>
          <a:xfrm rot="16200000">
            <a:off x="4362903" y="5474659"/>
            <a:ext cx="685664" cy="683947"/>
          </a:xfrm>
          <a:prstGeom prst="uturnArrow">
            <a:avLst>
              <a:gd name="adj1" fmla="val 15251"/>
              <a:gd name="adj2" fmla="val 17340"/>
              <a:gd name="adj3" fmla="val 18037"/>
              <a:gd name="adj4" fmla="val 44271"/>
              <a:gd name="adj5" fmla="val 75000"/>
            </a:avLst>
          </a:prstGeom>
          <a:scene3d>
            <a:camera prst="orthographicFront">
              <a:rot lat="10800000" lon="0" rev="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85949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3568" y="430534"/>
            <a:ext cx="7987965" cy="1054250"/>
          </a:xfrm>
        </p:spPr>
        <p:txBody>
          <a:bodyPr/>
          <a:lstStyle/>
          <a:p>
            <a:r>
              <a:rPr lang="es-ES" sz="4000" dirty="0" smtClean="0"/>
              <a:t>3.7. </a:t>
            </a:r>
            <a:r>
              <a:rPr lang="es-ES" sz="4000" dirty="0"/>
              <a:t>Análisis y diseño de circuitos secuenciales sincrónicos.</a:t>
            </a:r>
            <a:endParaRPr lang="es-CO" sz="4000" dirty="0"/>
          </a:p>
        </p:txBody>
      </p:sp>
      <p:sp>
        <p:nvSpPr>
          <p:cNvPr id="36" name="35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sp>
        <p:nvSpPr>
          <p:cNvPr id="6" name="5 Rectángulo"/>
          <p:cNvSpPr/>
          <p:nvPr/>
        </p:nvSpPr>
        <p:spPr>
          <a:xfrm>
            <a:off x="539552" y="3064892"/>
            <a:ext cx="2376264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400" b="1" i="1" dirty="0" smtClean="0"/>
              <a:t>Diseñar una máquina de estados que se comporte de la siguiente forma:</a:t>
            </a:r>
            <a:endParaRPr lang="es-ES" sz="2400" b="1" i="1" dirty="0"/>
          </a:p>
        </p:txBody>
      </p:sp>
      <p:grpSp>
        <p:nvGrpSpPr>
          <p:cNvPr id="4" name="3 Grupo"/>
          <p:cNvGrpSpPr/>
          <p:nvPr/>
        </p:nvGrpSpPr>
        <p:grpSpPr>
          <a:xfrm>
            <a:off x="5872908" y="2752360"/>
            <a:ext cx="675804" cy="801771"/>
            <a:chOff x="5940152" y="3717032"/>
            <a:chExt cx="1368152" cy="1368152"/>
          </a:xfrm>
          <a:solidFill>
            <a:schemeClr val="tx2">
              <a:lumMod val="60000"/>
              <a:lumOff val="40000"/>
            </a:schemeClr>
          </a:solidFill>
        </p:grpSpPr>
        <p:sp>
          <p:nvSpPr>
            <p:cNvPr id="3" name="2 Conector"/>
            <p:cNvSpPr/>
            <p:nvPr/>
          </p:nvSpPr>
          <p:spPr>
            <a:xfrm>
              <a:off x="5940152" y="3717032"/>
              <a:ext cx="1368152" cy="1368152"/>
            </a:xfrm>
            <a:prstGeom prst="flowChartConnector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8" name="7 Rectángulo"/>
            <p:cNvSpPr/>
            <p:nvPr/>
          </p:nvSpPr>
          <p:spPr>
            <a:xfrm>
              <a:off x="6088358" y="4139499"/>
              <a:ext cx="1071738" cy="630233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pPr algn="ctr"/>
              <a:r>
                <a:rPr lang="es-ES" b="1" i="1" dirty="0" smtClean="0"/>
                <a:t>001</a:t>
              </a:r>
              <a:endParaRPr lang="es-ES" b="1" i="1" dirty="0"/>
            </a:p>
          </p:txBody>
        </p:sp>
      </p:grpSp>
      <p:grpSp>
        <p:nvGrpSpPr>
          <p:cNvPr id="10" name="9 Grupo"/>
          <p:cNvGrpSpPr/>
          <p:nvPr/>
        </p:nvGrpSpPr>
        <p:grpSpPr>
          <a:xfrm>
            <a:off x="7568604" y="3299026"/>
            <a:ext cx="675804" cy="801771"/>
            <a:chOff x="5940152" y="3717032"/>
            <a:chExt cx="1368152" cy="1368152"/>
          </a:xfrm>
          <a:solidFill>
            <a:schemeClr val="tx2">
              <a:lumMod val="60000"/>
              <a:lumOff val="40000"/>
            </a:schemeClr>
          </a:solidFill>
        </p:grpSpPr>
        <p:sp>
          <p:nvSpPr>
            <p:cNvPr id="11" name="10 Conector"/>
            <p:cNvSpPr/>
            <p:nvPr/>
          </p:nvSpPr>
          <p:spPr>
            <a:xfrm>
              <a:off x="5940152" y="3717032"/>
              <a:ext cx="1368152" cy="1368152"/>
            </a:xfrm>
            <a:prstGeom prst="flowChartConnector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2" name="11 Rectángulo"/>
            <p:cNvSpPr/>
            <p:nvPr/>
          </p:nvSpPr>
          <p:spPr>
            <a:xfrm>
              <a:off x="6088360" y="4139499"/>
              <a:ext cx="1071738" cy="630233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pPr algn="ctr"/>
              <a:r>
                <a:rPr lang="es-ES" b="1" i="1" dirty="0" smtClean="0"/>
                <a:t>100</a:t>
              </a:r>
              <a:endParaRPr lang="es-ES" b="1" i="1" dirty="0"/>
            </a:p>
          </p:txBody>
        </p:sp>
      </p:grpSp>
      <p:grpSp>
        <p:nvGrpSpPr>
          <p:cNvPr id="13" name="12 Grupo"/>
          <p:cNvGrpSpPr/>
          <p:nvPr/>
        </p:nvGrpSpPr>
        <p:grpSpPr>
          <a:xfrm>
            <a:off x="3824188" y="3603680"/>
            <a:ext cx="675804" cy="801771"/>
            <a:chOff x="5940152" y="3717032"/>
            <a:chExt cx="1368152" cy="1368152"/>
          </a:xfrm>
          <a:solidFill>
            <a:schemeClr val="tx2">
              <a:lumMod val="60000"/>
              <a:lumOff val="40000"/>
            </a:schemeClr>
          </a:solidFill>
        </p:grpSpPr>
        <p:sp>
          <p:nvSpPr>
            <p:cNvPr id="14" name="13 Conector"/>
            <p:cNvSpPr/>
            <p:nvPr/>
          </p:nvSpPr>
          <p:spPr>
            <a:xfrm>
              <a:off x="5940152" y="3717032"/>
              <a:ext cx="1368152" cy="1368152"/>
            </a:xfrm>
            <a:prstGeom prst="flowChartConnector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5" name="14 Rectángulo"/>
            <p:cNvSpPr/>
            <p:nvPr/>
          </p:nvSpPr>
          <p:spPr>
            <a:xfrm>
              <a:off x="6088360" y="4139499"/>
              <a:ext cx="1071738" cy="630233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pPr algn="ctr"/>
              <a:r>
                <a:rPr lang="es-ES" b="1" i="1" dirty="0" smtClean="0"/>
                <a:t>011</a:t>
              </a:r>
              <a:endParaRPr lang="es-ES" b="1" i="1" dirty="0"/>
            </a:p>
          </p:txBody>
        </p:sp>
      </p:grpSp>
      <p:grpSp>
        <p:nvGrpSpPr>
          <p:cNvPr id="16" name="15 Grupo"/>
          <p:cNvGrpSpPr/>
          <p:nvPr/>
        </p:nvGrpSpPr>
        <p:grpSpPr>
          <a:xfrm>
            <a:off x="7118533" y="5114162"/>
            <a:ext cx="675804" cy="801771"/>
            <a:chOff x="5940152" y="3717032"/>
            <a:chExt cx="1368152" cy="1368152"/>
          </a:xfrm>
          <a:solidFill>
            <a:schemeClr val="tx2">
              <a:lumMod val="60000"/>
              <a:lumOff val="40000"/>
            </a:schemeClr>
          </a:solidFill>
        </p:grpSpPr>
        <p:sp>
          <p:nvSpPr>
            <p:cNvPr id="17" name="16 Conector"/>
            <p:cNvSpPr/>
            <p:nvPr/>
          </p:nvSpPr>
          <p:spPr>
            <a:xfrm>
              <a:off x="5940152" y="3717032"/>
              <a:ext cx="1368152" cy="1368152"/>
            </a:xfrm>
            <a:prstGeom prst="flowChartConnector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8" name="17 Rectángulo"/>
            <p:cNvSpPr/>
            <p:nvPr/>
          </p:nvSpPr>
          <p:spPr>
            <a:xfrm>
              <a:off x="6088360" y="4139499"/>
              <a:ext cx="1071738" cy="630233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pPr algn="ctr"/>
              <a:r>
                <a:rPr lang="es-ES" b="1" i="1" dirty="0" smtClean="0"/>
                <a:t>110</a:t>
              </a:r>
              <a:endParaRPr lang="es-ES" b="1" i="1" dirty="0"/>
            </a:p>
          </p:txBody>
        </p:sp>
      </p:grpSp>
      <p:grpSp>
        <p:nvGrpSpPr>
          <p:cNvPr id="19" name="18 Grupo"/>
          <p:cNvGrpSpPr/>
          <p:nvPr/>
        </p:nvGrpSpPr>
        <p:grpSpPr>
          <a:xfrm>
            <a:off x="5152828" y="5114161"/>
            <a:ext cx="675804" cy="801771"/>
            <a:chOff x="5940152" y="3717032"/>
            <a:chExt cx="1368152" cy="1368152"/>
          </a:xfrm>
          <a:solidFill>
            <a:schemeClr val="tx2">
              <a:lumMod val="60000"/>
              <a:lumOff val="40000"/>
            </a:schemeClr>
          </a:solidFill>
        </p:grpSpPr>
        <p:sp>
          <p:nvSpPr>
            <p:cNvPr id="20" name="19 Conector"/>
            <p:cNvSpPr/>
            <p:nvPr/>
          </p:nvSpPr>
          <p:spPr>
            <a:xfrm>
              <a:off x="5940152" y="3717032"/>
              <a:ext cx="1368152" cy="1368152"/>
            </a:xfrm>
            <a:prstGeom prst="flowChartConnector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1" name="20 Rectángulo"/>
            <p:cNvSpPr/>
            <p:nvPr/>
          </p:nvSpPr>
          <p:spPr>
            <a:xfrm>
              <a:off x="6088360" y="4139499"/>
              <a:ext cx="1071738" cy="630233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pPr algn="ctr"/>
              <a:r>
                <a:rPr lang="es-ES" b="1" i="1" dirty="0" smtClean="0"/>
                <a:t>010</a:t>
              </a:r>
              <a:endParaRPr lang="es-ES" b="1" i="1" dirty="0"/>
            </a:p>
          </p:txBody>
        </p:sp>
      </p:grpSp>
      <p:sp>
        <p:nvSpPr>
          <p:cNvPr id="32" name="31 Flecha curvada hacia arriba"/>
          <p:cNvSpPr/>
          <p:nvPr/>
        </p:nvSpPr>
        <p:spPr>
          <a:xfrm rot="10800000">
            <a:off x="5859462" y="2434930"/>
            <a:ext cx="749617" cy="369332"/>
          </a:xfrm>
          <a:prstGeom prst="curvedUpArrow">
            <a:avLst/>
          </a:prstGeom>
          <a:solidFill>
            <a:srgbClr val="281997"/>
          </a:solidFill>
          <a:ln>
            <a:solidFill>
              <a:srgbClr val="28199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tx1"/>
              </a:solidFill>
            </a:endParaRPr>
          </a:p>
        </p:txBody>
      </p:sp>
      <p:sp>
        <p:nvSpPr>
          <p:cNvPr id="33" name="32 Flecha derecha"/>
          <p:cNvSpPr/>
          <p:nvPr/>
        </p:nvSpPr>
        <p:spPr>
          <a:xfrm rot="9370833">
            <a:off x="4487267" y="3412127"/>
            <a:ext cx="1389176" cy="275482"/>
          </a:xfrm>
          <a:prstGeom prst="rightArrow">
            <a:avLst>
              <a:gd name="adj1" fmla="val 24944"/>
              <a:gd name="adj2" fmla="val 50649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7" name="36 Flecha curvada hacia arriba"/>
          <p:cNvSpPr/>
          <p:nvPr/>
        </p:nvSpPr>
        <p:spPr>
          <a:xfrm rot="7240581">
            <a:off x="3387364" y="3530934"/>
            <a:ext cx="749617" cy="369332"/>
          </a:xfrm>
          <a:prstGeom prst="curvedUpArrow">
            <a:avLst/>
          </a:prstGeom>
          <a:solidFill>
            <a:srgbClr val="281997"/>
          </a:solidFill>
          <a:ln>
            <a:solidFill>
              <a:srgbClr val="28199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tx1"/>
              </a:solidFill>
            </a:endParaRPr>
          </a:p>
        </p:txBody>
      </p:sp>
      <p:sp>
        <p:nvSpPr>
          <p:cNvPr id="38" name="37 Flecha derecha"/>
          <p:cNvSpPr/>
          <p:nvPr/>
        </p:nvSpPr>
        <p:spPr>
          <a:xfrm rot="3069117">
            <a:off x="4223494" y="4733327"/>
            <a:ext cx="1065090" cy="262599"/>
          </a:xfrm>
          <a:prstGeom prst="rightArrow">
            <a:avLst>
              <a:gd name="adj1" fmla="val 24944"/>
              <a:gd name="adj2" fmla="val 50649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9" name="38 Flecha curvada hacia arriba"/>
          <p:cNvSpPr/>
          <p:nvPr/>
        </p:nvSpPr>
        <p:spPr>
          <a:xfrm rot="1209083">
            <a:off x="4973920" y="5812158"/>
            <a:ext cx="749617" cy="369332"/>
          </a:xfrm>
          <a:prstGeom prst="curvedUp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tx1"/>
              </a:solidFill>
            </a:endParaRPr>
          </a:p>
        </p:txBody>
      </p:sp>
      <p:sp>
        <p:nvSpPr>
          <p:cNvPr id="40" name="39 Flecha derecha"/>
          <p:cNvSpPr/>
          <p:nvPr/>
        </p:nvSpPr>
        <p:spPr>
          <a:xfrm rot="19456151">
            <a:off x="5627527" y="4433367"/>
            <a:ext cx="2118839" cy="255185"/>
          </a:xfrm>
          <a:prstGeom prst="rightArrow">
            <a:avLst>
              <a:gd name="adj1" fmla="val 24944"/>
              <a:gd name="adj2" fmla="val 50649"/>
            </a:avLst>
          </a:prstGeom>
          <a:solidFill>
            <a:srgbClr val="281997"/>
          </a:solidFill>
          <a:ln>
            <a:solidFill>
              <a:srgbClr val="28199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1" name="40 Flecha curvada hacia arriba"/>
          <p:cNvSpPr/>
          <p:nvPr/>
        </p:nvSpPr>
        <p:spPr>
          <a:xfrm rot="19257827">
            <a:off x="7381472" y="5745156"/>
            <a:ext cx="749617" cy="369332"/>
          </a:xfrm>
          <a:prstGeom prst="curvedUpArrow">
            <a:avLst/>
          </a:prstGeom>
          <a:solidFill>
            <a:srgbClr val="281997"/>
          </a:solidFill>
          <a:ln>
            <a:solidFill>
              <a:srgbClr val="28199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tx1"/>
              </a:solidFill>
            </a:endParaRPr>
          </a:p>
        </p:txBody>
      </p:sp>
      <p:sp>
        <p:nvSpPr>
          <p:cNvPr id="42" name="41 Flecha derecha"/>
          <p:cNvSpPr/>
          <p:nvPr/>
        </p:nvSpPr>
        <p:spPr>
          <a:xfrm rot="10800000">
            <a:off x="5927279" y="5406306"/>
            <a:ext cx="1114027" cy="262599"/>
          </a:xfrm>
          <a:prstGeom prst="rightArrow">
            <a:avLst>
              <a:gd name="adj1" fmla="val 24944"/>
              <a:gd name="adj2" fmla="val 50649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3" name="42 Flecha derecha"/>
          <p:cNvSpPr/>
          <p:nvPr/>
        </p:nvSpPr>
        <p:spPr>
          <a:xfrm rot="6230050">
            <a:off x="7244590" y="4492416"/>
            <a:ext cx="944358" cy="289499"/>
          </a:xfrm>
          <a:prstGeom prst="rightArrow">
            <a:avLst>
              <a:gd name="adj1" fmla="val 24944"/>
              <a:gd name="adj2" fmla="val 50649"/>
            </a:avLst>
          </a:prstGeom>
          <a:solidFill>
            <a:srgbClr val="281997"/>
          </a:solidFill>
          <a:ln>
            <a:solidFill>
              <a:srgbClr val="28199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4" name="43 Flecha derecha"/>
          <p:cNvSpPr/>
          <p:nvPr/>
        </p:nvSpPr>
        <p:spPr>
          <a:xfrm rot="11893664">
            <a:off x="6646274" y="3245497"/>
            <a:ext cx="919842" cy="297320"/>
          </a:xfrm>
          <a:prstGeom prst="rightArrow">
            <a:avLst>
              <a:gd name="adj1" fmla="val 24944"/>
              <a:gd name="adj2" fmla="val 50649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5" name="44 Rectángulo"/>
          <p:cNvSpPr/>
          <p:nvPr/>
        </p:nvSpPr>
        <p:spPr>
          <a:xfrm>
            <a:off x="5729300" y="2151906"/>
            <a:ext cx="100294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b="1" i="1" dirty="0" smtClean="0">
                <a:solidFill>
                  <a:srgbClr val="281997"/>
                </a:solidFill>
                <a:latin typeface="Arial Black" pitchFamily="34" charset="0"/>
                <a:cs typeface="Aharoni" pitchFamily="2" charset="-79"/>
              </a:rPr>
              <a:t>X = 0</a:t>
            </a:r>
            <a:endParaRPr lang="es-ES" b="1" i="1" dirty="0">
              <a:solidFill>
                <a:srgbClr val="281997"/>
              </a:solidFill>
              <a:latin typeface="Arial Black" pitchFamily="34" charset="0"/>
              <a:cs typeface="Aharoni" pitchFamily="2" charset="-79"/>
            </a:endParaRPr>
          </a:p>
        </p:txBody>
      </p:sp>
      <p:sp>
        <p:nvSpPr>
          <p:cNvPr id="46" name="45 Rectángulo"/>
          <p:cNvSpPr/>
          <p:nvPr/>
        </p:nvSpPr>
        <p:spPr>
          <a:xfrm rot="1096599">
            <a:off x="6653988" y="3082067"/>
            <a:ext cx="115212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b="1" i="1" dirty="0" smtClean="0">
                <a:solidFill>
                  <a:srgbClr val="FF0000"/>
                </a:solidFill>
                <a:latin typeface="Arial Black" pitchFamily="34" charset="0"/>
              </a:rPr>
              <a:t>X = 1</a:t>
            </a:r>
            <a:endParaRPr lang="es-ES" b="1" i="1" dirty="0">
              <a:solidFill>
                <a:srgbClr val="FF0000"/>
              </a:solidFill>
              <a:latin typeface="Arial Black" pitchFamily="34" charset="0"/>
            </a:endParaRPr>
          </a:p>
        </p:txBody>
      </p:sp>
      <p:sp>
        <p:nvSpPr>
          <p:cNvPr id="47" name="46 Rectángulo"/>
          <p:cNvSpPr/>
          <p:nvPr/>
        </p:nvSpPr>
        <p:spPr>
          <a:xfrm rot="20062726">
            <a:off x="4519042" y="3228365"/>
            <a:ext cx="115212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b="1" i="1" dirty="0" smtClean="0">
                <a:solidFill>
                  <a:srgbClr val="FF0000"/>
                </a:solidFill>
                <a:latin typeface="Arial Black" pitchFamily="34" charset="0"/>
              </a:rPr>
              <a:t>X = 1</a:t>
            </a:r>
            <a:endParaRPr lang="es-ES" b="1" i="1" dirty="0">
              <a:solidFill>
                <a:srgbClr val="FF0000"/>
              </a:solidFill>
              <a:latin typeface="Arial Black" pitchFamily="34" charset="0"/>
            </a:endParaRPr>
          </a:p>
        </p:txBody>
      </p:sp>
      <p:sp>
        <p:nvSpPr>
          <p:cNvPr id="48" name="47 Rectángulo"/>
          <p:cNvSpPr/>
          <p:nvPr/>
        </p:nvSpPr>
        <p:spPr>
          <a:xfrm>
            <a:off x="5940152" y="5551140"/>
            <a:ext cx="115212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b="1" i="1" dirty="0" smtClean="0">
                <a:solidFill>
                  <a:srgbClr val="FF0000"/>
                </a:solidFill>
                <a:latin typeface="Arial Black" pitchFamily="34" charset="0"/>
              </a:rPr>
              <a:t>X = 1</a:t>
            </a:r>
            <a:endParaRPr lang="es-ES" b="1" i="1" dirty="0">
              <a:solidFill>
                <a:srgbClr val="FF0000"/>
              </a:solidFill>
              <a:latin typeface="Arial Black" pitchFamily="34" charset="0"/>
            </a:endParaRPr>
          </a:p>
        </p:txBody>
      </p:sp>
      <p:sp>
        <p:nvSpPr>
          <p:cNvPr id="49" name="48 Rectángulo"/>
          <p:cNvSpPr/>
          <p:nvPr/>
        </p:nvSpPr>
        <p:spPr>
          <a:xfrm rot="1006072">
            <a:off x="4533214" y="6088853"/>
            <a:ext cx="115212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b="1" i="1" dirty="0" smtClean="0">
                <a:solidFill>
                  <a:srgbClr val="FF0000"/>
                </a:solidFill>
                <a:latin typeface="Arial Black" pitchFamily="34" charset="0"/>
              </a:rPr>
              <a:t>X = 1</a:t>
            </a:r>
            <a:endParaRPr lang="es-ES" b="1" i="1" dirty="0">
              <a:solidFill>
                <a:srgbClr val="FF0000"/>
              </a:solidFill>
              <a:latin typeface="Arial Black" pitchFamily="34" charset="0"/>
            </a:endParaRPr>
          </a:p>
        </p:txBody>
      </p:sp>
      <p:sp>
        <p:nvSpPr>
          <p:cNvPr id="50" name="49 Rectángulo"/>
          <p:cNvSpPr/>
          <p:nvPr/>
        </p:nvSpPr>
        <p:spPr>
          <a:xfrm rot="3005757">
            <a:off x="3942978" y="4741044"/>
            <a:ext cx="115212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b="1" i="1" dirty="0" smtClean="0">
                <a:solidFill>
                  <a:srgbClr val="FF0000"/>
                </a:solidFill>
                <a:latin typeface="Arial Black" pitchFamily="34" charset="0"/>
              </a:rPr>
              <a:t>X = 1</a:t>
            </a:r>
            <a:endParaRPr lang="es-ES" b="1" i="1" dirty="0">
              <a:solidFill>
                <a:srgbClr val="FF0000"/>
              </a:solidFill>
              <a:latin typeface="Arial Black" pitchFamily="34" charset="0"/>
            </a:endParaRPr>
          </a:p>
        </p:txBody>
      </p:sp>
      <p:sp>
        <p:nvSpPr>
          <p:cNvPr id="51" name="50 Rectángulo"/>
          <p:cNvSpPr/>
          <p:nvPr/>
        </p:nvSpPr>
        <p:spPr>
          <a:xfrm rot="19449576">
            <a:off x="5945324" y="4361443"/>
            <a:ext cx="100294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b="1" i="1" dirty="0" smtClean="0">
                <a:solidFill>
                  <a:srgbClr val="281997"/>
                </a:solidFill>
                <a:latin typeface="Arial Black" pitchFamily="34" charset="0"/>
                <a:cs typeface="Aharoni" pitchFamily="2" charset="-79"/>
              </a:rPr>
              <a:t>X = 0</a:t>
            </a:r>
            <a:endParaRPr lang="es-ES" b="1" i="1" dirty="0">
              <a:solidFill>
                <a:srgbClr val="281997"/>
              </a:solidFill>
              <a:latin typeface="Arial Black" pitchFamily="34" charset="0"/>
              <a:cs typeface="Aharoni" pitchFamily="2" charset="-79"/>
            </a:endParaRPr>
          </a:p>
        </p:txBody>
      </p:sp>
      <p:sp>
        <p:nvSpPr>
          <p:cNvPr id="52" name="51 Rectángulo"/>
          <p:cNvSpPr/>
          <p:nvPr/>
        </p:nvSpPr>
        <p:spPr>
          <a:xfrm rot="17087024">
            <a:off x="7488268" y="4582711"/>
            <a:ext cx="100294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b="1" i="1" dirty="0" smtClean="0">
                <a:solidFill>
                  <a:srgbClr val="281997"/>
                </a:solidFill>
                <a:latin typeface="Arial Black" pitchFamily="34" charset="0"/>
                <a:cs typeface="Aharoni" pitchFamily="2" charset="-79"/>
              </a:rPr>
              <a:t>X = 0</a:t>
            </a:r>
            <a:endParaRPr lang="es-ES" b="1" i="1" dirty="0">
              <a:solidFill>
                <a:srgbClr val="281997"/>
              </a:solidFill>
              <a:latin typeface="Arial Black" pitchFamily="34" charset="0"/>
              <a:cs typeface="Aharoni" pitchFamily="2" charset="-79"/>
            </a:endParaRPr>
          </a:p>
        </p:txBody>
      </p:sp>
      <p:sp>
        <p:nvSpPr>
          <p:cNvPr id="53" name="52 Rectángulo"/>
          <p:cNvSpPr/>
          <p:nvPr/>
        </p:nvSpPr>
        <p:spPr>
          <a:xfrm rot="19331600">
            <a:off x="7438442" y="6000183"/>
            <a:ext cx="100294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b="1" i="1" dirty="0" smtClean="0">
                <a:solidFill>
                  <a:srgbClr val="281997"/>
                </a:solidFill>
                <a:latin typeface="Arial Black" pitchFamily="34" charset="0"/>
                <a:cs typeface="Aharoni" pitchFamily="2" charset="-79"/>
              </a:rPr>
              <a:t>X = 0</a:t>
            </a:r>
            <a:endParaRPr lang="es-ES" b="1" i="1" dirty="0">
              <a:solidFill>
                <a:srgbClr val="281997"/>
              </a:solidFill>
              <a:latin typeface="Arial Black" pitchFamily="34" charset="0"/>
              <a:cs typeface="Aharoni" pitchFamily="2" charset="-79"/>
            </a:endParaRPr>
          </a:p>
        </p:txBody>
      </p:sp>
      <p:sp>
        <p:nvSpPr>
          <p:cNvPr id="54" name="53 Rectángulo"/>
          <p:cNvSpPr/>
          <p:nvPr/>
        </p:nvSpPr>
        <p:spPr>
          <a:xfrm rot="19266279">
            <a:off x="3040905" y="3265838"/>
            <a:ext cx="100294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b="1" i="1" dirty="0" smtClean="0">
                <a:solidFill>
                  <a:srgbClr val="281997"/>
                </a:solidFill>
                <a:latin typeface="Arial Black" pitchFamily="34" charset="0"/>
                <a:cs typeface="Aharoni" pitchFamily="2" charset="-79"/>
              </a:rPr>
              <a:t>X = 0</a:t>
            </a:r>
            <a:endParaRPr lang="es-ES" b="1" i="1" dirty="0">
              <a:solidFill>
                <a:srgbClr val="281997"/>
              </a:solidFill>
              <a:latin typeface="Arial Black" pitchFamily="34" charset="0"/>
              <a:cs typeface="Aharoni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562135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3568" y="430534"/>
            <a:ext cx="7987965" cy="1054250"/>
          </a:xfrm>
        </p:spPr>
        <p:txBody>
          <a:bodyPr/>
          <a:lstStyle/>
          <a:p>
            <a:r>
              <a:rPr lang="es-ES" sz="4000" dirty="0" smtClean="0"/>
              <a:t>3.7. </a:t>
            </a:r>
            <a:r>
              <a:rPr lang="es-ES" sz="4000" dirty="0"/>
              <a:t>Análisis y diseño de circuitos secuenciales sincrónicos.</a:t>
            </a:r>
            <a:endParaRPr lang="es-CO" sz="4000" dirty="0"/>
          </a:p>
        </p:txBody>
      </p:sp>
      <p:sp>
        <p:nvSpPr>
          <p:cNvPr id="36" name="35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graphicFrame>
        <p:nvGraphicFramePr>
          <p:cNvPr id="3" name="2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4570472"/>
              </p:ext>
            </p:extLst>
          </p:nvPr>
        </p:nvGraphicFramePr>
        <p:xfrm>
          <a:off x="1125148" y="2559678"/>
          <a:ext cx="7131948" cy="349971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83717"/>
                <a:gridCol w="640561"/>
                <a:gridCol w="643940"/>
                <a:gridCol w="732891"/>
                <a:gridCol w="666264"/>
                <a:gridCol w="599638"/>
                <a:gridCol w="685890"/>
                <a:gridCol w="366034"/>
                <a:gridCol w="388912"/>
                <a:gridCol w="343157"/>
                <a:gridCol w="394631"/>
                <a:gridCol w="320279"/>
                <a:gridCol w="366034"/>
              </a:tblGrid>
              <a:tr h="651735"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b="1" u="none" strike="noStrike" dirty="0" smtClean="0">
                          <a:ln>
                            <a:noFill/>
                          </a:ln>
                          <a:effectLst/>
                        </a:rPr>
                        <a:t>Entrada</a:t>
                      </a:r>
                    </a:p>
                    <a:p>
                      <a:pPr algn="ctr" fontAlgn="b"/>
                      <a:r>
                        <a:rPr lang="es-CO" sz="2000" b="1" u="none" strike="noStrike" dirty="0" smtClean="0">
                          <a:ln>
                            <a:noFill/>
                          </a:ln>
                          <a:effectLst/>
                        </a:rPr>
                        <a:t> </a:t>
                      </a:r>
                      <a:endParaRPr lang="es-CO" sz="2000" b="1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s-CO" sz="2000" b="1" u="none" strike="noStrike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Estado Actual</a:t>
                      </a:r>
                      <a:endParaRPr lang="es-CO" sz="2000" b="1" i="0" u="none" strike="noStrike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  <a:p>
                      <a:pPr algn="ctr" fontAlgn="b"/>
                      <a:r>
                        <a:rPr lang="es-CO" sz="2000" b="1" u="none" strike="noStrike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 </a:t>
                      </a:r>
                      <a:endParaRPr lang="es-CO" sz="2000" b="1" i="0" u="none" strike="noStrike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pPr algn="l" fontAlgn="b"/>
                      <a:endParaRPr lang="es-CO" sz="1800" b="1" i="0" u="none" strike="noStrike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pPr algn="l" fontAlgn="b"/>
                      <a:endParaRPr lang="es-CO" sz="1800" b="1" i="0" u="none" strike="noStrike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s-CO" sz="2000" b="1" u="none" strike="noStrike" dirty="0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Estado siguiente</a:t>
                      </a:r>
                      <a:endParaRPr lang="es-CO" sz="2000" b="1" i="0" u="none" strike="noStrike" dirty="0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  <a:p>
                      <a:pPr algn="ctr" fontAlgn="b"/>
                      <a:r>
                        <a:rPr lang="es-CO" sz="2000" b="1" u="none" strike="noStrike" dirty="0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  </a:t>
                      </a:r>
                      <a:endParaRPr lang="es-CO" sz="2000" b="1" i="0" u="none" strike="noStrike" dirty="0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pPr algn="l" fontAlgn="b"/>
                      <a:endParaRPr lang="es-CO" sz="1800" b="1" i="0" u="none" strike="noStrike" dirty="0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pPr algn="l" fontAlgn="b"/>
                      <a:endParaRPr lang="es-CO" sz="1800" b="1" i="0" u="none" strike="noStrike" dirty="0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gridSpan="6">
                  <a:txBody>
                    <a:bodyPr/>
                    <a:lstStyle/>
                    <a:p>
                      <a:pPr algn="ctr" fontAlgn="b"/>
                      <a:r>
                        <a:rPr lang="es-CO" sz="1800" b="1" u="none" strike="noStrike" dirty="0" smtClean="0">
                          <a:ln>
                            <a:noFill/>
                          </a:ln>
                          <a:effectLst/>
                        </a:rPr>
                        <a:t>Excitación</a:t>
                      </a:r>
                      <a:r>
                        <a:rPr lang="es-CO" sz="1800" b="1" u="none" strike="noStrike" baseline="0" dirty="0" smtClean="0">
                          <a:ln>
                            <a:noFill/>
                          </a:ln>
                          <a:effectLst/>
                        </a:rPr>
                        <a:t> de los </a:t>
                      </a:r>
                      <a:r>
                        <a:rPr lang="es-CO" sz="1800" b="1" u="none" strike="noStrike" dirty="0" smtClean="0">
                          <a:ln>
                            <a:noFill/>
                          </a:ln>
                          <a:effectLst/>
                        </a:rPr>
                        <a:t>FF</a:t>
                      </a:r>
                      <a:endParaRPr lang="es-CO" sz="1800" b="1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  <a:p>
                      <a:pPr algn="ctr" fontAlgn="b"/>
                      <a:r>
                        <a:rPr lang="es-CO" sz="2000" b="1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2000" b="1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pPr algn="l" fontAlgn="b"/>
                      <a:endParaRPr lang="es-CO" sz="1800" b="1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pPr algn="l" fontAlgn="b"/>
                      <a:endParaRPr lang="es-CO" sz="1800" b="1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pPr algn="l" fontAlgn="b"/>
                      <a:endParaRPr lang="es-CO" sz="1800" b="1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pPr algn="l" fontAlgn="b"/>
                      <a:endParaRPr lang="es-CO" sz="1800" b="1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pPr algn="l" fontAlgn="b"/>
                      <a:endParaRPr lang="es-CO" sz="1800" b="1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68118"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b="1" u="none" strike="noStrike" dirty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2000" b="1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b="1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A</a:t>
                      </a:r>
                      <a:endParaRPr lang="es-CO" sz="2000" b="1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b="1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B</a:t>
                      </a:r>
                      <a:endParaRPr lang="es-CO" sz="2000" b="1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b="1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C</a:t>
                      </a:r>
                      <a:endParaRPr lang="es-CO" sz="2000" b="1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b="1" u="none" strike="noStrike" dirty="0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A</a:t>
                      </a:r>
                      <a:endParaRPr lang="es-CO" sz="2000" b="1" i="0" u="none" strike="noStrike" dirty="0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b="1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B</a:t>
                      </a:r>
                      <a:endParaRPr lang="es-CO" sz="2000" b="1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b="1" u="none" strike="noStrike" dirty="0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C</a:t>
                      </a:r>
                      <a:endParaRPr lang="es-CO" sz="2000" b="1" i="0" u="none" strike="noStrike" dirty="0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2000" b="1" u="none" strike="noStrike" dirty="0" err="1">
                          <a:ln>
                            <a:noFill/>
                          </a:ln>
                          <a:effectLst/>
                        </a:rPr>
                        <a:t>Ja</a:t>
                      </a:r>
                      <a:endParaRPr lang="es-CO" sz="2000" b="1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2000" b="1" u="none" strike="noStrike">
                          <a:ln>
                            <a:noFill/>
                          </a:ln>
                          <a:effectLst/>
                        </a:rPr>
                        <a:t>Ka</a:t>
                      </a:r>
                      <a:endParaRPr lang="es-CO" sz="2000" b="1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2000" b="1" u="none" strike="noStrike">
                          <a:ln>
                            <a:noFill/>
                          </a:ln>
                          <a:effectLst/>
                        </a:rPr>
                        <a:t>Jb</a:t>
                      </a:r>
                      <a:endParaRPr lang="es-CO" sz="2000" b="1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2000" b="1" u="none" strike="noStrike">
                          <a:ln>
                            <a:noFill/>
                          </a:ln>
                          <a:effectLst/>
                        </a:rPr>
                        <a:t>Kb</a:t>
                      </a:r>
                      <a:endParaRPr lang="es-CO" sz="2000" b="1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2000" b="1" u="none" strike="noStrike">
                          <a:ln>
                            <a:noFill/>
                          </a:ln>
                          <a:effectLst/>
                        </a:rPr>
                        <a:t>Jc</a:t>
                      </a:r>
                      <a:endParaRPr lang="es-CO" sz="2000" b="1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2000" b="1" u="none" strike="noStrike" dirty="0">
                          <a:ln>
                            <a:noFill/>
                          </a:ln>
                          <a:effectLst/>
                        </a:rPr>
                        <a:t>Kc</a:t>
                      </a:r>
                      <a:endParaRPr lang="es-CO" sz="2000" b="1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4228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 dirty="0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4228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4228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4228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4228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4228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4228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4228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4228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4228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 dirty="0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 dirty="0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 dirty="0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  <p:sp>
        <p:nvSpPr>
          <p:cNvPr id="7" name="6 Rectángulo"/>
          <p:cNvSpPr/>
          <p:nvPr/>
        </p:nvSpPr>
        <p:spPr>
          <a:xfrm>
            <a:off x="755576" y="6203404"/>
            <a:ext cx="684076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400" b="1" i="1" dirty="0" smtClean="0"/>
              <a:t>¿Cómo llenar estos espacios?</a:t>
            </a:r>
            <a:endParaRPr lang="es-ES" sz="2400" b="1" i="1" dirty="0"/>
          </a:p>
        </p:txBody>
      </p:sp>
      <p:sp>
        <p:nvSpPr>
          <p:cNvPr id="8" name="7 Rectángulo"/>
          <p:cNvSpPr/>
          <p:nvPr/>
        </p:nvSpPr>
        <p:spPr>
          <a:xfrm>
            <a:off x="1164463" y="2069331"/>
            <a:ext cx="684076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400" b="1" i="1" dirty="0" smtClean="0"/>
              <a:t>Tabla de Estados</a:t>
            </a:r>
            <a:endParaRPr lang="es-ES" sz="2400" b="1" i="1" dirty="0"/>
          </a:p>
        </p:txBody>
      </p:sp>
      <p:sp>
        <p:nvSpPr>
          <p:cNvPr id="4" name="3 Flecha doblada hacia arriba"/>
          <p:cNvSpPr/>
          <p:nvPr/>
        </p:nvSpPr>
        <p:spPr>
          <a:xfrm>
            <a:off x="6314660" y="6161013"/>
            <a:ext cx="850392" cy="330423"/>
          </a:xfrm>
          <a:prstGeom prst="bent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473397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3568" y="430534"/>
            <a:ext cx="7987965" cy="1054250"/>
          </a:xfrm>
        </p:spPr>
        <p:txBody>
          <a:bodyPr/>
          <a:lstStyle/>
          <a:p>
            <a:r>
              <a:rPr lang="es-ES" sz="4000" dirty="0" smtClean="0"/>
              <a:t>3.7. </a:t>
            </a:r>
            <a:r>
              <a:rPr lang="es-ES" sz="4000" dirty="0"/>
              <a:t>Análisis y diseño de circuitos secuenciales sincrónicos.</a:t>
            </a:r>
            <a:endParaRPr lang="es-CO" sz="4000" dirty="0"/>
          </a:p>
        </p:txBody>
      </p:sp>
      <p:sp>
        <p:nvSpPr>
          <p:cNvPr id="36" name="35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graphicFrame>
        <p:nvGraphicFramePr>
          <p:cNvPr id="6" name="5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5000789"/>
              </p:ext>
            </p:extLst>
          </p:nvPr>
        </p:nvGraphicFramePr>
        <p:xfrm>
          <a:off x="429443" y="3789040"/>
          <a:ext cx="2232249" cy="144970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15135"/>
                <a:gridCol w="629608"/>
                <a:gridCol w="572371"/>
                <a:gridCol w="515135"/>
              </a:tblGrid>
              <a:tr h="311257"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b="1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Q</a:t>
                      </a:r>
                      <a:r>
                        <a:rPr lang="es-CO" sz="2000" b="1" i="0" u="none" strike="noStrike" baseline="-25000" dirty="0" err="1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</a:t>
                      </a:r>
                      <a:endParaRPr lang="es-CO" sz="20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Q</a:t>
                      </a:r>
                      <a:r>
                        <a:rPr lang="es-CO" sz="2000" b="1" i="0" u="none" strike="noStrike" baseline="-250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i+1</a:t>
                      </a:r>
                      <a:endParaRPr lang="es-CO" sz="20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b="1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J</a:t>
                      </a:r>
                      <a:endParaRPr lang="es-CO" sz="20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b="1" u="none" strike="noStrike" baseline="0" dirty="0" smtClean="0">
                          <a:effectLst/>
                        </a:rPr>
                        <a:t>K</a:t>
                      </a:r>
                      <a:endParaRPr lang="es-CO" sz="2000" b="1" u="none" strike="noStrike" baseline="-25000" dirty="0" smtClean="0">
                        <a:effectLst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228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228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228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X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228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X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6 Rectángulo"/>
          <p:cNvSpPr/>
          <p:nvPr/>
        </p:nvSpPr>
        <p:spPr>
          <a:xfrm>
            <a:off x="54918" y="5373216"/>
            <a:ext cx="3024336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200" b="1" i="1" dirty="0" smtClean="0"/>
              <a:t>Tabla de transición del </a:t>
            </a:r>
            <a:r>
              <a:rPr lang="es-ES" sz="2200" b="1" i="1" dirty="0" err="1" smtClean="0"/>
              <a:t>Flip-Flop</a:t>
            </a:r>
            <a:r>
              <a:rPr lang="es-ES" sz="2200" b="1" i="1" dirty="0" smtClean="0"/>
              <a:t> JK</a:t>
            </a:r>
            <a:endParaRPr lang="es-ES" sz="2200" b="1" i="1" dirty="0"/>
          </a:p>
        </p:txBody>
      </p:sp>
      <p:graphicFrame>
        <p:nvGraphicFramePr>
          <p:cNvPr id="8" name="7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6547048"/>
              </p:ext>
            </p:extLst>
          </p:nvPr>
        </p:nvGraphicFramePr>
        <p:xfrm>
          <a:off x="3203848" y="2852936"/>
          <a:ext cx="5760640" cy="374860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94571"/>
                <a:gridCol w="517396"/>
                <a:gridCol w="520125"/>
                <a:gridCol w="591973"/>
                <a:gridCol w="538157"/>
                <a:gridCol w="484342"/>
                <a:gridCol w="554009"/>
                <a:gridCol w="295654"/>
                <a:gridCol w="314133"/>
                <a:gridCol w="277176"/>
                <a:gridCol w="318753"/>
                <a:gridCol w="258697"/>
                <a:gridCol w="295654"/>
              </a:tblGrid>
              <a:tr h="603437"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b="1" u="none" strike="noStrike" dirty="0" smtClean="0">
                          <a:ln>
                            <a:noFill/>
                          </a:ln>
                          <a:effectLst/>
                        </a:rPr>
                        <a:t>Entrada</a:t>
                      </a:r>
                    </a:p>
                    <a:p>
                      <a:pPr algn="ctr" fontAlgn="b"/>
                      <a:r>
                        <a:rPr lang="es-CO" sz="2000" b="1" u="none" strike="noStrike" dirty="0" smtClean="0">
                          <a:ln>
                            <a:noFill/>
                          </a:ln>
                          <a:effectLst/>
                        </a:rPr>
                        <a:t> </a:t>
                      </a:r>
                      <a:endParaRPr lang="es-CO" sz="2000" b="1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s-CO" sz="2000" b="1" u="none" strike="noStrike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Estado Actual</a:t>
                      </a:r>
                      <a:endParaRPr lang="es-CO" sz="2000" b="1" i="0" u="none" strike="noStrike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  <a:p>
                      <a:pPr algn="ctr" fontAlgn="b"/>
                      <a:r>
                        <a:rPr lang="es-CO" sz="2000" b="1" u="none" strike="noStrike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 </a:t>
                      </a:r>
                      <a:endParaRPr lang="es-CO" sz="2000" b="1" i="0" u="none" strike="noStrike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pPr algn="l" fontAlgn="b"/>
                      <a:endParaRPr lang="es-CO" sz="1800" b="1" i="0" u="none" strike="noStrike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pPr algn="l" fontAlgn="b"/>
                      <a:endParaRPr lang="es-CO" sz="1800" b="1" i="0" u="none" strike="noStrike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s-CO" sz="2000" b="1" u="none" strike="noStrike" dirty="0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Estado siguiente</a:t>
                      </a:r>
                      <a:endParaRPr lang="es-CO" sz="2000" b="1" i="0" u="none" strike="noStrike" dirty="0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  <a:p>
                      <a:pPr algn="ctr" fontAlgn="b"/>
                      <a:r>
                        <a:rPr lang="es-CO" sz="2000" b="1" u="none" strike="noStrike" dirty="0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  </a:t>
                      </a:r>
                      <a:endParaRPr lang="es-CO" sz="2000" b="1" i="0" u="none" strike="noStrike" dirty="0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pPr algn="l" fontAlgn="b"/>
                      <a:endParaRPr lang="es-CO" sz="1800" b="1" i="0" u="none" strike="noStrike" dirty="0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pPr algn="l" fontAlgn="b"/>
                      <a:endParaRPr lang="es-CO" sz="1800" b="1" i="0" u="none" strike="noStrike" dirty="0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gridSpan="6">
                  <a:txBody>
                    <a:bodyPr/>
                    <a:lstStyle/>
                    <a:p>
                      <a:pPr algn="ctr" fontAlgn="b"/>
                      <a:r>
                        <a:rPr lang="es-CO" sz="1800" b="1" u="none" strike="noStrike" dirty="0" smtClean="0">
                          <a:ln>
                            <a:noFill/>
                          </a:ln>
                          <a:effectLst/>
                        </a:rPr>
                        <a:t>Excitación</a:t>
                      </a:r>
                      <a:r>
                        <a:rPr lang="es-CO" sz="1800" b="1" u="none" strike="noStrike" baseline="0" dirty="0" smtClean="0">
                          <a:ln>
                            <a:noFill/>
                          </a:ln>
                          <a:effectLst/>
                        </a:rPr>
                        <a:t> de los </a:t>
                      </a:r>
                      <a:r>
                        <a:rPr lang="es-CO" sz="1800" b="1" u="none" strike="noStrike" dirty="0" smtClean="0">
                          <a:ln>
                            <a:noFill/>
                          </a:ln>
                          <a:effectLst/>
                        </a:rPr>
                        <a:t>FF</a:t>
                      </a:r>
                      <a:endParaRPr lang="es-CO" sz="1800" b="1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  <a:p>
                      <a:pPr algn="ctr" fontAlgn="b"/>
                      <a:r>
                        <a:rPr lang="es-CO" sz="2000" b="1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2000" b="1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pPr algn="l" fontAlgn="b"/>
                      <a:endParaRPr lang="es-CO" sz="1800" b="1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pPr algn="l" fontAlgn="b"/>
                      <a:endParaRPr lang="es-CO" sz="1800" b="1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pPr algn="l" fontAlgn="b"/>
                      <a:endParaRPr lang="es-CO" sz="1800" b="1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pPr algn="l" fontAlgn="b"/>
                      <a:endParaRPr lang="es-CO" sz="1800" b="1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pPr algn="l" fontAlgn="b"/>
                      <a:endParaRPr lang="es-CO" sz="1800" b="1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91032">
                <a:tc>
                  <a:txBody>
                    <a:bodyPr/>
                    <a:lstStyle/>
                    <a:p>
                      <a:pPr algn="ctr" fontAlgn="b"/>
                      <a:r>
                        <a:rPr lang="es-CO" sz="1700" b="0" u="none" strike="noStrike" dirty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7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700" b="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A</a:t>
                      </a:r>
                      <a:endParaRPr lang="es-CO" sz="17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700" b="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B</a:t>
                      </a:r>
                      <a:endParaRPr lang="es-CO" sz="17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700" b="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C</a:t>
                      </a:r>
                      <a:endParaRPr lang="es-CO" sz="17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700" b="0" u="none" strike="noStrike" dirty="0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A</a:t>
                      </a:r>
                      <a:endParaRPr lang="es-CO" sz="1700" b="0" i="0" u="none" strike="noStrike" dirty="0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700" b="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B</a:t>
                      </a:r>
                      <a:endParaRPr lang="es-CO" sz="17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700" b="0" u="none" strike="noStrike" dirty="0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C</a:t>
                      </a:r>
                      <a:endParaRPr lang="es-CO" sz="1700" b="0" i="0" u="none" strike="noStrike" dirty="0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700" b="0" u="none" strike="noStrike" dirty="0" err="1">
                          <a:ln>
                            <a:noFill/>
                          </a:ln>
                          <a:effectLst/>
                        </a:rPr>
                        <a:t>Ja</a:t>
                      </a:r>
                      <a:endParaRPr lang="es-CO" sz="17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700" b="0" u="none" strike="noStrike">
                          <a:ln>
                            <a:noFill/>
                          </a:ln>
                          <a:effectLst/>
                        </a:rPr>
                        <a:t>Ka</a:t>
                      </a:r>
                      <a:endParaRPr lang="es-CO" sz="17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700" b="0" u="none" strike="noStrike">
                          <a:ln>
                            <a:noFill/>
                          </a:ln>
                          <a:effectLst/>
                        </a:rPr>
                        <a:t>Jb</a:t>
                      </a:r>
                      <a:endParaRPr lang="es-CO" sz="17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700" b="0" u="none" strike="noStrike">
                          <a:ln>
                            <a:noFill/>
                          </a:ln>
                          <a:effectLst/>
                        </a:rPr>
                        <a:t>Kb</a:t>
                      </a:r>
                      <a:endParaRPr lang="es-CO" sz="17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700" b="0" u="none" strike="noStrike">
                          <a:ln>
                            <a:noFill/>
                          </a:ln>
                          <a:effectLst/>
                        </a:rPr>
                        <a:t>Jc</a:t>
                      </a:r>
                      <a:endParaRPr lang="es-CO" sz="17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700" b="0" u="none" strike="noStrike" dirty="0">
                          <a:ln>
                            <a:noFill/>
                          </a:ln>
                          <a:effectLst/>
                        </a:rPr>
                        <a:t>Kc</a:t>
                      </a:r>
                      <a:endParaRPr lang="es-CO" sz="17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34589"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 dirty="0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 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 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34589"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34589"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34589"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34589"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34589"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34589"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34589"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34589"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34589"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 dirty="0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 dirty="0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 dirty="0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  <p:sp>
        <p:nvSpPr>
          <p:cNvPr id="11" name="10 Flecha curvada hacia abajo"/>
          <p:cNvSpPr/>
          <p:nvPr/>
        </p:nvSpPr>
        <p:spPr>
          <a:xfrm rot="21113696">
            <a:off x="1581124" y="2161757"/>
            <a:ext cx="6455641" cy="1071503"/>
          </a:xfrm>
          <a:prstGeom prst="curvedDownArrow">
            <a:avLst/>
          </a:prstGeom>
          <a:solidFill>
            <a:srgbClr val="281997"/>
          </a:solidFill>
          <a:ln>
            <a:solidFill>
              <a:srgbClr val="28199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09590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3568" y="430534"/>
            <a:ext cx="7987965" cy="1054250"/>
          </a:xfrm>
        </p:spPr>
        <p:txBody>
          <a:bodyPr/>
          <a:lstStyle/>
          <a:p>
            <a:r>
              <a:rPr lang="es-ES" sz="4000" dirty="0" smtClean="0"/>
              <a:t>3.7. </a:t>
            </a:r>
            <a:r>
              <a:rPr lang="es-ES" sz="4000" dirty="0"/>
              <a:t>Análisis y diseño de circuitos secuenciales sincrónicos.</a:t>
            </a:r>
            <a:endParaRPr lang="es-CO" sz="4000" dirty="0"/>
          </a:p>
        </p:txBody>
      </p:sp>
      <p:sp>
        <p:nvSpPr>
          <p:cNvPr id="36" name="35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graphicFrame>
        <p:nvGraphicFramePr>
          <p:cNvPr id="6" name="5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0387663"/>
              </p:ext>
            </p:extLst>
          </p:nvPr>
        </p:nvGraphicFramePr>
        <p:xfrm>
          <a:off x="429443" y="3789040"/>
          <a:ext cx="2232249" cy="144970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15135"/>
                <a:gridCol w="629608"/>
                <a:gridCol w="572371"/>
                <a:gridCol w="515135"/>
              </a:tblGrid>
              <a:tr h="311257"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b="1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Q</a:t>
                      </a:r>
                      <a:r>
                        <a:rPr lang="es-CO" sz="2000" b="1" i="0" u="none" strike="noStrike" baseline="-25000" dirty="0" err="1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</a:t>
                      </a:r>
                      <a:endParaRPr lang="es-CO" sz="20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Q</a:t>
                      </a:r>
                      <a:r>
                        <a:rPr lang="es-CO" sz="2000" b="1" i="0" u="none" strike="noStrike" baseline="-250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i+1</a:t>
                      </a:r>
                      <a:endParaRPr lang="es-CO" sz="20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b="1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J</a:t>
                      </a:r>
                      <a:endParaRPr lang="es-CO" sz="20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b="1" u="none" strike="noStrike" baseline="0" dirty="0" smtClean="0">
                          <a:effectLst/>
                        </a:rPr>
                        <a:t>K</a:t>
                      </a:r>
                      <a:endParaRPr lang="es-CO" sz="2000" b="1" u="none" strike="noStrike" baseline="-25000" dirty="0" smtClean="0">
                        <a:effectLst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228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228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228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X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228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X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6 Rectángulo"/>
          <p:cNvSpPr/>
          <p:nvPr/>
        </p:nvSpPr>
        <p:spPr>
          <a:xfrm>
            <a:off x="54918" y="5373216"/>
            <a:ext cx="3024336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200" b="1" i="1" dirty="0" smtClean="0"/>
              <a:t>Tabla de transición del </a:t>
            </a:r>
            <a:r>
              <a:rPr lang="es-ES" sz="2200" b="1" i="1" dirty="0" err="1" smtClean="0"/>
              <a:t>Flip-Flop</a:t>
            </a:r>
            <a:r>
              <a:rPr lang="es-ES" sz="2200" b="1" i="1" dirty="0" smtClean="0"/>
              <a:t> JK</a:t>
            </a:r>
            <a:endParaRPr lang="es-ES" sz="2200" b="1" i="1" dirty="0"/>
          </a:p>
        </p:txBody>
      </p:sp>
      <p:graphicFrame>
        <p:nvGraphicFramePr>
          <p:cNvPr id="8" name="7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9594673"/>
              </p:ext>
            </p:extLst>
          </p:nvPr>
        </p:nvGraphicFramePr>
        <p:xfrm>
          <a:off x="3203848" y="2852936"/>
          <a:ext cx="5760640" cy="374860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94571"/>
                <a:gridCol w="517396"/>
                <a:gridCol w="520125"/>
                <a:gridCol w="591973"/>
                <a:gridCol w="538157"/>
                <a:gridCol w="484342"/>
                <a:gridCol w="554009"/>
                <a:gridCol w="295654"/>
                <a:gridCol w="314133"/>
                <a:gridCol w="277176"/>
                <a:gridCol w="318753"/>
                <a:gridCol w="258697"/>
                <a:gridCol w="295654"/>
              </a:tblGrid>
              <a:tr h="603437"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b="1" u="none" strike="noStrike" dirty="0" smtClean="0">
                          <a:ln>
                            <a:noFill/>
                          </a:ln>
                          <a:effectLst/>
                        </a:rPr>
                        <a:t>Entrada</a:t>
                      </a:r>
                    </a:p>
                    <a:p>
                      <a:pPr algn="ctr" fontAlgn="b"/>
                      <a:r>
                        <a:rPr lang="es-CO" sz="2000" b="1" u="none" strike="noStrike" dirty="0" smtClean="0">
                          <a:ln>
                            <a:noFill/>
                          </a:ln>
                          <a:effectLst/>
                        </a:rPr>
                        <a:t> </a:t>
                      </a:r>
                      <a:endParaRPr lang="es-CO" sz="2000" b="1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s-CO" sz="2000" b="1" u="none" strike="noStrike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Estado Actual</a:t>
                      </a:r>
                      <a:endParaRPr lang="es-CO" sz="2000" b="1" i="0" u="none" strike="noStrike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  <a:p>
                      <a:pPr algn="ctr" fontAlgn="b"/>
                      <a:r>
                        <a:rPr lang="es-CO" sz="2000" b="1" u="none" strike="noStrike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 </a:t>
                      </a:r>
                      <a:endParaRPr lang="es-CO" sz="2000" b="1" i="0" u="none" strike="noStrike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pPr algn="l" fontAlgn="b"/>
                      <a:endParaRPr lang="es-CO" sz="1800" b="1" i="0" u="none" strike="noStrike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pPr algn="l" fontAlgn="b"/>
                      <a:endParaRPr lang="es-CO" sz="1800" b="1" i="0" u="none" strike="noStrike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s-CO" sz="2000" b="1" u="none" strike="noStrike" dirty="0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Estado siguiente</a:t>
                      </a:r>
                      <a:endParaRPr lang="es-CO" sz="2000" b="1" i="0" u="none" strike="noStrike" dirty="0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  <a:p>
                      <a:pPr algn="ctr" fontAlgn="b"/>
                      <a:r>
                        <a:rPr lang="es-CO" sz="2000" b="1" u="none" strike="noStrike" dirty="0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  </a:t>
                      </a:r>
                      <a:endParaRPr lang="es-CO" sz="2000" b="1" i="0" u="none" strike="noStrike" dirty="0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pPr algn="l" fontAlgn="b"/>
                      <a:endParaRPr lang="es-CO" sz="1800" b="1" i="0" u="none" strike="noStrike" dirty="0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pPr algn="l" fontAlgn="b"/>
                      <a:endParaRPr lang="es-CO" sz="1800" b="1" i="0" u="none" strike="noStrike" dirty="0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gridSpan="6">
                  <a:txBody>
                    <a:bodyPr/>
                    <a:lstStyle/>
                    <a:p>
                      <a:pPr algn="ctr" fontAlgn="b"/>
                      <a:r>
                        <a:rPr lang="es-CO" sz="1800" b="1" u="none" strike="noStrike" dirty="0" smtClean="0">
                          <a:ln>
                            <a:noFill/>
                          </a:ln>
                          <a:effectLst/>
                        </a:rPr>
                        <a:t>Excitación</a:t>
                      </a:r>
                      <a:r>
                        <a:rPr lang="es-CO" sz="1800" b="1" u="none" strike="noStrike" baseline="0" dirty="0" smtClean="0">
                          <a:ln>
                            <a:noFill/>
                          </a:ln>
                          <a:effectLst/>
                        </a:rPr>
                        <a:t> de los </a:t>
                      </a:r>
                      <a:r>
                        <a:rPr lang="es-CO" sz="1800" b="1" u="none" strike="noStrike" dirty="0" smtClean="0">
                          <a:ln>
                            <a:noFill/>
                          </a:ln>
                          <a:effectLst/>
                        </a:rPr>
                        <a:t>FF</a:t>
                      </a:r>
                      <a:endParaRPr lang="es-CO" sz="1800" b="1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  <a:p>
                      <a:pPr algn="ctr" fontAlgn="b"/>
                      <a:r>
                        <a:rPr lang="es-CO" sz="2000" b="1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2000" b="1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pPr algn="l" fontAlgn="b"/>
                      <a:endParaRPr lang="es-CO" sz="1800" b="1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pPr algn="l" fontAlgn="b"/>
                      <a:endParaRPr lang="es-CO" sz="1800" b="1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pPr algn="l" fontAlgn="b"/>
                      <a:endParaRPr lang="es-CO" sz="1800" b="1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pPr algn="l" fontAlgn="b"/>
                      <a:endParaRPr lang="es-CO" sz="1800" b="1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pPr algn="l" fontAlgn="b"/>
                      <a:endParaRPr lang="es-CO" sz="1800" b="1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91032">
                <a:tc>
                  <a:txBody>
                    <a:bodyPr/>
                    <a:lstStyle/>
                    <a:p>
                      <a:pPr algn="ctr" fontAlgn="b"/>
                      <a:r>
                        <a:rPr lang="es-CO" sz="1700" b="0" u="none" strike="noStrike" dirty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7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700" b="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A</a:t>
                      </a:r>
                      <a:endParaRPr lang="es-CO" sz="17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700" b="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B</a:t>
                      </a:r>
                      <a:endParaRPr lang="es-CO" sz="17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700" b="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C</a:t>
                      </a:r>
                      <a:endParaRPr lang="es-CO" sz="17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700" b="0" u="none" strike="noStrike" dirty="0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A</a:t>
                      </a:r>
                      <a:endParaRPr lang="es-CO" sz="1700" b="0" i="0" u="none" strike="noStrike" dirty="0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700" b="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B</a:t>
                      </a:r>
                      <a:endParaRPr lang="es-CO" sz="17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700" b="0" u="none" strike="noStrike" dirty="0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C</a:t>
                      </a:r>
                      <a:endParaRPr lang="es-CO" sz="1700" b="0" i="0" u="none" strike="noStrike" dirty="0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700" b="0" u="none" strike="noStrike" dirty="0" err="1">
                          <a:ln>
                            <a:noFill/>
                          </a:ln>
                          <a:effectLst/>
                        </a:rPr>
                        <a:t>Ja</a:t>
                      </a:r>
                      <a:endParaRPr lang="es-CO" sz="17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700" b="0" u="none" strike="noStrike">
                          <a:ln>
                            <a:noFill/>
                          </a:ln>
                          <a:effectLst/>
                        </a:rPr>
                        <a:t>Ka</a:t>
                      </a:r>
                      <a:endParaRPr lang="es-CO" sz="17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700" b="0" u="none" strike="noStrike">
                          <a:ln>
                            <a:noFill/>
                          </a:ln>
                          <a:effectLst/>
                        </a:rPr>
                        <a:t>Jb</a:t>
                      </a:r>
                      <a:endParaRPr lang="es-CO" sz="17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700" b="0" u="none" strike="noStrike">
                          <a:ln>
                            <a:noFill/>
                          </a:ln>
                          <a:effectLst/>
                        </a:rPr>
                        <a:t>Kb</a:t>
                      </a:r>
                      <a:endParaRPr lang="es-CO" sz="17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700" b="0" u="none" strike="noStrike">
                          <a:ln>
                            <a:noFill/>
                          </a:ln>
                          <a:effectLst/>
                        </a:rPr>
                        <a:t>Jc</a:t>
                      </a:r>
                      <a:endParaRPr lang="es-CO" sz="17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700" b="0" u="none" strike="noStrike" dirty="0">
                          <a:ln>
                            <a:noFill/>
                          </a:ln>
                          <a:effectLst/>
                        </a:rPr>
                        <a:t>Kc</a:t>
                      </a:r>
                      <a:endParaRPr lang="es-CO" sz="17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34589"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 dirty="0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 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 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34589"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34589"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34589"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34589"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34589"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34589"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34589"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34589"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34589"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 dirty="0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 dirty="0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 dirty="0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  <p:sp>
        <p:nvSpPr>
          <p:cNvPr id="11" name="10 Flecha curvada hacia abajo"/>
          <p:cNvSpPr/>
          <p:nvPr/>
        </p:nvSpPr>
        <p:spPr>
          <a:xfrm rot="847500">
            <a:off x="1319205" y="3755937"/>
            <a:ext cx="5353462" cy="1788614"/>
          </a:xfrm>
          <a:prstGeom prst="curvedDownArrow">
            <a:avLst/>
          </a:prstGeom>
          <a:solidFill>
            <a:srgbClr val="46B846"/>
          </a:solidFill>
          <a:ln>
            <a:solidFill>
              <a:srgbClr val="46B84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tx1"/>
              </a:solidFill>
            </a:endParaRPr>
          </a:p>
        </p:txBody>
      </p:sp>
      <p:sp>
        <p:nvSpPr>
          <p:cNvPr id="9" name="8 Flecha curvada hacia abajo"/>
          <p:cNvSpPr/>
          <p:nvPr/>
        </p:nvSpPr>
        <p:spPr>
          <a:xfrm rot="11759315">
            <a:off x="195498" y="5774180"/>
            <a:ext cx="4148252" cy="894029"/>
          </a:xfrm>
          <a:prstGeom prst="curvedDownArrow">
            <a:avLst/>
          </a:prstGeom>
          <a:solidFill>
            <a:srgbClr val="281997"/>
          </a:solidFill>
          <a:ln>
            <a:solidFill>
              <a:srgbClr val="28199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tx1"/>
              </a:solidFill>
            </a:endParaRPr>
          </a:p>
        </p:txBody>
      </p:sp>
      <p:sp>
        <p:nvSpPr>
          <p:cNvPr id="3" name="2 Elipse"/>
          <p:cNvSpPr/>
          <p:nvPr/>
        </p:nvSpPr>
        <p:spPr>
          <a:xfrm>
            <a:off x="3995936" y="5949280"/>
            <a:ext cx="504056" cy="49264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9 Elipse"/>
          <p:cNvSpPr/>
          <p:nvPr/>
        </p:nvSpPr>
        <p:spPr>
          <a:xfrm>
            <a:off x="389062" y="4895430"/>
            <a:ext cx="504056" cy="49264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2" name="11 Elipse"/>
          <p:cNvSpPr/>
          <p:nvPr/>
        </p:nvSpPr>
        <p:spPr>
          <a:xfrm>
            <a:off x="5652120" y="5960692"/>
            <a:ext cx="504056" cy="49264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3" name="12 Elipse"/>
          <p:cNvSpPr/>
          <p:nvPr/>
        </p:nvSpPr>
        <p:spPr>
          <a:xfrm>
            <a:off x="1043608" y="4880572"/>
            <a:ext cx="504056" cy="49264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4" name="13 Elipse"/>
          <p:cNvSpPr/>
          <p:nvPr/>
        </p:nvSpPr>
        <p:spPr>
          <a:xfrm>
            <a:off x="7134572" y="6003174"/>
            <a:ext cx="711696" cy="39971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5" name="14 Elipse"/>
          <p:cNvSpPr/>
          <p:nvPr/>
        </p:nvSpPr>
        <p:spPr>
          <a:xfrm>
            <a:off x="1691680" y="4895430"/>
            <a:ext cx="1008112" cy="39249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5" name="4 Conector recto de flecha"/>
          <p:cNvCxnSpPr/>
          <p:nvPr/>
        </p:nvCxnSpPr>
        <p:spPr>
          <a:xfrm>
            <a:off x="2622054" y="5091677"/>
            <a:ext cx="4512518" cy="1050980"/>
          </a:xfrm>
          <a:prstGeom prst="straightConnector1">
            <a:avLst/>
          </a:prstGeom>
          <a:ln w="57150">
            <a:solidFill>
              <a:srgbClr val="840A3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19705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3568" y="430534"/>
            <a:ext cx="7987965" cy="1054250"/>
          </a:xfrm>
        </p:spPr>
        <p:txBody>
          <a:bodyPr/>
          <a:lstStyle/>
          <a:p>
            <a:r>
              <a:rPr lang="es-ES" sz="4000" dirty="0" smtClean="0"/>
              <a:t>3.7. </a:t>
            </a:r>
            <a:r>
              <a:rPr lang="es-ES" sz="4000" dirty="0"/>
              <a:t>Análisis y diseño de circuitos secuenciales sincrónicos.</a:t>
            </a:r>
            <a:endParaRPr lang="es-CO" sz="4000" dirty="0"/>
          </a:p>
        </p:txBody>
      </p:sp>
      <p:sp>
        <p:nvSpPr>
          <p:cNvPr id="36" name="35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graphicFrame>
        <p:nvGraphicFramePr>
          <p:cNvPr id="6" name="5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1372403"/>
              </p:ext>
            </p:extLst>
          </p:nvPr>
        </p:nvGraphicFramePr>
        <p:xfrm>
          <a:off x="1115616" y="2708920"/>
          <a:ext cx="2088233" cy="14192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1247"/>
                <a:gridCol w="419406"/>
                <a:gridCol w="381278"/>
                <a:gridCol w="343151"/>
                <a:gridCol w="343151"/>
              </a:tblGrid>
              <a:tr h="258395">
                <a:tc>
                  <a:txBody>
                    <a:bodyPr/>
                    <a:lstStyle/>
                    <a:p>
                      <a:pPr algn="ctr" fontAlgn="b"/>
                      <a:r>
                        <a:rPr lang="es-CO" sz="13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CX\AB</a:t>
                      </a:r>
                      <a:endParaRPr lang="es-CO" sz="13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00</a:t>
                      </a:r>
                      <a:endParaRPr lang="es-CO" sz="18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01</a:t>
                      </a:r>
                      <a:endParaRPr lang="es-CO" sz="18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u="none" strike="noStrike" baseline="0" dirty="0" smtClean="0">
                          <a:effectLst/>
                        </a:rPr>
                        <a:t>11</a:t>
                      </a:r>
                      <a:endParaRPr lang="es-CO" sz="1800" b="1" u="none" strike="noStrike" baseline="-25000" dirty="0" smtClean="0">
                        <a:effectLst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u="none" strike="noStrike" baseline="0" dirty="0" smtClean="0">
                          <a:effectLst/>
                        </a:rPr>
                        <a:t>10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8395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00</a:t>
                      </a:r>
                      <a:endParaRPr lang="es-CO" sz="1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46B846"/>
                          </a:solidFill>
                          <a:effectLst/>
                          <a:latin typeface="+mn-lt"/>
                        </a:rPr>
                        <a:t>X</a:t>
                      </a:r>
                      <a:endParaRPr lang="es-CO" sz="1800" b="0" i="0" u="none" strike="noStrike" dirty="0">
                        <a:solidFill>
                          <a:srgbClr val="46B846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8395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01</a:t>
                      </a:r>
                      <a:endParaRPr lang="es-CO" sz="1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46B846"/>
                          </a:solidFill>
                          <a:effectLst/>
                          <a:latin typeface="+mn-lt"/>
                        </a:rPr>
                        <a:t>X</a:t>
                      </a:r>
                      <a:endParaRPr lang="es-CO" sz="1800" b="0" i="0" u="none" strike="noStrike" dirty="0">
                        <a:solidFill>
                          <a:srgbClr val="46B846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8395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11</a:t>
                      </a:r>
                      <a:endParaRPr lang="es-CO" sz="1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46B846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46B846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8395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10</a:t>
                      </a:r>
                      <a:endParaRPr lang="es-CO" sz="1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46B846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46B846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6 Rectángulo"/>
          <p:cNvSpPr/>
          <p:nvPr/>
        </p:nvSpPr>
        <p:spPr>
          <a:xfrm>
            <a:off x="467544" y="2113806"/>
            <a:ext cx="7992888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200" i="1" dirty="0" smtClean="0"/>
              <a:t>Funciones lógicas para las entradas J</a:t>
            </a:r>
            <a:r>
              <a:rPr lang="es-ES" sz="2200" i="1" baseline="-25000" dirty="0" smtClean="0"/>
              <a:t>i</a:t>
            </a:r>
            <a:r>
              <a:rPr lang="es-ES" sz="2200" i="1" dirty="0" smtClean="0"/>
              <a:t> K</a:t>
            </a:r>
            <a:r>
              <a:rPr lang="es-ES" sz="2200" i="1" baseline="-25000" dirty="0" smtClean="0"/>
              <a:t>i</a:t>
            </a:r>
            <a:r>
              <a:rPr lang="es-ES" sz="2200" i="1" dirty="0" smtClean="0"/>
              <a:t> de los </a:t>
            </a:r>
            <a:r>
              <a:rPr lang="es-ES" sz="2200" i="1" dirty="0" err="1" smtClean="0"/>
              <a:t>Flip-Flop</a:t>
            </a:r>
            <a:endParaRPr lang="es-ES" sz="2200" i="1" dirty="0"/>
          </a:p>
        </p:txBody>
      </p:sp>
      <p:graphicFrame>
        <p:nvGraphicFramePr>
          <p:cNvPr id="16" name="15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7491448"/>
              </p:ext>
            </p:extLst>
          </p:nvPr>
        </p:nvGraphicFramePr>
        <p:xfrm>
          <a:off x="6012159" y="2708920"/>
          <a:ext cx="2088233" cy="14192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1247"/>
                <a:gridCol w="419406"/>
                <a:gridCol w="381278"/>
                <a:gridCol w="343151"/>
                <a:gridCol w="343151"/>
              </a:tblGrid>
              <a:tr h="258395">
                <a:tc>
                  <a:txBody>
                    <a:bodyPr/>
                    <a:lstStyle/>
                    <a:p>
                      <a:pPr algn="ctr" fontAlgn="b"/>
                      <a:r>
                        <a:rPr lang="es-CO" sz="13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CX\AB</a:t>
                      </a:r>
                      <a:endParaRPr lang="es-CO" sz="13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00</a:t>
                      </a:r>
                      <a:endParaRPr lang="es-CO" sz="18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01</a:t>
                      </a:r>
                      <a:endParaRPr lang="es-CO" sz="18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u="none" strike="noStrike" baseline="0" dirty="0" smtClean="0">
                          <a:effectLst/>
                        </a:rPr>
                        <a:t>11</a:t>
                      </a:r>
                      <a:endParaRPr lang="es-CO" sz="1800" b="1" u="none" strike="noStrike" baseline="-25000" dirty="0" smtClean="0">
                        <a:effectLst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u="none" strike="noStrike" baseline="0" dirty="0" smtClean="0">
                          <a:effectLst/>
                        </a:rPr>
                        <a:t>10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8395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00</a:t>
                      </a:r>
                      <a:endParaRPr lang="es-CO" sz="1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46B846"/>
                          </a:solidFill>
                          <a:effectLst/>
                          <a:latin typeface="+mn-lt"/>
                        </a:rPr>
                        <a:t>X</a:t>
                      </a:r>
                      <a:endParaRPr lang="es-CO" sz="1800" b="0" i="0" u="none" strike="noStrike" dirty="0">
                        <a:solidFill>
                          <a:srgbClr val="46B846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X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8395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01</a:t>
                      </a:r>
                      <a:endParaRPr lang="es-CO" sz="1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46B846"/>
                          </a:solidFill>
                          <a:effectLst/>
                          <a:latin typeface="+mn-lt"/>
                        </a:rPr>
                        <a:t>X</a:t>
                      </a:r>
                      <a:endParaRPr lang="es-CO" sz="1800" b="0" i="0" u="none" strike="noStrike" dirty="0">
                        <a:solidFill>
                          <a:srgbClr val="46B846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X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8395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11</a:t>
                      </a:r>
                      <a:endParaRPr lang="es-CO" sz="1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X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46B846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46B846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8395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10</a:t>
                      </a:r>
                      <a:endParaRPr lang="es-CO" sz="1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X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46B846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46B846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7" name="16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0828549"/>
              </p:ext>
            </p:extLst>
          </p:nvPr>
        </p:nvGraphicFramePr>
        <p:xfrm>
          <a:off x="3563887" y="2708920"/>
          <a:ext cx="2088233" cy="14192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1247"/>
                <a:gridCol w="419406"/>
                <a:gridCol w="381278"/>
                <a:gridCol w="343151"/>
                <a:gridCol w="343151"/>
              </a:tblGrid>
              <a:tr h="258395">
                <a:tc>
                  <a:txBody>
                    <a:bodyPr/>
                    <a:lstStyle/>
                    <a:p>
                      <a:pPr algn="ctr" fontAlgn="b"/>
                      <a:r>
                        <a:rPr lang="es-CO" sz="13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CX\AB</a:t>
                      </a:r>
                      <a:endParaRPr lang="es-CO" sz="13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00</a:t>
                      </a:r>
                      <a:endParaRPr lang="es-CO" sz="18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01</a:t>
                      </a:r>
                      <a:endParaRPr lang="es-CO" sz="18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u="none" strike="noStrike" baseline="0" dirty="0" smtClean="0">
                          <a:effectLst/>
                        </a:rPr>
                        <a:t>11</a:t>
                      </a:r>
                      <a:endParaRPr lang="es-CO" sz="1800" b="1" u="none" strike="noStrike" baseline="-25000" dirty="0" smtClean="0">
                        <a:effectLst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u="none" strike="noStrike" baseline="0" dirty="0" smtClean="0">
                          <a:effectLst/>
                        </a:rPr>
                        <a:t>10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8395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00</a:t>
                      </a:r>
                      <a:endParaRPr lang="es-CO" sz="1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46B846"/>
                          </a:solidFill>
                          <a:effectLst/>
                          <a:latin typeface="+mn-lt"/>
                        </a:rPr>
                        <a:t>X</a:t>
                      </a:r>
                      <a:endParaRPr lang="es-CO" sz="1800" b="0" i="0" u="none" strike="noStrike" dirty="0">
                        <a:solidFill>
                          <a:srgbClr val="46B846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X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8395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01</a:t>
                      </a:r>
                      <a:endParaRPr lang="es-CO" sz="1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46B846"/>
                          </a:solidFill>
                          <a:effectLst/>
                          <a:latin typeface="+mn-lt"/>
                        </a:rPr>
                        <a:t>X</a:t>
                      </a:r>
                      <a:endParaRPr lang="es-CO" sz="1800" b="0" i="0" u="none" strike="noStrike" dirty="0">
                        <a:solidFill>
                          <a:srgbClr val="46B846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X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8395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11</a:t>
                      </a:r>
                      <a:endParaRPr lang="es-CO" sz="1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X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X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46B846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46B846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8395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10</a:t>
                      </a:r>
                      <a:endParaRPr lang="es-CO" sz="1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X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X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46B846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46B846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8" name="17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4205036"/>
              </p:ext>
            </p:extLst>
          </p:nvPr>
        </p:nvGraphicFramePr>
        <p:xfrm>
          <a:off x="1115616" y="4819248"/>
          <a:ext cx="2088233" cy="14192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1247"/>
                <a:gridCol w="419406"/>
                <a:gridCol w="381278"/>
                <a:gridCol w="343151"/>
                <a:gridCol w="343151"/>
              </a:tblGrid>
              <a:tr h="258395">
                <a:tc>
                  <a:txBody>
                    <a:bodyPr/>
                    <a:lstStyle/>
                    <a:p>
                      <a:pPr algn="ctr" fontAlgn="b"/>
                      <a:r>
                        <a:rPr lang="es-CO" sz="13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CX\AB</a:t>
                      </a:r>
                      <a:endParaRPr lang="es-CO" sz="13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00</a:t>
                      </a:r>
                      <a:endParaRPr lang="es-CO" sz="18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01</a:t>
                      </a:r>
                      <a:endParaRPr lang="es-CO" sz="18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u="none" strike="noStrike" baseline="0" dirty="0" smtClean="0">
                          <a:effectLst/>
                        </a:rPr>
                        <a:t>11</a:t>
                      </a:r>
                      <a:endParaRPr lang="es-CO" sz="1800" b="1" u="none" strike="noStrike" baseline="-25000" dirty="0" smtClean="0">
                        <a:effectLst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u="none" strike="noStrike" baseline="0" dirty="0" smtClean="0">
                          <a:effectLst/>
                        </a:rPr>
                        <a:t>10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8395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00</a:t>
                      </a:r>
                      <a:endParaRPr lang="es-CO" sz="1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46B846"/>
                          </a:solidFill>
                          <a:effectLst/>
                          <a:latin typeface="+mn-lt"/>
                        </a:rPr>
                        <a:t>X</a:t>
                      </a:r>
                      <a:endParaRPr lang="es-CO" sz="1800" b="0" i="0" u="none" strike="noStrike" dirty="0">
                        <a:solidFill>
                          <a:srgbClr val="46B846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8395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01</a:t>
                      </a:r>
                      <a:endParaRPr lang="es-CO" sz="1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46B846"/>
                          </a:solidFill>
                          <a:effectLst/>
                          <a:latin typeface="+mn-lt"/>
                        </a:rPr>
                        <a:t>X</a:t>
                      </a:r>
                      <a:endParaRPr lang="es-CO" sz="1800" b="0" i="0" u="none" strike="noStrike" dirty="0">
                        <a:solidFill>
                          <a:srgbClr val="46B846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8395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11</a:t>
                      </a:r>
                      <a:endParaRPr lang="es-CO" sz="1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X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46B846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46B846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8395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10</a:t>
                      </a:r>
                      <a:endParaRPr lang="es-CO" sz="1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X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46B846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46B846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18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4806058"/>
              </p:ext>
            </p:extLst>
          </p:nvPr>
        </p:nvGraphicFramePr>
        <p:xfrm>
          <a:off x="6012159" y="4819248"/>
          <a:ext cx="2088233" cy="14192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1247"/>
                <a:gridCol w="419406"/>
                <a:gridCol w="381278"/>
                <a:gridCol w="343151"/>
                <a:gridCol w="343151"/>
              </a:tblGrid>
              <a:tr h="258395">
                <a:tc>
                  <a:txBody>
                    <a:bodyPr/>
                    <a:lstStyle/>
                    <a:p>
                      <a:pPr algn="ctr" fontAlgn="b"/>
                      <a:r>
                        <a:rPr lang="es-CO" sz="13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CX\AB</a:t>
                      </a:r>
                      <a:endParaRPr lang="es-CO" sz="13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00</a:t>
                      </a:r>
                      <a:endParaRPr lang="es-CO" sz="18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01</a:t>
                      </a:r>
                      <a:endParaRPr lang="es-CO" sz="18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u="none" strike="noStrike" baseline="0" dirty="0" smtClean="0">
                          <a:effectLst/>
                        </a:rPr>
                        <a:t>11</a:t>
                      </a:r>
                      <a:endParaRPr lang="es-CO" sz="1800" b="1" u="none" strike="noStrike" baseline="-25000" dirty="0" smtClean="0">
                        <a:effectLst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u="none" strike="noStrike" baseline="0" dirty="0" smtClean="0">
                          <a:effectLst/>
                        </a:rPr>
                        <a:t>10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8395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00</a:t>
                      </a:r>
                      <a:endParaRPr lang="es-CO" sz="1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46B846"/>
                          </a:solidFill>
                          <a:effectLst/>
                          <a:latin typeface="+mn-lt"/>
                        </a:rPr>
                        <a:t>X</a:t>
                      </a:r>
                      <a:endParaRPr lang="es-CO" sz="1800" b="0" i="0" u="none" strike="noStrike" dirty="0">
                        <a:solidFill>
                          <a:srgbClr val="46B846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X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8395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01</a:t>
                      </a:r>
                      <a:endParaRPr lang="es-CO" sz="1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46B846"/>
                          </a:solidFill>
                          <a:effectLst/>
                          <a:latin typeface="+mn-lt"/>
                        </a:rPr>
                        <a:t>X</a:t>
                      </a:r>
                      <a:endParaRPr lang="es-CO" sz="1800" b="0" i="0" u="none" strike="noStrike" dirty="0">
                        <a:solidFill>
                          <a:srgbClr val="46B846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X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8395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11</a:t>
                      </a:r>
                      <a:endParaRPr lang="es-CO" sz="1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46B846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46B846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8395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10</a:t>
                      </a:r>
                      <a:endParaRPr lang="es-CO" sz="1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46B846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46B846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0" name="19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1669116"/>
              </p:ext>
            </p:extLst>
          </p:nvPr>
        </p:nvGraphicFramePr>
        <p:xfrm>
          <a:off x="3563887" y="4819248"/>
          <a:ext cx="2088233" cy="14192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1247"/>
                <a:gridCol w="419406"/>
                <a:gridCol w="381278"/>
                <a:gridCol w="343151"/>
                <a:gridCol w="343151"/>
              </a:tblGrid>
              <a:tr h="258395">
                <a:tc>
                  <a:txBody>
                    <a:bodyPr/>
                    <a:lstStyle/>
                    <a:p>
                      <a:pPr algn="ctr" fontAlgn="b"/>
                      <a:r>
                        <a:rPr lang="es-CO" sz="13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CX\AB</a:t>
                      </a:r>
                      <a:endParaRPr lang="es-CO" sz="13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00</a:t>
                      </a:r>
                      <a:endParaRPr lang="es-CO" sz="18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01</a:t>
                      </a:r>
                      <a:endParaRPr lang="es-CO" sz="18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u="none" strike="noStrike" baseline="0" dirty="0" smtClean="0">
                          <a:effectLst/>
                        </a:rPr>
                        <a:t>11</a:t>
                      </a:r>
                      <a:endParaRPr lang="es-CO" sz="1800" b="1" u="none" strike="noStrike" baseline="-25000" dirty="0" smtClean="0">
                        <a:effectLst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u="none" strike="noStrike" baseline="0" dirty="0" smtClean="0">
                          <a:effectLst/>
                        </a:rPr>
                        <a:t>10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8395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00</a:t>
                      </a:r>
                      <a:endParaRPr lang="es-CO" sz="1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46B846"/>
                          </a:solidFill>
                          <a:effectLst/>
                          <a:latin typeface="+mn-lt"/>
                        </a:rPr>
                        <a:t>X</a:t>
                      </a:r>
                      <a:endParaRPr lang="es-CO" sz="1800" b="0" i="0" u="none" strike="noStrike" dirty="0">
                        <a:solidFill>
                          <a:srgbClr val="46B846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8395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01</a:t>
                      </a:r>
                      <a:endParaRPr lang="es-CO" sz="1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46B846"/>
                          </a:solidFill>
                          <a:effectLst/>
                          <a:latin typeface="+mn-lt"/>
                        </a:rPr>
                        <a:t>X</a:t>
                      </a:r>
                      <a:endParaRPr lang="es-CO" sz="1800" b="0" i="0" u="none" strike="noStrike" dirty="0">
                        <a:solidFill>
                          <a:srgbClr val="46B846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8395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11</a:t>
                      </a:r>
                      <a:endParaRPr lang="es-CO" sz="1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X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X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46B846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46B846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8395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10</a:t>
                      </a:r>
                      <a:endParaRPr lang="es-CO" sz="1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X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X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46B846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46B846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1" name="20 Rectángulo"/>
          <p:cNvSpPr/>
          <p:nvPr/>
        </p:nvSpPr>
        <p:spPr>
          <a:xfrm>
            <a:off x="986458" y="4149080"/>
            <a:ext cx="2304256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200" b="1" i="1" dirty="0" err="1" smtClean="0"/>
              <a:t>J</a:t>
            </a:r>
            <a:r>
              <a:rPr lang="es-ES" sz="2200" b="1" i="1" baseline="-25000" dirty="0" err="1" smtClean="0"/>
              <a:t>a</a:t>
            </a:r>
            <a:r>
              <a:rPr lang="es-ES" sz="2200" b="1" i="1" dirty="0" smtClean="0"/>
              <a:t> = C’· X’</a:t>
            </a:r>
            <a:endParaRPr lang="es-ES" sz="2200" b="1" i="1" dirty="0"/>
          </a:p>
        </p:txBody>
      </p:sp>
      <p:sp>
        <p:nvSpPr>
          <p:cNvPr id="3" name="2 Elipse"/>
          <p:cNvSpPr/>
          <p:nvPr/>
        </p:nvSpPr>
        <p:spPr>
          <a:xfrm>
            <a:off x="1691680" y="2924944"/>
            <a:ext cx="1440160" cy="432048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2" name="21 Elipse"/>
          <p:cNvSpPr/>
          <p:nvPr/>
        </p:nvSpPr>
        <p:spPr>
          <a:xfrm>
            <a:off x="4163194" y="3212976"/>
            <a:ext cx="1440160" cy="432048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3" name="22 Rectángulo"/>
          <p:cNvSpPr/>
          <p:nvPr/>
        </p:nvSpPr>
        <p:spPr>
          <a:xfrm>
            <a:off x="3491880" y="4149080"/>
            <a:ext cx="2304256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200" b="1" i="1" dirty="0" err="1" smtClean="0"/>
              <a:t>K</a:t>
            </a:r>
            <a:r>
              <a:rPr lang="es-ES" sz="2200" b="1" i="1" baseline="-25000" dirty="0" err="1" smtClean="0"/>
              <a:t>a</a:t>
            </a:r>
            <a:r>
              <a:rPr lang="es-ES" sz="2200" b="1" i="1" dirty="0" smtClean="0"/>
              <a:t> = C’· X</a:t>
            </a:r>
            <a:endParaRPr lang="es-ES" sz="2200" b="1" i="1" dirty="0"/>
          </a:p>
        </p:txBody>
      </p:sp>
      <p:sp>
        <p:nvSpPr>
          <p:cNvPr id="24" name="23 Elipse"/>
          <p:cNvSpPr/>
          <p:nvPr/>
        </p:nvSpPr>
        <p:spPr>
          <a:xfrm>
            <a:off x="6641182" y="2924944"/>
            <a:ext cx="1440160" cy="432048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5" name="24 Elipse"/>
          <p:cNvSpPr/>
          <p:nvPr/>
        </p:nvSpPr>
        <p:spPr>
          <a:xfrm>
            <a:off x="6660232" y="3467100"/>
            <a:ext cx="1440160" cy="432048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6" name="25 Rectángulo"/>
          <p:cNvSpPr/>
          <p:nvPr/>
        </p:nvSpPr>
        <p:spPr>
          <a:xfrm>
            <a:off x="5815186" y="4221088"/>
            <a:ext cx="252343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1600" b="1" i="1" dirty="0" err="1" smtClean="0"/>
              <a:t>J</a:t>
            </a:r>
            <a:r>
              <a:rPr lang="es-ES" sz="1600" b="1" i="1" baseline="-25000" dirty="0" err="1" smtClean="0"/>
              <a:t>b</a:t>
            </a:r>
            <a:r>
              <a:rPr lang="es-ES" sz="1600" b="1" i="1" dirty="0" smtClean="0"/>
              <a:t> = C’· X’ + C· X  =  C</a:t>
            </a:r>
            <a:r>
              <a:rPr lang="el-GR" sz="1600" b="1" i="1" dirty="0" smtClean="0"/>
              <a:t>Θ</a:t>
            </a:r>
            <a:r>
              <a:rPr lang="es-CO" sz="1600" b="1" i="1" dirty="0" smtClean="0"/>
              <a:t>X</a:t>
            </a:r>
            <a:endParaRPr lang="es-ES" sz="1600" b="1" i="1" dirty="0"/>
          </a:p>
        </p:txBody>
      </p:sp>
      <p:sp>
        <p:nvSpPr>
          <p:cNvPr id="27" name="26 Elipse"/>
          <p:cNvSpPr/>
          <p:nvPr/>
        </p:nvSpPr>
        <p:spPr>
          <a:xfrm>
            <a:off x="1638722" y="5033387"/>
            <a:ext cx="936104" cy="432048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8" name="27 Rectángulo"/>
          <p:cNvSpPr/>
          <p:nvPr/>
        </p:nvSpPr>
        <p:spPr>
          <a:xfrm>
            <a:off x="971600" y="6238473"/>
            <a:ext cx="2304256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200" b="1" i="1" dirty="0" smtClean="0"/>
              <a:t>K</a:t>
            </a:r>
            <a:r>
              <a:rPr lang="es-ES" sz="2200" b="1" i="1" baseline="-25000" dirty="0" smtClean="0"/>
              <a:t>b</a:t>
            </a:r>
            <a:r>
              <a:rPr lang="es-ES" sz="2200" b="1" i="1" dirty="0" smtClean="0"/>
              <a:t> = A’· C’· X’</a:t>
            </a:r>
            <a:endParaRPr lang="es-ES" sz="2200" b="1" i="1" dirty="0"/>
          </a:p>
        </p:txBody>
      </p:sp>
      <p:sp>
        <p:nvSpPr>
          <p:cNvPr id="29" name="28 Rectángulo"/>
          <p:cNvSpPr/>
          <p:nvPr/>
        </p:nvSpPr>
        <p:spPr>
          <a:xfrm>
            <a:off x="3491880" y="6238473"/>
            <a:ext cx="2304256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200" b="1" i="1" dirty="0" err="1" smtClean="0"/>
              <a:t>J</a:t>
            </a:r>
            <a:r>
              <a:rPr lang="es-ES" sz="2200" b="1" i="1" baseline="-25000" dirty="0" err="1" smtClean="0"/>
              <a:t>c</a:t>
            </a:r>
            <a:r>
              <a:rPr lang="es-ES" sz="2200" b="1" i="1" dirty="0" smtClean="0"/>
              <a:t> = A· B’· X</a:t>
            </a:r>
            <a:endParaRPr lang="es-ES" sz="2200" b="1" i="1" dirty="0"/>
          </a:p>
        </p:txBody>
      </p:sp>
      <p:sp>
        <p:nvSpPr>
          <p:cNvPr id="30" name="29 Elipse"/>
          <p:cNvSpPr/>
          <p:nvPr/>
        </p:nvSpPr>
        <p:spPr>
          <a:xfrm rot="16200000">
            <a:off x="5155493" y="5472865"/>
            <a:ext cx="629022" cy="432048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2" name="31 Elipse"/>
          <p:cNvSpPr/>
          <p:nvPr/>
        </p:nvSpPr>
        <p:spPr>
          <a:xfrm>
            <a:off x="7024464" y="5302368"/>
            <a:ext cx="742610" cy="701031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3" name="32 Rectángulo"/>
          <p:cNvSpPr/>
          <p:nvPr/>
        </p:nvSpPr>
        <p:spPr>
          <a:xfrm>
            <a:off x="5868144" y="6238473"/>
            <a:ext cx="2304256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200" b="1" i="1" dirty="0" smtClean="0"/>
              <a:t>K</a:t>
            </a:r>
            <a:r>
              <a:rPr lang="es-ES" sz="2200" b="1" i="1" baseline="-25000" dirty="0" smtClean="0"/>
              <a:t>c</a:t>
            </a:r>
            <a:r>
              <a:rPr lang="es-ES" sz="2200" b="1" i="1" dirty="0" smtClean="0"/>
              <a:t> = B· X</a:t>
            </a:r>
            <a:endParaRPr lang="es-ES" sz="2200" b="1" i="1" dirty="0"/>
          </a:p>
        </p:txBody>
      </p:sp>
    </p:spTree>
    <p:extLst>
      <p:ext uri="{BB962C8B-B14F-4D97-AF65-F5344CB8AC3E}">
        <p14:creationId xmlns:p14="http://schemas.microsoft.com/office/powerpoint/2010/main" val="30472495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3568" y="332656"/>
            <a:ext cx="7987965" cy="1054250"/>
          </a:xfrm>
        </p:spPr>
        <p:txBody>
          <a:bodyPr/>
          <a:lstStyle/>
          <a:p>
            <a:r>
              <a:rPr lang="es-ES" sz="4000" dirty="0" smtClean="0"/>
              <a:t>3.7. </a:t>
            </a:r>
            <a:r>
              <a:rPr lang="es-ES" sz="4000" dirty="0"/>
              <a:t>Análisis y diseño de circuitos secuenciales sincrónicos.</a:t>
            </a:r>
            <a:endParaRPr lang="es-CO" sz="4000" dirty="0"/>
          </a:p>
        </p:txBody>
      </p:sp>
      <p:sp>
        <p:nvSpPr>
          <p:cNvPr id="36" name="35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291" y="2607434"/>
            <a:ext cx="4856186" cy="40899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6 Rectángulo"/>
          <p:cNvSpPr/>
          <p:nvPr/>
        </p:nvSpPr>
        <p:spPr>
          <a:xfrm>
            <a:off x="35496" y="2144469"/>
            <a:ext cx="5005041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600" b="1" i="1" dirty="0" smtClean="0"/>
              <a:t>Circuito Lógico</a:t>
            </a:r>
            <a:endParaRPr lang="es-ES" sz="2600" b="1" i="1" dirty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0537" y="3786733"/>
            <a:ext cx="3924300" cy="151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3 Rectángulo redondeado"/>
          <p:cNvSpPr/>
          <p:nvPr/>
        </p:nvSpPr>
        <p:spPr>
          <a:xfrm>
            <a:off x="99291" y="2649698"/>
            <a:ext cx="4856186" cy="1270573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" name="7 Flecha curvada hacia abajo"/>
          <p:cNvSpPr/>
          <p:nvPr/>
        </p:nvSpPr>
        <p:spPr>
          <a:xfrm rot="1320335">
            <a:off x="4319327" y="2270911"/>
            <a:ext cx="3682944" cy="1026596"/>
          </a:xfrm>
          <a:prstGeom prst="curved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tx1"/>
              </a:solidFill>
            </a:endParaRPr>
          </a:p>
        </p:txBody>
      </p:sp>
      <p:sp>
        <p:nvSpPr>
          <p:cNvPr id="12" name="11 Rectángulo"/>
          <p:cNvSpPr/>
          <p:nvPr/>
        </p:nvSpPr>
        <p:spPr>
          <a:xfrm>
            <a:off x="6015316" y="5589240"/>
            <a:ext cx="2304256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200" b="1" i="1" dirty="0" err="1" smtClean="0"/>
              <a:t>J</a:t>
            </a:r>
            <a:r>
              <a:rPr lang="es-ES" sz="2200" b="1" i="1" baseline="-25000" dirty="0" err="1" smtClean="0"/>
              <a:t>a</a:t>
            </a:r>
            <a:r>
              <a:rPr lang="es-ES" sz="2200" b="1" i="1" dirty="0" smtClean="0"/>
              <a:t> = C’· X’</a:t>
            </a:r>
            <a:endParaRPr lang="es-ES" sz="2200" b="1" i="1" dirty="0"/>
          </a:p>
        </p:txBody>
      </p:sp>
      <p:sp>
        <p:nvSpPr>
          <p:cNvPr id="13" name="12 Rectángulo"/>
          <p:cNvSpPr/>
          <p:nvPr/>
        </p:nvSpPr>
        <p:spPr>
          <a:xfrm>
            <a:off x="6015316" y="6023613"/>
            <a:ext cx="2304256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200" b="1" i="1" dirty="0" err="1" smtClean="0"/>
              <a:t>K</a:t>
            </a:r>
            <a:r>
              <a:rPr lang="es-ES" sz="2200" b="1" i="1" baseline="-25000" dirty="0" err="1" smtClean="0"/>
              <a:t>a</a:t>
            </a:r>
            <a:r>
              <a:rPr lang="es-ES" sz="2200" b="1" i="1" dirty="0" smtClean="0"/>
              <a:t> = C’· X</a:t>
            </a:r>
            <a:endParaRPr lang="es-ES" sz="2200" b="1" i="1" dirty="0"/>
          </a:p>
        </p:txBody>
      </p:sp>
    </p:spTree>
    <p:extLst>
      <p:ext uri="{BB962C8B-B14F-4D97-AF65-F5344CB8AC3E}">
        <p14:creationId xmlns:p14="http://schemas.microsoft.com/office/powerpoint/2010/main" val="968705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artoné">
  <a:themeElements>
    <a:clrScheme name="Cartoné">
      <a:dk1>
        <a:sysClr val="windowText" lastClr="000000"/>
      </a:dk1>
      <a:lt1>
        <a:sysClr val="window" lastClr="FFFFFF"/>
      </a:lt1>
      <a:dk2>
        <a:srgbClr val="895D1D"/>
      </a:dk2>
      <a:lt2>
        <a:srgbClr val="ECE9C6"/>
      </a:lt2>
      <a:accent1>
        <a:srgbClr val="873624"/>
      </a:accent1>
      <a:accent2>
        <a:srgbClr val="D6862D"/>
      </a:accent2>
      <a:accent3>
        <a:srgbClr val="D0BE40"/>
      </a:accent3>
      <a:accent4>
        <a:srgbClr val="877F6C"/>
      </a:accent4>
      <a:accent5>
        <a:srgbClr val="972109"/>
      </a:accent5>
      <a:accent6>
        <a:srgbClr val="AEB795"/>
      </a:accent6>
      <a:hlink>
        <a:srgbClr val="CC9900"/>
      </a:hlink>
      <a:folHlink>
        <a:srgbClr val="B2B2B2"/>
      </a:folHlink>
    </a:clrScheme>
    <a:fontScheme name="Cartoné">
      <a:majorFont>
        <a:latin typeface="Book Antiqua"/>
        <a:ea typeface=""/>
        <a:cs typeface=""/>
        <a:font script="Grek" typeface="Times New Roman"/>
        <a:font script="Cyrl" typeface="Times New Roman"/>
        <a:font script="Jpan" typeface="HGS明朝E"/>
        <a:font script="Hang" typeface="궁서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S明朝E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Cartoné">
      <a:fillStyleLst>
        <a:solidFill>
          <a:schemeClr val="phClr"/>
        </a:solidFill>
        <a:solidFill>
          <a:schemeClr val="phClr">
            <a:tint val="68000"/>
            <a:shade val="94000"/>
            <a:satMod val="300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80000"/>
                <a:lumMod val="98000"/>
              </a:schemeClr>
            </a:gs>
            <a:gs pos="100000">
              <a:schemeClr val="phClr">
                <a:satMod val="130000"/>
              </a:schemeClr>
            </a:gs>
          </a:gsLst>
          <a:lin ang="5160000" scaled="0"/>
        </a:gradFill>
      </a:fillStyleLst>
      <a:lnStyleLst>
        <a:ln w="12700" cap="flat" cmpd="sng" algn="ctr">
          <a:solidFill>
            <a:schemeClr val="phClr">
              <a:shade val="90000"/>
              <a:lumMod val="90000"/>
            </a:schemeClr>
          </a:solidFill>
          <a:prstDash val="solid"/>
        </a:ln>
        <a:ln w="19050" cap="flat" cmpd="sng" algn="ctr">
          <a:solidFill>
            <a:schemeClr val="phClr">
              <a:shade val="75000"/>
              <a:lumMod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12700" dir="5400000" rotWithShape="0">
              <a:srgbClr val="000000">
                <a:alpha val="1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6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400000"/>
            </a:lightRig>
          </a:scene3d>
          <a:sp3d>
            <a:bevelT w="25400" h="25400"/>
          </a:sp3d>
        </a:effectStyle>
      </a:effectStyleLst>
      <a:bgFillStyleLst>
        <a:solidFill>
          <a:schemeClr val="phClr">
            <a:tint val="96000"/>
            <a:lumMod val="11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3000"/>
                <a:shade val="20000"/>
              </a:schemeClr>
              <a:schemeClr val="phClr">
                <a:tint val="90000"/>
                <a:shade val="85000"/>
                <a:satMod val="115000"/>
              </a:schemeClr>
            </a:duotone>
          </a:blip>
          <a:tile tx="0" ty="0" sx="60000" sy="60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shade val="50000"/>
                <a:satMod val="340000"/>
                <a:lumMod val="40000"/>
              </a:schemeClr>
              <a:schemeClr val="phClr">
                <a:tint val="92000"/>
                <a:shade val="94000"/>
                <a:hueMod val="110000"/>
                <a:satMod val="236000"/>
                <a:lumMod val="120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Hardcover</Template>
  <TotalTime>1960</TotalTime>
  <Words>1462</Words>
  <Application>Microsoft Office PowerPoint</Application>
  <PresentationFormat>Presentación en pantalla (4:3)</PresentationFormat>
  <Paragraphs>1055</Paragraphs>
  <Slides>29</Slides>
  <Notes>20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29</vt:i4>
      </vt:variant>
    </vt:vector>
  </HeadingPairs>
  <TitlesOfParts>
    <vt:vector size="36" baseType="lpstr">
      <vt:lpstr>Aharoni</vt:lpstr>
      <vt:lpstr>Arial Black</vt:lpstr>
      <vt:lpstr>Book Antiqua</vt:lpstr>
      <vt:lpstr>Calibri</vt:lpstr>
      <vt:lpstr>Times New Roman</vt:lpstr>
      <vt:lpstr>Wingdings</vt:lpstr>
      <vt:lpstr>Cartoné</vt:lpstr>
      <vt:lpstr>3. Sistemas Secuenciales.</vt:lpstr>
      <vt:lpstr>3.1. Lógica secuencial.</vt:lpstr>
      <vt:lpstr>3.1. Lógica secuencial.</vt:lpstr>
      <vt:lpstr>3.2. Flip-Flop.</vt:lpstr>
      <vt:lpstr>3.2. Flip-Flop.</vt:lpstr>
      <vt:lpstr>3.2. Flip-Flop.</vt:lpstr>
      <vt:lpstr>3.2. Flip-Flop.</vt:lpstr>
      <vt:lpstr>3.2. Flip-Flop.</vt:lpstr>
      <vt:lpstr>3.2. Flip-Flop.</vt:lpstr>
      <vt:lpstr>3.2. Flip-Flop.</vt:lpstr>
      <vt:lpstr>3.3. Contadores.</vt:lpstr>
      <vt:lpstr>3.3. Contadores.</vt:lpstr>
      <vt:lpstr>3.3. Contadores.</vt:lpstr>
      <vt:lpstr>3.3. Contadores.</vt:lpstr>
      <vt:lpstr>3.3. Contadores.</vt:lpstr>
      <vt:lpstr>3.4. Registros.</vt:lpstr>
      <vt:lpstr>3.4. Registros.</vt:lpstr>
      <vt:lpstr>3.4. Registros.</vt:lpstr>
      <vt:lpstr>3.4. Registros.</vt:lpstr>
      <vt:lpstr>3.5. Temporizador 555.</vt:lpstr>
      <vt:lpstr>3.5. Temporizador 555.</vt:lpstr>
      <vt:lpstr>3.5. Temporizador 555.</vt:lpstr>
      <vt:lpstr>3.6. Máquinas de estado.</vt:lpstr>
      <vt:lpstr>3.7. Análisis y diseño de circuitos secuenciales sincrónicos.</vt:lpstr>
      <vt:lpstr>3.7. Análisis y diseño de circuitos secuenciales sincrónicos.</vt:lpstr>
      <vt:lpstr>3.7. Análisis y diseño de circuitos secuenciales sincrónicos.</vt:lpstr>
      <vt:lpstr>3.7. Análisis y diseño de circuitos secuenciales sincrónicos.</vt:lpstr>
      <vt:lpstr>3.7. Análisis y diseño de circuitos secuenciales sincrónicos.</vt:lpstr>
      <vt:lpstr>3.7. Análisis y diseño de circuitos secuenciales sincrónicos.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Taller V IF. Electrónica Digital y Microcontroladores.</dc:title>
  <dc:creator>MeliCalelo</dc:creator>
  <cp:lastModifiedBy>Optodigital</cp:lastModifiedBy>
  <cp:revision>365</cp:revision>
  <dcterms:created xsi:type="dcterms:W3CDTF">2011-01-25T07:15:41Z</dcterms:created>
  <dcterms:modified xsi:type="dcterms:W3CDTF">2016-02-11T12:21:00Z</dcterms:modified>
</cp:coreProperties>
</file>
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09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1/02/2016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67594"/>
          </a:xfrm>
        </p:spPr>
        <p:txBody>
          <a:bodyPr>
            <a:normAutofit fontScale="90000"/>
          </a:bodyPr>
          <a:lstStyle/>
          <a:p>
            <a:r>
              <a:rPr lang="es-ES" dirty="0" smtClean="0">
                <a:effectLst/>
              </a:rPr>
              <a:t>1. Introducción </a:t>
            </a:r>
            <a:r>
              <a:rPr lang="es-ES" dirty="0">
                <a:effectLst/>
              </a:rPr>
              <a:t>al mundo digital.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588534"/>
            <a:ext cx="6400800" cy="2664296"/>
          </a:xfrm>
        </p:spPr>
        <p:txBody>
          <a:bodyPr>
            <a:normAutofit/>
          </a:bodyPr>
          <a:lstStyle/>
          <a:p>
            <a:r>
              <a:rPr lang="es-ES" sz="2500" dirty="0">
                <a:effectLst/>
              </a:rPr>
              <a:t>1.1. Electrónica Digital </a:t>
            </a:r>
            <a:r>
              <a:rPr lang="es-ES" sz="2500" i="1" dirty="0">
                <a:effectLst/>
              </a:rPr>
              <a:t>vs</a:t>
            </a:r>
            <a:r>
              <a:rPr lang="es-ES" sz="2500" dirty="0">
                <a:effectLst/>
              </a:rPr>
              <a:t> Electrónica Análoga.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1.2. Sistemas binario y hexadecimal.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1.3. Conversiones de un sistema a otro.</a:t>
            </a:r>
            <a:endParaRPr lang="es-CO" sz="2500" dirty="0">
              <a:effectLst/>
            </a:endParaRPr>
          </a:p>
          <a:p>
            <a:r>
              <a:rPr lang="es-ES" sz="2500" dirty="0">
                <a:effectLst/>
              </a:rPr>
              <a:t>1.4. Operaciones aritméticas básicas en binario</a:t>
            </a:r>
            <a:r>
              <a:rPr lang="es-ES" sz="2500" dirty="0" smtClean="0">
                <a:effectLst/>
              </a:rPr>
              <a:t>.</a:t>
            </a: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107504" y="6241970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Febrero </a:t>
            </a:r>
            <a:r>
              <a:rPr lang="es-ES" i="1" dirty="0" smtClean="0">
                <a:effectLst/>
              </a:rPr>
              <a:t>2 </a:t>
            </a:r>
            <a:r>
              <a:rPr lang="es-ES" i="1" dirty="0" smtClean="0">
                <a:effectLst/>
              </a:rPr>
              <a:t>de 2016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23295" y="2060848"/>
            <a:ext cx="4374372" cy="532581"/>
          </a:xfrm>
        </p:spPr>
        <p:txBody>
          <a:bodyPr>
            <a:normAutofit/>
          </a:bodyPr>
          <a:lstStyle/>
          <a:p>
            <a:r>
              <a:rPr lang="es-ES" dirty="0" smtClean="0"/>
              <a:t>Señales Análogas, Origen.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057" y="2537963"/>
            <a:ext cx="2356042" cy="1370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82" y="2548017"/>
            <a:ext cx="1325478" cy="1381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075" y="4792947"/>
            <a:ext cx="1502744" cy="1502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2 Marcador de contenido"/>
          <p:cNvSpPr txBox="1">
            <a:spLocks/>
          </p:cNvSpPr>
          <p:nvPr/>
        </p:nvSpPr>
        <p:spPr>
          <a:xfrm>
            <a:off x="810682" y="4074177"/>
            <a:ext cx="3408274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Electrónica Análoga.</a:t>
            </a:r>
            <a:endParaRPr lang="es-ES" dirty="0"/>
          </a:p>
        </p:txBody>
      </p:sp>
      <p:sp>
        <p:nvSpPr>
          <p:cNvPr id="14" name="2 Marcador de contenido"/>
          <p:cNvSpPr txBox="1">
            <a:spLocks/>
          </p:cNvSpPr>
          <p:nvPr/>
        </p:nvSpPr>
        <p:spPr>
          <a:xfrm>
            <a:off x="5961287" y="2485325"/>
            <a:ext cx="1866422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Sensores.</a:t>
            </a:r>
            <a:endParaRPr lang="es-ES" dirty="0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200" y="4683087"/>
            <a:ext cx="1493756" cy="1722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652" y="3270037"/>
            <a:ext cx="1318929" cy="131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133542"/>
            <a:ext cx="1751660" cy="1549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456" y="4869546"/>
            <a:ext cx="1440083" cy="1440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584" y="2204864"/>
            <a:ext cx="7745505" cy="460573"/>
          </a:xfrm>
        </p:spPr>
        <p:txBody>
          <a:bodyPr>
            <a:normAutofit/>
          </a:bodyPr>
          <a:lstStyle/>
          <a:p>
            <a:r>
              <a:rPr lang="es-ES" dirty="0" smtClean="0"/>
              <a:t>Conversión AD. Beneficios – Desventajas.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88034"/>
            <a:ext cx="27622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436" y="4533907"/>
            <a:ext cx="2714625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442" y="2799474"/>
            <a:ext cx="2063222" cy="1539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2907886"/>
            <a:ext cx="1273473" cy="1273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465" y="4487043"/>
            <a:ext cx="3516312" cy="2128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44720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35967" y="148478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Electrónica Digital.</a:t>
            </a:r>
            <a:endParaRPr lang="es-ES" sz="2600" b="1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1.1. Electrónica Digital </a:t>
            </a:r>
            <a:r>
              <a:rPr lang="es-ES" sz="4000" i="1" dirty="0"/>
              <a:t>vs</a:t>
            </a:r>
            <a:r>
              <a:rPr lang="es-ES" sz="4000" dirty="0"/>
              <a:t> Electrónica Análoga.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611560" y="2132856"/>
            <a:ext cx="7745505" cy="4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smtClean="0"/>
              <a:t>Dos estados lógicos.</a:t>
            </a:r>
            <a:endParaRPr lang="es-E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234764"/>
            <a:ext cx="1987528" cy="1609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777651"/>
            <a:ext cx="1809750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059" y="2758836"/>
            <a:ext cx="4739512" cy="2369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Flecha abajo"/>
          <p:cNvSpPr/>
          <p:nvPr/>
        </p:nvSpPr>
        <p:spPr>
          <a:xfrm>
            <a:off x="2947184" y="5047337"/>
            <a:ext cx="484632" cy="9784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2 Marcador de contenido"/>
          <p:cNvSpPr txBox="1">
            <a:spLocks/>
          </p:cNvSpPr>
          <p:nvPr/>
        </p:nvSpPr>
        <p:spPr>
          <a:xfrm>
            <a:off x="1919648" y="6075992"/>
            <a:ext cx="3024336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800" i="1" dirty="0" smtClean="0"/>
              <a:t>Sistema binario.</a:t>
            </a:r>
            <a:endParaRPr lang="es-ES" sz="2800" i="1" dirty="0"/>
          </a:p>
        </p:txBody>
      </p:sp>
      <p:sp>
        <p:nvSpPr>
          <p:cNvPr id="10" name="9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5216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2348880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Sistema Decimal – Base 10.</a:t>
            </a:r>
            <a:endParaRPr lang="es-ES" sz="2600" b="1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1.2. Sistemas de Numeración: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10" name="2 Marcador de contenido"/>
          <p:cNvSpPr txBox="1">
            <a:spLocks/>
          </p:cNvSpPr>
          <p:nvPr/>
        </p:nvSpPr>
        <p:spPr>
          <a:xfrm>
            <a:off x="669392" y="4469419"/>
            <a:ext cx="7745505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600" b="1" dirty="0" smtClean="0"/>
              <a:t>Sistema Binario – Base 2.</a:t>
            </a:r>
            <a:endParaRPr lang="es-ES" sz="2600" b="1" dirty="0"/>
          </a:p>
        </p:txBody>
      </p:sp>
      <p:sp>
        <p:nvSpPr>
          <p:cNvPr id="7" name="6 Rectángulo"/>
          <p:cNvSpPr/>
          <p:nvPr/>
        </p:nvSpPr>
        <p:spPr>
          <a:xfrm>
            <a:off x="392224" y="3269090"/>
            <a:ext cx="801936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6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5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4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3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2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0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, 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-1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-2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-3</a:t>
            </a:r>
            <a:r>
              <a:rPr lang="es-CO" sz="3600" b="1" i="1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10</a:t>
            </a:r>
            <a:r>
              <a:rPr lang="es-CO" sz="3600" b="1" i="1" baseline="30000" dirty="0">
                <a:effectLst>
                  <a:outerShdw blurRad="69850" dist="43180" dir="5400000" sx="0" sy="0">
                    <a:srgbClr val="000000">
                      <a:alpha val="65000"/>
                    </a:srgbClr>
                  </a:outerShdw>
                </a:effectLst>
              </a:rPr>
              <a:t>-4</a:t>
            </a:r>
            <a:endParaRPr lang="es-CO" sz="3600" dirty="0"/>
          </a:p>
          <a:p>
            <a:pPr algn="ctr"/>
            <a:endParaRPr lang="es-ES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392224" y="5311706"/>
            <a:ext cx="832975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CO" sz="4000" i="1" dirty="0"/>
              <a:t>2</a:t>
            </a:r>
            <a:r>
              <a:rPr lang="es-CO" sz="4000" i="1" baseline="30000" dirty="0"/>
              <a:t>n-1</a:t>
            </a:r>
            <a:r>
              <a:rPr lang="es-CO" sz="4000" i="1" dirty="0"/>
              <a:t>....2</a:t>
            </a:r>
            <a:r>
              <a:rPr lang="es-CO" sz="4000" i="1" baseline="30000" dirty="0"/>
              <a:t>4</a:t>
            </a:r>
            <a:r>
              <a:rPr lang="es-CO" sz="4000" i="1" dirty="0"/>
              <a:t>2</a:t>
            </a:r>
            <a:r>
              <a:rPr lang="es-CO" sz="4000" i="1" baseline="30000" dirty="0"/>
              <a:t>3</a:t>
            </a:r>
            <a:r>
              <a:rPr lang="es-CO" sz="4000" i="1" dirty="0"/>
              <a:t>2</a:t>
            </a:r>
            <a:r>
              <a:rPr lang="es-CO" sz="4000" i="1" baseline="30000" dirty="0"/>
              <a:t>2</a:t>
            </a:r>
            <a:r>
              <a:rPr lang="es-CO" sz="4000" i="1" dirty="0"/>
              <a:t>2</a:t>
            </a:r>
            <a:r>
              <a:rPr lang="es-CO" sz="4000" i="1" baseline="30000" dirty="0"/>
              <a:t>1</a:t>
            </a:r>
            <a:r>
              <a:rPr lang="es-CO" sz="4000" i="1" dirty="0"/>
              <a:t>2</a:t>
            </a:r>
            <a:r>
              <a:rPr lang="es-CO" sz="4000" i="1" baseline="30000" dirty="0"/>
              <a:t>0</a:t>
            </a:r>
            <a:r>
              <a:rPr lang="es-CO" sz="4000" i="1" dirty="0"/>
              <a:t>, 2</a:t>
            </a:r>
            <a:r>
              <a:rPr lang="es-CO" sz="4000" i="1" baseline="30000" dirty="0"/>
              <a:t>-1</a:t>
            </a:r>
            <a:r>
              <a:rPr lang="es-CO" sz="4000" i="1" dirty="0"/>
              <a:t>2</a:t>
            </a:r>
            <a:r>
              <a:rPr lang="es-CO" sz="4000" i="1" baseline="30000" dirty="0"/>
              <a:t>-2</a:t>
            </a:r>
            <a:r>
              <a:rPr lang="es-CO" sz="4000" i="1" dirty="0"/>
              <a:t>2</a:t>
            </a:r>
            <a:r>
              <a:rPr lang="es-CO" sz="4000" i="1" baseline="30000" dirty="0"/>
              <a:t>-3</a:t>
            </a:r>
            <a:r>
              <a:rPr lang="es-CO" sz="4000" i="1" dirty="0"/>
              <a:t>......2</a:t>
            </a:r>
            <a:r>
              <a:rPr lang="es-CO" sz="4000" i="1" baseline="30000" dirty="0"/>
              <a:t>-n</a:t>
            </a:r>
            <a:r>
              <a:rPr lang="es-CO" sz="4000" i="1" dirty="0"/>
              <a:t>.</a:t>
            </a:r>
            <a:endParaRPr lang="es-ES" sz="40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39885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20486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Conversión Binario – Decimal.</a:t>
            </a:r>
            <a:endParaRPr lang="es-ES" sz="2600" b="1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1.3. Conversión entre sistemas de Numeración.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956" y="2708920"/>
            <a:ext cx="3672408" cy="2298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7496" y="5101714"/>
            <a:ext cx="8906604" cy="150810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s-CO" sz="3000" i="1" dirty="0"/>
              <a:t>101101,11 = </a:t>
            </a:r>
            <a:endParaRPr lang="es-CO" sz="3000" i="1" dirty="0" smtClean="0"/>
          </a:p>
          <a:p>
            <a:pPr algn="ctr"/>
            <a:r>
              <a:rPr lang="es-CO" sz="3000" i="1" dirty="0" smtClean="0"/>
              <a:t>1x2</a:t>
            </a:r>
            <a:r>
              <a:rPr lang="es-CO" sz="3000" i="1" baseline="30000" dirty="0" smtClean="0"/>
              <a:t>5 </a:t>
            </a:r>
            <a:r>
              <a:rPr lang="es-CO" sz="3000" i="1" dirty="0"/>
              <a:t>+ 0x2</a:t>
            </a:r>
            <a:r>
              <a:rPr lang="es-CO" sz="3000" i="1" baseline="30000" dirty="0"/>
              <a:t>4</a:t>
            </a:r>
            <a:r>
              <a:rPr lang="es-CO" sz="3000" i="1" dirty="0"/>
              <a:t> + 1x2</a:t>
            </a:r>
            <a:r>
              <a:rPr lang="es-CO" sz="3000" i="1" baseline="30000" dirty="0"/>
              <a:t>3 </a:t>
            </a:r>
            <a:r>
              <a:rPr lang="es-CO" sz="3000" i="1" dirty="0"/>
              <a:t>+ 1x2</a:t>
            </a:r>
            <a:r>
              <a:rPr lang="es-CO" sz="3000" i="1" baseline="30000" dirty="0"/>
              <a:t>2</a:t>
            </a:r>
            <a:r>
              <a:rPr lang="es-CO" sz="3000" i="1" dirty="0"/>
              <a:t> + 0x2</a:t>
            </a:r>
            <a:r>
              <a:rPr lang="es-CO" sz="3000" i="1" baseline="30000" dirty="0"/>
              <a:t>1</a:t>
            </a:r>
            <a:r>
              <a:rPr lang="es-CO" sz="3000" i="1" dirty="0"/>
              <a:t> + 1x2</a:t>
            </a:r>
            <a:r>
              <a:rPr lang="es-CO" sz="3000" i="1" baseline="30000" dirty="0"/>
              <a:t>0</a:t>
            </a:r>
            <a:r>
              <a:rPr lang="es-CO" sz="3000" i="1" dirty="0"/>
              <a:t> + 1x2</a:t>
            </a:r>
            <a:r>
              <a:rPr lang="es-CO" sz="3000" i="1" baseline="30000" dirty="0"/>
              <a:t>-1</a:t>
            </a:r>
            <a:r>
              <a:rPr lang="es-CO" sz="3000" i="1" dirty="0"/>
              <a:t> + </a:t>
            </a:r>
            <a:r>
              <a:rPr lang="es-CO" sz="3000" i="1" dirty="0" smtClean="0"/>
              <a:t>1x2</a:t>
            </a:r>
            <a:r>
              <a:rPr lang="es-CO" sz="3000" i="1" baseline="30000" dirty="0" smtClean="0"/>
              <a:t>-2</a:t>
            </a:r>
          </a:p>
          <a:p>
            <a:pPr algn="ctr"/>
            <a:r>
              <a:rPr lang="es-CO" sz="3200" i="1" dirty="0"/>
              <a:t>32 + 8 + 4 + 1 + 0,5 + 0,25= 45,75</a:t>
            </a:r>
            <a:endParaRPr lang="es-CO" sz="30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72759" y="5157193"/>
            <a:ext cx="2831089" cy="4605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200" dirty="0" smtClean="0"/>
              <a:t>Bit más significativo</a:t>
            </a:r>
            <a:endParaRPr lang="es-ES" sz="2200" dirty="0"/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6061391" y="5157192"/>
            <a:ext cx="3407153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200" dirty="0" smtClean="0"/>
              <a:t>Bit menos significativo</a:t>
            </a:r>
            <a:endParaRPr lang="es-ES" sz="2200" dirty="0"/>
          </a:p>
        </p:txBody>
      </p:sp>
      <p:cxnSp>
        <p:nvCxnSpPr>
          <p:cNvPr id="8" name="7 Conector curvado"/>
          <p:cNvCxnSpPr>
            <a:stCxn id="7" idx="1"/>
          </p:cNvCxnSpPr>
          <p:nvPr/>
        </p:nvCxnSpPr>
        <p:spPr>
          <a:xfrm rot="10800000">
            <a:off x="5220073" y="5157193"/>
            <a:ext cx="841319" cy="230287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curvado"/>
          <p:cNvCxnSpPr/>
          <p:nvPr/>
        </p:nvCxnSpPr>
        <p:spPr>
          <a:xfrm>
            <a:off x="3131840" y="5387479"/>
            <a:ext cx="457200" cy="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98778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6233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Sistema Hexadecimal.</a:t>
            </a:r>
            <a:endParaRPr lang="es-ES" sz="2600" b="1" dirty="0"/>
          </a:p>
        </p:txBody>
      </p:sp>
      <p:sp>
        <p:nvSpPr>
          <p:cNvPr id="5" name="4 Rectángulo"/>
          <p:cNvSpPr/>
          <p:nvPr/>
        </p:nvSpPr>
        <p:spPr>
          <a:xfrm>
            <a:off x="323528" y="2852936"/>
            <a:ext cx="4355976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s-CO" sz="3000" i="1" dirty="0" smtClean="0"/>
              <a:t>Sistema Base 16, Números del 0 al 9 más las letras A,B,C,D, E y F.</a:t>
            </a:r>
            <a:endParaRPr lang="es-CO" sz="3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761" y="2217916"/>
            <a:ext cx="4263709" cy="2733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5157192"/>
            <a:ext cx="4325620" cy="142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433892" y="4833354"/>
            <a:ext cx="36340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i="1" dirty="0" smtClean="0"/>
              <a:t>Ejemplo</a:t>
            </a:r>
            <a:r>
              <a:rPr lang="es-CO" sz="3200" dirty="0" smtClean="0"/>
              <a:t>: El </a:t>
            </a:r>
            <a:r>
              <a:rPr lang="es-CO" sz="3200" dirty="0"/>
              <a:t>número 4F5B</a:t>
            </a:r>
            <a:r>
              <a:rPr lang="es-CO" sz="3200" baseline="-25000" dirty="0"/>
              <a:t>16</a:t>
            </a:r>
            <a:r>
              <a:rPr lang="es-CO" sz="3200" dirty="0"/>
              <a:t> en binario equivale a</a:t>
            </a: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1.3. Conversión entre sistemas de Numeración.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sp>
        <p:nvSpPr>
          <p:cNvPr id="8" name="7 Rectángulo"/>
          <p:cNvSpPr/>
          <p:nvPr/>
        </p:nvSpPr>
        <p:spPr>
          <a:xfrm>
            <a:off x="7690874" y="6669360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66112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6233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Suma Binaria.</a:t>
            </a:r>
            <a:endParaRPr lang="es-ES" sz="2600" b="1" dirty="0"/>
          </a:p>
        </p:txBody>
      </p:sp>
      <p:sp>
        <p:nvSpPr>
          <p:cNvPr id="4" name="3 Rectángulo"/>
          <p:cNvSpPr/>
          <p:nvPr/>
        </p:nvSpPr>
        <p:spPr>
          <a:xfrm>
            <a:off x="433892" y="4833354"/>
            <a:ext cx="36340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i="1" dirty="0" smtClean="0"/>
              <a:t>Ejemplo</a:t>
            </a:r>
            <a:r>
              <a:rPr lang="es-CO" sz="3200" dirty="0"/>
              <a:t>: Efectuar la suma de 1</a:t>
            </a:r>
            <a:r>
              <a:rPr lang="es-CO" sz="3200" dirty="0" smtClean="0"/>
              <a:t>01001 </a:t>
            </a:r>
            <a:r>
              <a:rPr lang="es-CO" sz="3200" dirty="0"/>
              <a:t>y </a:t>
            </a:r>
            <a:r>
              <a:rPr lang="es-CO" sz="3200" dirty="0" smtClean="0"/>
              <a:t>111000.</a:t>
            </a:r>
            <a:endParaRPr lang="es-CO" sz="32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1.4. </a:t>
            </a:r>
            <a:r>
              <a:rPr lang="es-ES" sz="4000" dirty="0"/>
              <a:t>Operaciones aritméticas básicas en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628" y="2613350"/>
            <a:ext cx="5070644" cy="2091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4989105"/>
            <a:ext cx="3781425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39965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52407" y="2119804"/>
            <a:ext cx="7745505" cy="460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600" b="1" dirty="0" smtClean="0"/>
              <a:t>Resta Binaria.</a:t>
            </a:r>
            <a:endParaRPr lang="es-ES" sz="2600" b="1" dirty="0"/>
          </a:p>
        </p:txBody>
      </p:sp>
      <p:sp>
        <p:nvSpPr>
          <p:cNvPr id="4" name="3 Rectángulo"/>
          <p:cNvSpPr/>
          <p:nvPr/>
        </p:nvSpPr>
        <p:spPr>
          <a:xfrm>
            <a:off x="1043608" y="4831751"/>
            <a:ext cx="363405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000" b="1" i="1" dirty="0" smtClean="0"/>
              <a:t>Ejemplo</a:t>
            </a:r>
            <a:r>
              <a:rPr lang="es-CO" sz="3000" dirty="0"/>
              <a:t>: Efectuar la </a:t>
            </a:r>
            <a:r>
              <a:rPr lang="es-CO" sz="3000" dirty="0" smtClean="0"/>
              <a:t>resta de 10111 menos 01000. </a:t>
            </a:r>
          </a:p>
          <a:p>
            <a:r>
              <a:rPr lang="es-CO" sz="3000" dirty="0" smtClean="0"/>
              <a:t>(23-8=15)</a:t>
            </a:r>
            <a:endParaRPr lang="es-CO" sz="3000" dirty="0"/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683568" y="692696"/>
            <a:ext cx="7987965" cy="1054250"/>
          </a:xfrm>
        </p:spPr>
        <p:txBody>
          <a:bodyPr/>
          <a:lstStyle/>
          <a:p>
            <a:r>
              <a:rPr lang="es-ES" sz="4000" dirty="0" smtClean="0"/>
              <a:t>1.4. </a:t>
            </a:r>
            <a:r>
              <a:rPr lang="es-ES" sz="4000" dirty="0"/>
              <a:t>Operaciones aritméticas básicas en binario.</a:t>
            </a:r>
            <a:r>
              <a:rPr lang="es-CO" sz="4000" dirty="0"/>
              <a:t/>
            </a:r>
            <a:br>
              <a:rPr lang="es-CO" sz="4000" dirty="0"/>
            </a:br>
            <a:endParaRPr lang="es-CO" sz="4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227" y="2564905"/>
            <a:ext cx="5929623" cy="22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965423"/>
            <a:ext cx="2964812" cy="1671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5744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503513"/>
            <a:ext cx="7745505" cy="3877815"/>
          </a:xfrm>
        </p:spPr>
        <p:txBody>
          <a:bodyPr/>
          <a:lstStyle/>
          <a:p>
            <a:r>
              <a:rPr lang="es-ES" b="1" i="1" dirty="0"/>
              <a:t>Comunicación a través de módulos </a:t>
            </a:r>
            <a:r>
              <a:rPr lang="es-ES" b="1" i="1" dirty="0" smtClean="0"/>
              <a:t>Bluetooth</a:t>
            </a:r>
          </a:p>
          <a:p>
            <a:r>
              <a:rPr lang="es-ES" b="1" i="1" dirty="0"/>
              <a:t>Control ADC de 24 bits y envío de </a:t>
            </a:r>
            <a:r>
              <a:rPr lang="es-ES" b="1" i="1" dirty="0" smtClean="0"/>
              <a:t>datos</a:t>
            </a:r>
          </a:p>
          <a:p>
            <a:r>
              <a:rPr lang="es-ES" b="1" i="1" dirty="0"/>
              <a:t>Adquisición y envío de datos de sensores de </a:t>
            </a:r>
            <a:r>
              <a:rPr lang="es-ES" b="1" i="1" dirty="0" smtClean="0"/>
              <a:t>gases</a:t>
            </a:r>
          </a:p>
          <a:p>
            <a:r>
              <a:rPr lang="es-ES" b="1" i="1" dirty="0"/>
              <a:t>Lectura y escritura de memoria SD ultra </a:t>
            </a:r>
            <a:r>
              <a:rPr lang="es-ES" b="1" i="1" dirty="0" smtClean="0"/>
              <a:t>rápida</a:t>
            </a:r>
          </a:p>
          <a:p>
            <a:r>
              <a:rPr lang="es-ES" b="1" i="1" dirty="0"/>
              <a:t>Sincronización de eventos de muestreo a través de </a:t>
            </a:r>
            <a:r>
              <a:rPr lang="es-ES" b="1" i="1" dirty="0" smtClean="0"/>
              <a:t>GPS</a:t>
            </a:r>
          </a:p>
          <a:p>
            <a:r>
              <a:rPr lang="es-ES" b="1" i="1" dirty="0"/>
              <a:t>Adquisición y envío de datos de sensor de material </a:t>
            </a:r>
            <a:r>
              <a:rPr lang="es-ES" b="1" i="1" dirty="0" err="1" smtClean="0"/>
              <a:t>particulado</a:t>
            </a:r>
            <a:endParaRPr lang="es-ES" b="1" i="1" dirty="0"/>
          </a:p>
          <a:p>
            <a:endParaRPr lang="es-ES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688490" y="188640"/>
            <a:ext cx="7756263" cy="1054250"/>
          </a:xfrm>
        </p:spPr>
        <p:txBody>
          <a:bodyPr/>
          <a:lstStyle/>
          <a:p>
            <a:r>
              <a:rPr lang="es-ES" dirty="0" smtClean="0"/>
              <a:t>Proyectos Finales</a:t>
            </a:r>
            <a:endParaRPr lang="es-ES" dirty="0"/>
          </a:p>
        </p:txBody>
      </p:sp>
      <p:sp>
        <p:nvSpPr>
          <p:cNvPr id="4" name="2 Marcador de contenido"/>
          <p:cNvSpPr txBox="1">
            <a:spLocks/>
          </p:cNvSpPr>
          <p:nvPr/>
        </p:nvSpPr>
        <p:spPr>
          <a:xfrm>
            <a:off x="683568" y="1196752"/>
            <a:ext cx="7745505" cy="460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s-ES" sz="2600" b="1" dirty="0" smtClean="0"/>
              <a:t>Primer Grupo de Proyectos</a:t>
            </a:r>
            <a:endParaRPr lang="es-ES" sz="2600" b="1" dirty="0"/>
          </a:p>
        </p:txBody>
      </p:sp>
    </p:spTree>
    <p:extLst>
      <p:ext uri="{BB962C8B-B14F-4D97-AF65-F5344CB8AC3E}">
        <p14:creationId xmlns:p14="http://schemas.microsoft.com/office/powerpoint/2010/main" val="284217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rtoné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380</TotalTime>
  <Words>326</Words>
  <Application>Microsoft Office PowerPoint</Application>
  <PresentationFormat>Presentación en pantalla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Book Antiqua</vt:lpstr>
      <vt:lpstr>Wingdings</vt:lpstr>
      <vt:lpstr>Cartoné</vt:lpstr>
      <vt:lpstr>1. Introducción al mundo digital.</vt:lpstr>
      <vt:lpstr>1.1. Electrónica Digital vs Electrónica Análoga. </vt:lpstr>
      <vt:lpstr>1.1. Electrónica Digital vs Electrónica Análoga. </vt:lpstr>
      <vt:lpstr>1.1. Electrónica Digital vs Electrónica Análoga. </vt:lpstr>
      <vt:lpstr>1.2. Sistemas de Numeración: Binario. </vt:lpstr>
      <vt:lpstr>1.3. Conversión entre sistemas de Numeración. </vt:lpstr>
      <vt:lpstr>1.3. Conversión entre sistemas de Numeración. </vt:lpstr>
      <vt:lpstr>1.4. Operaciones aritméticas básicas en binario. </vt:lpstr>
      <vt:lpstr>1.4. Operaciones aritméticas básicas en binario. </vt:lpstr>
      <vt:lpstr>Proyectos Finales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Carlos Alejandro Trujillo Anaya</cp:lastModifiedBy>
  <cp:revision>96</cp:revision>
  <dcterms:created xsi:type="dcterms:W3CDTF">2011-01-25T07:15:41Z</dcterms:created>
  <dcterms:modified xsi:type="dcterms:W3CDTF">2016-02-02T02:16:12Z</dcterms:modified>
</cp:coreProperties>
</file>
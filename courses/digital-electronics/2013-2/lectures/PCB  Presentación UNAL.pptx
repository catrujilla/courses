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2" r:id="rId6"/>
    <p:sldId id="263" r:id="rId7"/>
    <p:sldId id="264" r:id="rId8"/>
    <p:sldId id="266" r:id="rId9"/>
    <p:sldId id="265" r:id="rId10"/>
    <p:sldId id="267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08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3492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164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911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417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3994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94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565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24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160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657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D9A65-6FAD-D148-8904-5D0391AD66AA}" type="datetimeFigureOut">
              <a:rPr lang="es-ES" smtClean="0"/>
              <a:t>25/08/2013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5DECE-14ED-0F4A-933C-6F11FD405D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288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/>
          <a:lstStyle/>
          <a:p>
            <a:r>
              <a:rPr lang="es-ES" dirty="0" smtClean="0"/>
              <a:t>DISEÑO  DE CIRCUITOS  IMPRESOS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4822502"/>
            <a:ext cx="6400800" cy="816298"/>
          </a:xfrm>
        </p:spPr>
        <p:txBody>
          <a:bodyPr/>
          <a:lstStyle/>
          <a:p>
            <a:r>
              <a:rPr lang="es-ES" dirty="0" smtClean="0"/>
              <a:t>Jorge Aristizabal</a:t>
            </a:r>
          </a:p>
          <a:p>
            <a:endParaRPr lang="es-ES" dirty="0"/>
          </a:p>
        </p:txBody>
      </p:sp>
      <p:pic>
        <p:nvPicPr>
          <p:cNvPr id="4" name="Imagen 3" descr="descarga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605" y="2316710"/>
            <a:ext cx="4164036" cy="250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6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CIRCUITO IMPRESO (PCB)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11252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/>
              <a:t>Superficie constituida por caminos o pistas de material conductor laminado sobre una base no conductora.</a:t>
            </a:r>
            <a:endParaRPr lang="es-ES" dirty="0"/>
          </a:p>
        </p:txBody>
      </p:sp>
      <p:pic>
        <p:nvPicPr>
          <p:cNvPr id="4" name="Imagen 3" descr="pcb-trace-geometry-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189" y="3134626"/>
            <a:ext cx="7074040" cy="349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1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HISTORIA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smtClean="0"/>
              <a:t>1920 Charles </a:t>
            </a:r>
            <a:r>
              <a:rPr lang="es-ES" dirty="0" err="1" smtClean="0"/>
              <a:t>Ducas</a:t>
            </a:r>
            <a:r>
              <a:rPr lang="es-ES" dirty="0" smtClean="0"/>
              <a:t> Patente  invención (punto a punto)</a:t>
            </a:r>
          </a:p>
          <a:p>
            <a:r>
              <a:rPr lang="es-ES" dirty="0" smtClean="0"/>
              <a:t>1943 Paul </a:t>
            </a:r>
            <a:r>
              <a:rPr lang="es-ES" dirty="0" err="1" smtClean="0"/>
              <a:t>Eisler</a:t>
            </a:r>
            <a:r>
              <a:rPr lang="es-ES" dirty="0"/>
              <a:t> </a:t>
            </a:r>
            <a:r>
              <a:rPr lang="es-ES" dirty="0" smtClean="0"/>
              <a:t>(</a:t>
            </a:r>
            <a:r>
              <a:rPr lang="es-ES" dirty="0" err="1" smtClean="0"/>
              <a:t>Ing</a:t>
            </a:r>
            <a:r>
              <a:rPr lang="es-ES" dirty="0" smtClean="0"/>
              <a:t> Austriaco)</a:t>
            </a:r>
          </a:p>
          <a:p>
            <a:r>
              <a:rPr lang="es-ES" dirty="0" smtClean="0"/>
              <a:t>Usado para  construir radios as potentes  durante  la segunda guerra mundial</a:t>
            </a:r>
          </a:p>
          <a:p>
            <a:r>
              <a:rPr lang="es-ES" dirty="0" smtClean="0"/>
              <a:t>1948- EEUU libera  el invento</a:t>
            </a:r>
          </a:p>
          <a:p>
            <a:r>
              <a:rPr lang="es-ES" dirty="0" smtClean="0"/>
              <a:t>1950- se vuelve  famoso el uso de </a:t>
            </a:r>
            <a:r>
              <a:rPr lang="es-ES" dirty="0" err="1" smtClean="0"/>
              <a:t>PCBs</a:t>
            </a:r>
            <a:endParaRPr lang="es-ES" dirty="0" smtClean="0"/>
          </a:p>
          <a:p>
            <a:r>
              <a:rPr lang="es-ES" dirty="0" smtClean="0"/>
              <a:t> 1960- Desarrollo técnica de  montaje  superficial</a:t>
            </a:r>
          </a:p>
          <a:p>
            <a:r>
              <a:rPr lang="es-ES" dirty="0" smtClean="0"/>
              <a:t>1980- </a:t>
            </a:r>
            <a:r>
              <a:rPr lang="es-ES" dirty="0" err="1" smtClean="0"/>
              <a:t>Japon</a:t>
            </a:r>
            <a:endParaRPr lang="es-ES" dirty="0" smtClean="0"/>
          </a:p>
          <a:p>
            <a:r>
              <a:rPr lang="es-ES" dirty="0" smtClean="0"/>
              <a:t>1990- EL mundo</a:t>
            </a:r>
          </a:p>
          <a:p>
            <a:endParaRPr lang="es-ES" dirty="0" smtClean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881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Para qué sirven?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 smtClean="0"/>
              <a:t>Permiten conectar eléctricamente y sostener mecánicamente los componentes electrónicos de un circuito</a:t>
            </a:r>
            <a:endParaRPr lang="es-ES" b="1" dirty="0"/>
          </a:p>
        </p:txBody>
      </p:sp>
      <p:pic>
        <p:nvPicPr>
          <p:cNvPr id="4" name="Imagen 3" descr="kicadsample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25" y="3231077"/>
            <a:ext cx="6704260" cy="303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8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Materiales de PCB</a:t>
            </a:r>
            <a:br>
              <a:rPr lang="es-ES" dirty="0" smtClean="0"/>
            </a:br>
            <a:r>
              <a:rPr lang="es-ES" dirty="0" smtClean="0"/>
              <a:t>(sustrato aislante)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s-ES" dirty="0" smtClean="0"/>
              <a:t>SUSTRATO AISLANTE:</a:t>
            </a:r>
          </a:p>
          <a:p>
            <a:r>
              <a:rPr lang="es-ES_tradnl" dirty="0" smtClean="0"/>
              <a:t>FR-1 (Papel Fenólico)</a:t>
            </a:r>
          </a:p>
          <a:p>
            <a:r>
              <a:rPr lang="es-ES_tradnl" dirty="0" smtClean="0"/>
              <a:t>FR-2 (Papel Fenólico) </a:t>
            </a:r>
          </a:p>
          <a:p>
            <a:r>
              <a:rPr lang="es-ES_tradnl" dirty="0" smtClean="0"/>
              <a:t>FR-3 (Papel Fenólico y Epoxi) </a:t>
            </a:r>
          </a:p>
          <a:p>
            <a:r>
              <a:rPr lang="es-ES_tradnl" dirty="0" smtClean="0"/>
              <a:t>FR-4 (Fibra de Vidrio y Epoxi) </a:t>
            </a:r>
          </a:p>
          <a:p>
            <a:r>
              <a:rPr lang="es-ES_tradnl" dirty="0" smtClean="0"/>
              <a:t>FR-5 (Fibra de Vidrio y Epoxi) </a:t>
            </a:r>
          </a:p>
          <a:p>
            <a:r>
              <a:rPr lang="es-ES_tradnl" dirty="0" smtClean="0"/>
              <a:t>FR-6 (Vidrio mate y Polyester) </a:t>
            </a:r>
          </a:p>
          <a:p>
            <a:r>
              <a:rPr lang="es-ES_tradnl" dirty="0" smtClean="0"/>
              <a:t>G-10 (Fibra de Vidrio y Epoxi) </a:t>
            </a:r>
          </a:p>
          <a:p>
            <a:r>
              <a:rPr lang="es-ES_tradnl" dirty="0" smtClean="0"/>
              <a:t>CEM-1 (papel y Epoxi) </a:t>
            </a:r>
          </a:p>
          <a:p>
            <a:r>
              <a:rPr lang="es-ES_tradnl" dirty="0" smtClean="0"/>
              <a:t>CEM-2 (papel y Epoxi) </a:t>
            </a:r>
          </a:p>
          <a:p>
            <a:r>
              <a:rPr lang="es-ES_tradnl" dirty="0" smtClean="0"/>
              <a:t>CEM-3 (Fibra de Vidrio y Epoxi) </a:t>
            </a:r>
          </a:p>
          <a:p>
            <a:r>
              <a:rPr lang="es-ES_tradnl" dirty="0" smtClean="0"/>
              <a:t>CEM-4 (Fibra de Vidrio y Epoxi) </a:t>
            </a:r>
          </a:p>
          <a:p>
            <a:r>
              <a:rPr lang="es-ES_tradnl" dirty="0" smtClean="0"/>
              <a:t>CEM-5 (Fibra de Vidrio y Poliéster)FR-4 </a:t>
            </a:r>
            <a:r>
              <a:rPr lang="es-ES_tradnl" dirty="0" err="1" smtClean="0"/>
              <a:t>Rigido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361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Materiales de PCB</a:t>
            </a:r>
            <a:br>
              <a:rPr lang="es-ES" dirty="0" smtClean="0"/>
            </a:br>
            <a:r>
              <a:rPr lang="es-ES" dirty="0" smtClean="0"/>
              <a:t>(Laminado)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smtClean="0"/>
              <a:t>Cobre</a:t>
            </a:r>
          </a:p>
          <a:p>
            <a:r>
              <a:rPr lang="es-ES" dirty="0" smtClean="0"/>
              <a:t>Oro</a:t>
            </a:r>
          </a:p>
          <a:p>
            <a:pPr marL="0" indent="0">
              <a:buNone/>
            </a:pPr>
            <a:r>
              <a:rPr lang="es-ES_tradnl" dirty="0" smtClean="0"/>
              <a:t>Espesor aislante</a:t>
            </a:r>
          </a:p>
          <a:p>
            <a:pPr marL="0" indent="0">
              <a:buNone/>
            </a:pPr>
            <a:r>
              <a:rPr lang="es-ES_tradnl" dirty="0" smtClean="0"/>
              <a:t>0,2 0,5 0,7 0,8 1,0 1,2 1,5 1,6 2,0 2,4 3,2 ó 6,4 mm (UNE 20-621-84/3)</a:t>
            </a:r>
          </a:p>
          <a:p>
            <a:pPr marL="0" indent="0">
              <a:buNone/>
            </a:pPr>
            <a:r>
              <a:rPr lang="es-ES_tradnl" dirty="0" smtClean="0"/>
              <a:t>Espesor  Lamina conductora</a:t>
            </a:r>
            <a:endParaRPr lang="es-ES" dirty="0" smtClean="0"/>
          </a:p>
          <a:p>
            <a:pPr marL="0" indent="0">
              <a:buNone/>
            </a:pPr>
            <a:r>
              <a:rPr lang="es-ES" dirty="0" smtClean="0"/>
              <a:t>El espesor  del laminado  suele expresarse en onzas por pie cuadrado, siendo la mas común  1 onza, que  equivale a  35micras de espesor. Las  mas comunes  son  ½, 1, 2 y 3 onzas por pie cuadrado.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963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DISEÑANDO </a:t>
            </a:r>
            <a:r>
              <a:rPr lang="es-ES" dirty="0" err="1" smtClean="0"/>
              <a:t>PCBs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 smtClean="0"/>
              <a:t>1. Información legal</a:t>
            </a:r>
          </a:p>
          <a:p>
            <a:pPr marL="0" indent="0">
              <a:buNone/>
            </a:pPr>
            <a:r>
              <a:rPr lang="es-ES" dirty="0" smtClean="0"/>
              <a:t>2. Requerimientos de diseño (condiciones  ambientales, tamaño, instalación, propiedades mecánicas, tecnología de ensamble, etapa de  diseño, etc.)</a:t>
            </a:r>
          </a:p>
          <a:p>
            <a:pPr marL="0" indent="0">
              <a:buNone/>
            </a:pPr>
            <a:r>
              <a:rPr lang="es-ES" dirty="0" smtClean="0"/>
              <a:t>3. Diseño de  un esquema del circuitos</a:t>
            </a:r>
          </a:p>
          <a:p>
            <a:pPr marL="0" indent="0">
              <a:buNone/>
            </a:pPr>
            <a:r>
              <a:rPr lang="es-ES" dirty="0" smtClean="0"/>
              <a:t>4.Lista de partes a utilizar (descripción, encapsulados a  usar, </a:t>
            </a:r>
            <a:r>
              <a:rPr lang="es-ES" dirty="0" err="1" smtClean="0"/>
              <a:t>etc</a:t>
            </a:r>
            <a:r>
              <a:rPr lang="es-ES" dirty="0" smtClean="0"/>
              <a:t>)</a:t>
            </a:r>
          </a:p>
          <a:p>
            <a:endParaRPr lang="es-ES" dirty="0" smtClean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320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DISEÑANDO </a:t>
            </a:r>
            <a:r>
              <a:rPr lang="es-ES" dirty="0" err="1" smtClean="0"/>
              <a:t>PCBs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Establecer pruebas de funcionamiento</a:t>
            </a:r>
          </a:p>
          <a:p>
            <a:r>
              <a:rPr lang="es-ES" dirty="0" smtClean="0"/>
              <a:t>Diseño de la  </a:t>
            </a:r>
            <a:r>
              <a:rPr lang="es-ES" dirty="0" err="1" smtClean="0"/>
              <a:t>board</a:t>
            </a:r>
            <a:r>
              <a:rPr lang="es-ES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602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  DE DISEÑO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Puntos de soldadura: círculos don diámetro de  al menos el doble de  la pista.</a:t>
            </a:r>
          </a:p>
          <a:p>
            <a:r>
              <a:rPr lang="es-ES" dirty="0" smtClean="0"/>
              <a:t>Ancho de pistas en función de  la corriente: 0.8mm aprox. 2 A, 2mm aprox. 5 A, 4.5mm  aprox. 10 A.</a:t>
            </a:r>
          </a:p>
          <a:p>
            <a:r>
              <a:rPr lang="es-ES" dirty="0" smtClean="0"/>
              <a:t>Distancia  mínima  entre  pistas  y bordes  de  la  placa, aprox. 5mm.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5270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</a:t>
            </a:r>
            <a:endParaRPr lang="es-E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75"/>
          <a:stretch/>
        </p:blipFill>
        <p:spPr bwMode="auto">
          <a:xfrm>
            <a:off x="2430310" y="1500209"/>
            <a:ext cx="3695700" cy="261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2"/>
          <a:stretch/>
        </p:blipFill>
        <p:spPr bwMode="auto">
          <a:xfrm>
            <a:off x="293121" y="4115953"/>
            <a:ext cx="8181975" cy="2247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832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14"/>
          <a:stretch/>
        </p:blipFill>
        <p:spPr bwMode="auto">
          <a:xfrm>
            <a:off x="970766" y="1738115"/>
            <a:ext cx="7058416" cy="220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90"/>
          <a:stretch/>
        </p:blipFill>
        <p:spPr bwMode="auto">
          <a:xfrm>
            <a:off x="1045138" y="4133585"/>
            <a:ext cx="2944997" cy="1840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041"/>
          <a:stretch/>
        </p:blipFill>
        <p:spPr bwMode="auto">
          <a:xfrm>
            <a:off x="3847707" y="4483341"/>
            <a:ext cx="4181475" cy="134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719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35"/>
          <a:stretch/>
        </p:blipFill>
        <p:spPr bwMode="auto">
          <a:xfrm>
            <a:off x="558582" y="1990179"/>
            <a:ext cx="3457024" cy="2920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668"/>
          <a:stretch/>
        </p:blipFill>
        <p:spPr bwMode="auto">
          <a:xfrm>
            <a:off x="3808228" y="1940075"/>
            <a:ext cx="5067834" cy="665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260"/>
          <a:stretch/>
        </p:blipFill>
        <p:spPr bwMode="auto">
          <a:xfrm>
            <a:off x="3901858" y="3017466"/>
            <a:ext cx="4855522" cy="2218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593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680" y="4811713"/>
            <a:ext cx="422512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25" y="3779533"/>
            <a:ext cx="4265438" cy="275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68" y="1414333"/>
            <a:ext cx="3133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293" y="1707780"/>
            <a:ext cx="444817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07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385</Words>
  <Application>Microsoft Office PowerPoint</Application>
  <PresentationFormat>Presentación en pantalla (4:3)</PresentationFormat>
  <Paragraphs>52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DISEÑO  DE CIRCUITOS  IMPRESOS</vt:lpstr>
      <vt:lpstr>CIRCUITO IMPRESO (PCB)</vt:lpstr>
      <vt:lpstr>HISTORIA</vt:lpstr>
      <vt:lpstr>Para qué sirven?</vt:lpstr>
      <vt:lpstr>Materiales de PCB (sustrato aislante)</vt:lpstr>
      <vt:lpstr>Materiales de PCB (Laminado)</vt:lpstr>
      <vt:lpstr>DISEÑANDO PCBs</vt:lpstr>
      <vt:lpstr>DISEÑANDO PCBs</vt:lpstr>
      <vt:lpstr>RECOMENDACIONES  DE DISEÑO</vt:lpstr>
      <vt:lpstr>RECOMENDACIONES</vt:lpstr>
      <vt:lpstr>RECOMENDACIONES</vt:lpstr>
      <vt:lpstr>RECOMENDACIONES</vt:lpstr>
      <vt:lpstr>RECOMENDACIONES</vt:lpstr>
    </vt:vector>
  </TitlesOfParts>
  <Company>Jorge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 DE CIRCUITOS  IMPRESOS</dc:title>
  <dc:creator>Jorge Aristizabal</dc:creator>
  <cp:lastModifiedBy>SiataOldLaptop</cp:lastModifiedBy>
  <cp:revision>14</cp:revision>
  <dcterms:created xsi:type="dcterms:W3CDTF">2013-08-25T12:53:50Z</dcterms:created>
  <dcterms:modified xsi:type="dcterms:W3CDTF">2013-08-26T02:02:54Z</dcterms:modified>
</cp:coreProperties>
</file>
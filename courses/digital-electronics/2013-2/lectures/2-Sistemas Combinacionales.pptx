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3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076"/>
    <a:srgbClr val="990033"/>
    <a:srgbClr val="840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6" autoAdjust="0"/>
    <p:restoredTop sz="94660"/>
  </p:normalViewPr>
  <p:slideViewPr>
    <p:cSldViewPr>
      <p:cViewPr>
        <p:scale>
          <a:sx n="80" d="100"/>
          <a:sy n="80" d="100"/>
        </p:scale>
        <p:origin x="-498" y="-2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25/08/2013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827634"/>
          </a:xfrm>
        </p:spPr>
        <p:txBody>
          <a:bodyPr>
            <a:normAutofit/>
          </a:bodyPr>
          <a:lstStyle/>
          <a:p>
            <a:r>
              <a:rPr lang="es-ES" dirty="0" smtClean="0">
                <a:effectLst/>
              </a:rPr>
              <a:t>2. Sistemas </a:t>
            </a:r>
            <a:r>
              <a:rPr lang="es-ES" dirty="0" err="1" smtClean="0">
                <a:effectLst/>
              </a:rPr>
              <a:t>Combinacionales</a:t>
            </a:r>
            <a:r>
              <a:rPr lang="es-ES" dirty="0" smtClean="0">
                <a:effectLst/>
              </a:rPr>
              <a:t>.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73017"/>
            <a:ext cx="6400800" cy="3024336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effectLst/>
              </a:rPr>
              <a:t>2.1. Compuertas Básicas.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2.2  Familias TTL y CMOS.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2.3. Algebra de Boole.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2.4. Síntesis lógica de circuitos combinatorios.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2.5. Codificadores </a:t>
            </a:r>
            <a:r>
              <a:rPr lang="es-ES" dirty="0">
                <a:effectLst/>
              </a:rPr>
              <a:t>y Decodificadores</a:t>
            </a:r>
            <a:r>
              <a:rPr lang="es-ES" dirty="0" smtClean="0">
                <a:effectLst/>
              </a:rPr>
              <a:t>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2.6</a:t>
            </a:r>
            <a:r>
              <a:rPr lang="es-ES" dirty="0" smtClean="0">
                <a:effectLst/>
              </a:rPr>
              <a:t>. </a:t>
            </a:r>
            <a:r>
              <a:rPr lang="es-ES" dirty="0">
                <a:effectLst/>
              </a:rPr>
              <a:t>Multiplexores y </a:t>
            </a:r>
            <a:r>
              <a:rPr lang="es-ES" dirty="0" err="1">
                <a:effectLst/>
              </a:rPr>
              <a:t>demultiplexores</a:t>
            </a:r>
            <a:r>
              <a:rPr lang="es-ES" dirty="0" smtClean="0">
                <a:effectLst/>
              </a:rPr>
              <a:t>.</a:t>
            </a:r>
          </a:p>
          <a:p>
            <a:r>
              <a:rPr lang="es-ES" dirty="0" smtClean="0">
                <a:effectLst/>
              </a:rPr>
              <a:t>2.7. Circuitos aritméticos.</a:t>
            </a:r>
          </a:p>
          <a:p>
            <a:r>
              <a:rPr lang="es-ES" dirty="0" smtClean="0">
                <a:effectLst/>
              </a:rPr>
              <a:t>2.8. </a:t>
            </a:r>
            <a:r>
              <a:rPr lang="es-ES" dirty="0">
                <a:effectLst/>
              </a:rPr>
              <a:t>Unidad Aritmética y lógica ALU.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Agosto 15 de 2013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580112" y="3789040"/>
            <a:ext cx="2520280" cy="53258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Empaque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3" name="2 Marcador de contenido"/>
          <p:cNvSpPr txBox="1">
            <a:spLocks/>
          </p:cNvSpPr>
          <p:nvPr/>
        </p:nvSpPr>
        <p:spPr>
          <a:xfrm>
            <a:off x="899592" y="3783596"/>
            <a:ext cx="3408274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 smtClean="0"/>
              <a:t>Representación</a:t>
            </a:r>
            <a:endParaRPr lang="es-ES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971600" y="2204864"/>
            <a:ext cx="4536504" cy="1368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 smtClean="0"/>
              <a:t>Medio para llevar a cabo funciones lógicas:</a:t>
            </a:r>
          </a:p>
          <a:p>
            <a:pPr>
              <a:buFontTx/>
              <a:buChar char="-"/>
            </a:pPr>
            <a:r>
              <a:rPr lang="es-ES" sz="1600" dirty="0" smtClean="0"/>
              <a:t>Inversión</a:t>
            </a:r>
          </a:p>
          <a:p>
            <a:pPr>
              <a:buFontTx/>
              <a:buChar char="-"/>
            </a:pPr>
            <a:r>
              <a:rPr lang="es-ES" sz="1600" dirty="0" smtClean="0"/>
              <a:t>Suma</a:t>
            </a:r>
          </a:p>
          <a:p>
            <a:pPr>
              <a:buFontTx/>
              <a:buChar char="-"/>
            </a:pPr>
            <a:r>
              <a:rPr lang="es-ES" sz="1600" dirty="0" smtClean="0"/>
              <a:t>Multiplicación</a:t>
            </a:r>
          </a:p>
          <a:p>
            <a:pPr>
              <a:buFontTx/>
              <a:buChar char="-"/>
            </a:pPr>
            <a:r>
              <a:rPr lang="es-ES" sz="1600" dirty="0" smtClean="0"/>
              <a:t>Y otras operaciones que resultan de estas </a:t>
            </a:r>
          </a:p>
          <a:p>
            <a:endParaRPr lang="es-E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4359660"/>
            <a:ext cx="2286857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5583796"/>
            <a:ext cx="2304256" cy="101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4365104"/>
            <a:ext cx="1296144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20272" y="4365104"/>
            <a:ext cx="122413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00192" y="5733256"/>
            <a:ext cx="11144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2 Marcador de contenido"/>
          <p:cNvSpPr txBox="1">
            <a:spLocks/>
          </p:cNvSpPr>
          <p:nvPr/>
        </p:nvSpPr>
        <p:spPr>
          <a:xfrm>
            <a:off x="5220072" y="2204864"/>
            <a:ext cx="3384376" cy="15121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65760" marR="0" lvl="0" indent="-36576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lang="es-ES" sz="2400" b="1" i="1" noProof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¡Se componen principalmente de Transistores, construidos con semiconductores! </a:t>
            </a:r>
            <a:endParaRPr kumimoji="0" lang="es-ES" sz="2400" b="1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827584" y="2636912"/>
            <a:ext cx="338437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 NOT</a:t>
            </a:r>
          </a:p>
        </p:txBody>
      </p:sp>
      <p:grpSp>
        <p:nvGrpSpPr>
          <p:cNvPr id="23" name="22 Grupo"/>
          <p:cNvGrpSpPr/>
          <p:nvPr/>
        </p:nvGrpSpPr>
        <p:grpSpPr>
          <a:xfrm>
            <a:off x="4860032" y="3789041"/>
            <a:ext cx="3842182" cy="2880320"/>
            <a:chOff x="5436096" y="4941168"/>
            <a:chExt cx="3410134" cy="1746337"/>
          </a:xfrm>
        </p:grpSpPr>
        <p:sp>
          <p:nvSpPr>
            <p:cNvPr id="18" name="17 Rectángulo"/>
            <p:cNvSpPr/>
            <p:nvPr/>
          </p:nvSpPr>
          <p:spPr>
            <a:xfrm>
              <a:off x="5436096" y="4941168"/>
              <a:ext cx="3384376" cy="16561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5461854" y="5031321"/>
              <a:ext cx="3384376" cy="16561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s-ES" sz="2600" b="1" i="1" dirty="0" smtClean="0"/>
                <a:t>Tabla de verdad: </a:t>
              </a:r>
              <a:r>
                <a:rPr lang="es-ES" b="1" i="1" dirty="0" smtClean="0"/>
                <a:t>Es una representación tabulada de una operación lógica que </a:t>
              </a:r>
              <a:r>
                <a:rPr lang="es-ES" b="1" i="1" dirty="0"/>
                <a:t>define completamente la </a:t>
              </a:r>
              <a:r>
                <a:rPr lang="es-ES" b="1" i="1" dirty="0" smtClean="0"/>
                <a:t>operación. El número de salidas que tiene una tabla de verdad con n entradas es 2</a:t>
              </a:r>
              <a:r>
                <a:rPr lang="es-ES" b="1" i="1" baseline="30000" dirty="0" smtClean="0"/>
                <a:t>n</a:t>
              </a:r>
              <a:r>
                <a:rPr lang="es-ES" b="1" i="1" dirty="0" smtClean="0"/>
                <a:t>.</a:t>
              </a:r>
            </a:p>
          </p:txBody>
        </p:sp>
      </p:grp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429000"/>
            <a:ext cx="3528392" cy="288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2780928"/>
            <a:ext cx="22193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Marcador de contenido"/>
          <p:cNvSpPr txBox="1">
            <a:spLocks/>
          </p:cNvSpPr>
          <p:nvPr/>
        </p:nvSpPr>
        <p:spPr>
          <a:xfrm>
            <a:off x="7524328" y="2996952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 A’  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5373" y="3027809"/>
            <a:ext cx="2190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3" name="2 Marcador de contenido"/>
          <p:cNvSpPr txBox="1">
            <a:spLocks/>
          </p:cNvSpPr>
          <p:nvPr/>
        </p:nvSpPr>
        <p:spPr>
          <a:xfrm>
            <a:off x="467544" y="2996952"/>
            <a:ext cx="3840322" cy="532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Compuertas AND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2564904"/>
            <a:ext cx="4320480" cy="1735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1920" y="4797152"/>
            <a:ext cx="432048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Marcador de contenido"/>
          <p:cNvSpPr txBox="1">
            <a:spLocks/>
          </p:cNvSpPr>
          <p:nvPr/>
        </p:nvSpPr>
        <p:spPr>
          <a:xfrm>
            <a:off x="539552" y="5416699"/>
            <a:ext cx="3840322" cy="532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Compuertas OR</a:t>
            </a:r>
            <a:endParaRPr lang="es-ES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475656" y="3573016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0709" y="3573016"/>
            <a:ext cx="644283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1439144" y="5877272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5910643"/>
            <a:ext cx="720080" cy="245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395536" y="2204864"/>
            <a:ext cx="770485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Otras compuertas derivadas de las anteriores…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439" y="2921258"/>
            <a:ext cx="3155473" cy="1369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863309"/>
            <a:ext cx="3096344" cy="1374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4837401"/>
            <a:ext cx="2952328" cy="1327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19694" y="6309320"/>
            <a:ext cx="736082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35696" y="4339032"/>
            <a:ext cx="792088" cy="314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52120" y="4365104"/>
            <a:ext cx="77151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364088" y="6237312"/>
            <a:ext cx="1688463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pSp>
        <p:nvGrpSpPr>
          <p:cNvPr id="5" name="4 Grupo"/>
          <p:cNvGrpSpPr/>
          <p:nvPr/>
        </p:nvGrpSpPr>
        <p:grpSpPr>
          <a:xfrm>
            <a:off x="4716016" y="2878694"/>
            <a:ext cx="3240360" cy="1403691"/>
            <a:chOff x="4716016" y="2878694"/>
            <a:chExt cx="3240360" cy="1403691"/>
          </a:xfrm>
        </p:grpSpPr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716016" y="2878694"/>
              <a:ext cx="3240360" cy="14036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932" y="3017774"/>
              <a:ext cx="1247035" cy="354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32856"/>
            <a:ext cx="3847585" cy="478996"/>
          </a:xfrm>
        </p:spPr>
        <p:txBody>
          <a:bodyPr>
            <a:noAutofit/>
          </a:bodyPr>
          <a:lstStyle/>
          <a:p>
            <a:r>
              <a:rPr lang="es-CO" sz="2800" b="1" dirty="0"/>
              <a:t>Familia TTL (Lógica de Transistor - Transistor) </a:t>
            </a:r>
            <a:r>
              <a:rPr lang="es-CO" sz="2800" b="1" dirty="0" smtClean="0"/>
              <a:t>.</a:t>
            </a:r>
            <a:endParaRPr lang="es-CO" sz="28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2.2. </a:t>
            </a:r>
            <a:r>
              <a:rPr lang="es-ES" sz="4000" dirty="0"/>
              <a:t>Familias TTL y CMOS.</a:t>
            </a:r>
            <a:endParaRPr lang="es-CO" sz="4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3208649" cy="190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076056" y="2151279"/>
            <a:ext cx="2958679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200" b="1" dirty="0"/>
              <a:t>Circuitos Lógicos CMOS (Metal Óxido Semiconductor Complementario</a:t>
            </a:r>
            <a:r>
              <a:rPr lang="es-CO" sz="2200" b="1" dirty="0" smtClean="0"/>
              <a:t>).</a:t>
            </a:r>
            <a:endParaRPr lang="es-CO" sz="2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981" y="4079597"/>
            <a:ext cx="3572828" cy="190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276872"/>
            <a:ext cx="7592001" cy="504056"/>
          </a:xfrm>
        </p:spPr>
        <p:txBody>
          <a:bodyPr>
            <a:noAutofit/>
          </a:bodyPr>
          <a:lstStyle/>
          <a:p>
            <a:r>
              <a:rPr lang="es-CO" dirty="0" smtClean="0"/>
              <a:t>Teoría matemática que se aplica a la lógica digital.</a:t>
            </a:r>
            <a:endParaRPr lang="es-CO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358526"/>
            <a:ext cx="7987965" cy="1054250"/>
          </a:xfrm>
        </p:spPr>
        <p:txBody>
          <a:bodyPr/>
          <a:lstStyle/>
          <a:p>
            <a:r>
              <a:rPr lang="es-ES" sz="4000" dirty="0" smtClean="0"/>
              <a:t>2.3. Algebra de </a:t>
            </a:r>
            <a:r>
              <a:rPr lang="es-ES" sz="4000" dirty="0" err="1" smtClean="0"/>
              <a:t>Boole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grpSp>
        <p:nvGrpSpPr>
          <p:cNvPr id="23" name="22 Grupo"/>
          <p:cNvGrpSpPr/>
          <p:nvPr/>
        </p:nvGrpSpPr>
        <p:grpSpPr>
          <a:xfrm>
            <a:off x="580399" y="3068960"/>
            <a:ext cx="8024049" cy="2952328"/>
            <a:chOff x="580399" y="2636912"/>
            <a:chExt cx="8127218" cy="2376264"/>
          </a:xfrm>
        </p:grpSpPr>
        <p:sp>
          <p:nvSpPr>
            <p:cNvPr id="20" name="19 Rectángulo"/>
            <p:cNvSpPr/>
            <p:nvPr/>
          </p:nvSpPr>
          <p:spPr>
            <a:xfrm>
              <a:off x="3523041" y="2996952"/>
              <a:ext cx="1872208" cy="1728192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18 Rectángulo"/>
            <p:cNvSpPr/>
            <p:nvPr/>
          </p:nvSpPr>
          <p:spPr>
            <a:xfrm>
              <a:off x="6732240" y="2852936"/>
              <a:ext cx="1944216" cy="208823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827584" y="2636912"/>
              <a:ext cx="1368152" cy="2376264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2 Marcador de contenido"/>
            <p:cNvSpPr txBox="1">
              <a:spLocks/>
            </p:cNvSpPr>
            <p:nvPr/>
          </p:nvSpPr>
          <p:spPr>
            <a:xfrm>
              <a:off x="580399" y="2708920"/>
              <a:ext cx="161533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2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A, B</a:t>
              </a:r>
              <a:r>
                <a:rPr lang="es-CO" sz="2200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,</a:t>
              </a:r>
              <a:r>
                <a:rPr kumimoji="0" lang="es-CO" sz="22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C y D son entradas; pueden tener dos estados:1 o 0.</a:t>
              </a:r>
              <a:endParaRPr kumimoji="0" lang="es-CO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3" name="12 Conector recto de flecha"/>
            <p:cNvCxnSpPr/>
            <p:nvPr/>
          </p:nvCxnSpPr>
          <p:spPr>
            <a:xfrm>
              <a:off x="2339752" y="3707060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 de flecha"/>
            <p:cNvCxnSpPr/>
            <p:nvPr/>
          </p:nvCxnSpPr>
          <p:spPr>
            <a:xfrm>
              <a:off x="2339752" y="3859460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3131840" y="3068960"/>
              <a:ext cx="233541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2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Una configuración de compuertas</a:t>
              </a:r>
              <a:r>
                <a:rPr kumimoji="0" lang="es-CO" sz="22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con estas entradas….</a:t>
              </a:r>
              <a:endParaRPr kumimoji="0" lang="es-CO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2 Marcador de contenido"/>
            <p:cNvSpPr txBox="1">
              <a:spLocks/>
            </p:cNvSpPr>
            <p:nvPr/>
          </p:nvSpPr>
          <p:spPr>
            <a:xfrm>
              <a:off x="6372200" y="2924944"/>
              <a:ext cx="233541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1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Da como resultados un</a:t>
              </a:r>
              <a:r>
                <a:rPr kumimoji="0" lang="es-CO" sz="21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estado lógico que depende de la configuración de las compuertas.</a:t>
              </a:r>
              <a:endParaRPr kumimoji="0" lang="es-CO" sz="21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20 Conector recto de flecha"/>
            <p:cNvCxnSpPr/>
            <p:nvPr/>
          </p:nvCxnSpPr>
          <p:spPr>
            <a:xfrm>
              <a:off x="5508104" y="3717032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>
              <a:off x="5508104" y="3869432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2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74550"/>
            <a:ext cx="7987965" cy="1054250"/>
          </a:xfrm>
        </p:spPr>
        <p:txBody>
          <a:bodyPr/>
          <a:lstStyle/>
          <a:p>
            <a:r>
              <a:rPr lang="es-ES" sz="4000" dirty="0" smtClean="0"/>
              <a:t>2.3. Algebra de </a:t>
            </a:r>
            <a:r>
              <a:rPr lang="es-ES" sz="4000" dirty="0" err="1" smtClean="0"/>
              <a:t>Boole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4797152"/>
            <a:ext cx="566737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2 Marcador de contenido"/>
          <p:cNvSpPr txBox="1">
            <a:spLocks/>
          </p:cNvSpPr>
          <p:nvPr/>
        </p:nvSpPr>
        <p:spPr>
          <a:xfrm>
            <a:off x="395536" y="5013176"/>
            <a:ext cx="2831089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s-CO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Esquema de un sistema lógico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9156" y="2420888"/>
            <a:ext cx="34671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2 Marcador de contenido"/>
          <p:cNvSpPr txBox="1">
            <a:spLocks/>
          </p:cNvSpPr>
          <p:nvPr/>
        </p:nvSpPr>
        <p:spPr>
          <a:xfrm>
            <a:off x="1691680" y="2657500"/>
            <a:ext cx="172819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s-CO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Ejemplo: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2 Marcador de contenido"/>
          <p:cNvSpPr>
            <a:spLocks noGrp="1"/>
          </p:cNvSpPr>
          <p:nvPr>
            <p:ph idx="1"/>
          </p:nvPr>
        </p:nvSpPr>
        <p:spPr>
          <a:xfrm>
            <a:off x="652407" y="3645024"/>
            <a:ext cx="7592001" cy="50405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s-CO" i="1" dirty="0" smtClean="0"/>
              <a:t>…Circuitos combinatorios… la salida sólo depende de los estados de las entradas… 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132856"/>
            <a:ext cx="3199513" cy="1080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2200" dirty="0" smtClean="0"/>
              <a:t>A partir de una descripción del sistema que se requiere…. construir una tabla de verdad:</a:t>
            </a:r>
            <a:endParaRPr lang="es-CO" sz="22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2.4. Síntesis lógica de circuitos combinatorios.</a:t>
            </a:r>
            <a:endParaRPr lang="es-CO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75" y="3966170"/>
            <a:ext cx="1609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4572000" y="2204864"/>
            <a:ext cx="4254823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Y con ésta obtener una expresión lógica…</a:t>
            </a:r>
            <a:endParaRPr lang="es-CO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527" y="3079087"/>
            <a:ext cx="5258944" cy="42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4000008" y="3573016"/>
            <a:ext cx="4943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dirty="0" smtClean="0"/>
              <a:t>…para </a:t>
            </a:r>
            <a:r>
              <a:rPr lang="es-CO" sz="2400" dirty="0"/>
              <a:t>construir un circuito lógico: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149080"/>
            <a:ext cx="3934001" cy="2493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060848"/>
            <a:ext cx="3199513" cy="1080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2000" dirty="0" smtClean="0"/>
              <a:t>Supongamos un sistema con 3 sensores (A, B, C); cuando 2 o 3 sensores estén activados la salida del sistema debe ser alta, en caso contrario baja.</a:t>
            </a:r>
            <a:endParaRPr lang="es-CO" sz="20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2.4.1. </a:t>
            </a:r>
            <a:r>
              <a:rPr lang="es-ES" sz="3800" dirty="0"/>
              <a:t>Representación por suma de productos y por producto de sumas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75" y="4110186"/>
            <a:ext cx="1609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3851920" y="2204864"/>
            <a:ext cx="503648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200" dirty="0" smtClean="0"/>
              <a:t>…obtenemos una expresión lógica por medio de la suma de productos….</a:t>
            </a:r>
            <a:endParaRPr lang="es-CO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820" y="2996952"/>
            <a:ext cx="2720404" cy="2537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2 Marcador de contenido"/>
          <p:cNvSpPr txBox="1">
            <a:spLocks/>
          </p:cNvSpPr>
          <p:nvPr/>
        </p:nvSpPr>
        <p:spPr>
          <a:xfrm>
            <a:off x="3275856" y="5517232"/>
            <a:ext cx="5690911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200" dirty="0" smtClean="0"/>
              <a:t>… unimos estas expresiones por un «</a:t>
            </a:r>
            <a:r>
              <a:rPr lang="es-CO" sz="2200" dirty="0" err="1" smtClean="0"/>
              <a:t>or</a:t>
            </a:r>
            <a:r>
              <a:rPr lang="es-CO" sz="2200" dirty="0" smtClean="0"/>
              <a:t>»…</a:t>
            </a:r>
            <a:endParaRPr lang="es-CO" sz="22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520" y="6021288"/>
            <a:ext cx="5258944" cy="42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2507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2132856"/>
            <a:ext cx="7632848" cy="108012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2800" dirty="0" smtClean="0"/>
              <a:t>Ahora, solucionemos por producto de sumas… </a:t>
            </a:r>
            <a:endParaRPr lang="es-CO" sz="28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2.4.1. </a:t>
            </a:r>
            <a:r>
              <a:rPr lang="es-ES" sz="3800" dirty="0"/>
              <a:t>Representación por suma de productos y por producto de sumas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1115616" y="5445224"/>
            <a:ext cx="6840760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dirty="0" smtClean="0"/>
              <a:t>… unimos estas expresiones por un «and»…</a:t>
            </a:r>
            <a:endParaRPr lang="es-CO" sz="2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38398"/>
            <a:ext cx="2696268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949280"/>
            <a:ext cx="7761461" cy="5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4370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1115616" y="5481228"/>
            <a:ext cx="6840760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dirty="0" smtClean="0"/>
              <a:t>Agrupamos los unos a partir de unas condiciones…</a:t>
            </a:r>
            <a:endParaRPr lang="es-CO" sz="2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465" y="2278496"/>
            <a:ext cx="4907061" cy="295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708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3275856" y="2204864"/>
            <a:ext cx="5544616" cy="4071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CO" sz="2500" dirty="0" smtClean="0"/>
              <a:t>No se utilizan los ceros.</a:t>
            </a:r>
          </a:p>
          <a:p>
            <a:pPr>
              <a:buFontTx/>
              <a:buChar char="-"/>
            </a:pPr>
            <a:r>
              <a:rPr lang="es-CO" sz="2500" dirty="0" smtClean="0"/>
              <a:t>Los grupos deben consistir de 2, 4, 8 elementos.</a:t>
            </a:r>
          </a:p>
          <a:p>
            <a:pPr>
              <a:buFontTx/>
              <a:buChar char="-"/>
            </a:pPr>
            <a:r>
              <a:rPr lang="es-CO" sz="2500" dirty="0" smtClean="0"/>
              <a:t>Los elementos de un grupo deben estar en posiciones vecinas.</a:t>
            </a:r>
          </a:p>
          <a:p>
            <a:pPr>
              <a:buFontTx/>
              <a:buChar char="-"/>
            </a:pPr>
            <a:r>
              <a:rPr lang="es-CO" sz="2500" dirty="0" smtClean="0"/>
              <a:t>Se puede usar un uno más de una vez.</a:t>
            </a:r>
          </a:p>
          <a:p>
            <a:pPr>
              <a:buFontTx/>
              <a:buChar char="-"/>
            </a:pPr>
            <a:r>
              <a:rPr lang="es-CO" sz="2500" dirty="0" smtClean="0"/>
              <a:t>La idea es obtener la menor cantidad de grupos posibles.</a:t>
            </a:r>
          </a:p>
          <a:p>
            <a:pPr>
              <a:buFontTx/>
              <a:buChar char="-"/>
            </a:pPr>
            <a:r>
              <a:rPr lang="es-CO" sz="2500" dirty="0" smtClean="0"/>
              <a:t>La fila superior puede agrupar a la inferior.</a:t>
            </a:r>
          </a:p>
          <a:p>
            <a:pPr>
              <a:buFontTx/>
              <a:buChar char="-"/>
            </a:pPr>
            <a:endParaRPr lang="es-CO" sz="25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16161"/>
            <a:ext cx="22098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60071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342934" y="4715172"/>
            <a:ext cx="4013042" cy="1331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dirty="0" smtClean="0"/>
              <a:t>En cada columna las letras iguales se mantienen, las diferentes se cancelan.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01" y="2334475"/>
            <a:ext cx="3432727" cy="2169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428717"/>
            <a:ext cx="43434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2 Marcador de contenido"/>
          <p:cNvSpPr txBox="1">
            <a:spLocks/>
          </p:cNvSpPr>
          <p:nvPr/>
        </p:nvSpPr>
        <p:spPr>
          <a:xfrm>
            <a:off x="4572000" y="4720183"/>
            <a:ext cx="4031084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Los términos resultantes se unen con «</a:t>
            </a:r>
            <a:r>
              <a:rPr lang="es-CO" dirty="0" err="1" smtClean="0"/>
              <a:t>or</a:t>
            </a:r>
            <a:r>
              <a:rPr lang="es-CO" dirty="0" smtClean="0"/>
              <a:t>»: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221" y="5656287"/>
            <a:ext cx="1743075" cy="581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60491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276872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500" dirty="0" smtClean="0"/>
              <a:t>Los mapas de </a:t>
            </a:r>
            <a:r>
              <a:rPr lang="es-CO" sz="2500" dirty="0" err="1" smtClean="0"/>
              <a:t>Karnaugh</a:t>
            </a:r>
            <a:r>
              <a:rPr lang="es-CO" sz="2500" dirty="0" smtClean="0"/>
              <a:t> se pueden utilizar con el fin solucionar sistemas con 4 variables o más. Además, se puede agrupar los ceros.</a:t>
            </a:r>
          </a:p>
        </p:txBody>
      </p:sp>
      <p:sp>
        <p:nvSpPr>
          <p:cNvPr id="18" name="2 Marcador de contenido"/>
          <p:cNvSpPr txBox="1">
            <a:spLocks/>
          </p:cNvSpPr>
          <p:nvPr/>
        </p:nvSpPr>
        <p:spPr>
          <a:xfrm>
            <a:off x="3563888" y="5127789"/>
            <a:ext cx="5364088" cy="634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i="1" dirty="0" smtClean="0"/>
              <a:t>Solución al agrupar los ceros:</a:t>
            </a:r>
          </a:p>
        </p:txBody>
      </p:sp>
      <p:sp>
        <p:nvSpPr>
          <p:cNvPr id="2" name="1 Rectángulo"/>
          <p:cNvSpPr/>
          <p:nvPr/>
        </p:nvSpPr>
        <p:spPr>
          <a:xfrm>
            <a:off x="4248472" y="3472552"/>
            <a:ext cx="4572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sz="2600" i="1" dirty="0"/>
          </a:p>
          <a:p>
            <a:r>
              <a:rPr lang="es-CO" sz="2600" i="1" dirty="0"/>
              <a:t>Solución al agrupar los </a:t>
            </a:r>
            <a:r>
              <a:rPr lang="es-CO" sz="2600" i="1" dirty="0" smtClean="0"/>
              <a:t>unos:</a:t>
            </a:r>
            <a:endParaRPr lang="es-CO" sz="2600" i="1" dirty="0"/>
          </a:p>
        </p:txBody>
      </p:sp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742099"/>
            <a:ext cx="279082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2 Marcador de contenido"/>
          <p:cNvSpPr txBox="1">
            <a:spLocks/>
          </p:cNvSpPr>
          <p:nvPr/>
        </p:nvSpPr>
        <p:spPr>
          <a:xfrm>
            <a:off x="3563888" y="4364533"/>
            <a:ext cx="5364088" cy="576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800" b="1" dirty="0" smtClean="0"/>
              <a:t>F = </a:t>
            </a:r>
            <a:r>
              <a:rPr lang="es-CO" sz="2800" b="1" dirty="0" smtClean="0">
                <a:solidFill>
                  <a:srgbClr val="FF0000"/>
                </a:solidFill>
              </a:rPr>
              <a:t>AC’</a:t>
            </a:r>
            <a:r>
              <a:rPr lang="es-CO" sz="2800" b="1" dirty="0" smtClean="0">
                <a:solidFill>
                  <a:srgbClr val="990033"/>
                </a:solidFill>
              </a:rPr>
              <a:t> </a:t>
            </a:r>
            <a:r>
              <a:rPr lang="es-CO" sz="2800" b="1" dirty="0" smtClean="0"/>
              <a:t>+ </a:t>
            </a:r>
            <a:r>
              <a:rPr lang="es-CO" sz="2800" b="1" dirty="0" smtClean="0">
                <a:solidFill>
                  <a:srgbClr val="00B050"/>
                </a:solidFill>
              </a:rPr>
              <a:t>AB’ </a:t>
            </a:r>
            <a:r>
              <a:rPr lang="es-CO" sz="2800" b="1" dirty="0" smtClean="0"/>
              <a:t>+ </a:t>
            </a:r>
            <a:r>
              <a:rPr lang="es-CO" sz="2800" b="1" dirty="0" smtClean="0">
                <a:solidFill>
                  <a:srgbClr val="151076"/>
                </a:solidFill>
              </a:rPr>
              <a:t>BCD’</a:t>
            </a:r>
          </a:p>
        </p:txBody>
      </p:sp>
      <p:sp>
        <p:nvSpPr>
          <p:cNvPr id="25" name="2 Marcador de contenido"/>
          <p:cNvSpPr txBox="1">
            <a:spLocks/>
          </p:cNvSpPr>
          <p:nvPr/>
        </p:nvSpPr>
        <p:spPr>
          <a:xfrm>
            <a:off x="3923928" y="5588669"/>
            <a:ext cx="4932039" cy="576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800" b="1" dirty="0" smtClean="0"/>
              <a:t>F = </a:t>
            </a:r>
            <a:r>
              <a:rPr lang="es-CO" sz="2800" b="1" dirty="0" smtClean="0">
                <a:solidFill>
                  <a:srgbClr val="990033"/>
                </a:solidFill>
              </a:rPr>
              <a:t>(A+B)</a:t>
            </a:r>
            <a:r>
              <a:rPr lang="es-CO" sz="2800" b="1" dirty="0" smtClean="0">
                <a:solidFill>
                  <a:schemeClr val="accent3">
                    <a:lumMod val="75000"/>
                  </a:schemeClr>
                </a:solidFill>
              </a:rPr>
              <a:t>(A+C)</a:t>
            </a:r>
            <a:r>
              <a:rPr lang="es-CO" sz="2800" b="1" dirty="0" smtClean="0">
                <a:solidFill>
                  <a:srgbClr val="151076"/>
                </a:solidFill>
              </a:rPr>
              <a:t>(B’+C’+D’)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2294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79512" y="2685746"/>
            <a:ext cx="211602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300" b="1" i="1" dirty="0" smtClean="0"/>
              <a:t>Decodificador: </a:t>
            </a:r>
            <a:r>
              <a:rPr lang="es-CO" sz="2300" dirty="0" smtClean="0"/>
              <a:t>Circuito lógico </a:t>
            </a:r>
            <a:r>
              <a:rPr lang="es-CO" sz="2300" dirty="0" err="1" smtClean="0"/>
              <a:t>combinacional</a:t>
            </a:r>
            <a:r>
              <a:rPr lang="es-CO" sz="2300" dirty="0" smtClean="0"/>
              <a:t> que convierte una entrada lógica codificada en una salida lógica no codificada.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550" y="2672916"/>
            <a:ext cx="6607715" cy="370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1125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13285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Generalmente, un decodificador tendrá 2</a:t>
            </a:r>
            <a:r>
              <a:rPr lang="es-CO" baseline="30000" dirty="0" smtClean="0"/>
              <a:t>n</a:t>
            </a:r>
            <a:r>
              <a:rPr lang="es-CO" dirty="0" smtClean="0"/>
              <a:t> salidas, donde n es el número de entradas…</a:t>
            </a:r>
          </a:p>
          <a:p>
            <a:pPr marL="0" indent="0">
              <a:buNone/>
            </a:pPr>
            <a:r>
              <a:rPr lang="es-CO" dirty="0" smtClean="0"/>
              <a:t>Además del decodificador binario (que puede ser también de 3 a 8, 4 a 16, etc.) existen otros tipos de decodificadores; un ejemplo es el decodificador BCD a 7 segmentos.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23" y="4539040"/>
            <a:ext cx="4332689" cy="205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2 Marcador de contenido"/>
          <p:cNvSpPr txBox="1">
            <a:spLocks/>
          </p:cNvSpPr>
          <p:nvPr/>
        </p:nvSpPr>
        <p:spPr>
          <a:xfrm>
            <a:off x="6012160" y="5265204"/>
            <a:ext cx="1719808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  <a:endParaRPr lang="es-CO" sz="2600" b="1" i="1" dirty="0">
              <a:solidFill>
                <a:srgbClr val="FF0000"/>
              </a:solidFill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4911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13285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Codificador: Circuito lógico </a:t>
            </a:r>
            <a:r>
              <a:rPr lang="es-CO" dirty="0" err="1" smtClean="0"/>
              <a:t>combinacional</a:t>
            </a:r>
            <a:r>
              <a:rPr lang="es-CO" dirty="0" smtClean="0"/>
              <a:t> que convierte una entrada lógica no codificada en una salida lógica codificada. Es el inverso del Decodificador.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5" y="4149080"/>
            <a:ext cx="27717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2 Marcador de contenido"/>
          <p:cNvSpPr txBox="1">
            <a:spLocks/>
          </p:cNvSpPr>
          <p:nvPr/>
        </p:nvSpPr>
        <p:spPr>
          <a:xfrm>
            <a:off x="799964" y="3485059"/>
            <a:ext cx="4060068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Codificador Binario (8/3):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882380"/>
            <a:ext cx="301942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26472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2483768" y="2384884"/>
            <a:ext cx="4248472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Codificador Decimal-BCD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188322"/>
            <a:ext cx="3321679" cy="220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039452"/>
            <a:ext cx="2209445" cy="2501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534" y="3188322"/>
            <a:ext cx="2500139" cy="2266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7109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2.6. Multiplexores y </a:t>
            </a:r>
            <a:r>
              <a:rPr lang="es-ES" sz="4000" dirty="0" err="1"/>
              <a:t>demultiplexores</a:t>
            </a:r>
            <a:r>
              <a:rPr lang="es-ES" sz="4000" dirty="0"/>
              <a:t>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204864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Multiplexor: </a:t>
            </a:r>
            <a:r>
              <a:rPr lang="es-CO" sz="2600" dirty="0" smtClean="0"/>
              <a:t>Circuito </a:t>
            </a:r>
            <a:r>
              <a:rPr lang="es-CO" sz="2600" dirty="0" err="1" smtClean="0"/>
              <a:t>combinacional</a:t>
            </a:r>
            <a:r>
              <a:rPr lang="es-CO" sz="2600" dirty="0" smtClean="0"/>
              <a:t> que hace las veces de conmutador. Se compone de 2</a:t>
            </a:r>
            <a:r>
              <a:rPr lang="es-CO" sz="2600" baseline="30000" dirty="0" smtClean="0"/>
              <a:t>n</a:t>
            </a:r>
            <a:r>
              <a:rPr lang="es-CO" sz="2600" dirty="0" smtClean="0"/>
              <a:t> entradas, n líneas de selección y una salida.</a:t>
            </a:r>
            <a:endParaRPr lang="es-CO" sz="2600" b="1" i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4536504" cy="2212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525" y="4086336"/>
            <a:ext cx="2581275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1533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2.6. Multiplexores y </a:t>
            </a:r>
            <a:r>
              <a:rPr lang="es-ES" sz="4000" dirty="0" err="1"/>
              <a:t>demultiplexores</a:t>
            </a:r>
            <a:r>
              <a:rPr lang="es-ES" sz="4000" dirty="0"/>
              <a:t>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204864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err="1" smtClean="0"/>
              <a:t>Demultiplexor</a:t>
            </a:r>
            <a:r>
              <a:rPr lang="es-CO" sz="2600" b="1" i="1" dirty="0" smtClean="0"/>
              <a:t>: </a:t>
            </a:r>
            <a:r>
              <a:rPr lang="es-CO" sz="2600" dirty="0" smtClean="0"/>
              <a:t>Circuito </a:t>
            </a:r>
            <a:r>
              <a:rPr lang="es-CO" sz="2600" dirty="0" err="1" smtClean="0"/>
              <a:t>combinacional</a:t>
            </a:r>
            <a:r>
              <a:rPr lang="es-CO" sz="2600" dirty="0"/>
              <a:t> </a:t>
            </a:r>
            <a:r>
              <a:rPr lang="es-CO" sz="2600" dirty="0" smtClean="0"/>
              <a:t>cuya función es la inversa de los multiplexores. Tiene 1 entrada, n líneas de selección y 2</a:t>
            </a:r>
            <a:r>
              <a:rPr lang="es-CO" sz="2600" baseline="30000" dirty="0" smtClean="0"/>
              <a:t>n</a:t>
            </a:r>
            <a:r>
              <a:rPr lang="es-CO" sz="2600" dirty="0" smtClean="0"/>
              <a:t> líneas de salidas.</a:t>
            </a:r>
            <a:endParaRPr lang="es-CO" sz="2600" b="1" i="1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86" y="4653136"/>
            <a:ext cx="339670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449549"/>
            <a:ext cx="1872208" cy="1991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11932" y="3717032"/>
            <a:ext cx="405045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Esquema de un </a:t>
            </a:r>
            <a:r>
              <a:rPr lang="es-CO" sz="2600" b="1" i="1" dirty="0" err="1" smtClean="0"/>
              <a:t>demultiplexor</a:t>
            </a:r>
            <a:r>
              <a:rPr lang="es-CO" sz="2600" b="1" i="1" dirty="0" smtClean="0"/>
              <a:t>.</a:t>
            </a:r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4626006" y="3897052"/>
            <a:ext cx="405045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6038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132856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800" b="1" i="1" dirty="0" smtClean="0"/>
              <a:t>Circuitos </a:t>
            </a:r>
            <a:r>
              <a:rPr lang="es-CO" sz="2800" b="1" i="1" dirty="0" err="1" smtClean="0"/>
              <a:t>combinacionales</a:t>
            </a:r>
            <a:r>
              <a:rPr lang="es-CO" sz="2800" b="1" i="1" dirty="0" smtClean="0"/>
              <a:t> que llevan a cabo las operaciones aritméticas básicas: La suma y resta de bits.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33618" y="3645024"/>
            <a:ext cx="4014446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Sumador Medio: Suma dos bits y da el acarreo de salida.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5341195" y="3645024"/>
            <a:ext cx="2110762" cy="1352069"/>
            <a:chOff x="5580112" y="3861048"/>
            <a:chExt cx="2448272" cy="1512168"/>
          </a:xfrm>
        </p:grpSpPr>
        <p:sp>
          <p:nvSpPr>
            <p:cNvPr id="2" name="1 Rectángulo"/>
            <p:cNvSpPr/>
            <p:nvPr/>
          </p:nvSpPr>
          <p:spPr>
            <a:xfrm>
              <a:off x="5940152" y="3861048"/>
              <a:ext cx="1750722" cy="151216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9" name="8 Conector recto"/>
            <p:cNvCxnSpPr/>
            <p:nvPr/>
          </p:nvCxnSpPr>
          <p:spPr>
            <a:xfrm flipH="1">
              <a:off x="5580112" y="429309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10 Conector recto"/>
            <p:cNvCxnSpPr/>
            <p:nvPr/>
          </p:nvCxnSpPr>
          <p:spPr>
            <a:xfrm flipH="1">
              <a:off x="5580112" y="501317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flipH="1">
              <a:off x="7668344" y="501317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 flipH="1">
              <a:off x="7668344" y="429309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2 Marcador de contenido"/>
            <p:cNvSpPr txBox="1">
              <a:spLocks/>
            </p:cNvSpPr>
            <p:nvPr/>
          </p:nvSpPr>
          <p:spPr>
            <a:xfrm>
              <a:off x="6001705" y="407707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smtClean="0"/>
                <a:t>A</a:t>
              </a:r>
            </a:p>
          </p:txBody>
        </p:sp>
        <p:sp>
          <p:nvSpPr>
            <p:cNvPr id="16" name="2 Marcador de contenido"/>
            <p:cNvSpPr txBox="1">
              <a:spLocks/>
            </p:cNvSpPr>
            <p:nvPr/>
          </p:nvSpPr>
          <p:spPr>
            <a:xfrm>
              <a:off x="6012160" y="479715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/>
                <a:t>B</a:t>
              </a:r>
              <a:endParaRPr lang="es-CO" sz="2200" b="1" dirty="0" smtClean="0"/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6815513" y="4797152"/>
              <a:ext cx="852831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err="1" smtClean="0"/>
                <a:t>C</a:t>
              </a:r>
              <a:r>
                <a:rPr lang="es-CO" sz="2200" b="1" baseline="-25000" dirty="0" err="1" smtClean="0"/>
                <a:t>out</a:t>
              </a:r>
              <a:endParaRPr lang="es-CO" sz="2200" b="1" baseline="-25000" dirty="0" smtClean="0"/>
            </a:p>
          </p:txBody>
        </p:sp>
        <p:sp>
          <p:nvSpPr>
            <p:cNvPr id="18" name="2 Marcador de contenido"/>
            <p:cNvSpPr txBox="1">
              <a:spLocks/>
            </p:cNvSpPr>
            <p:nvPr/>
          </p:nvSpPr>
          <p:spPr>
            <a:xfrm>
              <a:off x="7094268" y="407707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smtClean="0"/>
                <a:t>S</a:t>
              </a:r>
            </a:p>
          </p:txBody>
        </p:sp>
      </p:grp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815879"/>
              </p:ext>
            </p:extLst>
          </p:nvPr>
        </p:nvGraphicFramePr>
        <p:xfrm>
          <a:off x="2049773" y="5059556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S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5161350"/>
            <a:ext cx="2372527" cy="1398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398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95536" y="2154121"/>
            <a:ext cx="828092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Sumador completo: Suma dos bits teniendo en cuenta el acarreo de entrada y da el acarreo de salida.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02285"/>
              </p:ext>
            </p:extLst>
          </p:nvPr>
        </p:nvGraphicFramePr>
        <p:xfrm>
          <a:off x="1043607" y="3439675"/>
          <a:ext cx="2952329" cy="258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420"/>
                <a:gridCol w="649512"/>
                <a:gridCol w="547260"/>
                <a:gridCol w="692717"/>
                <a:gridCol w="531420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S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81" y="3140968"/>
            <a:ext cx="1985355" cy="164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872" y="4946843"/>
            <a:ext cx="368617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900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95536" y="2306350"/>
            <a:ext cx="2592288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Restador medio: </a:t>
            </a:r>
            <a:r>
              <a:rPr lang="es-CO" sz="2600" i="1" dirty="0" smtClean="0"/>
              <a:t>Resta dos bits, da la diferencia y el préstamo.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539908"/>
              </p:ext>
            </p:extLst>
          </p:nvPr>
        </p:nvGraphicFramePr>
        <p:xfrm>
          <a:off x="3203848" y="4105903"/>
          <a:ext cx="2952329" cy="258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420"/>
                <a:gridCol w="649512"/>
                <a:gridCol w="547260"/>
                <a:gridCol w="692717"/>
                <a:gridCol w="531420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D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493" y="2154598"/>
            <a:ext cx="1537511" cy="1933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135995"/>
              </p:ext>
            </p:extLst>
          </p:nvPr>
        </p:nvGraphicFramePr>
        <p:xfrm>
          <a:off x="3419872" y="2409485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D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2 Marcador de contenido"/>
          <p:cNvSpPr txBox="1">
            <a:spLocks/>
          </p:cNvSpPr>
          <p:nvPr/>
        </p:nvSpPr>
        <p:spPr>
          <a:xfrm>
            <a:off x="144016" y="4293096"/>
            <a:ext cx="313184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Restador Completo: </a:t>
            </a:r>
            <a:r>
              <a:rPr lang="es-CO" i="1" dirty="0" smtClean="0"/>
              <a:t>Resta dos bits considerando el bit previamente prestado, da la diferencia y el préstamo.</a:t>
            </a:r>
          </a:p>
        </p:txBody>
      </p:sp>
      <p:grpSp>
        <p:nvGrpSpPr>
          <p:cNvPr id="2" name="1 Grupo"/>
          <p:cNvGrpSpPr/>
          <p:nvPr/>
        </p:nvGrpSpPr>
        <p:grpSpPr>
          <a:xfrm>
            <a:off x="6428848" y="4689140"/>
            <a:ext cx="2319616" cy="1790700"/>
            <a:chOff x="6341583" y="4689140"/>
            <a:chExt cx="2319616" cy="1790700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1583" y="4689140"/>
              <a:ext cx="2314575" cy="1790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2 Marcador de contenido"/>
            <p:cNvSpPr txBox="1">
              <a:spLocks/>
            </p:cNvSpPr>
            <p:nvPr/>
          </p:nvSpPr>
          <p:spPr>
            <a:xfrm>
              <a:off x="7133499" y="4689140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A</a:t>
              </a:r>
              <a:endParaRPr lang="es-CO" sz="1800" i="1" dirty="0" smtClean="0"/>
            </a:p>
          </p:txBody>
        </p:sp>
        <p:sp>
          <p:nvSpPr>
            <p:cNvPr id="14" name="2 Marcador de contenido"/>
            <p:cNvSpPr txBox="1">
              <a:spLocks/>
            </p:cNvSpPr>
            <p:nvPr/>
          </p:nvSpPr>
          <p:spPr>
            <a:xfrm>
              <a:off x="7498871" y="4691236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/>
                <a:t>B</a:t>
              </a:r>
              <a:endParaRPr lang="es-CO" sz="1800" i="1" dirty="0" smtClean="0"/>
            </a:p>
          </p:txBody>
        </p:sp>
        <p:sp>
          <p:nvSpPr>
            <p:cNvPr id="15" name="2 Marcador de contenido"/>
            <p:cNvSpPr txBox="1">
              <a:spLocks/>
            </p:cNvSpPr>
            <p:nvPr/>
          </p:nvSpPr>
          <p:spPr>
            <a:xfrm>
              <a:off x="8140070" y="5220630"/>
              <a:ext cx="521129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P</a:t>
              </a:r>
              <a:r>
                <a:rPr lang="es-CO" sz="1800" b="1" i="1" baseline="-25000" dirty="0" smtClean="0"/>
                <a:t>i</a:t>
              </a:r>
            </a:p>
          </p:txBody>
        </p:sp>
        <p:sp>
          <p:nvSpPr>
            <p:cNvPr id="16" name="2 Marcador de contenido"/>
            <p:cNvSpPr txBox="1">
              <a:spLocks/>
            </p:cNvSpPr>
            <p:nvPr/>
          </p:nvSpPr>
          <p:spPr>
            <a:xfrm>
              <a:off x="6372200" y="5219675"/>
              <a:ext cx="600010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P</a:t>
              </a:r>
              <a:r>
                <a:rPr lang="es-CO" sz="1800" b="1" i="1" baseline="-25000" dirty="0" smtClean="0"/>
                <a:t>i+1</a:t>
              </a:r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7295424" y="5833839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D</a:t>
              </a:r>
            </a:p>
          </p:txBody>
        </p:sp>
      </p:grpSp>
      <p:sp>
        <p:nvSpPr>
          <p:cNvPr id="20" name="2 Marcador de contenido"/>
          <p:cNvSpPr txBox="1">
            <a:spLocks/>
          </p:cNvSpPr>
          <p:nvPr/>
        </p:nvSpPr>
        <p:spPr>
          <a:xfrm>
            <a:off x="6843462" y="4146984"/>
            <a:ext cx="1476110" cy="396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  <a:endParaRPr lang="es-CO" sz="2600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19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132856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Circuito </a:t>
            </a:r>
            <a:r>
              <a:rPr lang="es-CO" b="1" i="1" dirty="0" err="1" smtClean="0"/>
              <a:t>combinacional</a:t>
            </a:r>
            <a:r>
              <a:rPr lang="es-CO" b="1" i="1" dirty="0" smtClean="0"/>
              <a:t> robusto que puede realizar operaciones tanto aritméticas como lógicas dependiendo de la selección de la operación.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410" y="3717032"/>
            <a:ext cx="276225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2 Marcador de contenido"/>
          <p:cNvSpPr txBox="1">
            <a:spLocks/>
          </p:cNvSpPr>
          <p:nvPr/>
        </p:nvSpPr>
        <p:spPr>
          <a:xfrm>
            <a:off x="4409982" y="3717032"/>
            <a:ext cx="4338482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A y B: </a:t>
            </a:r>
            <a:r>
              <a:rPr lang="es-CO" sz="2200" b="1" i="1" dirty="0" smtClean="0"/>
              <a:t>Conjuntos de datos sobre los que se realiza la operación.</a:t>
            </a:r>
          </a:p>
          <a:p>
            <a:pPr marL="0" indent="0" algn="just">
              <a:buNone/>
            </a:pPr>
            <a:r>
              <a:rPr lang="es-CO" b="1" i="1" dirty="0" smtClean="0"/>
              <a:t>F: </a:t>
            </a:r>
            <a:r>
              <a:rPr lang="es-CO" sz="2200" b="1" i="1" dirty="0" smtClean="0"/>
              <a:t>Selección de la operación.</a:t>
            </a:r>
          </a:p>
          <a:p>
            <a:pPr marL="0" indent="0" algn="just">
              <a:buNone/>
            </a:pPr>
            <a:r>
              <a:rPr lang="es-CO" b="1" i="1" dirty="0" smtClean="0"/>
              <a:t>D: </a:t>
            </a:r>
            <a:r>
              <a:rPr lang="es-CO" sz="2200" b="1" i="1" dirty="0" smtClean="0"/>
              <a:t>Acarreos y salidas alternas.</a:t>
            </a:r>
          </a:p>
          <a:p>
            <a:pPr marL="0" indent="0" algn="just">
              <a:buNone/>
            </a:pPr>
            <a:r>
              <a:rPr lang="es-CO" b="1" i="1" dirty="0" smtClean="0"/>
              <a:t>R: </a:t>
            </a:r>
            <a:r>
              <a:rPr lang="es-CO" sz="2200" b="1" i="1" dirty="0" smtClean="0"/>
              <a:t>Resultado de la operación. Conjunto de datos de salida.</a:t>
            </a:r>
          </a:p>
        </p:txBody>
      </p:sp>
    </p:spTree>
    <p:extLst>
      <p:ext uri="{BB962C8B-B14F-4D97-AF65-F5344CB8AC3E}">
        <p14:creationId xmlns:p14="http://schemas.microsoft.com/office/powerpoint/2010/main" val="306618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1560" y="4221088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En el diseño de una unidad lógico aritmética se debe tener en cuenta lo siguiente: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sección lógica.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sección aritmética.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modificación de la sección aritmética para introducir la sección lógica.</a:t>
            </a:r>
          </a:p>
          <a:p>
            <a:pPr marL="0" indent="0" algn="just">
              <a:buNone/>
            </a:pPr>
            <a:endParaRPr lang="es-CO" b="1" i="1" dirty="0" smtClean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560" y="2283997"/>
            <a:ext cx="49149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220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798318" y="2240868"/>
            <a:ext cx="7842134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Sección Lógica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18" y="3552627"/>
            <a:ext cx="3053602" cy="189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130" y="2852936"/>
            <a:ext cx="4242302" cy="3261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488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44366" y="2240868"/>
            <a:ext cx="8196086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Sección Aritmética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46" y="4481128"/>
            <a:ext cx="5027126" cy="173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83" y="2916932"/>
            <a:ext cx="3500815" cy="2240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79685"/>
            <a:ext cx="1008112" cy="1360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16932"/>
            <a:ext cx="262890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28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44366" y="2240868"/>
            <a:ext cx="8196086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Modificación de la sección aritmética para completar la ALU.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66" y="3050638"/>
            <a:ext cx="5112568" cy="3690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429000"/>
            <a:ext cx="31242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915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503513"/>
            <a:ext cx="7745505" cy="3877815"/>
          </a:xfrm>
        </p:spPr>
        <p:txBody>
          <a:bodyPr/>
          <a:lstStyle/>
          <a:p>
            <a:r>
              <a:rPr lang="es-ES" dirty="0" smtClean="0">
                <a:solidFill>
                  <a:srgbClr val="FF0000"/>
                </a:solidFill>
              </a:rPr>
              <a:t>Sensor de pH.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Sensor de Oxígeno disuelto.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Temperatura en H</a:t>
            </a:r>
            <a:r>
              <a:rPr lang="es-ES" baseline="-25000" dirty="0" smtClean="0">
                <a:solidFill>
                  <a:srgbClr val="FF0000"/>
                </a:solidFill>
              </a:rPr>
              <a:t>2</a:t>
            </a:r>
            <a:r>
              <a:rPr lang="es-ES" dirty="0" smtClean="0">
                <a:solidFill>
                  <a:srgbClr val="FF0000"/>
                </a:solidFill>
              </a:rPr>
              <a:t>O.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Sensor Luminosidad.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Turbiedad (NTU).</a:t>
            </a:r>
          </a:p>
          <a:p>
            <a:r>
              <a:rPr lang="es-ES" dirty="0" smtClean="0"/>
              <a:t>Seguidor de Sol I: Movimiento de motores.</a:t>
            </a:r>
          </a:p>
          <a:p>
            <a:r>
              <a:rPr lang="es-ES" dirty="0" smtClean="0"/>
              <a:t>Seguidor de Sol II: Sensores de luz.</a:t>
            </a:r>
            <a:endParaRPr lang="es-E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688490" y="188640"/>
            <a:ext cx="7756263" cy="1054250"/>
          </a:xfrm>
        </p:spPr>
        <p:txBody>
          <a:bodyPr/>
          <a:lstStyle/>
          <a:p>
            <a:r>
              <a:rPr lang="es-ES" dirty="0" smtClean="0"/>
              <a:t>Proyectos Finales</a:t>
            </a:r>
            <a:endParaRPr lang="es-ES" dirty="0"/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683568" y="1196752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600" b="1" dirty="0" smtClean="0"/>
              <a:t>Primer Grupo de Proyectos</a:t>
            </a:r>
            <a:endParaRPr lang="es-ES" sz="2600" b="1" dirty="0"/>
          </a:p>
        </p:txBody>
      </p:sp>
    </p:spTree>
    <p:extLst>
      <p:ext uri="{BB962C8B-B14F-4D97-AF65-F5344CB8AC3E}">
        <p14:creationId xmlns:p14="http://schemas.microsoft.com/office/powerpoint/2010/main" val="223332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503513"/>
            <a:ext cx="7745505" cy="3877815"/>
          </a:xfrm>
        </p:spPr>
        <p:txBody>
          <a:bodyPr/>
          <a:lstStyle/>
          <a:p>
            <a:r>
              <a:rPr lang="es-ES" dirty="0" smtClean="0">
                <a:solidFill>
                  <a:srgbClr val="151076"/>
                </a:solidFill>
              </a:rPr>
              <a:t>Dirección y Magnitud de viento: Ultrasonido.</a:t>
            </a:r>
          </a:p>
          <a:p>
            <a:r>
              <a:rPr lang="es-ES" dirty="0" smtClean="0">
                <a:solidFill>
                  <a:srgbClr val="151076"/>
                </a:solidFill>
              </a:rPr>
              <a:t>Medidor de Nivel de Rio: Ultrasonido.</a:t>
            </a:r>
          </a:p>
          <a:p>
            <a:r>
              <a:rPr lang="es-ES" dirty="0" smtClean="0">
                <a:solidFill>
                  <a:srgbClr val="151076"/>
                </a:solidFill>
              </a:rPr>
              <a:t>Conductividad eléctrica.</a:t>
            </a:r>
          </a:p>
          <a:p>
            <a:r>
              <a:rPr lang="es-ES" dirty="0" smtClean="0">
                <a:solidFill>
                  <a:srgbClr val="151076"/>
                </a:solidFill>
              </a:rPr>
              <a:t>Absorción en agua (Turbiedad II).</a:t>
            </a:r>
          </a:p>
          <a:p>
            <a:r>
              <a:rPr lang="es-ES" dirty="0" smtClean="0">
                <a:solidFill>
                  <a:srgbClr val="151076"/>
                </a:solidFill>
              </a:rPr>
              <a:t>Presión en columna de agua.</a:t>
            </a:r>
          </a:p>
          <a:p>
            <a:r>
              <a:rPr lang="es-ES" dirty="0" smtClean="0">
                <a:solidFill>
                  <a:srgbClr val="151076"/>
                </a:solidFill>
              </a:rPr>
              <a:t>Temperatura en H</a:t>
            </a:r>
            <a:r>
              <a:rPr lang="es-ES" baseline="-25000" dirty="0" smtClean="0">
                <a:solidFill>
                  <a:srgbClr val="151076"/>
                </a:solidFill>
              </a:rPr>
              <a:t>2</a:t>
            </a:r>
            <a:r>
              <a:rPr lang="es-ES" dirty="0" smtClean="0">
                <a:solidFill>
                  <a:srgbClr val="151076"/>
                </a:solidFill>
              </a:rPr>
              <a:t>O SALADA.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688490" y="188640"/>
            <a:ext cx="7756263" cy="1054250"/>
          </a:xfrm>
        </p:spPr>
        <p:txBody>
          <a:bodyPr/>
          <a:lstStyle/>
          <a:p>
            <a:r>
              <a:rPr lang="es-ES" dirty="0" smtClean="0"/>
              <a:t>Proyectos Finales</a:t>
            </a:r>
            <a:endParaRPr lang="es-ES" dirty="0"/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683568" y="1196752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600" b="1" dirty="0" smtClean="0"/>
              <a:t>Segundo Grupo de Proyectos</a:t>
            </a:r>
            <a:endParaRPr lang="es-ES" sz="2600" b="1" dirty="0"/>
          </a:p>
        </p:txBody>
      </p:sp>
    </p:spTree>
    <p:extLst>
      <p:ext uri="{BB962C8B-B14F-4D97-AF65-F5344CB8AC3E}">
        <p14:creationId xmlns:p14="http://schemas.microsoft.com/office/powerpoint/2010/main" val="107421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1049</TotalTime>
  <Words>1308</Words>
  <Application>Microsoft Office PowerPoint</Application>
  <PresentationFormat>Presentación en pantalla (4:3)</PresentationFormat>
  <Paragraphs>315</Paragraphs>
  <Slides>31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2" baseType="lpstr">
      <vt:lpstr>Cartoné</vt:lpstr>
      <vt:lpstr>2. Sistemas Combinacionales.</vt:lpstr>
      <vt:lpstr>2.1. Compuertas Básicas.</vt:lpstr>
      <vt:lpstr>2.1. Compuertas Básicas.</vt:lpstr>
      <vt:lpstr>2.1. Compuertas Básicas.</vt:lpstr>
      <vt:lpstr>2.1. Compuertas Básicas.</vt:lpstr>
      <vt:lpstr>2.2. Familias TTL y CMOS.</vt:lpstr>
      <vt:lpstr>2.3. Algebra de Boole.</vt:lpstr>
      <vt:lpstr>2.3. Algebra de Boole.</vt:lpstr>
      <vt:lpstr>2.4. Síntesis lógica de circuitos combinatorios.</vt:lpstr>
      <vt:lpstr>2.4.1. Representación por suma de productos y por producto de sumas.</vt:lpstr>
      <vt:lpstr>2.4.1. Representación por suma de productos y por producto de sumas.</vt:lpstr>
      <vt:lpstr>2.4.2. Mapas de Karnaugh.</vt:lpstr>
      <vt:lpstr>2.4.2. Mapas de Karnaugh.</vt:lpstr>
      <vt:lpstr>2.4.2. Mapas de Karnaugh.</vt:lpstr>
      <vt:lpstr>2.4.2. Mapas de Karnaugh.</vt:lpstr>
      <vt:lpstr>2.5 Codificadores y Decodificadores.</vt:lpstr>
      <vt:lpstr>2.5 Codificadores y Decodificadores.</vt:lpstr>
      <vt:lpstr>2.5 Codificadores y Decodificadores.</vt:lpstr>
      <vt:lpstr>2.5 Codificadores y Decodificadores.</vt:lpstr>
      <vt:lpstr>2.6. Multiplexores y demultiplexores.</vt:lpstr>
      <vt:lpstr>2.6. Multiplexores y demultiplexores.</vt:lpstr>
      <vt:lpstr>2.7. Circuitos Aritméticos.</vt:lpstr>
      <vt:lpstr>2.7. Circuitos Aritméticos.</vt:lpstr>
      <vt:lpstr>2.7. Circuitos Aritméticos.</vt:lpstr>
      <vt:lpstr>2.8. Unidad Aritmética y lógica ALU.</vt:lpstr>
      <vt:lpstr>2.8. Unidad Aritmética y lógica ALU.</vt:lpstr>
      <vt:lpstr>2.8. Unidad Aritmética y lógica ALU.</vt:lpstr>
      <vt:lpstr>2.8. Unidad Aritmética y lógica ALU.</vt:lpstr>
      <vt:lpstr>2.8. Unidad Aritmética y lógica ALU.</vt:lpstr>
      <vt:lpstr>Proyectos Finales</vt:lpstr>
      <vt:lpstr>Proyectos Finales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Calelo</cp:lastModifiedBy>
  <cp:revision>238</cp:revision>
  <dcterms:created xsi:type="dcterms:W3CDTF">2011-01-25T07:15:41Z</dcterms:created>
  <dcterms:modified xsi:type="dcterms:W3CDTF">2013-08-25T18:53:40Z</dcterms:modified>
</cp:coreProperties>
</file>
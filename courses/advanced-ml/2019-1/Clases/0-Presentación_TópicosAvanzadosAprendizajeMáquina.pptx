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0" autoAdjust="0"/>
  </p:normalViewPr>
  <p:slideViewPr>
    <p:cSldViewPr snapToGrid="0">
      <p:cViewPr varScale="1">
        <p:scale>
          <a:sx n="82" d="100"/>
          <a:sy n="82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79854" y="1507392"/>
            <a:ext cx="87969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/>
              <a:t>Tópicos avanzados de aprendizaje de máquina</a:t>
            </a:r>
          </a:p>
          <a:p>
            <a:r>
              <a:rPr lang="en-US" sz="3600" dirty="0"/>
              <a:t>(Advanced topics in machine learning)</a:t>
            </a:r>
            <a:br>
              <a:rPr lang="es-CO" sz="3600" dirty="0"/>
            </a:br>
            <a:r>
              <a:rPr lang="es-CO" sz="2400" dirty="0"/>
              <a:t>2019-I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22400" y="3265438"/>
            <a:ext cx="1028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/>
              <a:t>Carlos Alejandro Trujillo Anaya – </a:t>
            </a:r>
            <a:r>
              <a:rPr lang="es-CO" sz="2400" b="1" dirty="0"/>
              <a:t>carlostrujillo@itm.edu.co</a:t>
            </a:r>
            <a:endParaRPr lang="es-CO" sz="2400" b="1" dirty="0">
              <a:solidFill>
                <a:schemeClr val="bg1"/>
              </a:solidFill>
            </a:endParaRPr>
          </a:p>
          <a:p>
            <a:r>
              <a:rPr lang="es-CO" sz="2400" dirty="0" err="1"/>
              <a:t>Electronics</a:t>
            </a:r>
            <a:r>
              <a:rPr lang="es-CO" sz="2400" dirty="0"/>
              <a:t> and </a:t>
            </a:r>
            <a:r>
              <a:rPr lang="es-CO" sz="2400" dirty="0" err="1"/>
              <a:t>telecomunications</a:t>
            </a:r>
            <a:r>
              <a:rPr lang="es-CO" sz="2400" dirty="0"/>
              <a:t> </a:t>
            </a:r>
            <a:r>
              <a:rPr lang="es-CO" sz="2400" dirty="0" err="1"/>
              <a:t>department</a:t>
            </a:r>
            <a:endParaRPr lang="es-CO" sz="2400" dirty="0"/>
          </a:p>
          <a:p>
            <a:r>
              <a:rPr lang="es-CO" sz="2400" dirty="0" err="1"/>
              <a:t>Course</a:t>
            </a:r>
            <a:r>
              <a:rPr lang="es-CO" sz="2400" dirty="0"/>
              <a:t> </a:t>
            </a:r>
            <a:r>
              <a:rPr lang="es-CO" sz="2400" dirty="0" err="1"/>
              <a:t>belonging</a:t>
            </a:r>
            <a:r>
              <a:rPr lang="es-CO" sz="2400" dirty="0"/>
              <a:t> </a:t>
            </a:r>
            <a:r>
              <a:rPr lang="es-CO" sz="2400" dirty="0" err="1"/>
              <a:t>to</a:t>
            </a:r>
            <a:r>
              <a:rPr lang="es-CO" sz="2400" dirty="0"/>
              <a:t> “Maestría en Automatización y Control Industrial”.</a:t>
            </a:r>
          </a:p>
          <a:p>
            <a:r>
              <a:rPr lang="es-CO" sz="2400" dirty="0" err="1"/>
              <a:t>Tuesday</a:t>
            </a:r>
            <a:r>
              <a:rPr lang="es-CO" sz="2400" dirty="0"/>
              <a:t> 18-21</a:t>
            </a:r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335454" y="1558192"/>
            <a:ext cx="2382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sz="3600" b="1" dirty="0" err="1"/>
              <a:t>Description</a:t>
            </a:r>
            <a:endParaRPr lang="es-CO" sz="3600" dirty="0"/>
          </a:p>
        </p:txBody>
      </p:sp>
      <p:sp>
        <p:nvSpPr>
          <p:cNvPr id="3" name="Rectángulo 2"/>
          <p:cNvSpPr/>
          <p:nvPr/>
        </p:nvSpPr>
        <p:spPr>
          <a:xfrm>
            <a:off x="1640427" y="3349587"/>
            <a:ext cx="2597953" cy="923330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Masters in </a:t>
            </a:r>
            <a:r>
              <a:rPr lang="es-ES" i="1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Automatización y Control Industrial</a:t>
            </a:r>
            <a:endParaRPr lang="es-CO" i="1" dirty="0"/>
          </a:p>
        </p:txBody>
      </p:sp>
      <p:sp>
        <p:nvSpPr>
          <p:cNvPr id="4" name="Rectángulo 3"/>
          <p:cNvSpPr/>
          <p:nvPr/>
        </p:nvSpPr>
        <p:spPr>
          <a:xfrm>
            <a:off x="5238289" y="3327500"/>
            <a:ext cx="1880520" cy="923330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Computational intelligence research line</a:t>
            </a:r>
            <a:endParaRPr lang="en-US" dirty="0"/>
          </a:p>
        </p:txBody>
      </p:sp>
      <p:sp>
        <p:nvSpPr>
          <p:cNvPr id="5" name="Rectángulo 4"/>
          <p:cNvSpPr/>
          <p:nvPr/>
        </p:nvSpPr>
        <p:spPr>
          <a:xfrm>
            <a:off x="8614018" y="3072588"/>
            <a:ext cx="2561982" cy="1477328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Study and development of techniques and automatic systems for data processing and analysis</a:t>
            </a:r>
            <a:endParaRPr lang="en-US" dirty="0"/>
          </a:p>
        </p:txBody>
      </p:sp>
      <p:sp>
        <p:nvSpPr>
          <p:cNvPr id="10" name="Flecha derecha 9"/>
          <p:cNvSpPr/>
          <p:nvPr/>
        </p:nvSpPr>
        <p:spPr>
          <a:xfrm>
            <a:off x="4483100" y="3626476"/>
            <a:ext cx="427533" cy="3695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lecha derecha 10"/>
          <p:cNvSpPr/>
          <p:nvPr/>
        </p:nvSpPr>
        <p:spPr>
          <a:xfrm>
            <a:off x="7446466" y="3626476"/>
            <a:ext cx="890660" cy="3695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19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perception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82" y="3051076"/>
            <a:ext cx="2238627" cy="244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1335454" y="1558192"/>
            <a:ext cx="2382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sz="3600" b="1" dirty="0" err="1"/>
              <a:t>Description</a:t>
            </a:r>
            <a:endParaRPr lang="es-CO" sz="3600" dirty="0"/>
          </a:p>
        </p:txBody>
      </p:sp>
      <p:sp>
        <p:nvSpPr>
          <p:cNvPr id="6" name="Rectángulo 5"/>
          <p:cNvSpPr/>
          <p:nvPr/>
        </p:nvSpPr>
        <p:spPr>
          <a:xfrm>
            <a:off x="1111432" y="2815610"/>
            <a:ext cx="1215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Perception</a:t>
            </a:r>
            <a:endParaRPr lang="en-US" b="1" dirty="0"/>
          </a:p>
        </p:txBody>
      </p:sp>
      <p:sp>
        <p:nvSpPr>
          <p:cNvPr id="7" name="Rectángulo 6"/>
          <p:cNvSpPr/>
          <p:nvPr/>
        </p:nvSpPr>
        <p:spPr>
          <a:xfrm>
            <a:off x="8532461" y="3497997"/>
            <a:ext cx="1952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Object recognition</a:t>
            </a:r>
            <a:endParaRPr lang="en-US" b="1" dirty="0"/>
          </a:p>
        </p:txBody>
      </p:sp>
      <p:sp>
        <p:nvSpPr>
          <p:cNvPr id="8" name="Rectángulo 7"/>
          <p:cNvSpPr/>
          <p:nvPr/>
        </p:nvSpPr>
        <p:spPr>
          <a:xfrm>
            <a:off x="6260124" y="1218725"/>
            <a:ext cx="1813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Signal processing</a:t>
            </a:r>
            <a:endParaRPr lang="en-US" b="1" dirty="0"/>
          </a:p>
        </p:txBody>
      </p:sp>
      <p:sp>
        <p:nvSpPr>
          <p:cNvPr id="9" name="Rectángulo 8"/>
          <p:cNvSpPr/>
          <p:nvPr/>
        </p:nvSpPr>
        <p:spPr>
          <a:xfrm>
            <a:off x="3292195" y="3682663"/>
            <a:ext cx="3874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Structure and/or pattern identification</a:t>
            </a:r>
            <a:endParaRPr lang="en-US" b="1" dirty="0"/>
          </a:p>
        </p:txBody>
      </p:sp>
      <p:pic>
        <p:nvPicPr>
          <p:cNvPr id="1028" name="Picture 4" descr="Resultado de imagen para signal process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293" y="1588057"/>
            <a:ext cx="5535765" cy="136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/>
          <p:cNvSpPr/>
          <p:nvPr/>
        </p:nvSpPr>
        <p:spPr>
          <a:xfrm>
            <a:off x="758916" y="5314958"/>
            <a:ext cx="19205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https://chucksblog.typepad.com/.a/6a00d83451be8f69e201b7c7812858970b-popup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5981700" y="2973946"/>
            <a:ext cx="5664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https://www.meridian-audio.com/about-meridian/digital-signal-processing-dsp/</a:t>
            </a:r>
          </a:p>
        </p:txBody>
      </p:sp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02" y="4106555"/>
            <a:ext cx="2886166" cy="167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/>
          <p:cNvSpPr/>
          <p:nvPr/>
        </p:nvSpPr>
        <p:spPr>
          <a:xfrm>
            <a:off x="3666594" y="5915122"/>
            <a:ext cx="32473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https://www.oreilly.com/library/view/combining-pattern-classifiers/9781118914540/c01.xhtml</a:t>
            </a:r>
          </a:p>
        </p:txBody>
      </p:sp>
      <p:sp>
        <p:nvSpPr>
          <p:cNvPr id="19" name="Rectángulo 18"/>
          <p:cNvSpPr/>
          <p:nvPr/>
        </p:nvSpPr>
        <p:spPr>
          <a:xfrm>
            <a:off x="7426126" y="5625257"/>
            <a:ext cx="47658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https://blog.paralleldots.com/market-research/how-visual-object-detection-can-transform-manufacturing-industries/</a:t>
            </a:r>
          </a:p>
        </p:txBody>
      </p:sp>
      <p:pic>
        <p:nvPicPr>
          <p:cNvPr id="1032" name="Picture 8" descr="Object Detec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696" y="3840475"/>
            <a:ext cx="3999135" cy="177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21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335454" y="1558192"/>
            <a:ext cx="8080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 dirty="0"/>
              <a:t>Timeline of machine learning approaches</a:t>
            </a:r>
            <a:endParaRPr lang="es-CO" sz="3600" dirty="0"/>
          </a:p>
        </p:txBody>
      </p:sp>
      <p:sp>
        <p:nvSpPr>
          <p:cNvPr id="18" name="Rectángulo 17"/>
          <p:cNvSpPr/>
          <p:nvPr/>
        </p:nvSpPr>
        <p:spPr>
          <a:xfrm>
            <a:off x="1565274" y="5517959"/>
            <a:ext cx="73824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200" dirty="0"/>
              <a:t>https://developer.ibm.com/articles/cc-beginner-guide-machine-learning-ai-cognitive/</a:t>
            </a:r>
          </a:p>
        </p:txBody>
      </p:sp>
      <p:pic>
        <p:nvPicPr>
          <p:cNvPr id="2050" name="Picture 2" descr="Graphical image showing a timeline of machine learning approach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4" y="2582862"/>
            <a:ext cx="9204325" cy="25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91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335454" y="1558192"/>
            <a:ext cx="1896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 dirty="0"/>
              <a:t>Contents</a:t>
            </a:r>
            <a:endParaRPr lang="es-CO" sz="3600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584659"/>
              </p:ext>
            </p:extLst>
          </p:nvPr>
        </p:nvGraphicFramePr>
        <p:xfrm>
          <a:off x="914400" y="2507901"/>
          <a:ext cx="10274300" cy="22247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17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noProof="0" dirty="0">
                          <a:effectLst/>
                        </a:rPr>
                        <a:t>Detailed contents</a:t>
                      </a:r>
                      <a:endParaRPr lang="en-US" sz="2400" b="1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noProof="0" dirty="0">
                          <a:effectLst/>
                        </a:rPr>
                        <a:t>Hours</a:t>
                      </a:r>
                      <a:endParaRPr lang="en-US" sz="2400" b="1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Intro to new methods and tendencies in machine learning techniques</a:t>
                      </a: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3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noProof="0" dirty="0">
                          <a:effectLst/>
                        </a:rPr>
                        <a:t>Regression</a:t>
                      </a:r>
                      <a:r>
                        <a:rPr lang="en-US" sz="2400" noProof="0" dirty="0">
                          <a:effectLst/>
                        </a:rPr>
                        <a:t> advanced techniques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9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noProof="0" dirty="0">
                          <a:effectLst/>
                        </a:rPr>
                        <a:t>Classification</a:t>
                      </a:r>
                      <a:r>
                        <a:rPr lang="en-US" sz="2400" noProof="0" dirty="0">
                          <a:effectLst/>
                        </a:rPr>
                        <a:t> advanced techniques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9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noProof="0" dirty="0">
                          <a:effectLst/>
                        </a:rPr>
                        <a:t>Clustering</a:t>
                      </a:r>
                      <a:r>
                        <a:rPr lang="en-US" sz="2400" noProof="0" dirty="0">
                          <a:effectLst/>
                        </a:rPr>
                        <a:t> advanced techniques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9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Applications 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18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92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335454" y="1558192"/>
            <a:ext cx="5290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 dirty="0"/>
              <a:t>Course evaluation (grades)</a:t>
            </a:r>
            <a:endParaRPr lang="es-CO" sz="3600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076405"/>
              </p:ext>
            </p:extLst>
          </p:nvPr>
        </p:nvGraphicFramePr>
        <p:xfrm>
          <a:off x="914400" y="2507901"/>
          <a:ext cx="10274300" cy="264534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17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noProof="0" dirty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Topic</a:t>
                      </a: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noProof="0" dirty="0">
                          <a:effectLst/>
                        </a:rPr>
                        <a:t>%</a:t>
                      </a:r>
                      <a:endParaRPr lang="en-US" sz="2400" b="1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Up</a:t>
                      </a:r>
                      <a:r>
                        <a:rPr lang="en-US" sz="2400" baseline="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to 3 exams to evaluate the theoretical knowledge acquired by the student during the course </a:t>
                      </a:r>
                      <a:r>
                        <a:rPr lang="en-US" sz="2400" noProof="0" dirty="0">
                          <a:solidFill>
                            <a:srgbClr val="00000A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(average grade)</a:t>
                      </a:r>
                      <a:endParaRPr lang="en-US" sz="24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noProof="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effectLst/>
                        </a:rPr>
                        <a:t>20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solidFill>
                            <a:srgbClr val="00000A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Script development in advanced machine learning algorithms (average grade)</a:t>
                      </a: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20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solidFill>
                            <a:srgbClr val="00000A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Literature revision (average grade)</a:t>
                      </a: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30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solidFill>
                            <a:srgbClr val="00000A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Oral presentations (average grade)</a:t>
                      </a: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30</a:t>
                      </a:r>
                      <a:endParaRPr lang="en-US" sz="2400" noProof="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09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95754" y="1715547"/>
            <a:ext cx="2286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600" b="1" dirty="0"/>
              <a:t>References</a:t>
            </a:r>
            <a:endParaRPr lang="es-CO" sz="3600" dirty="0"/>
          </a:p>
        </p:txBody>
      </p:sp>
      <p:sp>
        <p:nvSpPr>
          <p:cNvPr id="4" name="Rectángulo 3"/>
          <p:cNvSpPr/>
          <p:nvPr/>
        </p:nvSpPr>
        <p:spPr>
          <a:xfrm>
            <a:off x="1536700" y="2603178"/>
            <a:ext cx="10045700" cy="310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sz="2200" dirty="0" err="1">
                <a:solidFill>
                  <a:srgbClr val="00000A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Theodoridis</a:t>
            </a:r>
            <a:r>
              <a:rPr lang="en-US" sz="2200" dirty="0">
                <a:solidFill>
                  <a:srgbClr val="00000A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, S. Pattern Recognition (4</a:t>
            </a:r>
            <a:r>
              <a:rPr lang="en-US" sz="2200" baseline="30000" dirty="0">
                <a:solidFill>
                  <a:srgbClr val="00000A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</a:t>
            </a:r>
            <a:r>
              <a:rPr lang="en-US" sz="2200" dirty="0">
                <a:solidFill>
                  <a:srgbClr val="00000A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Edition). Elsevier, 2009.</a:t>
            </a:r>
            <a:endParaRPr lang="es-CO" sz="2200" dirty="0">
              <a:solidFill>
                <a:srgbClr val="00000A"/>
              </a:solidFill>
              <a:ea typeface="Times New Roman" panose="02020603050405020304" pitchFamily="18" charset="0"/>
            </a:endParaRP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A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Wasserman, L. All of statistics: a concise course in statistical inference. Springer, 2004.</a:t>
            </a:r>
            <a:endParaRPr lang="es-CO" sz="2200" dirty="0">
              <a:solidFill>
                <a:srgbClr val="00000A"/>
              </a:solidFill>
              <a:ea typeface="Times New Roman" panose="02020603050405020304" pitchFamily="18" charset="0"/>
            </a:endParaRP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A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Bishop, C. M. Pattern recognition and machine learning (Vol. 1, p. 740). New York: Springer, 2006.</a:t>
            </a:r>
            <a:endParaRPr lang="es-CO" sz="2200" dirty="0">
              <a:solidFill>
                <a:srgbClr val="00000A"/>
              </a:solidFill>
              <a:ea typeface="Times New Roman" panose="02020603050405020304" pitchFamily="18" charset="0"/>
            </a:endParaRP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sz="2200" dirty="0" err="1">
                <a:solidFill>
                  <a:srgbClr val="22222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Duda</a:t>
            </a:r>
            <a:r>
              <a:rPr lang="en-US" sz="2200" dirty="0">
                <a:solidFill>
                  <a:srgbClr val="22222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, R. O., Hart, P. E., &amp; Stork, D. G. </a:t>
            </a:r>
            <a:r>
              <a:rPr lang="en-US" sz="2200" i="1" dirty="0">
                <a:solidFill>
                  <a:srgbClr val="22222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Pattern classification</a:t>
            </a:r>
            <a:r>
              <a:rPr lang="en-US" sz="2200" dirty="0">
                <a:solidFill>
                  <a:srgbClr val="222222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. John Wiley &amp; Sons, 2012.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sz="2200" b="1" dirty="0">
                <a:ea typeface="Times New Roman" panose="02020603050405020304" pitchFamily="18" charset="0"/>
                <a:cs typeface="Arial" panose="020B0604020202020204" pitchFamily="34" charset="0"/>
              </a:rPr>
              <a:t>Research papers!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FF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World Wide Web!</a:t>
            </a:r>
            <a:endParaRPr lang="es-CO" sz="2200" b="1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706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251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Calelo</cp:lastModifiedBy>
  <cp:revision>41</cp:revision>
  <dcterms:created xsi:type="dcterms:W3CDTF">2017-07-31T19:21:32Z</dcterms:created>
  <dcterms:modified xsi:type="dcterms:W3CDTF">2019-02-12T15:34:56Z</dcterms:modified>
</cp:coreProperties>
</file>
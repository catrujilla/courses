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5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5" r:id="rId17"/>
    <p:sldId id="276" r:id="rId18"/>
    <p:sldId id="274" r:id="rId19"/>
    <p:sldId id="285" r:id="rId20"/>
    <p:sldId id="284" r:id="rId21"/>
    <p:sldId id="286" r:id="rId22"/>
    <p:sldId id="287" r:id="rId23"/>
    <p:sldId id="289" r:id="rId24"/>
    <p:sldId id="288" r:id="rId25"/>
    <p:sldId id="291" r:id="rId26"/>
    <p:sldId id="290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6" r:id="rId41"/>
    <p:sldId id="305" r:id="rId42"/>
    <p:sldId id="308" r:id="rId43"/>
    <p:sldId id="307" r:id="rId4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0" autoAdjust="0"/>
  </p:normalViewPr>
  <p:slideViewPr>
    <p:cSldViewPr snapToGrid="0">
      <p:cViewPr varScale="1">
        <p:scale>
          <a:sx n="106" d="100"/>
          <a:sy n="106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26/02/2019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rlostrujillo@itm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gif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3"/>
          <p:cNvSpPr txBox="1"/>
          <p:nvPr/>
        </p:nvSpPr>
        <p:spPr>
          <a:xfrm>
            <a:off x="731227" y="1580481"/>
            <a:ext cx="10170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Clustering algorithms</a:t>
            </a:r>
            <a:r>
              <a:rPr lang="es-CO" sz="3600" dirty="0"/>
              <a:t/>
            </a:r>
            <a:br>
              <a:rPr lang="es-CO" sz="3600" dirty="0"/>
            </a:br>
            <a:r>
              <a:rPr lang="es-CO" sz="2400" dirty="0"/>
              <a:t>Febrero 19 de </a:t>
            </a:r>
            <a:r>
              <a:rPr lang="es-CO" sz="2400" dirty="0" smtClean="0"/>
              <a:t>2019 </a:t>
            </a:r>
            <a:r>
              <a:rPr lang="es-CO" sz="2400" dirty="0"/>
              <a:t>- Febrero </a:t>
            </a:r>
            <a:r>
              <a:rPr lang="es-CO" sz="2400" dirty="0" smtClean="0"/>
              <a:t>26 </a:t>
            </a:r>
            <a:r>
              <a:rPr lang="es-CO" sz="2400" dirty="0"/>
              <a:t>de 2019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173773" y="3338527"/>
            <a:ext cx="10287000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400" dirty="0"/>
              <a:t>Carlos Alejandro Trujillo Anaya – </a:t>
            </a:r>
            <a:r>
              <a:rPr lang="es-CO" sz="2400" b="1" dirty="0">
                <a:hlinkClick r:id="rId2"/>
              </a:rPr>
              <a:t>carlostrujillo@itm.edu.co</a:t>
            </a:r>
            <a:endParaRPr lang="es-CO" sz="2400" b="1" dirty="0"/>
          </a:p>
          <a:p>
            <a:r>
              <a:rPr lang="es-CO" sz="2000" b="1" dirty="0"/>
              <a:t>M212</a:t>
            </a:r>
          </a:p>
          <a:p>
            <a:r>
              <a:rPr lang="es-CO" sz="2400" dirty="0" err="1"/>
              <a:t>Electronics</a:t>
            </a:r>
            <a:r>
              <a:rPr lang="es-CO" sz="2400" dirty="0"/>
              <a:t> and </a:t>
            </a:r>
            <a:r>
              <a:rPr lang="es-CO" sz="2400" dirty="0" err="1"/>
              <a:t>telecomunications</a:t>
            </a:r>
            <a:r>
              <a:rPr lang="es-CO" sz="2400" dirty="0"/>
              <a:t> </a:t>
            </a:r>
            <a:r>
              <a:rPr lang="es-CO" sz="2400" dirty="0" err="1"/>
              <a:t>department</a:t>
            </a:r>
            <a:endParaRPr lang="es-CO" sz="2400" dirty="0"/>
          </a:p>
          <a:p>
            <a:r>
              <a:rPr lang="es-CO" sz="2400" dirty="0" err="1"/>
              <a:t>Course</a:t>
            </a:r>
            <a:r>
              <a:rPr lang="es-CO" sz="2400" dirty="0"/>
              <a:t> </a:t>
            </a:r>
            <a:r>
              <a:rPr lang="es-CO" sz="2400" dirty="0" err="1"/>
              <a:t>belonging</a:t>
            </a:r>
            <a:r>
              <a:rPr lang="es-CO" sz="2400" dirty="0"/>
              <a:t> </a:t>
            </a:r>
            <a:r>
              <a:rPr lang="es-CO" sz="2400" dirty="0" err="1"/>
              <a:t>to</a:t>
            </a:r>
            <a:r>
              <a:rPr lang="es-CO" sz="2400" dirty="0"/>
              <a:t> “Maestría en Automatización y Control Industrial”.</a:t>
            </a:r>
          </a:p>
          <a:p>
            <a:r>
              <a:rPr lang="es-CO" sz="2400" dirty="0" err="1"/>
              <a:t>Tuesday</a:t>
            </a:r>
            <a:r>
              <a:rPr lang="es-CO" sz="2400" dirty="0"/>
              <a:t> 18-21</a:t>
            </a:r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Clustering (definitions)</a:t>
            </a:r>
            <a:endParaRPr lang="es-CO" sz="2400" b="1" i="1" dirty="0"/>
          </a:p>
        </p:txBody>
      </p:sp>
      <p:sp>
        <p:nvSpPr>
          <p:cNvPr id="3" name="Rectángulo 2"/>
          <p:cNvSpPr/>
          <p:nvPr/>
        </p:nvSpPr>
        <p:spPr>
          <a:xfrm>
            <a:off x="1362635" y="2362671"/>
            <a:ext cx="90902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111111"/>
                </a:solidFill>
              </a:rPr>
              <a:t>Instances, in the same cluster, must be similar as much as possible.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111111"/>
                </a:solidFill>
              </a:rPr>
              <a:t>Instances, in the different clusters, must be different as much as possible.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Measurement for similarity and dissimilarity must be clear and have </a:t>
            </a:r>
            <a:r>
              <a:rPr lang="en-US" sz="2000" b="1" i="1" dirty="0"/>
              <a:t>the</a:t>
            </a:r>
            <a:r>
              <a:rPr lang="en-US" sz="2000" dirty="0"/>
              <a:t> practical meaning.</a:t>
            </a:r>
            <a:endParaRPr lang="es-CO" sz="2000" dirty="0"/>
          </a:p>
        </p:txBody>
      </p:sp>
      <p:sp>
        <p:nvSpPr>
          <p:cNvPr id="2" name="Rectángulo 1"/>
          <p:cNvSpPr/>
          <p:nvPr/>
        </p:nvSpPr>
        <p:spPr>
          <a:xfrm>
            <a:off x="6167718" y="34091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Jain</a:t>
            </a:r>
            <a:r>
              <a:rPr lang="es-CO" sz="1200" dirty="0"/>
              <a:t> A, </a:t>
            </a:r>
            <a:r>
              <a:rPr lang="es-CO" sz="1200" dirty="0" err="1"/>
              <a:t>Dubes</a:t>
            </a:r>
            <a:r>
              <a:rPr lang="es-CO" sz="1200" dirty="0"/>
              <a:t> R (1988) </a:t>
            </a:r>
            <a:r>
              <a:rPr lang="es-CO" sz="1200" dirty="0" err="1"/>
              <a:t>Algorithms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clustering</a:t>
            </a:r>
            <a:r>
              <a:rPr lang="es-CO" sz="1200" dirty="0"/>
              <a:t> data. Prentice-Hall, </a:t>
            </a:r>
            <a:r>
              <a:rPr lang="es-CO" sz="1200" dirty="0" err="1"/>
              <a:t>Inc</a:t>
            </a:r>
            <a:r>
              <a:rPr lang="es-CO" sz="1200" dirty="0"/>
              <a:t>, </a:t>
            </a:r>
            <a:r>
              <a:rPr lang="es-CO" sz="1200" dirty="0" err="1"/>
              <a:t>Upper</a:t>
            </a:r>
            <a:r>
              <a:rPr lang="es-CO" sz="1200" dirty="0"/>
              <a:t> </a:t>
            </a:r>
            <a:r>
              <a:rPr lang="es-CO" sz="1200" dirty="0" err="1"/>
              <a:t>Saddle</a:t>
            </a:r>
            <a:r>
              <a:rPr lang="es-CO" sz="1200" dirty="0"/>
              <a:t> </a:t>
            </a:r>
            <a:r>
              <a:rPr lang="es-CO" sz="1200" dirty="0" err="1"/>
              <a:t>River</a:t>
            </a:r>
            <a:endParaRPr lang="es-CO" sz="1200" dirty="0"/>
          </a:p>
        </p:txBody>
      </p:sp>
      <p:pic>
        <p:nvPicPr>
          <p:cNvPr id="3074" name="Picture 2" descr="Resultado de imagen para clust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229" y="3844243"/>
            <a:ext cx="4673836" cy="29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3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398493" y="2428075"/>
            <a:ext cx="101839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Both"/>
            </a:pPr>
            <a:r>
              <a:rPr lang="en-US" sz="2000" dirty="0">
                <a:solidFill>
                  <a:srgbClr val="111111"/>
                </a:solidFill>
              </a:rPr>
              <a:t>Feature extraction and selection: extract and select the most representative features</a:t>
            </a:r>
          </a:p>
          <a:p>
            <a:r>
              <a:rPr lang="en-US" sz="2000" dirty="0">
                <a:solidFill>
                  <a:srgbClr val="111111"/>
                </a:solidFill>
              </a:rPr>
              <a:t> from the original data set;</a:t>
            </a:r>
          </a:p>
          <a:p>
            <a:r>
              <a:rPr lang="en-US" sz="2000" dirty="0">
                <a:solidFill>
                  <a:srgbClr val="111111"/>
                </a:solidFill>
              </a:rPr>
              <a:t>(2) Clustering algorithm design: design the clustering algorithm according to the characteristics of the problem;</a:t>
            </a:r>
          </a:p>
          <a:p>
            <a:r>
              <a:rPr lang="en-US" sz="2000" dirty="0">
                <a:solidFill>
                  <a:srgbClr val="111111"/>
                </a:solidFill>
              </a:rPr>
              <a:t>(3) Result evaluation: evaluate the clustering result and judge the validity of algorithm;</a:t>
            </a:r>
          </a:p>
          <a:p>
            <a:r>
              <a:rPr lang="en-US" sz="2000" dirty="0">
                <a:solidFill>
                  <a:srgbClr val="111111"/>
                </a:solidFill>
              </a:rPr>
              <a:t>(4) Result explanation: give a practical explanation for the clustering result;</a:t>
            </a:r>
            <a:endParaRPr lang="es-CO" sz="2000" dirty="0"/>
          </a:p>
        </p:txBody>
      </p:sp>
      <p:sp>
        <p:nvSpPr>
          <p:cNvPr id="7" name="Rectángulo 6"/>
          <p:cNvSpPr/>
          <p:nvPr/>
        </p:nvSpPr>
        <p:spPr>
          <a:xfrm>
            <a:off x="6096000" y="436706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Xu</a:t>
            </a:r>
            <a:r>
              <a:rPr lang="es-CO" sz="1200" dirty="0"/>
              <a:t> R, </a:t>
            </a:r>
            <a:r>
              <a:rPr lang="es-CO" sz="1200" dirty="0" err="1"/>
              <a:t>Wunsch</a:t>
            </a:r>
            <a:r>
              <a:rPr lang="es-CO" sz="1200" dirty="0"/>
              <a:t> D (2005) </a:t>
            </a:r>
            <a:r>
              <a:rPr lang="es-CO" sz="1200" dirty="0" err="1"/>
              <a:t>Survey</a:t>
            </a:r>
            <a:r>
              <a:rPr lang="es-CO" sz="1200" dirty="0"/>
              <a:t> of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algorithms</a:t>
            </a:r>
            <a:r>
              <a:rPr lang="es-CO" sz="1200" dirty="0"/>
              <a:t>. IEEE </a:t>
            </a:r>
            <a:r>
              <a:rPr lang="es-CO" sz="1200" dirty="0" err="1"/>
              <a:t>Trans</a:t>
            </a:r>
            <a:r>
              <a:rPr lang="es-CO" sz="1200" dirty="0"/>
              <a:t> Neural </a:t>
            </a:r>
            <a:r>
              <a:rPr lang="es-CO" sz="1200" dirty="0" err="1"/>
              <a:t>Netw</a:t>
            </a:r>
            <a:r>
              <a:rPr lang="es-CO" sz="1200" dirty="0"/>
              <a:t> 16:645–678</a:t>
            </a:r>
          </a:p>
        </p:txBody>
      </p:sp>
      <p:sp>
        <p:nvSpPr>
          <p:cNvPr id="8" name="Rectángulo 7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The standard process of clustering…</a:t>
            </a:r>
          </a:p>
        </p:txBody>
      </p:sp>
      <p:sp>
        <p:nvSpPr>
          <p:cNvPr id="9" name="AutoShape 2" descr="Steps of clustering process. Â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576" y="4367066"/>
            <a:ext cx="3536424" cy="237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1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398493" y="2428075"/>
            <a:ext cx="101839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11111"/>
                </a:solidFill>
              </a:rPr>
              <a:t>Distance (dissimilarity) and similarity are the basis for constructing clustering algorithms.</a:t>
            </a:r>
          </a:p>
          <a:p>
            <a:endParaRPr lang="en-US" sz="2000" dirty="0">
              <a:solidFill>
                <a:srgbClr val="111111"/>
              </a:solidFill>
            </a:endParaRPr>
          </a:p>
          <a:p>
            <a:r>
              <a:rPr lang="en-US" sz="2000" dirty="0"/>
              <a:t>For quantitative data features, distance is preferred to recognize the relationship among data.</a:t>
            </a:r>
          </a:p>
          <a:p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Similarity is preferred when dealing with qualitative data features.</a:t>
            </a:r>
            <a:endParaRPr lang="es-CO" sz="2000" dirty="0"/>
          </a:p>
          <a:p>
            <a:endParaRPr lang="en-US" sz="2000" dirty="0">
              <a:solidFill>
                <a:srgbClr val="11111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159623" y="641102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Xu</a:t>
            </a:r>
            <a:r>
              <a:rPr lang="es-CO" sz="1200" dirty="0"/>
              <a:t> R, </a:t>
            </a:r>
            <a:r>
              <a:rPr lang="es-CO" sz="1200" dirty="0" err="1"/>
              <a:t>Wunsch</a:t>
            </a:r>
            <a:r>
              <a:rPr lang="es-CO" sz="1200" dirty="0"/>
              <a:t> D (2005) </a:t>
            </a:r>
            <a:r>
              <a:rPr lang="es-CO" sz="1200" dirty="0" err="1"/>
              <a:t>Survey</a:t>
            </a:r>
            <a:r>
              <a:rPr lang="es-CO" sz="1200" dirty="0"/>
              <a:t> of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algorithms</a:t>
            </a:r>
            <a:r>
              <a:rPr lang="es-CO" sz="1200" dirty="0"/>
              <a:t>. IEEE </a:t>
            </a:r>
            <a:r>
              <a:rPr lang="es-CO" sz="1200" dirty="0" err="1"/>
              <a:t>Trans</a:t>
            </a:r>
            <a:r>
              <a:rPr lang="es-CO" sz="1200" dirty="0"/>
              <a:t> Neural </a:t>
            </a:r>
            <a:r>
              <a:rPr lang="es-CO" sz="1200" dirty="0" err="1"/>
              <a:t>Netw</a:t>
            </a:r>
            <a:r>
              <a:rPr lang="es-CO" sz="1200" dirty="0"/>
              <a:t> 16:645–678</a:t>
            </a:r>
          </a:p>
        </p:txBody>
      </p:sp>
      <p:sp>
        <p:nvSpPr>
          <p:cNvPr id="8" name="Rectángulo 7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Distance and Similarity</a:t>
            </a:r>
          </a:p>
        </p:txBody>
      </p:sp>
    </p:spTree>
    <p:extLst>
      <p:ext uri="{BB962C8B-B14F-4D97-AF65-F5344CB8AC3E}">
        <p14:creationId xmlns:p14="http://schemas.microsoft.com/office/powerpoint/2010/main" val="21850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00" y="2411920"/>
            <a:ext cx="6351066" cy="958807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Distance functions (a few)</a:t>
            </a:r>
          </a:p>
        </p:txBody>
      </p:sp>
      <p:sp>
        <p:nvSpPr>
          <p:cNvPr id="7" name="Rectángulo 6"/>
          <p:cNvSpPr/>
          <p:nvPr/>
        </p:nvSpPr>
        <p:spPr>
          <a:xfrm>
            <a:off x="4267200" y="636619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Xu</a:t>
            </a:r>
            <a:r>
              <a:rPr lang="es-CO" sz="1200" dirty="0"/>
              <a:t> R, </a:t>
            </a:r>
            <a:r>
              <a:rPr lang="es-CO" sz="1200" dirty="0" err="1"/>
              <a:t>Wunsch</a:t>
            </a:r>
            <a:r>
              <a:rPr lang="es-CO" sz="1200" dirty="0"/>
              <a:t> D (2005) </a:t>
            </a:r>
            <a:r>
              <a:rPr lang="es-CO" sz="1200" dirty="0" err="1"/>
              <a:t>Survey</a:t>
            </a:r>
            <a:r>
              <a:rPr lang="es-CO" sz="1200" dirty="0"/>
              <a:t> of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algorithms</a:t>
            </a:r>
            <a:r>
              <a:rPr lang="es-CO" sz="1200" dirty="0"/>
              <a:t>. IEEE </a:t>
            </a:r>
            <a:r>
              <a:rPr lang="es-CO" sz="1200" dirty="0" err="1"/>
              <a:t>Trans</a:t>
            </a:r>
            <a:r>
              <a:rPr lang="es-CO" sz="1200" dirty="0"/>
              <a:t> Neural </a:t>
            </a:r>
            <a:r>
              <a:rPr lang="es-CO" sz="1200" dirty="0" err="1"/>
              <a:t>Netw</a:t>
            </a:r>
            <a:r>
              <a:rPr lang="es-CO" sz="1200" dirty="0"/>
              <a:t> 16:645–678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700" y="3456895"/>
            <a:ext cx="6154395" cy="102139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188" y="4682216"/>
            <a:ext cx="6447152" cy="85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2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Distance functions (a few)</a:t>
            </a:r>
          </a:p>
        </p:txBody>
      </p:sp>
      <p:sp>
        <p:nvSpPr>
          <p:cNvPr id="7" name="Rectángulo 6"/>
          <p:cNvSpPr/>
          <p:nvPr/>
        </p:nvSpPr>
        <p:spPr>
          <a:xfrm>
            <a:off x="4267200" y="636619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 err="1"/>
              <a:t>Xu</a:t>
            </a:r>
            <a:r>
              <a:rPr lang="es-CO" sz="1200" dirty="0"/>
              <a:t> R, </a:t>
            </a:r>
            <a:r>
              <a:rPr lang="es-CO" sz="1200" dirty="0" err="1"/>
              <a:t>Wunsch</a:t>
            </a:r>
            <a:r>
              <a:rPr lang="es-CO" sz="1200" dirty="0"/>
              <a:t> D (2005) </a:t>
            </a:r>
            <a:r>
              <a:rPr lang="es-CO" sz="1200" dirty="0" err="1"/>
              <a:t>Survey</a:t>
            </a:r>
            <a:r>
              <a:rPr lang="es-CO" sz="1200" dirty="0"/>
              <a:t> of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algorithms</a:t>
            </a:r>
            <a:r>
              <a:rPr lang="es-CO" sz="1200" dirty="0"/>
              <a:t>. IEEE </a:t>
            </a:r>
            <a:r>
              <a:rPr lang="es-CO" sz="1200" dirty="0" err="1"/>
              <a:t>Trans</a:t>
            </a:r>
            <a:r>
              <a:rPr lang="es-CO" sz="1200" dirty="0"/>
              <a:t> Neural </a:t>
            </a:r>
            <a:r>
              <a:rPr lang="es-CO" sz="1200" dirty="0" err="1"/>
              <a:t>Netw</a:t>
            </a:r>
            <a:r>
              <a:rPr lang="es-CO" sz="1200" dirty="0"/>
              <a:t> 16:645–678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81" y="2362045"/>
            <a:ext cx="7104227" cy="286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1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Similarity functions (a few)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301" y="2359399"/>
            <a:ext cx="6534150" cy="70485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426" y="3561675"/>
            <a:ext cx="7013148" cy="1653099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361765" y="621255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err="1">
                <a:solidFill>
                  <a:srgbClr val="131413"/>
                </a:solidFill>
                <a:latin typeface="FbdyflTimes-Roman"/>
              </a:rPr>
              <a:t>Everitt</a:t>
            </a:r>
            <a:r>
              <a:rPr lang="en-US" sz="1200" dirty="0">
                <a:solidFill>
                  <a:srgbClr val="131413"/>
                </a:solidFill>
                <a:latin typeface="FbdyflTimes-Roman"/>
              </a:rPr>
              <a:t> B, Landau S, </a:t>
            </a:r>
            <a:r>
              <a:rPr lang="en-US" sz="1200" dirty="0" err="1">
                <a:solidFill>
                  <a:srgbClr val="131413"/>
                </a:solidFill>
                <a:latin typeface="FbdyflTimes-Roman"/>
              </a:rPr>
              <a:t>Leese</a:t>
            </a:r>
            <a:r>
              <a:rPr lang="en-US" sz="1200" dirty="0">
                <a:solidFill>
                  <a:srgbClr val="131413"/>
                </a:solidFill>
                <a:latin typeface="FbdyflTimes-Roman"/>
              </a:rPr>
              <a:t> M (2001) Clustering analysis, 4th </a:t>
            </a:r>
            <a:r>
              <a:rPr lang="en-US" sz="1200" dirty="0" err="1">
                <a:solidFill>
                  <a:srgbClr val="131413"/>
                </a:solidFill>
                <a:latin typeface="FbdyflTimes-Roman"/>
              </a:rPr>
              <a:t>edn</a:t>
            </a:r>
            <a:r>
              <a:rPr lang="en-US" sz="1200" dirty="0">
                <a:solidFill>
                  <a:srgbClr val="131413"/>
                </a:solidFill>
                <a:latin typeface="FbdyflTimes-Roman"/>
              </a:rPr>
              <a:t>. Arnold, London</a:t>
            </a:r>
            <a:r>
              <a:rPr lang="en-US" sz="1200" dirty="0"/>
              <a:t> </a:t>
            </a:r>
            <a:br>
              <a:rPr lang="en-US" sz="1200" dirty="0"/>
            </a:br>
            <a:endParaRPr lang="es-CO" sz="1200" dirty="0"/>
          </a:p>
        </p:txBody>
      </p:sp>
      <p:sp>
        <p:nvSpPr>
          <p:cNvPr id="10" name="Rectángulo 9"/>
          <p:cNvSpPr/>
          <p:nvPr/>
        </p:nvSpPr>
        <p:spPr>
          <a:xfrm>
            <a:off x="3361765" y="6443390"/>
            <a:ext cx="7261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  <a:latin typeface="FbdyflTimes-Roman"/>
              </a:rPr>
              <a:t>Gower J (1971) A general coefficient of similarity and some of its properties. Biometrics 27:857–871</a:t>
            </a:r>
            <a:r>
              <a:rPr lang="en-US" sz="1200" dirty="0"/>
              <a:t> </a:t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5210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Evaluation indicator (internal evaluators)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362635" y="2501171"/>
            <a:ext cx="91171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main purpose of an evaluation indicator is to test the validity of algorithm. </a:t>
            </a:r>
            <a:r>
              <a:rPr lang="en-US" sz="2000" dirty="0"/>
              <a:t/>
            </a:r>
            <a:br>
              <a:rPr lang="en-US" sz="2000" dirty="0"/>
            </a:br>
            <a:endParaRPr lang="es-CO" sz="20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089" y="3100671"/>
            <a:ext cx="6108855" cy="103440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089" y="4349860"/>
            <a:ext cx="7214825" cy="115801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2057399" y="6298177"/>
            <a:ext cx="77275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131413"/>
                </a:solidFill>
              </a:rPr>
              <a:t>Estivill</a:t>
            </a:r>
            <a:r>
              <a:rPr lang="en-US" sz="1200" dirty="0">
                <a:solidFill>
                  <a:srgbClr val="131413"/>
                </a:solidFill>
              </a:rPr>
              <a:t>-Castro V (2002) Why so many clustering algorithms: a position paper. ACM SIGKDD </a:t>
            </a:r>
            <a:r>
              <a:rPr lang="en-US" sz="1200" dirty="0" err="1">
                <a:solidFill>
                  <a:srgbClr val="131413"/>
                </a:solidFill>
              </a:rPr>
              <a:t>ExplorNewsl</a:t>
            </a:r>
            <a:r>
              <a:rPr lang="en-US" sz="1200" dirty="0">
                <a:solidFill>
                  <a:srgbClr val="131413"/>
                </a:solidFill>
              </a:rPr>
              <a:t> 4:65–75</a:t>
            </a:r>
            <a:r>
              <a:rPr lang="en-US" sz="1200" dirty="0"/>
              <a:t>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9983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62635" y="2501171"/>
            <a:ext cx="91171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main purpose of an evaluation indicator is to test the validity of algorithm. </a:t>
            </a:r>
            <a:r>
              <a:rPr lang="en-US" sz="2000" dirty="0"/>
              <a:t/>
            </a:r>
            <a:br>
              <a:rPr lang="en-US" sz="2000" dirty="0"/>
            </a:br>
            <a:endParaRPr lang="es-CO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303" y="3209057"/>
            <a:ext cx="6862144" cy="2108208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995082" y="1654459"/>
            <a:ext cx="77813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Evaluation indicator (internal evaluators)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2057399" y="6298177"/>
            <a:ext cx="77275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131413"/>
                </a:solidFill>
              </a:rPr>
              <a:t>Estivill</a:t>
            </a:r>
            <a:r>
              <a:rPr lang="en-US" sz="1200" dirty="0">
                <a:solidFill>
                  <a:srgbClr val="131413"/>
                </a:solidFill>
              </a:rPr>
              <a:t>-Castro V (2002) Why so many clustering algorithms: a position paper. ACM SIGKDD </a:t>
            </a:r>
            <a:r>
              <a:rPr lang="en-US" sz="1200" dirty="0" err="1">
                <a:solidFill>
                  <a:srgbClr val="131413"/>
                </a:solidFill>
              </a:rPr>
              <a:t>ExplorNewsl</a:t>
            </a:r>
            <a:r>
              <a:rPr lang="en-US" sz="1200" dirty="0">
                <a:solidFill>
                  <a:srgbClr val="131413"/>
                </a:solidFill>
              </a:rPr>
              <a:t> 4:65–75</a:t>
            </a:r>
            <a:r>
              <a:rPr lang="en-US" sz="1200" dirty="0"/>
              <a:t>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723376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62635" y="2501171"/>
            <a:ext cx="91171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main purpose of an evaluation indicator is to test the validity of algorithm. </a:t>
            </a:r>
            <a:r>
              <a:rPr lang="en-US" sz="2000" dirty="0"/>
              <a:t/>
            </a:r>
            <a:br>
              <a:rPr lang="en-US" sz="2000" dirty="0"/>
            </a:b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Evaluation indicator (external evaluators – gold standard)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78" y="3254673"/>
            <a:ext cx="6354771" cy="70847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280" y="3108660"/>
            <a:ext cx="2838853" cy="2495824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995082" y="5981140"/>
            <a:ext cx="9138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>
                <a:solidFill>
                  <a:srgbClr val="131413"/>
                </a:solidFill>
              </a:rPr>
              <a:t>Färber</a:t>
            </a:r>
            <a:r>
              <a:rPr lang="es-CO" sz="1200" dirty="0">
                <a:solidFill>
                  <a:srgbClr val="131413"/>
                </a:solidFill>
              </a:rPr>
              <a:t> I, </a:t>
            </a:r>
            <a:r>
              <a:rPr lang="es-CO" sz="1200" dirty="0" err="1">
                <a:solidFill>
                  <a:srgbClr val="131413"/>
                </a:solidFill>
              </a:rPr>
              <a:t>Günnemann</a:t>
            </a:r>
            <a:r>
              <a:rPr lang="es-CO" sz="1200" dirty="0">
                <a:solidFill>
                  <a:srgbClr val="131413"/>
                </a:solidFill>
              </a:rPr>
              <a:t> S, </a:t>
            </a:r>
            <a:r>
              <a:rPr lang="es-CO" sz="1200" dirty="0" err="1">
                <a:solidFill>
                  <a:srgbClr val="131413"/>
                </a:solidFill>
              </a:rPr>
              <a:t>Kriegel</a:t>
            </a:r>
            <a:r>
              <a:rPr lang="es-CO" sz="1200" dirty="0">
                <a:solidFill>
                  <a:srgbClr val="131413"/>
                </a:solidFill>
              </a:rPr>
              <a:t> H, </a:t>
            </a:r>
            <a:r>
              <a:rPr lang="es-CO" sz="1200" dirty="0" err="1">
                <a:solidFill>
                  <a:srgbClr val="131413"/>
                </a:solidFill>
              </a:rPr>
              <a:t>Kröger</a:t>
            </a:r>
            <a:r>
              <a:rPr lang="es-CO" sz="1200" dirty="0">
                <a:solidFill>
                  <a:srgbClr val="131413"/>
                </a:solidFill>
              </a:rPr>
              <a:t> P, Müller E, Schubert E, </a:t>
            </a:r>
            <a:r>
              <a:rPr lang="es-CO" sz="1200" dirty="0" err="1">
                <a:solidFill>
                  <a:srgbClr val="131413"/>
                </a:solidFill>
              </a:rPr>
              <a:t>Seidl</a:t>
            </a:r>
            <a:r>
              <a:rPr lang="es-CO" sz="1200" dirty="0">
                <a:solidFill>
                  <a:srgbClr val="131413"/>
                </a:solidFill>
              </a:rPr>
              <a:t> T, </a:t>
            </a:r>
            <a:r>
              <a:rPr lang="es-CO" sz="1200" dirty="0" err="1">
                <a:solidFill>
                  <a:srgbClr val="131413"/>
                </a:solidFill>
              </a:rPr>
              <a:t>Zimek</a:t>
            </a:r>
            <a:r>
              <a:rPr lang="es-CO" sz="1200" dirty="0">
                <a:solidFill>
                  <a:srgbClr val="131413"/>
                </a:solidFill>
              </a:rPr>
              <a:t> A (2010)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class-labels</a:t>
            </a:r>
            <a:r>
              <a:rPr lang="es-CO" sz="1200" dirty="0">
                <a:solidFill>
                  <a:srgbClr val="131413"/>
                </a:solidFill>
              </a:rPr>
              <a:t> in </a:t>
            </a:r>
            <a:r>
              <a:rPr lang="es-CO" sz="1200" dirty="0" err="1">
                <a:solidFill>
                  <a:srgbClr val="131413"/>
                </a:solidFill>
              </a:rPr>
              <a:t>evaluation</a:t>
            </a:r>
            <a:r>
              <a:rPr lang="es-CO" sz="1200" dirty="0">
                <a:solidFill>
                  <a:srgbClr val="131413"/>
                </a:solidFill>
              </a:rPr>
              <a:t> of </a:t>
            </a:r>
            <a:r>
              <a:rPr lang="es-CO" sz="1200" dirty="0" err="1">
                <a:solidFill>
                  <a:srgbClr val="131413"/>
                </a:solidFill>
              </a:rPr>
              <a:t>clusterings</a:t>
            </a:r>
            <a:r>
              <a:rPr lang="es-CO" sz="1200" dirty="0">
                <a:solidFill>
                  <a:srgbClr val="131413"/>
                </a:solidFill>
              </a:rPr>
              <a:t>. In </a:t>
            </a:r>
            <a:r>
              <a:rPr lang="es-CO" sz="1200" dirty="0" err="1">
                <a:solidFill>
                  <a:srgbClr val="131413"/>
                </a:solidFill>
              </a:rPr>
              <a:t>MultiClust</a:t>
            </a:r>
            <a:r>
              <a:rPr lang="es-CO" sz="1200" dirty="0">
                <a:solidFill>
                  <a:srgbClr val="131413"/>
                </a:solidFill>
              </a:rPr>
              <a:t>: 1st </a:t>
            </a:r>
            <a:r>
              <a:rPr lang="es-CO" sz="1200" dirty="0" err="1">
                <a:solidFill>
                  <a:srgbClr val="131413"/>
                </a:solidFill>
              </a:rPr>
              <a:t>international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workshop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discovering</a:t>
            </a:r>
            <a:r>
              <a:rPr lang="es-CO" sz="1200" dirty="0">
                <a:solidFill>
                  <a:srgbClr val="131413"/>
                </a:solidFill>
              </a:rPr>
              <a:t>, </a:t>
            </a:r>
            <a:r>
              <a:rPr lang="es-CO" sz="1200" dirty="0" err="1">
                <a:solidFill>
                  <a:srgbClr val="131413"/>
                </a:solidFill>
              </a:rPr>
              <a:t>summarizing</a:t>
            </a:r>
            <a:r>
              <a:rPr lang="es-CO" sz="1200" dirty="0">
                <a:solidFill>
                  <a:srgbClr val="131413"/>
                </a:solidFill>
              </a:rPr>
              <a:t> and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multiple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clusterings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held</a:t>
            </a:r>
            <a:r>
              <a:rPr lang="es-CO" sz="1200" dirty="0">
                <a:solidFill>
                  <a:srgbClr val="131413"/>
                </a:solidFill>
              </a:rPr>
              <a:t> in </a:t>
            </a:r>
            <a:r>
              <a:rPr lang="es-CO" sz="1200" dirty="0" err="1">
                <a:solidFill>
                  <a:srgbClr val="131413"/>
                </a:solidFill>
              </a:rPr>
              <a:t>conjunction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with</a:t>
            </a:r>
            <a:r>
              <a:rPr lang="es-CO" sz="1200" dirty="0">
                <a:solidFill>
                  <a:srgbClr val="131413"/>
                </a:solidFill>
              </a:rPr>
              <a:t> KDD, Washington, DC</a:t>
            </a:r>
            <a:r>
              <a:rPr lang="es-CO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880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62635" y="2501171"/>
            <a:ext cx="91171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main purpose of an evaluation indicator is to test the validity of algorithm. </a:t>
            </a:r>
            <a:r>
              <a:rPr lang="en-US" sz="2000" dirty="0"/>
              <a:t/>
            </a:r>
            <a:br>
              <a:rPr lang="en-US" sz="2000" dirty="0"/>
            </a:b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Evaluation indicator (external evaluators – gold standard)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81" y="3021285"/>
            <a:ext cx="5868145" cy="99472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43" y="4149802"/>
            <a:ext cx="5724219" cy="108585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104" y="3343903"/>
            <a:ext cx="1567224" cy="57250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104" y="4051251"/>
            <a:ext cx="1618581" cy="450011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995082" y="5981140"/>
            <a:ext cx="9138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>
                <a:solidFill>
                  <a:srgbClr val="131413"/>
                </a:solidFill>
              </a:rPr>
              <a:t>Färber</a:t>
            </a:r>
            <a:r>
              <a:rPr lang="es-CO" sz="1200" dirty="0">
                <a:solidFill>
                  <a:srgbClr val="131413"/>
                </a:solidFill>
              </a:rPr>
              <a:t> I, </a:t>
            </a:r>
            <a:r>
              <a:rPr lang="es-CO" sz="1200" dirty="0" err="1">
                <a:solidFill>
                  <a:srgbClr val="131413"/>
                </a:solidFill>
              </a:rPr>
              <a:t>Günnemann</a:t>
            </a:r>
            <a:r>
              <a:rPr lang="es-CO" sz="1200" dirty="0">
                <a:solidFill>
                  <a:srgbClr val="131413"/>
                </a:solidFill>
              </a:rPr>
              <a:t> S, </a:t>
            </a:r>
            <a:r>
              <a:rPr lang="es-CO" sz="1200" dirty="0" err="1">
                <a:solidFill>
                  <a:srgbClr val="131413"/>
                </a:solidFill>
              </a:rPr>
              <a:t>Kriegel</a:t>
            </a:r>
            <a:r>
              <a:rPr lang="es-CO" sz="1200" dirty="0">
                <a:solidFill>
                  <a:srgbClr val="131413"/>
                </a:solidFill>
              </a:rPr>
              <a:t> H, </a:t>
            </a:r>
            <a:r>
              <a:rPr lang="es-CO" sz="1200" dirty="0" err="1">
                <a:solidFill>
                  <a:srgbClr val="131413"/>
                </a:solidFill>
              </a:rPr>
              <a:t>Kröger</a:t>
            </a:r>
            <a:r>
              <a:rPr lang="es-CO" sz="1200" dirty="0">
                <a:solidFill>
                  <a:srgbClr val="131413"/>
                </a:solidFill>
              </a:rPr>
              <a:t> P, Müller E, Schubert E, </a:t>
            </a:r>
            <a:r>
              <a:rPr lang="es-CO" sz="1200" dirty="0" err="1">
                <a:solidFill>
                  <a:srgbClr val="131413"/>
                </a:solidFill>
              </a:rPr>
              <a:t>Seidl</a:t>
            </a:r>
            <a:r>
              <a:rPr lang="es-CO" sz="1200" dirty="0">
                <a:solidFill>
                  <a:srgbClr val="131413"/>
                </a:solidFill>
              </a:rPr>
              <a:t> T, </a:t>
            </a:r>
            <a:r>
              <a:rPr lang="es-CO" sz="1200" dirty="0" err="1">
                <a:solidFill>
                  <a:srgbClr val="131413"/>
                </a:solidFill>
              </a:rPr>
              <a:t>Zimek</a:t>
            </a:r>
            <a:r>
              <a:rPr lang="es-CO" sz="1200" dirty="0">
                <a:solidFill>
                  <a:srgbClr val="131413"/>
                </a:solidFill>
              </a:rPr>
              <a:t> A (2010)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class-labels</a:t>
            </a:r>
            <a:r>
              <a:rPr lang="es-CO" sz="1200" dirty="0">
                <a:solidFill>
                  <a:srgbClr val="131413"/>
                </a:solidFill>
              </a:rPr>
              <a:t> in </a:t>
            </a:r>
            <a:r>
              <a:rPr lang="es-CO" sz="1200" dirty="0" err="1">
                <a:solidFill>
                  <a:srgbClr val="131413"/>
                </a:solidFill>
              </a:rPr>
              <a:t>evaluation</a:t>
            </a:r>
            <a:r>
              <a:rPr lang="es-CO" sz="1200" dirty="0">
                <a:solidFill>
                  <a:srgbClr val="131413"/>
                </a:solidFill>
              </a:rPr>
              <a:t> of </a:t>
            </a:r>
            <a:r>
              <a:rPr lang="es-CO" sz="1200" dirty="0" err="1">
                <a:solidFill>
                  <a:srgbClr val="131413"/>
                </a:solidFill>
              </a:rPr>
              <a:t>clusterings</a:t>
            </a:r>
            <a:r>
              <a:rPr lang="es-CO" sz="1200" dirty="0">
                <a:solidFill>
                  <a:srgbClr val="131413"/>
                </a:solidFill>
              </a:rPr>
              <a:t>. In </a:t>
            </a:r>
            <a:r>
              <a:rPr lang="es-CO" sz="1200" dirty="0" err="1">
                <a:solidFill>
                  <a:srgbClr val="131413"/>
                </a:solidFill>
              </a:rPr>
              <a:t>MultiClust</a:t>
            </a:r>
            <a:r>
              <a:rPr lang="es-CO" sz="1200" dirty="0">
                <a:solidFill>
                  <a:srgbClr val="131413"/>
                </a:solidFill>
              </a:rPr>
              <a:t>: 1st </a:t>
            </a:r>
            <a:r>
              <a:rPr lang="es-CO" sz="1200" dirty="0" err="1">
                <a:solidFill>
                  <a:srgbClr val="131413"/>
                </a:solidFill>
              </a:rPr>
              <a:t>international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workshop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discovering</a:t>
            </a:r>
            <a:r>
              <a:rPr lang="es-CO" sz="1200" dirty="0">
                <a:solidFill>
                  <a:srgbClr val="131413"/>
                </a:solidFill>
              </a:rPr>
              <a:t>, </a:t>
            </a:r>
            <a:r>
              <a:rPr lang="es-CO" sz="1200" dirty="0" err="1">
                <a:solidFill>
                  <a:srgbClr val="131413"/>
                </a:solidFill>
              </a:rPr>
              <a:t>summarizing</a:t>
            </a:r>
            <a:r>
              <a:rPr lang="es-CO" sz="1200" dirty="0">
                <a:solidFill>
                  <a:srgbClr val="131413"/>
                </a:solidFill>
              </a:rPr>
              <a:t> and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multiple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clusterings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held</a:t>
            </a:r>
            <a:r>
              <a:rPr lang="es-CO" sz="1200" dirty="0">
                <a:solidFill>
                  <a:srgbClr val="131413"/>
                </a:solidFill>
              </a:rPr>
              <a:t> in </a:t>
            </a:r>
            <a:r>
              <a:rPr lang="es-CO" sz="1200" dirty="0" err="1">
                <a:solidFill>
                  <a:srgbClr val="131413"/>
                </a:solidFill>
              </a:rPr>
              <a:t>conjunction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with</a:t>
            </a:r>
            <a:r>
              <a:rPr lang="es-CO" sz="1200" dirty="0">
                <a:solidFill>
                  <a:srgbClr val="131413"/>
                </a:solidFill>
              </a:rPr>
              <a:t> KDD, Washington, DC</a:t>
            </a:r>
            <a:r>
              <a:rPr lang="es-CO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0922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62635" y="2501171"/>
            <a:ext cx="91171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main purpose of an evaluation indicator is to test the validity of algorithm. </a:t>
            </a:r>
            <a:r>
              <a:rPr lang="en-US" sz="2000" dirty="0"/>
              <a:t/>
            </a:r>
            <a:br>
              <a:rPr lang="en-US" sz="2000" dirty="0"/>
            </a:b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Evaluation indicator (external evaluators – gold standard)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239" y="3126606"/>
            <a:ext cx="6329008" cy="75570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239" y="4197623"/>
            <a:ext cx="5889407" cy="960903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995082" y="5981140"/>
            <a:ext cx="91380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>
                <a:solidFill>
                  <a:srgbClr val="131413"/>
                </a:solidFill>
              </a:rPr>
              <a:t>Färber</a:t>
            </a:r>
            <a:r>
              <a:rPr lang="es-CO" sz="1200" dirty="0">
                <a:solidFill>
                  <a:srgbClr val="131413"/>
                </a:solidFill>
              </a:rPr>
              <a:t> I, </a:t>
            </a:r>
            <a:r>
              <a:rPr lang="es-CO" sz="1200" dirty="0" err="1">
                <a:solidFill>
                  <a:srgbClr val="131413"/>
                </a:solidFill>
              </a:rPr>
              <a:t>Günnemann</a:t>
            </a:r>
            <a:r>
              <a:rPr lang="es-CO" sz="1200" dirty="0">
                <a:solidFill>
                  <a:srgbClr val="131413"/>
                </a:solidFill>
              </a:rPr>
              <a:t> S, </a:t>
            </a:r>
            <a:r>
              <a:rPr lang="es-CO" sz="1200" dirty="0" err="1">
                <a:solidFill>
                  <a:srgbClr val="131413"/>
                </a:solidFill>
              </a:rPr>
              <a:t>Kriegel</a:t>
            </a:r>
            <a:r>
              <a:rPr lang="es-CO" sz="1200" dirty="0">
                <a:solidFill>
                  <a:srgbClr val="131413"/>
                </a:solidFill>
              </a:rPr>
              <a:t> H, </a:t>
            </a:r>
            <a:r>
              <a:rPr lang="es-CO" sz="1200" dirty="0" err="1">
                <a:solidFill>
                  <a:srgbClr val="131413"/>
                </a:solidFill>
              </a:rPr>
              <a:t>Kröger</a:t>
            </a:r>
            <a:r>
              <a:rPr lang="es-CO" sz="1200" dirty="0">
                <a:solidFill>
                  <a:srgbClr val="131413"/>
                </a:solidFill>
              </a:rPr>
              <a:t> P, Müller E, Schubert E, </a:t>
            </a:r>
            <a:r>
              <a:rPr lang="es-CO" sz="1200" dirty="0" err="1">
                <a:solidFill>
                  <a:srgbClr val="131413"/>
                </a:solidFill>
              </a:rPr>
              <a:t>Seidl</a:t>
            </a:r>
            <a:r>
              <a:rPr lang="es-CO" sz="1200" dirty="0">
                <a:solidFill>
                  <a:srgbClr val="131413"/>
                </a:solidFill>
              </a:rPr>
              <a:t> T, </a:t>
            </a:r>
            <a:r>
              <a:rPr lang="es-CO" sz="1200" dirty="0" err="1">
                <a:solidFill>
                  <a:srgbClr val="131413"/>
                </a:solidFill>
              </a:rPr>
              <a:t>Zimek</a:t>
            </a:r>
            <a:r>
              <a:rPr lang="es-CO" sz="1200" dirty="0">
                <a:solidFill>
                  <a:srgbClr val="131413"/>
                </a:solidFill>
              </a:rPr>
              <a:t> A (2010)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class-labels</a:t>
            </a:r>
            <a:r>
              <a:rPr lang="es-CO" sz="1200" dirty="0">
                <a:solidFill>
                  <a:srgbClr val="131413"/>
                </a:solidFill>
              </a:rPr>
              <a:t> in </a:t>
            </a:r>
            <a:r>
              <a:rPr lang="es-CO" sz="1200" dirty="0" err="1">
                <a:solidFill>
                  <a:srgbClr val="131413"/>
                </a:solidFill>
              </a:rPr>
              <a:t>evaluation</a:t>
            </a:r>
            <a:r>
              <a:rPr lang="es-CO" sz="1200" dirty="0">
                <a:solidFill>
                  <a:srgbClr val="131413"/>
                </a:solidFill>
              </a:rPr>
              <a:t> of </a:t>
            </a:r>
            <a:r>
              <a:rPr lang="es-CO" sz="1200" dirty="0" err="1">
                <a:solidFill>
                  <a:srgbClr val="131413"/>
                </a:solidFill>
              </a:rPr>
              <a:t>clusterings</a:t>
            </a:r>
            <a:r>
              <a:rPr lang="es-CO" sz="1200" dirty="0">
                <a:solidFill>
                  <a:srgbClr val="131413"/>
                </a:solidFill>
              </a:rPr>
              <a:t>. In </a:t>
            </a:r>
            <a:r>
              <a:rPr lang="es-CO" sz="1200" dirty="0" err="1">
                <a:solidFill>
                  <a:srgbClr val="131413"/>
                </a:solidFill>
              </a:rPr>
              <a:t>MultiClust</a:t>
            </a:r>
            <a:r>
              <a:rPr lang="es-CO" sz="1200" dirty="0">
                <a:solidFill>
                  <a:srgbClr val="131413"/>
                </a:solidFill>
              </a:rPr>
              <a:t>: 1st </a:t>
            </a:r>
            <a:r>
              <a:rPr lang="es-CO" sz="1200" dirty="0" err="1">
                <a:solidFill>
                  <a:srgbClr val="131413"/>
                </a:solidFill>
              </a:rPr>
              <a:t>international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workshop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discovering</a:t>
            </a:r>
            <a:r>
              <a:rPr lang="es-CO" sz="1200" dirty="0">
                <a:solidFill>
                  <a:srgbClr val="131413"/>
                </a:solidFill>
              </a:rPr>
              <a:t>, </a:t>
            </a:r>
            <a:r>
              <a:rPr lang="es-CO" sz="1200" dirty="0" err="1">
                <a:solidFill>
                  <a:srgbClr val="131413"/>
                </a:solidFill>
              </a:rPr>
              <a:t>summarizing</a:t>
            </a:r>
            <a:r>
              <a:rPr lang="es-CO" sz="1200" dirty="0">
                <a:solidFill>
                  <a:srgbClr val="131413"/>
                </a:solidFill>
              </a:rPr>
              <a:t> and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multiple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clusterings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held</a:t>
            </a:r>
            <a:r>
              <a:rPr lang="es-CO" sz="1200" dirty="0">
                <a:solidFill>
                  <a:srgbClr val="131413"/>
                </a:solidFill>
              </a:rPr>
              <a:t> in </a:t>
            </a:r>
            <a:r>
              <a:rPr lang="es-CO" sz="1200" dirty="0" err="1">
                <a:solidFill>
                  <a:srgbClr val="131413"/>
                </a:solidFill>
              </a:rPr>
              <a:t>conjunction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with</a:t>
            </a:r>
            <a:r>
              <a:rPr lang="es-CO" sz="1200" dirty="0">
                <a:solidFill>
                  <a:srgbClr val="131413"/>
                </a:solidFill>
              </a:rPr>
              <a:t> KDD, Washington, DC</a:t>
            </a:r>
            <a:r>
              <a:rPr lang="es-CO" sz="1200" dirty="0"/>
              <a:t> </a:t>
            </a:r>
          </a:p>
        </p:txBody>
      </p:sp>
      <p:pic>
        <p:nvPicPr>
          <p:cNvPr id="1026" name="Picture 2" descr="Resultado de imagen para confusion matri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724" y="4144617"/>
            <a:ext cx="2885357" cy="1647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87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partition.</a:t>
            </a: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308847" y="5782348"/>
            <a:ext cx="103542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basic idea of this kind of clustering algorithms is to regard the center of data points as the center of the corresponding cluster. </a:t>
            </a:r>
            <a:endParaRPr lang="es-CO" sz="2000" dirty="0"/>
          </a:p>
        </p:txBody>
      </p:sp>
      <p:sp>
        <p:nvSpPr>
          <p:cNvPr id="7" name="Rectángulo 6"/>
          <p:cNvSpPr/>
          <p:nvPr/>
        </p:nvSpPr>
        <p:spPr>
          <a:xfrm>
            <a:off x="5149147" y="2835261"/>
            <a:ext cx="13368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 k-means</a:t>
            </a:r>
            <a:endParaRPr lang="es-CO" sz="2000" b="1" i="1" dirty="0"/>
          </a:p>
        </p:txBody>
      </p:sp>
      <p:pic>
        <p:nvPicPr>
          <p:cNvPr id="1026" name="Picture 2" descr="https://upload.wikimedia.org/wikipedia/commons/thumb/5/5e/K_Means_Example_Step_1.svg/1024px-K_Means_Example_Step_1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820" y="3503572"/>
            <a:ext cx="1929697" cy="186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thumb/a/a5/K_Means_Example_Step_2.svg/1024px-K_Means_Example_Step_2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012" y="3503571"/>
            <a:ext cx="2156720" cy="186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upload.wikimedia.org/wikipedia/commons/thumb/3/3e/K_Means_Example_Step_3.svg/1024px-K_Means_Example_Step_3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732" y="3503571"/>
            <a:ext cx="2374864" cy="205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846" y="3497447"/>
            <a:ext cx="2146250" cy="18528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372" y="517882"/>
            <a:ext cx="2908781" cy="2826585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7974372" y="163341"/>
            <a:ext cx="32950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https://en.wikipedia.org/wiki/K-means_clustering</a:t>
            </a:r>
          </a:p>
        </p:txBody>
      </p:sp>
    </p:spTree>
    <p:extLst>
      <p:ext uri="{BB962C8B-B14F-4D97-AF65-F5344CB8AC3E}">
        <p14:creationId xmlns:p14="http://schemas.microsoft.com/office/powerpoint/2010/main" val="357870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partition.</a:t>
            </a: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308847" y="2931571"/>
            <a:ext cx="103542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Other algorithms:</a:t>
            </a:r>
          </a:p>
          <a:p>
            <a:endParaRPr lang="en-US" sz="2000" dirty="0">
              <a:solidFill>
                <a:srgbClr val="131413"/>
              </a:solidFill>
            </a:endParaRPr>
          </a:p>
          <a:p>
            <a:r>
              <a:rPr lang="en-US" sz="2000" dirty="0">
                <a:solidFill>
                  <a:srgbClr val="131413"/>
                </a:solidFill>
              </a:rPr>
              <a:t>- </a:t>
            </a:r>
            <a:r>
              <a:rPr lang="en-US" sz="2000" b="1" dirty="0">
                <a:solidFill>
                  <a:srgbClr val="131413"/>
                </a:solidFill>
              </a:rPr>
              <a:t>k</a:t>
            </a:r>
            <a:r>
              <a:rPr lang="en-US" sz="2000" b="1" i="1" dirty="0">
                <a:solidFill>
                  <a:srgbClr val="131413"/>
                </a:solidFill>
              </a:rPr>
              <a:t>-</a:t>
            </a:r>
            <a:r>
              <a:rPr lang="en-US" sz="2000" b="1" i="1" dirty="0" err="1">
                <a:solidFill>
                  <a:srgbClr val="131413"/>
                </a:solidFill>
              </a:rPr>
              <a:t>medoids</a:t>
            </a:r>
            <a:r>
              <a:rPr lang="en-US" sz="2000" b="1" i="1" dirty="0">
                <a:solidFill>
                  <a:srgbClr val="131413"/>
                </a:solidFill>
              </a:rPr>
              <a:t> </a:t>
            </a:r>
            <a:r>
              <a:rPr lang="en-US" sz="2000" dirty="0">
                <a:solidFill>
                  <a:srgbClr val="131413"/>
                </a:solidFill>
              </a:rPr>
              <a:t>chooses </a:t>
            </a:r>
            <a:r>
              <a:rPr lang="en-US" sz="2000" dirty="0" err="1">
                <a:solidFill>
                  <a:srgbClr val="131413"/>
                </a:solidFill>
              </a:rPr>
              <a:t>datapoints</a:t>
            </a:r>
            <a:r>
              <a:rPr lang="en-US" sz="2000" dirty="0">
                <a:solidFill>
                  <a:srgbClr val="131413"/>
                </a:solidFill>
              </a:rPr>
              <a:t> as centers (</a:t>
            </a:r>
            <a:r>
              <a:rPr lang="en-US" sz="2000" dirty="0" err="1">
                <a:solidFill>
                  <a:srgbClr val="131413"/>
                </a:solidFill>
              </a:rPr>
              <a:t>medoids</a:t>
            </a:r>
            <a:r>
              <a:rPr lang="en-US" sz="2000" dirty="0">
                <a:solidFill>
                  <a:srgbClr val="131413"/>
                </a:solidFill>
              </a:rPr>
              <a:t> or exemplars) and can be used with arbitrary distances.</a:t>
            </a:r>
            <a:endParaRPr lang="es-CO" sz="2000" dirty="0"/>
          </a:p>
        </p:txBody>
      </p:sp>
      <p:pic>
        <p:nvPicPr>
          <p:cNvPr id="2050" name="Picture 2" descr="https://upload.wikimedia.org/wikipedia/commons/thumb/b/b3/K-means_versus_k-medoids.png/1920px-K-means_versus_k-medoid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594" y="4102061"/>
            <a:ext cx="6572384" cy="256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4371799" y="6316718"/>
            <a:ext cx="27342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https://en.wikipedia.org/wiki/K-medoids</a:t>
            </a:r>
          </a:p>
        </p:txBody>
      </p:sp>
    </p:spTree>
    <p:extLst>
      <p:ext uri="{BB962C8B-B14F-4D97-AF65-F5344CB8AC3E}">
        <p14:creationId xmlns:p14="http://schemas.microsoft.com/office/powerpoint/2010/main" val="1121822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partition.</a:t>
            </a: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308847" y="2931571"/>
            <a:ext cx="1035423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Other algorithms:</a:t>
            </a:r>
          </a:p>
          <a:p>
            <a:endParaRPr lang="en-US" sz="2000" dirty="0">
              <a:solidFill>
                <a:srgbClr val="131413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rgbClr val="131413"/>
                </a:solidFill>
              </a:rPr>
              <a:t>CLARA: Clustering for </a:t>
            </a:r>
            <a:r>
              <a:rPr lang="en-US" sz="2000" b="1" dirty="0" err="1">
                <a:solidFill>
                  <a:srgbClr val="131413"/>
                </a:solidFill>
              </a:rPr>
              <a:t>LARge</a:t>
            </a:r>
            <a:r>
              <a:rPr lang="en-US" sz="2000" b="1" dirty="0">
                <a:solidFill>
                  <a:srgbClr val="131413"/>
                </a:solidFill>
              </a:rPr>
              <a:t> Applications</a:t>
            </a:r>
          </a:p>
          <a:p>
            <a:r>
              <a:rPr lang="en-US" sz="2000" dirty="0"/>
              <a:t>Kaufman L, </a:t>
            </a:r>
            <a:r>
              <a:rPr lang="en-US" sz="2000" dirty="0" err="1"/>
              <a:t>Rousseeuw</a:t>
            </a:r>
            <a:r>
              <a:rPr lang="en-US" sz="2000" dirty="0"/>
              <a:t> P (2008) Finding groups in data: an introduction to cluster analysis, </a:t>
            </a:r>
            <a:r>
              <a:rPr lang="en-US" sz="2000" dirty="0" err="1"/>
              <a:t>vol</a:t>
            </a:r>
            <a:r>
              <a:rPr lang="en-US" sz="2000" dirty="0"/>
              <a:t> 344.</a:t>
            </a:r>
          </a:p>
          <a:p>
            <a:r>
              <a:rPr lang="en-US" sz="2000" dirty="0"/>
              <a:t>Wiley, Hoboken. doi:10.1002/9780470316801</a:t>
            </a:r>
          </a:p>
          <a:p>
            <a:endParaRPr lang="en-US" sz="2000" b="1" dirty="0">
              <a:solidFill>
                <a:srgbClr val="131413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rgbClr val="131413"/>
                </a:solidFill>
              </a:rPr>
              <a:t>CLARANS:</a:t>
            </a:r>
          </a:p>
          <a:p>
            <a:r>
              <a:rPr lang="en-US" sz="2000" dirty="0">
                <a:solidFill>
                  <a:srgbClr val="131413"/>
                </a:solidFill>
              </a:rPr>
              <a:t>Ng R, Han J (2002) </a:t>
            </a:r>
            <a:r>
              <a:rPr lang="en-US" sz="2000" dirty="0" err="1">
                <a:solidFill>
                  <a:srgbClr val="131413"/>
                </a:solidFill>
              </a:rPr>
              <a:t>Clarans</a:t>
            </a:r>
            <a:r>
              <a:rPr lang="en-US" sz="2000" dirty="0">
                <a:solidFill>
                  <a:srgbClr val="131413"/>
                </a:solidFill>
              </a:rPr>
              <a:t>: a method for clustering objects for spatial data mining. IEEE Trans</a:t>
            </a:r>
          </a:p>
          <a:p>
            <a:r>
              <a:rPr lang="en-US" sz="2000" dirty="0" err="1">
                <a:solidFill>
                  <a:srgbClr val="131413"/>
                </a:solidFill>
              </a:rPr>
              <a:t>Knowl</a:t>
            </a:r>
            <a:r>
              <a:rPr lang="en-US" sz="2000" dirty="0">
                <a:solidFill>
                  <a:srgbClr val="131413"/>
                </a:solidFill>
              </a:rPr>
              <a:t> Data </a:t>
            </a:r>
            <a:r>
              <a:rPr lang="en-US" sz="2000" dirty="0" err="1">
                <a:solidFill>
                  <a:srgbClr val="131413"/>
                </a:solidFill>
              </a:rPr>
              <a:t>Eng</a:t>
            </a:r>
            <a:r>
              <a:rPr lang="en-US" sz="2000" dirty="0">
                <a:solidFill>
                  <a:srgbClr val="131413"/>
                </a:solidFill>
              </a:rPr>
              <a:t> 14:1003–1016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03607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47" y="3242678"/>
            <a:ext cx="8981123" cy="1789068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partition. </a:t>
            </a:r>
            <a:r>
              <a:rPr lang="en-US" sz="2000" b="1" dirty="0">
                <a:solidFill>
                  <a:srgbClr val="131413"/>
                </a:solidFill>
              </a:rPr>
              <a:t>Analysis.</a:t>
            </a:r>
            <a:endParaRPr lang="es-CO" sz="2000" dirty="0"/>
          </a:p>
        </p:txBody>
      </p:sp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6037293"/>
            <a:ext cx="92067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5932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partition. </a:t>
            </a:r>
            <a:r>
              <a:rPr lang="en-US" sz="2000" b="1" dirty="0">
                <a:solidFill>
                  <a:srgbClr val="131413"/>
                </a:solidFill>
              </a:rPr>
              <a:t>Analysis.</a:t>
            </a:r>
            <a:endParaRPr lang="es-CO" sz="2000" dirty="0"/>
          </a:p>
        </p:txBody>
      </p:sp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3415571"/>
            <a:ext cx="91171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Advantages: </a:t>
            </a:r>
            <a:r>
              <a:rPr lang="en-US" sz="2000" dirty="0">
                <a:solidFill>
                  <a:srgbClr val="131413"/>
                </a:solidFill>
              </a:rPr>
              <a:t>suitable for the data set with arbitrary shape and attribute of arbitrary</a:t>
            </a:r>
          </a:p>
          <a:p>
            <a:r>
              <a:rPr lang="en-US" sz="2000" dirty="0">
                <a:solidFill>
                  <a:srgbClr val="131413"/>
                </a:solidFill>
              </a:rPr>
              <a:t>type, the hierarchical relationship among clusters easily detected, and relatively</a:t>
            </a:r>
          </a:p>
          <a:p>
            <a:r>
              <a:rPr lang="en-US" sz="2000" dirty="0">
                <a:solidFill>
                  <a:srgbClr val="131413"/>
                </a:solidFill>
              </a:rPr>
              <a:t>high scalability in general;</a:t>
            </a:r>
          </a:p>
          <a:p>
            <a:endParaRPr lang="en-US" sz="2000" dirty="0">
              <a:solidFill>
                <a:srgbClr val="131413"/>
              </a:solidFill>
            </a:endParaRPr>
          </a:p>
          <a:p>
            <a:r>
              <a:rPr lang="en-US" sz="2000" b="1" i="1" dirty="0"/>
              <a:t>Disadvantages</a:t>
            </a:r>
            <a:r>
              <a:rPr lang="en-US" sz="2000" dirty="0"/>
              <a:t>: relatively high in time complexity in general, the number of clusters needed to be preset</a:t>
            </a:r>
            <a:endParaRPr lang="es-CO" sz="2000" dirty="0"/>
          </a:p>
        </p:txBody>
      </p:sp>
      <p:sp>
        <p:nvSpPr>
          <p:cNvPr id="8" name="Rectángulo 7"/>
          <p:cNvSpPr/>
          <p:nvPr/>
        </p:nvSpPr>
        <p:spPr>
          <a:xfrm>
            <a:off x="1308847" y="6037293"/>
            <a:ext cx="92067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1460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hierarchy.</a:t>
            </a: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308847" y="5782348"/>
            <a:ext cx="103542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131413"/>
                </a:solidFill>
              </a:rPr>
              <a:t>The basic idea of this kind of clustering algorithms is to construct the hierarchical relationship among data in order to cluster.</a:t>
            </a:r>
            <a:endParaRPr lang="es-CO" sz="2000" dirty="0"/>
          </a:p>
        </p:txBody>
      </p:sp>
      <p:sp>
        <p:nvSpPr>
          <p:cNvPr id="7" name="Rectángulo 6"/>
          <p:cNvSpPr/>
          <p:nvPr/>
        </p:nvSpPr>
        <p:spPr>
          <a:xfrm>
            <a:off x="1308847" y="4572230"/>
            <a:ext cx="103542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BIRCH </a:t>
            </a:r>
            <a:r>
              <a:rPr lang="en-US" sz="2000" dirty="0">
                <a:solidFill>
                  <a:srgbClr val="131413"/>
                </a:solidFill>
              </a:rPr>
              <a:t>achieves the clustering result by constructing the feature tree of clustering of which one node stands for a </a:t>
            </a:r>
            <a:r>
              <a:rPr lang="en-US" sz="2000" i="1" dirty="0" err="1">
                <a:solidFill>
                  <a:srgbClr val="131413"/>
                </a:solidFill>
              </a:rPr>
              <a:t>subcluster</a:t>
            </a:r>
            <a:r>
              <a:rPr lang="en-US" sz="2000" dirty="0">
                <a:solidFill>
                  <a:srgbClr val="131413"/>
                </a:solidFill>
              </a:rPr>
              <a:t>. The feature tree will dynamically grow when a new data point comes</a:t>
            </a:r>
            <a:r>
              <a:rPr lang="en-US" sz="2000" b="1" i="1" dirty="0">
                <a:solidFill>
                  <a:srgbClr val="131413"/>
                </a:solidFill>
              </a:rPr>
              <a:t>.</a:t>
            </a:r>
            <a:endParaRPr lang="es-CO" sz="2000" b="1" i="1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340" y="1881715"/>
            <a:ext cx="5181600" cy="2562225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2843784" y="5247568"/>
            <a:ext cx="91986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Zhang T, </a:t>
            </a:r>
            <a:r>
              <a:rPr lang="es-CO" sz="1200" dirty="0" err="1"/>
              <a:t>Ramakrishnan</a:t>
            </a:r>
            <a:r>
              <a:rPr lang="es-CO" sz="1200" dirty="0"/>
              <a:t> R, </a:t>
            </a:r>
            <a:r>
              <a:rPr lang="es-CO" sz="1200" dirty="0" err="1"/>
              <a:t>Livny</a:t>
            </a:r>
            <a:r>
              <a:rPr lang="es-CO" sz="1200" dirty="0"/>
              <a:t> M (1996) BIRCH: </a:t>
            </a:r>
            <a:r>
              <a:rPr lang="es-CO" sz="1200" dirty="0" err="1"/>
              <a:t>an</a:t>
            </a:r>
            <a:r>
              <a:rPr lang="es-CO" sz="1200" dirty="0"/>
              <a:t> </a:t>
            </a:r>
            <a:r>
              <a:rPr lang="es-CO" sz="1200" dirty="0" err="1"/>
              <a:t>efficient</a:t>
            </a:r>
            <a:r>
              <a:rPr lang="es-CO" sz="1200" dirty="0"/>
              <a:t> data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method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very</a:t>
            </a:r>
            <a:r>
              <a:rPr lang="es-CO" sz="1200" dirty="0"/>
              <a:t> </a:t>
            </a:r>
            <a:r>
              <a:rPr lang="es-CO" sz="1200" dirty="0" err="1"/>
              <a:t>large</a:t>
            </a:r>
            <a:r>
              <a:rPr lang="es-CO" sz="1200" dirty="0"/>
              <a:t> </a:t>
            </a:r>
            <a:r>
              <a:rPr lang="es-CO" sz="1200" dirty="0" err="1"/>
              <a:t>databases</a:t>
            </a:r>
            <a:r>
              <a:rPr lang="es-CO" sz="1200" dirty="0"/>
              <a:t>. ACM SIGMOD </a:t>
            </a:r>
            <a:r>
              <a:rPr lang="es-CO" sz="1200" dirty="0" err="1"/>
              <a:t>Rec</a:t>
            </a:r>
            <a:r>
              <a:rPr lang="es-CO" sz="1200" dirty="0"/>
              <a:t> 25:103–104</a:t>
            </a:r>
          </a:p>
        </p:txBody>
      </p:sp>
    </p:spTree>
    <p:extLst>
      <p:ext uri="{BB962C8B-B14F-4D97-AF65-F5344CB8AC3E}">
        <p14:creationId xmlns:p14="http://schemas.microsoft.com/office/powerpoint/2010/main" val="2517298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308847" y="2375665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hierarchy.</a:t>
            </a:r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308847" y="5782348"/>
            <a:ext cx="103542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basic idea of this kind of clustering algorithms is to construct the hierarchical relationship among data in order to cluster.</a:t>
            </a:r>
            <a:endParaRPr lang="es-CO" sz="2000" dirty="0"/>
          </a:p>
        </p:txBody>
      </p:sp>
      <p:sp>
        <p:nvSpPr>
          <p:cNvPr id="7" name="Rectángulo 6"/>
          <p:cNvSpPr/>
          <p:nvPr/>
        </p:nvSpPr>
        <p:spPr>
          <a:xfrm>
            <a:off x="1308846" y="2998077"/>
            <a:ext cx="103542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CURE, </a:t>
            </a:r>
            <a:r>
              <a:rPr lang="en-US" sz="2000" dirty="0">
                <a:solidFill>
                  <a:srgbClr val="131413"/>
                </a:solidFill>
              </a:rPr>
              <a:t>suitable for large-scale clustering, takes random sampling technique to cluster sample separately and integrates the results finally.</a:t>
            </a:r>
            <a:endParaRPr lang="es-CO" sz="2000" dirty="0"/>
          </a:p>
        </p:txBody>
      </p:sp>
      <p:sp>
        <p:nvSpPr>
          <p:cNvPr id="13" name="Rectángulo 12"/>
          <p:cNvSpPr/>
          <p:nvPr/>
        </p:nvSpPr>
        <p:spPr>
          <a:xfrm>
            <a:off x="2834819" y="3789765"/>
            <a:ext cx="91986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/>
              <a:t>Guha</a:t>
            </a:r>
            <a:r>
              <a:rPr lang="es-CO" sz="1200" dirty="0"/>
              <a:t> S, </a:t>
            </a:r>
            <a:r>
              <a:rPr lang="es-CO" sz="1200" dirty="0" err="1"/>
              <a:t>Rastogi</a:t>
            </a:r>
            <a:r>
              <a:rPr lang="es-CO" sz="1200" dirty="0"/>
              <a:t> R, </a:t>
            </a:r>
            <a:r>
              <a:rPr lang="es-CO" sz="1200" dirty="0" err="1"/>
              <a:t>Shim</a:t>
            </a:r>
            <a:r>
              <a:rPr lang="es-CO" sz="1200" dirty="0"/>
              <a:t> K (1998) CURE: </a:t>
            </a:r>
            <a:r>
              <a:rPr lang="es-CO" sz="1200" dirty="0" err="1"/>
              <a:t>an</a:t>
            </a:r>
            <a:r>
              <a:rPr lang="es-CO" sz="1200" dirty="0"/>
              <a:t> </a:t>
            </a:r>
            <a:r>
              <a:rPr lang="es-CO" sz="1200" dirty="0" err="1"/>
              <a:t>efficient</a:t>
            </a:r>
            <a:r>
              <a:rPr lang="es-CO" sz="1200" dirty="0"/>
              <a:t>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algorithm</a:t>
            </a:r>
            <a:r>
              <a:rPr lang="es-CO" sz="1200" dirty="0"/>
              <a:t> </a:t>
            </a:r>
            <a:r>
              <a:rPr lang="es-CO" sz="1200" dirty="0" err="1"/>
              <a:t>for</a:t>
            </a:r>
            <a:r>
              <a:rPr lang="es-CO" sz="1200" dirty="0"/>
              <a:t> </a:t>
            </a:r>
            <a:r>
              <a:rPr lang="es-CO" sz="1200" dirty="0" err="1"/>
              <a:t>large</a:t>
            </a:r>
            <a:r>
              <a:rPr lang="es-CO" sz="1200" dirty="0"/>
              <a:t> </a:t>
            </a:r>
            <a:r>
              <a:rPr lang="es-CO" sz="1200" dirty="0" err="1"/>
              <a:t>databases</a:t>
            </a:r>
            <a:r>
              <a:rPr lang="es-CO" sz="1200" dirty="0"/>
              <a:t>. ACM SIGMOD </a:t>
            </a:r>
            <a:r>
              <a:rPr lang="es-CO" sz="1200" dirty="0" err="1"/>
              <a:t>Rec</a:t>
            </a:r>
            <a:r>
              <a:rPr lang="es-CO" sz="1200" dirty="0"/>
              <a:t> 27:73–84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308846" y="4192509"/>
            <a:ext cx="1013666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Chameleon, </a:t>
            </a:r>
            <a:r>
              <a:rPr lang="en-US" sz="2000" dirty="0">
                <a:solidFill>
                  <a:srgbClr val="131413"/>
                </a:solidFill>
              </a:rPr>
              <a:t>at first, divides the original data into clusters with smaller size based on the nearest neighbor graph, and then the clusters with small</a:t>
            </a:r>
            <a:r>
              <a:rPr lang="en-US" sz="2000" dirty="0"/>
              <a:t> size are merged into a cluster with bigger size, based on agglomerative algorithm, until satisfied.</a:t>
            </a:r>
            <a:br>
              <a:rPr lang="en-US" sz="2000" dirty="0"/>
            </a:br>
            <a:endParaRPr lang="es-CO" sz="2000" dirty="0"/>
          </a:p>
        </p:txBody>
      </p:sp>
      <p:sp>
        <p:nvSpPr>
          <p:cNvPr id="5" name="Rectángulo 4"/>
          <p:cNvSpPr/>
          <p:nvPr/>
        </p:nvSpPr>
        <p:spPr>
          <a:xfrm>
            <a:off x="2834818" y="5325983"/>
            <a:ext cx="82365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>
                <a:solidFill>
                  <a:srgbClr val="131413"/>
                </a:solidFill>
              </a:rPr>
              <a:t>Karypis</a:t>
            </a:r>
            <a:r>
              <a:rPr lang="es-CO" sz="1200" dirty="0">
                <a:solidFill>
                  <a:srgbClr val="131413"/>
                </a:solidFill>
              </a:rPr>
              <a:t> G, Han E, </a:t>
            </a:r>
            <a:r>
              <a:rPr lang="es-CO" sz="1200" dirty="0" err="1">
                <a:solidFill>
                  <a:srgbClr val="131413"/>
                </a:solidFill>
              </a:rPr>
              <a:t>Kumar</a:t>
            </a:r>
            <a:r>
              <a:rPr lang="es-CO" sz="1200" dirty="0">
                <a:solidFill>
                  <a:srgbClr val="131413"/>
                </a:solidFill>
              </a:rPr>
              <a:t> V (1999) </a:t>
            </a:r>
            <a:r>
              <a:rPr lang="es-CO" sz="1200" dirty="0" err="1">
                <a:solidFill>
                  <a:srgbClr val="131413"/>
                </a:solidFill>
              </a:rPr>
              <a:t>Chameleon</a:t>
            </a:r>
            <a:r>
              <a:rPr lang="es-CO" sz="1200" dirty="0">
                <a:solidFill>
                  <a:srgbClr val="131413"/>
                </a:solidFill>
              </a:rPr>
              <a:t>: </a:t>
            </a:r>
            <a:r>
              <a:rPr lang="es-CO" sz="1200" dirty="0" err="1">
                <a:solidFill>
                  <a:srgbClr val="131413"/>
                </a:solidFill>
              </a:rPr>
              <a:t>hierarchical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clustering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using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dynamic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modeling</a:t>
            </a:r>
            <a:r>
              <a:rPr lang="es-CO" sz="1200" dirty="0">
                <a:solidFill>
                  <a:srgbClr val="131413"/>
                </a:solidFill>
              </a:rPr>
              <a:t>. </a:t>
            </a:r>
            <a:r>
              <a:rPr lang="es-CO" sz="1200" dirty="0" err="1">
                <a:solidFill>
                  <a:srgbClr val="131413"/>
                </a:solidFill>
              </a:rPr>
              <a:t>Computer</a:t>
            </a:r>
            <a:r>
              <a:rPr lang="es-CO" sz="1200" dirty="0">
                <a:solidFill>
                  <a:srgbClr val="131413"/>
                </a:solidFill>
              </a:rPr>
              <a:t> 32:68–75</a:t>
            </a:r>
            <a:r>
              <a:rPr lang="es-CO" sz="1200" dirty="0"/>
              <a:t> </a:t>
            </a:r>
            <a:br>
              <a:rPr lang="es-CO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879903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3415571"/>
            <a:ext cx="91171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Advantages: </a:t>
            </a:r>
            <a:r>
              <a:rPr lang="en-US" sz="2000" dirty="0">
                <a:solidFill>
                  <a:srgbClr val="131413"/>
                </a:solidFill>
              </a:rPr>
              <a:t>suitable for the data set with arbitrary shape and attribute of arbitrary</a:t>
            </a:r>
          </a:p>
          <a:p>
            <a:r>
              <a:rPr lang="en-US" sz="2000" dirty="0">
                <a:solidFill>
                  <a:srgbClr val="131413"/>
                </a:solidFill>
              </a:rPr>
              <a:t>type, the hierarchical relationship among clusters easily detected, and relatively</a:t>
            </a:r>
          </a:p>
          <a:p>
            <a:r>
              <a:rPr lang="en-US" sz="2000" dirty="0">
                <a:solidFill>
                  <a:srgbClr val="131413"/>
                </a:solidFill>
              </a:rPr>
              <a:t>high scalability in general;</a:t>
            </a:r>
          </a:p>
          <a:p>
            <a:endParaRPr lang="en-US" sz="2000" dirty="0">
              <a:solidFill>
                <a:srgbClr val="131413"/>
              </a:solidFill>
            </a:endParaRPr>
          </a:p>
          <a:p>
            <a:r>
              <a:rPr lang="en-US" sz="2000" b="1" i="1" dirty="0"/>
              <a:t>Disadvantages</a:t>
            </a:r>
            <a:r>
              <a:rPr lang="en-US" sz="2000" dirty="0"/>
              <a:t>: relatively high in time complexity in general, the number of clusters needed to be preset</a:t>
            </a:r>
            <a:endParaRPr lang="es-CO" sz="2000" dirty="0"/>
          </a:p>
        </p:txBody>
      </p:sp>
      <p:sp>
        <p:nvSpPr>
          <p:cNvPr id="8" name="Rectángulo 7"/>
          <p:cNvSpPr/>
          <p:nvPr/>
        </p:nvSpPr>
        <p:spPr>
          <a:xfrm>
            <a:off x="1308847" y="6037293"/>
            <a:ext cx="92067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hierarchy. </a:t>
            </a:r>
            <a:r>
              <a:rPr lang="en-US" sz="2000" b="1" dirty="0">
                <a:solidFill>
                  <a:srgbClr val="131413"/>
                </a:solidFill>
              </a:rPr>
              <a:t>Analysis.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2586341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3065543"/>
            <a:ext cx="911710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FCM: Fuzzy c-means</a:t>
            </a:r>
          </a:p>
          <a:p>
            <a:r>
              <a:rPr lang="en-US" sz="2000" b="1" i="1" dirty="0" smtClean="0">
                <a:solidFill>
                  <a:srgbClr val="131413"/>
                </a:solidFill>
              </a:rPr>
              <a:t>Procedure:</a:t>
            </a:r>
            <a:endParaRPr lang="en-US" sz="2000" b="1" i="1" dirty="0">
              <a:solidFill>
                <a:srgbClr val="131413"/>
              </a:solidFill>
            </a:endParaRPr>
          </a:p>
          <a:p>
            <a:endParaRPr lang="en-US" sz="2000" dirty="0">
              <a:solidFill>
                <a:srgbClr val="131413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 smtClean="0">
                <a:solidFill>
                  <a:srgbClr val="131413"/>
                </a:solidFill>
              </a:rPr>
              <a:t>Determine a </a:t>
            </a:r>
            <a:r>
              <a:rPr lang="en-US" sz="2000" dirty="0">
                <a:solidFill>
                  <a:srgbClr val="131413"/>
                </a:solidFill>
              </a:rPr>
              <a:t>number of </a:t>
            </a:r>
            <a:r>
              <a:rPr lang="en-US" sz="2000" dirty="0" smtClean="0">
                <a:solidFill>
                  <a:srgbClr val="131413"/>
                </a:solidFill>
              </a:rPr>
              <a:t>clusters.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solidFill>
                  <a:srgbClr val="131413"/>
                </a:solidFill>
              </a:rPr>
              <a:t>Assign </a:t>
            </a:r>
            <a:r>
              <a:rPr lang="en-US" sz="2000" dirty="0">
                <a:solidFill>
                  <a:srgbClr val="131413"/>
                </a:solidFill>
              </a:rPr>
              <a:t>coefficients randomly to each data point for being in the </a:t>
            </a:r>
            <a:r>
              <a:rPr lang="en-US" sz="2000" dirty="0" smtClean="0">
                <a:solidFill>
                  <a:srgbClr val="131413"/>
                </a:solidFill>
              </a:rPr>
              <a:t>clusters.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solidFill>
                  <a:srgbClr val="131413"/>
                </a:solidFill>
              </a:rPr>
              <a:t>Repeat </a:t>
            </a:r>
            <a:r>
              <a:rPr lang="en-US" sz="2000" dirty="0">
                <a:solidFill>
                  <a:srgbClr val="131413"/>
                </a:solidFill>
              </a:rPr>
              <a:t>until the algorithm has converged (that is, the coefficients' change between two iterations is no more than </a:t>
            </a:r>
            <a:r>
              <a:rPr lang="en-US" sz="2000" dirty="0" smtClean="0">
                <a:solidFill>
                  <a:srgbClr val="131413"/>
                </a:solidFill>
              </a:rPr>
              <a:t>the </a:t>
            </a:r>
            <a:r>
              <a:rPr lang="en-US" sz="2000" dirty="0">
                <a:solidFill>
                  <a:srgbClr val="131413"/>
                </a:solidFill>
              </a:rPr>
              <a:t>given sensitivity threshold</a:t>
            </a:r>
            <a:r>
              <a:rPr lang="en-US" sz="2000" dirty="0" smtClean="0">
                <a:solidFill>
                  <a:srgbClr val="131413"/>
                </a:solidFill>
              </a:rPr>
              <a:t>).</a:t>
            </a:r>
          </a:p>
          <a:p>
            <a:pPr marL="800100" lvl="1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Compute </a:t>
            </a:r>
            <a:r>
              <a:rPr lang="en-US" sz="2000" dirty="0">
                <a:solidFill>
                  <a:srgbClr val="131413"/>
                </a:solidFill>
              </a:rPr>
              <a:t>the centroid for each </a:t>
            </a:r>
            <a:r>
              <a:rPr lang="en-US" sz="2000" dirty="0" smtClean="0">
                <a:solidFill>
                  <a:srgbClr val="131413"/>
                </a:solidFill>
              </a:rPr>
              <a:t>cluster.</a:t>
            </a:r>
          </a:p>
          <a:p>
            <a:pPr marL="800100" lvl="1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For </a:t>
            </a:r>
            <a:r>
              <a:rPr lang="en-US" sz="2000" dirty="0">
                <a:solidFill>
                  <a:srgbClr val="131413"/>
                </a:solidFill>
              </a:rPr>
              <a:t>each data point, compute its coefficients of being in the clusters.</a:t>
            </a:r>
            <a:endParaRPr lang="en-US" sz="2000" dirty="0" smtClean="0">
              <a:solidFill>
                <a:srgbClr val="131413"/>
              </a:solidFill>
            </a:endParaRPr>
          </a:p>
          <a:p>
            <a:endParaRPr lang="en-US" sz="2000" b="1" i="1" dirty="0">
              <a:solidFill>
                <a:srgbClr val="131413"/>
              </a:solidFill>
            </a:endParaRPr>
          </a:p>
          <a:p>
            <a:endParaRPr lang="es-CO" sz="2000" dirty="0"/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fuzzy theory.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703294" y="6150114"/>
            <a:ext cx="81399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</a:t>
            </a:r>
            <a:r>
              <a:rPr lang="en-US" sz="2000" dirty="0" smtClean="0">
                <a:solidFill>
                  <a:srgbClr val="131413"/>
                </a:solidFill>
              </a:rPr>
              <a:t>central idea in fuzzy clustering is the non-unique partition</a:t>
            </a:r>
            <a:r>
              <a:rPr lang="en-US" sz="2000" dirty="0" smtClean="0">
                <a:solidFill>
                  <a:srgbClr val="131413"/>
                </a:solidFill>
              </a:rPr>
              <a:t>ing of the data in a collection of clusters</a:t>
            </a:r>
            <a:r>
              <a:rPr lang="en-US" sz="2000" dirty="0" smtClean="0">
                <a:solidFill>
                  <a:srgbClr val="131413"/>
                </a:solidFill>
              </a:rPr>
              <a:t>.</a:t>
            </a:r>
            <a:endParaRPr lang="es-CO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444" y="1753101"/>
            <a:ext cx="2862509" cy="75140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953" y="2603152"/>
            <a:ext cx="2833885" cy="1109938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8330184" y="3713090"/>
            <a:ext cx="39530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>
                <a:solidFill>
                  <a:srgbClr val="131413"/>
                </a:solidFill>
              </a:rPr>
              <a:t>Bezdek</a:t>
            </a:r>
            <a:r>
              <a:rPr lang="es-CO" sz="1200" dirty="0">
                <a:solidFill>
                  <a:srgbClr val="131413"/>
                </a:solidFill>
              </a:rPr>
              <a:t> J, </a:t>
            </a:r>
            <a:r>
              <a:rPr lang="es-CO" sz="1200" dirty="0" err="1">
                <a:solidFill>
                  <a:srgbClr val="131413"/>
                </a:solidFill>
              </a:rPr>
              <a:t>Ehrlich</a:t>
            </a:r>
            <a:r>
              <a:rPr lang="es-CO" sz="1200" dirty="0">
                <a:solidFill>
                  <a:srgbClr val="131413"/>
                </a:solidFill>
              </a:rPr>
              <a:t> R, Full W (1984) FCM: </a:t>
            </a:r>
            <a:r>
              <a:rPr lang="es-CO" sz="1200" dirty="0" err="1">
                <a:solidFill>
                  <a:srgbClr val="131413"/>
                </a:solidFill>
              </a:rPr>
              <a:t>the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fuzzy</a:t>
            </a:r>
            <a:r>
              <a:rPr lang="es-CO" sz="1200" dirty="0">
                <a:solidFill>
                  <a:srgbClr val="131413"/>
                </a:solidFill>
              </a:rPr>
              <a:t> c-</a:t>
            </a:r>
            <a:r>
              <a:rPr lang="es-CO" sz="1200" dirty="0" err="1">
                <a:solidFill>
                  <a:srgbClr val="131413"/>
                </a:solidFill>
              </a:rPr>
              <a:t>means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clustering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algorithm</a:t>
            </a:r>
            <a:r>
              <a:rPr lang="es-CO" sz="1200" dirty="0">
                <a:solidFill>
                  <a:srgbClr val="131413"/>
                </a:solidFill>
              </a:rPr>
              <a:t>. </a:t>
            </a:r>
            <a:r>
              <a:rPr lang="es-CO" sz="1200" dirty="0" err="1">
                <a:solidFill>
                  <a:srgbClr val="131413"/>
                </a:solidFill>
              </a:rPr>
              <a:t>Comput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smtClean="0">
                <a:solidFill>
                  <a:srgbClr val="131413"/>
                </a:solidFill>
              </a:rPr>
              <a:t>Geosci10:191–203</a:t>
            </a:r>
            <a:r>
              <a:rPr lang="es-CO" sz="1200" dirty="0" smtClean="0"/>
              <a:t>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56420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fuzzy theory.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703294" y="6150114"/>
            <a:ext cx="81399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</a:t>
            </a:r>
            <a:r>
              <a:rPr lang="en-US" sz="2000" dirty="0" smtClean="0">
                <a:solidFill>
                  <a:srgbClr val="131413"/>
                </a:solidFill>
              </a:rPr>
              <a:t>central idea in fuzzy clustering is the non-unique partition</a:t>
            </a:r>
            <a:r>
              <a:rPr lang="en-US" sz="2000" dirty="0" smtClean="0">
                <a:solidFill>
                  <a:srgbClr val="131413"/>
                </a:solidFill>
              </a:rPr>
              <a:t>ing of the data in a collection of clusters</a:t>
            </a:r>
            <a:r>
              <a:rPr lang="en-US" sz="2000" dirty="0" smtClean="0">
                <a:solidFill>
                  <a:srgbClr val="131413"/>
                </a:solidFill>
              </a:rPr>
              <a:t>.</a:t>
            </a:r>
            <a:endParaRPr lang="es-CO" sz="2000" dirty="0"/>
          </a:p>
        </p:txBody>
      </p:sp>
      <p:sp>
        <p:nvSpPr>
          <p:cNvPr id="11" name="Rectángulo 10"/>
          <p:cNvSpPr/>
          <p:nvPr/>
        </p:nvSpPr>
        <p:spPr>
          <a:xfrm>
            <a:off x="1587649" y="3342887"/>
            <a:ext cx="935772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FCS: Fuzzy c shells</a:t>
            </a:r>
          </a:p>
          <a:p>
            <a:r>
              <a:rPr lang="en-US" sz="2000" dirty="0" smtClean="0"/>
              <a:t>Detection of </a:t>
            </a:r>
            <a:r>
              <a:rPr lang="en-US" sz="2000" dirty="0"/>
              <a:t>clusters that lie in nonlinear </a:t>
            </a:r>
            <a:r>
              <a:rPr lang="en-US" sz="2000" dirty="0" smtClean="0"/>
              <a:t>subspaces, i.e</a:t>
            </a:r>
            <a:r>
              <a:rPr lang="en-US" sz="2000" dirty="0"/>
              <a:t>. resemble shells or patches of surfaces with no interior points. These clusters can </a:t>
            </a:r>
            <a:r>
              <a:rPr lang="en-US" sz="2000" dirty="0" smtClean="0"/>
              <a:t>be detected </a:t>
            </a:r>
            <a:r>
              <a:rPr lang="en-US" sz="2000" dirty="0"/>
              <a:t>using fuzzy shell clustering algorithms.</a:t>
            </a:r>
          </a:p>
          <a:p>
            <a:endParaRPr lang="es-CO" sz="2000" dirty="0"/>
          </a:p>
        </p:txBody>
      </p:sp>
      <p:sp>
        <p:nvSpPr>
          <p:cNvPr id="12" name="Rectángulo 11"/>
          <p:cNvSpPr/>
          <p:nvPr/>
        </p:nvSpPr>
        <p:spPr>
          <a:xfrm>
            <a:off x="3069336" y="4697104"/>
            <a:ext cx="83133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 smtClean="0"/>
              <a:t>Dave</a:t>
            </a:r>
            <a:r>
              <a:rPr lang="es-CO" sz="1200" dirty="0" smtClean="0"/>
              <a:t> </a:t>
            </a:r>
            <a:r>
              <a:rPr lang="es-CO" sz="1200" dirty="0" smtClean="0"/>
              <a:t>R</a:t>
            </a:r>
            <a:r>
              <a:rPr lang="es-CO" sz="1200" dirty="0"/>
              <a:t>, </a:t>
            </a:r>
            <a:r>
              <a:rPr lang="es-CO" sz="1200" dirty="0" err="1"/>
              <a:t>Bhaswan</a:t>
            </a:r>
            <a:r>
              <a:rPr lang="es-CO" sz="1200" dirty="0"/>
              <a:t> K (1992) </a:t>
            </a:r>
            <a:r>
              <a:rPr lang="es-CO" sz="1200" dirty="0" err="1"/>
              <a:t>Adaptive</a:t>
            </a:r>
            <a:r>
              <a:rPr lang="es-CO" sz="1200" dirty="0"/>
              <a:t> </a:t>
            </a:r>
            <a:r>
              <a:rPr lang="es-CO" sz="1200" dirty="0" err="1"/>
              <a:t>fuzzy</a:t>
            </a:r>
            <a:r>
              <a:rPr lang="es-CO" sz="1200" dirty="0"/>
              <a:t> c-</a:t>
            </a:r>
            <a:r>
              <a:rPr lang="es-CO" sz="1200" dirty="0" err="1"/>
              <a:t>shells</a:t>
            </a:r>
            <a:r>
              <a:rPr lang="es-CO" sz="1200" dirty="0"/>
              <a:t> </a:t>
            </a:r>
            <a:r>
              <a:rPr lang="es-CO" sz="1200" dirty="0" err="1"/>
              <a:t>clustering</a:t>
            </a:r>
            <a:r>
              <a:rPr lang="es-CO" sz="1200" dirty="0"/>
              <a:t> and </a:t>
            </a:r>
            <a:r>
              <a:rPr lang="es-CO" sz="1200" dirty="0" err="1"/>
              <a:t>detection</a:t>
            </a:r>
            <a:r>
              <a:rPr lang="es-CO" sz="1200" dirty="0"/>
              <a:t> of </a:t>
            </a:r>
            <a:r>
              <a:rPr lang="es-CO" sz="1200" dirty="0" err="1"/>
              <a:t>ellipses</a:t>
            </a:r>
            <a:r>
              <a:rPr lang="es-CO" sz="1200" dirty="0"/>
              <a:t>. IEEE </a:t>
            </a:r>
            <a:r>
              <a:rPr lang="es-CO" sz="1200" dirty="0" err="1" smtClean="0"/>
              <a:t>TransNeural</a:t>
            </a:r>
            <a:r>
              <a:rPr lang="es-CO" sz="1200" dirty="0" smtClean="0"/>
              <a:t> </a:t>
            </a:r>
            <a:r>
              <a:rPr lang="es-CO" sz="1200" dirty="0" err="1"/>
              <a:t>Netw</a:t>
            </a:r>
            <a:r>
              <a:rPr lang="es-CO" sz="1200" dirty="0"/>
              <a:t> 3:643–662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817150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165" y="1333034"/>
            <a:ext cx="4210965" cy="337705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fuzzy theory. </a:t>
            </a:r>
            <a:r>
              <a:rPr lang="en-US" sz="2000" b="1" i="1" dirty="0" smtClean="0">
                <a:solidFill>
                  <a:srgbClr val="131413"/>
                </a:solidFill>
              </a:rPr>
              <a:t>Examples.</a:t>
            </a:r>
            <a:endParaRPr lang="es-CO" sz="2000" b="1" i="1" dirty="0"/>
          </a:p>
        </p:txBody>
      </p:sp>
      <p:sp>
        <p:nvSpPr>
          <p:cNvPr id="7" name="Rectángulo 6"/>
          <p:cNvSpPr/>
          <p:nvPr/>
        </p:nvSpPr>
        <p:spPr>
          <a:xfrm>
            <a:off x="1703294" y="6150114"/>
            <a:ext cx="81399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</a:t>
            </a:r>
            <a:r>
              <a:rPr lang="en-US" sz="2000" dirty="0" smtClean="0">
                <a:solidFill>
                  <a:srgbClr val="131413"/>
                </a:solidFill>
              </a:rPr>
              <a:t>central idea in fuzzy clustering is the non-unique partition</a:t>
            </a:r>
            <a:r>
              <a:rPr lang="en-US" sz="2000" dirty="0" smtClean="0">
                <a:solidFill>
                  <a:srgbClr val="131413"/>
                </a:solidFill>
              </a:rPr>
              <a:t>ing of the data in a collection of clusters</a:t>
            </a:r>
            <a:r>
              <a:rPr lang="en-US" sz="2000" dirty="0" smtClean="0">
                <a:solidFill>
                  <a:srgbClr val="131413"/>
                </a:solidFill>
              </a:rPr>
              <a:t>.</a:t>
            </a:r>
            <a:endParaRPr lang="es-CO" sz="2000" dirty="0"/>
          </a:p>
        </p:txBody>
      </p:sp>
      <p:sp>
        <p:nvSpPr>
          <p:cNvPr id="8" name="Rectángulo 7"/>
          <p:cNvSpPr/>
          <p:nvPr/>
        </p:nvSpPr>
        <p:spPr>
          <a:xfrm>
            <a:off x="7266368" y="4725071"/>
            <a:ext cx="458001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https://www.mathworks.com/matlabcentral/fileexchange/66181-image-segmentation-using-fast-fuzzy-c-means-clusering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336" y="3021559"/>
            <a:ext cx="2805259" cy="2855353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995082" y="5873115"/>
            <a:ext cx="36577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https://www.denovosoftware.com/site/kb-Spade.shtml</a:t>
            </a:r>
          </a:p>
        </p:txBody>
      </p:sp>
    </p:spTree>
    <p:extLst>
      <p:ext uri="{BB962C8B-B14F-4D97-AF65-F5344CB8AC3E}">
        <p14:creationId xmlns:p14="http://schemas.microsoft.com/office/powerpoint/2010/main" val="4012620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fuzzy theory.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sp>
        <p:nvSpPr>
          <p:cNvPr id="10" name="Rectángulo 9"/>
          <p:cNvSpPr/>
          <p:nvPr/>
        </p:nvSpPr>
        <p:spPr>
          <a:xfrm>
            <a:off x="848599" y="5513619"/>
            <a:ext cx="98493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</a:t>
            </a:r>
            <a:r>
              <a:rPr lang="en-US" sz="2000" dirty="0" smtClean="0">
                <a:solidFill>
                  <a:srgbClr val="131413"/>
                </a:solidFill>
              </a:rPr>
              <a:t>central idea in fuzzy clustering is the non-unique partition</a:t>
            </a:r>
            <a:r>
              <a:rPr lang="en-US" sz="2000" dirty="0" smtClean="0">
                <a:solidFill>
                  <a:srgbClr val="131413"/>
                </a:solidFill>
              </a:rPr>
              <a:t>ing of the data in a collection of clusters</a:t>
            </a:r>
            <a:r>
              <a:rPr lang="en-US" sz="2000" dirty="0" smtClean="0">
                <a:solidFill>
                  <a:srgbClr val="131413"/>
                </a:solidFill>
              </a:rPr>
              <a:t>.</a:t>
            </a:r>
            <a:endParaRPr lang="es-CO" sz="2000" dirty="0"/>
          </a:p>
        </p:txBody>
      </p:sp>
      <p:sp>
        <p:nvSpPr>
          <p:cNvPr id="7" name="Rectángulo 6"/>
          <p:cNvSpPr/>
          <p:nvPr/>
        </p:nvSpPr>
        <p:spPr>
          <a:xfrm>
            <a:off x="1425389" y="3192353"/>
            <a:ext cx="91171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The </a:t>
            </a:r>
            <a:r>
              <a:rPr lang="en-US" sz="2000" dirty="0">
                <a:solidFill>
                  <a:srgbClr val="131413"/>
                </a:solidFill>
              </a:rPr>
              <a:t>time complexity of FCS is high for the kernel involved in the </a:t>
            </a:r>
            <a:r>
              <a:rPr lang="en-US" sz="2000" dirty="0" smtClean="0">
                <a:solidFill>
                  <a:srgbClr val="131413"/>
                </a:solidFill>
              </a:rPr>
              <a:t>algorithm.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Advantages</a:t>
            </a:r>
            <a:r>
              <a:rPr lang="en-US" sz="2000" dirty="0">
                <a:solidFill>
                  <a:srgbClr val="131413"/>
                </a:solidFill>
              </a:rPr>
              <a:t>: more realistic to give the probability of belonging, relatively </a:t>
            </a:r>
            <a:r>
              <a:rPr lang="en-US" sz="2000" dirty="0" smtClean="0">
                <a:solidFill>
                  <a:srgbClr val="131413"/>
                </a:solidFill>
              </a:rPr>
              <a:t>high accuracy </a:t>
            </a:r>
            <a:r>
              <a:rPr lang="en-US" sz="2000" dirty="0">
                <a:solidFill>
                  <a:srgbClr val="131413"/>
                </a:solidFill>
              </a:rPr>
              <a:t>of </a:t>
            </a:r>
            <a:r>
              <a:rPr lang="en-US" sz="2000" dirty="0" smtClean="0">
                <a:solidFill>
                  <a:srgbClr val="131413"/>
                </a:solidFill>
              </a:rPr>
              <a:t>clustering.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Disadvantages</a:t>
            </a:r>
            <a:r>
              <a:rPr lang="en-US" sz="2000" dirty="0">
                <a:solidFill>
                  <a:srgbClr val="131413"/>
                </a:solidFill>
              </a:rPr>
              <a:t>: relatively low scalability in general, easily drawn into local optimal, the clustering result sensitive to the initial parameter values, and the </a:t>
            </a:r>
            <a:r>
              <a:rPr lang="en-US" sz="2000" dirty="0" smtClean="0">
                <a:solidFill>
                  <a:srgbClr val="131413"/>
                </a:solidFill>
              </a:rPr>
              <a:t>number of </a:t>
            </a:r>
            <a:r>
              <a:rPr lang="en-US" sz="2000" dirty="0">
                <a:solidFill>
                  <a:srgbClr val="131413"/>
                </a:solidFill>
              </a:rPr>
              <a:t>clusters needed to be </a:t>
            </a:r>
            <a:r>
              <a:rPr lang="en-US" sz="2000" dirty="0" smtClean="0">
                <a:solidFill>
                  <a:srgbClr val="131413"/>
                </a:solidFill>
              </a:rPr>
              <a:t>preset.</a:t>
            </a:r>
            <a:endParaRPr lang="es-CO" sz="2000" b="1" i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77" y="981763"/>
            <a:ext cx="3018646" cy="1301141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7466040" y="747695"/>
            <a:ext cx="2959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131413"/>
                </a:solidFill>
              </a:rPr>
              <a:t>Time </a:t>
            </a:r>
            <a:r>
              <a:rPr lang="en-US" sz="1200" dirty="0">
                <a:solidFill>
                  <a:srgbClr val="131413"/>
                </a:solidFill>
              </a:rPr>
              <a:t>complexity </a:t>
            </a:r>
            <a:r>
              <a:rPr lang="en-US" sz="1200" dirty="0" smtClean="0">
                <a:solidFill>
                  <a:srgbClr val="131413"/>
                </a:solidFill>
              </a:rPr>
              <a:t>of fuzzy clustering methods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670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7" y="4497574"/>
            <a:ext cx="1252348" cy="1495661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3249611"/>
            <a:ext cx="91171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DBCLASD: Distribution-Based </a:t>
            </a:r>
            <a:r>
              <a:rPr lang="en-US" sz="2000" b="1" i="1" dirty="0">
                <a:solidFill>
                  <a:srgbClr val="131413"/>
                </a:solidFill>
              </a:rPr>
              <a:t>Clustering of </a:t>
            </a:r>
            <a:r>
              <a:rPr lang="en-US" sz="2000" b="1" i="1" dirty="0" err="1">
                <a:solidFill>
                  <a:srgbClr val="131413"/>
                </a:solidFill>
              </a:rPr>
              <a:t>LArge</a:t>
            </a:r>
            <a:r>
              <a:rPr lang="en-US" sz="2000" b="1" i="1" dirty="0">
                <a:solidFill>
                  <a:srgbClr val="131413"/>
                </a:solidFill>
              </a:rPr>
              <a:t> Spatial </a:t>
            </a:r>
            <a:r>
              <a:rPr lang="en-US" sz="2000" b="1" i="1" dirty="0" smtClean="0">
                <a:solidFill>
                  <a:srgbClr val="131413"/>
                </a:solidFill>
              </a:rPr>
              <a:t>Databases</a:t>
            </a:r>
          </a:p>
          <a:p>
            <a:r>
              <a:rPr lang="en-US" sz="2000" dirty="0" smtClean="0">
                <a:solidFill>
                  <a:srgbClr val="131413"/>
                </a:solidFill>
              </a:rPr>
              <a:t>This algorithm </a:t>
            </a:r>
            <a:r>
              <a:rPr lang="en-US" sz="2000" dirty="0">
                <a:solidFill>
                  <a:srgbClr val="131413"/>
                </a:solidFill>
              </a:rPr>
              <a:t>discovers clusters with arbitrary shape and with </a:t>
            </a:r>
            <a:r>
              <a:rPr lang="en-US" sz="2000" dirty="0" smtClean="0">
                <a:solidFill>
                  <a:srgbClr val="131413"/>
                </a:solidFill>
              </a:rPr>
              <a:t>minimal number </a:t>
            </a:r>
            <a:r>
              <a:rPr lang="en-US" sz="2000" dirty="0">
                <a:solidFill>
                  <a:srgbClr val="131413"/>
                </a:solidFill>
              </a:rPr>
              <a:t>of input </a:t>
            </a:r>
            <a:r>
              <a:rPr lang="en-US" sz="2000" dirty="0" smtClean="0">
                <a:solidFill>
                  <a:srgbClr val="131413"/>
                </a:solidFill>
              </a:rPr>
              <a:t>parameters: the </a:t>
            </a:r>
            <a:r>
              <a:rPr lang="en-US" sz="2000" dirty="0">
                <a:solidFill>
                  <a:srgbClr val="131413"/>
                </a:solidFill>
              </a:rPr>
              <a:t>radius of the cluster </a:t>
            </a:r>
            <a:r>
              <a:rPr lang="en-US" sz="2000" dirty="0" smtClean="0">
                <a:solidFill>
                  <a:srgbClr val="131413"/>
                </a:solidFill>
              </a:rPr>
              <a:t>and minimum </a:t>
            </a:r>
            <a:r>
              <a:rPr lang="en-US" sz="2000" dirty="0">
                <a:solidFill>
                  <a:srgbClr val="131413"/>
                </a:solidFill>
              </a:rPr>
              <a:t>points required inside the </a:t>
            </a:r>
            <a:r>
              <a:rPr lang="en-US" sz="2000" dirty="0" smtClean="0">
                <a:solidFill>
                  <a:srgbClr val="131413"/>
                </a:solidFill>
              </a:rPr>
              <a:t>cluster.</a:t>
            </a:r>
            <a:endParaRPr lang="en-US" sz="2000" dirty="0">
              <a:solidFill>
                <a:srgbClr val="131413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density.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85047" y="5952894"/>
            <a:ext cx="97401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basic idea of this kind of clustering algorithms is that the data </a:t>
            </a:r>
            <a:r>
              <a:rPr lang="en-US" sz="2000" dirty="0" smtClean="0">
                <a:solidFill>
                  <a:srgbClr val="131413"/>
                </a:solidFill>
              </a:rPr>
              <a:t>within the region with </a:t>
            </a:r>
            <a:r>
              <a:rPr lang="en-US" sz="2000" dirty="0">
                <a:solidFill>
                  <a:srgbClr val="131413"/>
                </a:solidFill>
              </a:rPr>
              <a:t>high density of the data space is considered to belong to the same </a:t>
            </a:r>
            <a:r>
              <a:rPr lang="en-US" sz="2000" dirty="0" smtClean="0">
                <a:solidFill>
                  <a:srgbClr val="131413"/>
                </a:solidFill>
              </a:rPr>
              <a:t>cluster.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6355976" y="2419212"/>
            <a:ext cx="5585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 smtClean="0">
                <a:solidFill>
                  <a:srgbClr val="131413"/>
                </a:solidFill>
              </a:rPr>
              <a:t>Xu</a:t>
            </a:r>
            <a:r>
              <a:rPr lang="es-CO" sz="1200" dirty="0" smtClean="0">
                <a:solidFill>
                  <a:srgbClr val="131413"/>
                </a:solidFill>
              </a:rPr>
              <a:t> </a:t>
            </a:r>
            <a:r>
              <a:rPr lang="es-CO" sz="1200" dirty="0">
                <a:solidFill>
                  <a:srgbClr val="131413"/>
                </a:solidFill>
              </a:rPr>
              <a:t>X, Ester M, </a:t>
            </a:r>
            <a:r>
              <a:rPr lang="es-CO" sz="1200" dirty="0" err="1">
                <a:solidFill>
                  <a:srgbClr val="131413"/>
                </a:solidFill>
              </a:rPr>
              <a:t>Kriegel</a:t>
            </a:r>
            <a:r>
              <a:rPr lang="es-CO" sz="1200" dirty="0">
                <a:solidFill>
                  <a:srgbClr val="131413"/>
                </a:solidFill>
              </a:rPr>
              <a:t> H, </a:t>
            </a:r>
            <a:r>
              <a:rPr lang="es-CO" sz="1200" dirty="0" err="1">
                <a:solidFill>
                  <a:srgbClr val="131413"/>
                </a:solidFill>
              </a:rPr>
              <a:t>Sander</a:t>
            </a:r>
            <a:r>
              <a:rPr lang="es-CO" sz="1200" dirty="0">
                <a:solidFill>
                  <a:srgbClr val="131413"/>
                </a:solidFill>
              </a:rPr>
              <a:t> J (1998) A </a:t>
            </a:r>
            <a:r>
              <a:rPr lang="es-CO" sz="1200" dirty="0" err="1">
                <a:solidFill>
                  <a:srgbClr val="131413"/>
                </a:solidFill>
              </a:rPr>
              <a:t>distribution-based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clustering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algorithm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for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mining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smtClean="0">
                <a:solidFill>
                  <a:srgbClr val="131413"/>
                </a:solidFill>
              </a:rPr>
              <a:t>in </a:t>
            </a:r>
            <a:r>
              <a:rPr lang="es-CO" sz="1200" dirty="0" err="1" smtClean="0">
                <a:solidFill>
                  <a:srgbClr val="131413"/>
                </a:solidFill>
              </a:rPr>
              <a:t>large</a:t>
            </a:r>
            <a:r>
              <a:rPr lang="es-CO" sz="1200" dirty="0" smtClean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spatial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databases</a:t>
            </a:r>
            <a:r>
              <a:rPr lang="es-CO" sz="1200" dirty="0">
                <a:solidFill>
                  <a:srgbClr val="131413"/>
                </a:solidFill>
              </a:rPr>
              <a:t>. In: </a:t>
            </a:r>
            <a:r>
              <a:rPr lang="es-CO" sz="1200" dirty="0" err="1">
                <a:solidFill>
                  <a:srgbClr val="131413"/>
                </a:solidFill>
              </a:rPr>
              <a:t>Proceedings</a:t>
            </a:r>
            <a:r>
              <a:rPr lang="es-CO" sz="1200" dirty="0">
                <a:solidFill>
                  <a:srgbClr val="131413"/>
                </a:solidFill>
              </a:rPr>
              <a:t> of </a:t>
            </a:r>
            <a:r>
              <a:rPr lang="es-CO" sz="1200" dirty="0" err="1">
                <a:solidFill>
                  <a:srgbClr val="131413"/>
                </a:solidFill>
              </a:rPr>
              <a:t>the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fourteenth</a:t>
            </a:r>
            <a:r>
              <a:rPr lang="es-CO" sz="1200" dirty="0">
                <a:solidFill>
                  <a:srgbClr val="131413"/>
                </a:solidFill>
              </a:rPr>
              <a:t> </a:t>
            </a:r>
            <a:r>
              <a:rPr lang="es-CO" sz="1200" dirty="0" err="1" smtClean="0">
                <a:solidFill>
                  <a:srgbClr val="131413"/>
                </a:solidFill>
              </a:rPr>
              <a:t>international</a:t>
            </a:r>
            <a:r>
              <a:rPr lang="es-CO" sz="1200" dirty="0" smtClean="0">
                <a:solidFill>
                  <a:srgbClr val="131413"/>
                </a:solidFill>
              </a:rPr>
              <a:t> </a:t>
            </a:r>
            <a:r>
              <a:rPr lang="es-CO" sz="1200" dirty="0" err="1" smtClean="0">
                <a:solidFill>
                  <a:srgbClr val="131413"/>
                </a:solidFill>
              </a:rPr>
              <a:t>conference</a:t>
            </a:r>
            <a:r>
              <a:rPr lang="es-CO" sz="1200" dirty="0" smtClean="0">
                <a:solidFill>
                  <a:srgbClr val="131413"/>
                </a:solidFill>
              </a:rPr>
              <a:t> </a:t>
            </a:r>
            <a:r>
              <a:rPr lang="es-CO" sz="1200" dirty="0" err="1">
                <a:solidFill>
                  <a:srgbClr val="131413"/>
                </a:solidFill>
              </a:rPr>
              <a:t>on</a:t>
            </a:r>
            <a:r>
              <a:rPr lang="es-CO" sz="1200" dirty="0">
                <a:solidFill>
                  <a:srgbClr val="131413"/>
                </a:solidFill>
              </a:rPr>
              <a:t> data </a:t>
            </a:r>
            <a:r>
              <a:rPr lang="es-CO" sz="1200" dirty="0" err="1" smtClean="0">
                <a:solidFill>
                  <a:srgbClr val="131413"/>
                </a:solidFill>
              </a:rPr>
              <a:t>engineering</a:t>
            </a:r>
            <a:r>
              <a:rPr lang="es-CO" sz="1200" dirty="0" smtClean="0">
                <a:solidFill>
                  <a:srgbClr val="131413"/>
                </a:solidFill>
              </a:rPr>
              <a:t>, </a:t>
            </a:r>
            <a:r>
              <a:rPr lang="es-CO" sz="1200" dirty="0" err="1" smtClean="0">
                <a:solidFill>
                  <a:srgbClr val="131413"/>
                </a:solidFill>
              </a:rPr>
              <a:t>pp</a:t>
            </a:r>
            <a:r>
              <a:rPr lang="es-CO" sz="1200" dirty="0" smtClean="0">
                <a:solidFill>
                  <a:srgbClr val="131413"/>
                </a:solidFill>
              </a:rPr>
              <a:t> 324-331</a:t>
            </a:r>
            <a:r>
              <a:rPr lang="es-CO" sz="1200" dirty="0"/>
              <a:t>.</a:t>
            </a:r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1631577" y="4670610"/>
            <a:ext cx="336176" cy="68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812" y="4497573"/>
            <a:ext cx="1252348" cy="1495661"/>
          </a:xfrm>
          <a:prstGeom prst="rect">
            <a:avLst/>
          </a:prstGeom>
        </p:spPr>
      </p:pic>
      <p:sp>
        <p:nvSpPr>
          <p:cNvPr id="14" name="Elipse 13"/>
          <p:cNvSpPr/>
          <p:nvPr/>
        </p:nvSpPr>
        <p:spPr>
          <a:xfrm>
            <a:off x="3795127" y="4532286"/>
            <a:ext cx="495914" cy="44966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341" y="4515142"/>
            <a:ext cx="1252348" cy="1495661"/>
          </a:xfrm>
          <a:prstGeom prst="rect">
            <a:avLst/>
          </a:prstGeom>
        </p:spPr>
      </p:pic>
      <p:sp>
        <p:nvSpPr>
          <p:cNvPr id="16" name="Elipse 15"/>
          <p:cNvSpPr/>
          <p:nvPr/>
        </p:nvSpPr>
        <p:spPr>
          <a:xfrm>
            <a:off x="5374342" y="4376382"/>
            <a:ext cx="878543" cy="7966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506" y="4495148"/>
            <a:ext cx="1252348" cy="1495661"/>
          </a:xfrm>
          <a:prstGeom prst="rect">
            <a:avLst/>
          </a:prstGeom>
        </p:spPr>
      </p:pic>
      <p:sp>
        <p:nvSpPr>
          <p:cNvPr id="18" name="Elipse 17"/>
          <p:cNvSpPr/>
          <p:nvPr/>
        </p:nvSpPr>
        <p:spPr>
          <a:xfrm>
            <a:off x="8001416" y="4957607"/>
            <a:ext cx="878543" cy="79661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 derecha 18"/>
          <p:cNvSpPr/>
          <p:nvPr/>
        </p:nvSpPr>
        <p:spPr>
          <a:xfrm>
            <a:off x="3156877" y="4986916"/>
            <a:ext cx="346028" cy="51212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 derecha 19"/>
          <p:cNvSpPr/>
          <p:nvPr/>
        </p:nvSpPr>
        <p:spPr>
          <a:xfrm>
            <a:off x="4959695" y="5096889"/>
            <a:ext cx="346028" cy="51212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 derecha 20"/>
          <p:cNvSpPr/>
          <p:nvPr/>
        </p:nvSpPr>
        <p:spPr>
          <a:xfrm>
            <a:off x="6931490" y="5096889"/>
            <a:ext cx="346028" cy="51212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/>
          <p:cNvSpPr/>
          <p:nvPr/>
        </p:nvSpPr>
        <p:spPr>
          <a:xfrm>
            <a:off x="9161935" y="4585015"/>
            <a:ext cx="24123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1200" dirty="0"/>
              <a:t>R. Pushpalatha, K. </a:t>
            </a:r>
            <a:r>
              <a:rPr lang="fi-FI" sz="1200" dirty="0" smtClean="0"/>
              <a:t>M. </a:t>
            </a:r>
            <a:r>
              <a:rPr lang="fi-FI" sz="1200" dirty="0"/>
              <a:t>Sundaram </a:t>
            </a:r>
            <a:r>
              <a:rPr lang="fi-FI" sz="1200" dirty="0" smtClean="0"/>
              <a:t>”</a:t>
            </a:r>
            <a:r>
              <a:rPr lang="en-US" sz="1200" dirty="0" smtClean="0"/>
              <a:t>A </a:t>
            </a:r>
            <a:r>
              <a:rPr lang="en-US" sz="1200" dirty="0"/>
              <a:t>Survival Study on Density Based Clustering Algorithms for Large Spatial Databases in Data </a:t>
            </a:r>
            <a:r>
              <a:rPr lang="en-US" sz="1200" dirty="0" smtClean="0"/>
              <a:t>Mining”, </a:t>
            </a:r>
            <a:r>
              <a:rPr lang="en-US" sz="1200" dirty="0"/>
              <a:t>South Asian Journal of Engineering and Technology Vol.2, No.17 (2016) 370–377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25271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271" y="4226432"/>
            <a:ext cx="2140376" cy="1737023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3249611"/>
            <a:ext cx="91171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OPTICS</a:t>
            </a:r>
            <a:r>
              <a:rPr lang="en-US" sz="2000" b="1" i="1" dirty="0">
                <a:solidFill>
                  <a:srgbClr val="131413"/>
                </a:solidFill>
              </a:rPr>
              <a:t>: Ordering points to identify the clustering structure</a:t>
            </a:r>
            <a:endParaRPr lang="en-US" sz="2000" b="1" i="1" dirty="0" smtClean="0">
              <a:solidFill>
                <a:srgbClr val="131413"/>
              </a:solidFill>
            </a:endParaRPr>
          </a:p>
          <a:p>
            <a:r>
              <a:rPr lang="en-US" sz="2000" dirty="0" smtClean="0">
                <a:solidFill>
                  <a:srgbClr val="131413"/>
                </a:solidFill>
              </a:rPr>
              <a:t>Similar to DBSCAN</a:t>
            </a:r>
            <a:r>
              <a:rPr lang="en-US" sz="2000" dirty="0">
                <a:solidFill>
                  <a:srgbClr val="131413"/>
                </a:solidFill>
              </a:rPr>
              <a:t>, however, </a:t>
            </a:r>
            <a:r>
              <a:rPr lang="en-US" sz="2000" dirty="0" smtClean="0">
                <a:solidFill>
                  <a:srgbClr val="131413"/>
                </a:solidFill>
              </a:rPr>
              <a:t>the </a:t>
            </a:r>
            <a:r>
              <a:rPr lang="en-US" sz="2000" dirty="0">
                <a:solidFill>
                  <a:srgbClr val="131413"/>
                </a:solidFill>
              </a:rPr>
              <a:t>problem of detecting meaningful clusters in data of varying </a:t>
            </a:r>
            <a:r>
              <a:rPr lang="en-US" sz="2000" dirty="0" smtClean="0">
                <a:solidFill>
                  <a:srgbClr val="131413"/>
                </a:solidFill>
              </a:rPr>
              <a:t>density is addressed.</a:t>
            </a:r>
            <a:endParaRPr lang="en-US" sz="2000" dirty="0">
              <a:solidFill>
                <a:srgbClr val="131413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density.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85047" y="5952894"/>
            <a:ext cx="97401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basic idea of this kind of clustering algorithms is that the data </a:t>
            </a:r>
            <a:r>
              <a:rPr lang="en-US" sz="2000" dirty="0" smtClean="0">
                <a:solidFill>
                  <a:srgbClr val="131413"/>
                </a:solidFill>
              </a:rPr>
              <a:t>within the region with </a:t>
            </a:r>
            <a:r>
              <a:rPr lang="en-US" sz="2000" dirty="0">
                <a:solidFill>
                  <a:srgbClr val="131413"/>
                </a:solidFill>
              </a:rPr>
              <a:t>high density of the data space is considered to belong to the same </a:t>
            </a:r>
            <a:r>
              <a:rPr lang="en-US" sz="2000" dirty="0" smtClean="0">
                <a:solidFill>
                  <a:srgbClr val="131413"/>
                </a:solidFill>
              </a:rPr>
              <a:t>cluster.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6382870" y="2585737"/>
            <a:ext cx="55850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 smtClean="0"/>
              <a:t>Ankerst</a:t>
            </a:r>
            <a:r>
              <a:rPr lang="es-CO" sz="1200" dirty="0" smtClean="0"/>
              <a:t> </a:t>
            </a:r>
            <a:r>
              <a:rPr lang="es-CO" sz="1200" dirty="0"/>
              <a:t>M, </a:t>
            </a:r>
            <a:r>
              <a:rPr lang="es-CO" sz="1200" dirty="0" err="1"/>
              <a:t>Breunig</a:t>
            </a:r>
            <a:r>
              <a:rPr lang="es-CO" sz="1200" dirty="0"/>
              <a:t> M, </a:t>
            </a:r>
            <a:r>
              <a:rPr lang="es-CO" sz="1200" dirty="0" err="1"/>
              <a:t>Kriegel</a:t>
            </a:r>
            <a:r>
              <a:rPr lang="es-CO" sz="1200" dirty="0"/>
              <a:t> H, </a:t>
            </a:r>
            <a:r>
              <a:rPr lang="es-CO" sz="1200" dirty="0" err="1"/>
              <a:t>Sander</a:t>
            </a:r>
            <a:r>
              <a:rPr lang="es-CO" sz="1200" dirty="0"/>
              <a:t> J (1999) OPTICS: </a:t>
            </a:r>
            <a:r>
              <a:rPr lang="es-CO" sz="1200" dirty="0" err="1"/>
              <a:t>ordering</a:t>
            </a:r>
            <a:r>
              <a:rPr lang="es-CO" sz="1200" dirty="0"/>
              <a:t> </a:t>
            </a:r>
            <a:r>
              <a:rPr lang="es-CO" sz="1200" dirty="0" err="1"/>
              <a:t>points</a:t>
            </a:r>
            <a:r>
              <a:rPr lang="es-CO" sz="1200" dirty="0"/>
              <a:t> </a:t>
            </a:r>
            <a:r>
              <a:rPr lang="es-CO" sz="1200" dirty="0" err="1"/>
              <a:t>to</a:t>
            </a:r>
            <a:r>
              <a:rPr lang="es-CO" sz="1200" dirty="0"/>
              <a:t> </a:t>
            </a:r>
            <a:r>
              <a:rPr lang="es-CO" sz="1200" dirty="0" err="1"/>
              <a:t>identify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 smtClean="0"/>
              <a:t>clustering</a:t>
            </a:r>
            <a:r>
              <a:rPr lang="es-CO" sz="1200" dirty="0" smtClean="0"/>
              <a:t> </a:t>
            </a:r>
            <a:r>
              <a:rPr lang="es-CO" sz="1200" dirty="0" err="1" smtClean="0"/>
              <a:t>structure</a:t>
            </a:r>
            <a:r>
              <a:rPr lang="es-CO" sz="1200" dirty="0"/>
              <a:t>. In: </a:t>
            </a:r>
            <a:r>
              <a:rPr lang="es-CO" sz="1200" dirty="0" err="1"/>
              <a:t>Proceedings</a:t>
            </a:r>
            <a:r>
              <a:rPr lang="es-CO" sz="1200" dirty="0"/>
              <a:t> </a:t>
            </a:r>
            <a:r>
              <a:rPr lang="es-CO" sz="1200" dirty="0" err="1"/>
              <a:t>on</a:t>
            </a:r>
            <a:r>
              <a:rPr lang="es-CO" sz="1200" dirty="0"/>
              <a:t> 1999 ACM SIGMOD </a:t>
            </a:r>
            <a:r>
              <a:rPr lang="es-CO" sz="1200" dirty="0" err="1"/>
              <a:t>international</a:t>
            </a:r>
            <a:r>
              <a:rPr lang="es-CO" sz="1200" dirty="0"/>
              <a:t> </a:t>
            </a:r>
            <a:r>
              <a:rPr lang="es-CO" sz="1200" dirty="0" err="1"/>
              <a:t>conference</a:t>
            </a:r>
            <a:r>
              <a:rPr lang="es-CO" sz="1200" dirty="0"/>
              <a:t> </a:t>
            </a:r>
            <a:r>
              <a:rPr lang="es-CO" sz="1200" dirty="0" err="1"/>
              <a:t>on</a:t>
            </a:r>
            <a:r>
              <a:rPr lang="es-CO" sz="1200" dirty="0"/>
              <a:t> </a:t>
            </a:r>
            <a:r>
              <a:rPr lang="es-CO" sz="1200" dirty="0" err="1"/>
              <a:t>management</a:t>
            </a:r>
            <a:r>
              <a:rPr lang="es-CO" sz="1200" dirty="0"/>
              <a:t> of </a:t>
            </a:r>
            <a:r>
              <a:rPr lang="es-CO" sz="1200" dirty="0" smtClean="0"/>
              <a:t>data, </a:t>
            </a:r>
            <a:r>
              <a:rPr lang="es-CO" sz="1200" dirty="0" err="1" smtClean="0"/>
              <a:t>vol</a:t>
            </a:r>
            <a:r>
              <a:rPr lang="es-CO" sz="1200" dirty="0" smtClean="0"/>
              <a:t> </a:t>
            </a:r>
            <a:r>
              <a:rPr lang="es-CO" sz="1200" dirty="0"/>
              <a:t>28, </a:t>
            </a:r>
            <a:r>
              <a:rPr lang="es-CO" sz="1200" dirty="0" err="1"/>
              <a:t>pp</a:t>
            </a:r>
            <a:r>
              <a:rPr lang="es-CO" sz="1200" dirty="0"/>
              <a:t> </a:t>
            </a:r>
            <a:r>
              <a:rPr lang="es-CO" sz="1200" dirty="0" smtClean="0"/>
              <a:t>49–60.</a:t>
            </a:r>
            <a:endParaRPr lang="es-CO" sz="1200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658" y="4265274"/>
            <a:ext cx="32480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0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density</a:t>
            </a:r>
            <a:r>
              <a:rPr lang="en-US" sz="2000" dirty="0" smtClean="0">
                <a:solidFill>
                  <a:srgbClr val="131413"/>
                </a:solidFill>
              </a:rPr>
              <a:t>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sp>
        <p:nvSpPr>
          <p:cNvPr id="7" name="Rectángulo 6"/>
          <p:cNvSpPr/>
          <p:nvPr/>
        </p:nvSpPr>
        <p:spPr>
          <a:xfrm>
            <a:off x="1425389" y="3075811"/>
            <a:ext cx="91171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Advantages: clustering in high efficiency and suitable for data with </a:t>
            </a:r>
            <a:r>
              <a:rPr lang="en-US" sz="2000" dirty="0" smtClean="0">
                <a:solidFill>
                  <a:srgbClr val="131413"/>
                </a:solidFill>
              </a:rPr>
              <a:t>arbitrary shape.</a:t>
            </a:r>
            <a:endParaRPr lang="en-US" sz="2000" dirty="0">
              <a:solidFill>
                <a:srgbClr val="131413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Disadvantages</a:t>
            </a:r>
            <a:r>
              <a:rPr lang="en-US" sz="2000" dirty="0">
                <a:solidFill>
                  <a:srgbClr val="131413"/>
                </a:solidFill>
              </a:rPr>
              <a:t>: resulting in a clustering result with low quality when the </a:t>
            </a:r>
            <a:r>
              <a:rPr lang="en-US" sz="2000" dirty="0" smtClean="0">
                <a:solidFill>
                  <a:srgbClr val="131413"/>
                </a:solidFill>
              </a:rPr>
              <a:t>density of </a:t>
            </a:r>
            <a:r>
              <a:rPr lang="en-US" sz="2000" dirty="0">
                <a:solidFill>
                  <a:srgbClr val="131413"/>
                </a:solidFill>
              </a:rPr>
              <a:t>data space isn’t even, a memory with big size needed when the data volume </a:t>
            </a:r>
            <a:r>
              <a:rPr lang="en-US" sz="2000" dirty="0" smtClean="0">
                <a:solidFill>
                  <a:srgbClr val="131413"/>
                </a:solidFill>
              </a:rPr>
              <a:t>is big</a:t>
            </a:r>
            <a:r>
              <a:rPr lang="en-US" sz="2000" dirty="0">
                <a:solidFill>
                  <a:srgbClr val="131413"/>
                </a:solidFill>
              </a:rPr>
              <a:t>, and the clustering result highly sensitive to the </a:t>
            </a:r>
            <a:r>
              <a:rPr lang="en-US" sz="2000" dirty="0" smtClean="0">
                <a:solidFill>
                  <a:srgbClr val="131413"/>
                </a:solidFill>
              </a:rPr>
              <a:t>parameters</a:t>
            </a:r>
            <a:r>
              <a:rPr lang="en-US" sz="2000" dirty="0">
                <a:solidFill>
                  <a:srgbClr val="131413"/>
                </a:solidFill>
              </a:rPr>
              <a:t>.</a:t>
            </a:r>
            <a:endParaRPr lang="es-CO" sz="2000" b="1" i="1" dirty="0"/>
          </a:p>
        </p:txBody>
      </p:sp>
      <p:sp>
        <p:nvSpPr>
          <p:cNvPr id="8" name="Rectángulo 7"/>
          <p:cNvSpPr/>
          <p:nvPr/>
        </p:nvSpPr>
        <p:spPr>
          <a:xfrm>
            <a:off x="1385047" y="5952894"/>
            <a:ext cx="97401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basic idea of this kind of clustering algorithms is that the data </a:t>
            </a:r>
            <a:r>
              <a:rPr lang="en-US" sz="2000" dirty="0" smtClean="0">
                <a:solidFill>
                  <a:srgbClr val="131413"/>
                </a:solidFill>
              </a:rPr>
              <a:t>within the region with </a:t>
            </a:r>
            <a:r>
              <a:rPr lang="en-US" sz="2000" dirty="0">
                <a:solidFill>
                  <a:srgbClr val="131413"/>
                </a:solidFill>
              </a:rPr>
              <a:t>high density of the data space is considered to belong to the same </a:t>
            </a:r>
            <a:r>
              <a:rPr lang="en-US" sz="2000" dirty="0" smtClean="0">
                <a:solidFill>
                  <a:srgbClr val="131413"/>
                </a:solidFill>
              </a:rPr>
              <a:t>cluster.</a:t>
            </a:r>
            <a:endParaRPr lang="es-CO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215" y="4600910"/>
            <a:ext cx="3285380" cy="1288129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6492595" y="5505468"/>
            <a:ext cx="35158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131413"/>
                </a:solidFill>
              </a:rPr>
              <a:t>Time </a:t>
            </a:r>
            <a:r>
              <a:rPr lang="en-US" sz="1200" dirty="0">
                <a:solidFill>
                  <a:srgbClr val="131413"/>
                </a:solidFill>
              </a:rPr>
              <a:t>complexity </a:t>
            </a:r>
            <a:r>
              <a:rPr lang="en-US" sz="1200" dirty="0" smtClean="0">
                <a:solidFill>
                  <a:srgbClr val="131413"/>
                </a:solidFill>
              </a:rPr>
              <a:t>of density-based clustering methods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92636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graph theory.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85047" y="5952894"/>
            <a:ext cx="97401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Graph theory-based clustering algorithms rely </a:t>
            </a:r>
            <a:r>
              <a:rPr lang="en-US" sz="2000" dirty="0">
                <a:solidFill>
                  <a:srgbClr val="131413"/>
                </a:solidFill>
              </a:rPr>
              <a:t>on </a:t>
            </a:r>
            <a:r>
              <a:rPr lang="en-US" sz="2000" dirty="0" smtClean="0">
                <a:solidFill>
                  <a:srgbClr val="131413"/>
                </a:solidFill>
              </a:rPr>
              <a:t>a graph where </a:t>
            </a:r>
            <a:r>
              <a:rPr lang="en-US" sz="2000" dirty="0">
                <a:solidFill>
                  <a:srgbClr val="131413"/>
                </a:solidFill>
              </a:rPr>
              <a:t>the node is regarded as the data point and the edge is regarded as the </a:t>
            </a:r>
            <a:r>
              <a:rPr lang="en-US" sz="2000" dirty="0" smtClean="0">
                <a:solidFill>
                  <a:srgbClr val="131413"/>
                </a:solidFill>
              </a:rPr>
              <a:t>relationship among </a:t>
            </a:r>
            <a:r>
              <a:rPr lang="en-US" sz="2000" dirty="0">
                <a:solidFill>
                  <a:srgbClr val="131413"/>
                </a:solidFill>
              </a:rPr>
              <a:t>data </a:t>
            </a:r>
            <a:r>
              <a:rPr lang="en-US" sz="2000" dirty="0" smtClean="0">
                <a:solidFill>
                  <a:srgbClr val="131413"/>
                </a:solidFill>
              </a:rPr>
              <a:t>points.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5948082" y="4132273"/>
            <a:ext cx="55850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Jain </a:t>
            </a:r>
            <a:r>
              <a:rPr lang="en-US" sz="1200" dirty="0"/>
              <a:t>A, </a:t>
            </a:r>
            <a:r>
              <a:rPr lang="en-US" sz="1200" dirty="0" err="1"/>
              <a:t>Murty</a:t>
            </a:r>
            <a:r>
              <a:rPr lang="en-US" sz="1200" dirty="0"/>
              <a:t> M, Flynn P (1999) Data clustering: a review. ACM </a:t>
            </a:r>
            <a:r>
              <a:rPr lang="en-US" sz="1200" dirty="0" err="1"/>
              <a:t>Comput</a:t>
            </a:r>
            <a:r>
              <a:rPr lang="en-US" sz="1200" dirty="0"/>
              <a:t> </a:t>
            </a:r>
            <a:r>
              <a:rPr lang="en-US" sz="1200" dirty="0" err="1"/>
              <a:t>Surv</a:t>
            </a:r>
            <a:r>
              <a:rPr lang="en-US" sz="1200" dirty="0"/>
              <a:t> (CSUR) 31:264–323</a:t>
            </a:r>
            <a:endParaRPr lang="es-CO" sz="1200" dirty="0"/>
          </a:p>
        </p:txBody>
      </p:sp>
      <p:sp>
        <p:nvSpPr>
          <p:cNvPr id="22" name="Rectángulo 21"/>
          <p:cNvSpPr/>
          <p:nvPr/>
        </p:nvSpPr>
        <p:spPr>
          <a:xfrm>
            <a:off x="1385047" y="4862257"/>
            <a:ext cx="95429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MST: Spanning </a:t>
            </a:r>
            <a:r>
              <a:rPr lang="en-US" sz="2000" b="1" i="1" dirty="0">
                <a:solidFill>
                  <a:srgbClr val="131413"/>
                </a:solidFill>
              </a:rPr>
              <a:t>Tree</a:t>
            </a:r>
            <a:endParaRPr lang="en-US" sz="2000" b="1" i="1" dirty="0" smtClean="0">
              <a:solidFill>
                <a:srgbClr val="131413"/>
              </a:solidFill>
            </a:endParaRPr>
          </a:p>
          <a:p>
            <a:r>
              <a:rPr lang="en-US" sz="2000" dirty="0" smtClean="0">
                <a:solidFill>
                  <a:srgbClr val="131413"/>
                </a:solidFill>
              </a:rPr>
              <a:t>From a graph (tree) representing the data points, a </a:t>
            </a:r>
            <a:r>
              <a:rPr lang="en-US" sz="2000" dirty="0">
                <a:solidFill>
                  <a:srgbClr val="131413"/>
                </a:solidFill>
              </a:rPr>
              <a:t>threshold value and step size </a:t>
            </a:r>
            <a:r>
              <a:rPr lang="en-US" sz="2000" dirty="0" smtClean="0">
                <a:solidFill>
                  <a:srgbClr val="131413"/>
                </a:solidFill>
              </a:rPr>
              <a:t>then a MST (minimum </a:t>
            </a:r>
            <a:r>
              <a:rPr lang="en-US" sz="2000" dirty="0">
                <a:solidFill>
                  <a:srgbClr val="131413"/>
                </a:solidFill>
              </a:rPr>
              <a:t>spanning tree) </a:t>
            </a:r>
            <a:r>
              <a:rPr lang="en-US" sz="2000" dirty="0" smtClean="0">
                <a:solidFill>
                  <a:srgbClr val="131413"/>
                </a:solidFill>
              </a:rPr>
              <a:t>is obtained (cluster).</a:t>
            </a:r>
            <a:endParaRPr lang="en-US" sz="2000" dirty="0">
              <a:solidFill>
                <a:srgbClr val="131413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914" y="3066895"/>
            <a:ext cx="3994502" cy="165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6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08847" y="3249611"/>
            <a:ext cx="91171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CLICK</a:t>
            </a:r>
            <a:r>
              <a:rPr lang="en-US" sz="2000" b="1" i="1" dirty="0">
                <a:solidFill>
                  <a:srgbClr val="131413"/>
                </a:solidFill>
              </a:rPr>
              <a:t>: </a:t>
            </a:r>
            <a:r>
              <a:rPr lang="en-US" sz="2000" b="1" i="1" dirty="0" err="1">
                <a:solidFill>
                  <a:srgbClr val="131413"/>
                </a:solidFill>
              </a:rPr>
              <a:t>CLuster</a:t>
            </a:r>
            <a:r>
              <a:rPr lang="en-US" sz="2000" b="1" i="1" dirty="0">
                <a:solidFill>
                  <a:srgbClr val="131413"/>
                </a:solidFill>
              </a:rPr>
              <a:t> Identification </a:t>
            </a:r>
            <a:r>
              <a:rPr lang="en-US" sz="2000" b="1" i="1" dirty="0" smtClean="0">
                <a:solidFill>
                  <a:srgbClr val="131413"/>
                </a:solidFill>
              </a:rPr>
              <a:t>via Connectivity </a:t>
            </a:r>
            <a:r>
              <a:rPr lang="en-US" sz="2000" b="1" i="1" dirty="0">
                <a:solidFill>
                  <a:srgbClr val="131413"/>
                </a:solidFill>
              </a:rPr>
              <a:t>Kernels</a:t>
            </a:r>
            <a:endParaRPr lang="en-US" sz="2000" b="1" i="1" dirty="0" smtClean="0">
              <a:solidFill>
                <a:srgbClr val="131413"/>
              </a:solidFill>
            </a:endParaRPr>
          </a:p>
          <a:p>
            <a:r>
              <a:rPr lang="en-US" sz="2000" dirty="0">
                <a:solidFill>
                  <a:srgbClr val="131413"/>
                </a:solidFill>
              </a:rPr>
              <a:t>The core idea of CLICK is to carry out </a:t>
            </a:r>
            <a:r>
              <a:rPr lang="en-US" sz="2000" dirty="0" smtClean="0">
                <a:solidFill>
                  <a:srgbClr val="131413"/>
                </a:solidFill>
              </a:rPr>
              <a:t>the minimum weight division </a:t>
            </a:r>
            <a:r>
              <a:rPr lang="en-US" sz="2000" dirty="0">
                <a:solidFill>
                  <a:srgbClr val="131413"/>
                </a:solidFill>
              </a:rPr>
              <a:t>of the graph with iteration in order to generate the clusters</a:t>
            </a:r>
            <a:r>
              <a:rPr lang="en-US" sz="2000" dirty="0" smtClean="0">
                <a:solidFill>
                  <a:srgbClr val="131413"/>
                </a:solidFill>
              </a:rPr>
              <a:t>.</a:t>
            </a:r>
          </a:p>
          <a:p>
            <a:r>
              <a:rPr lang="en-US" sz="2000" dirty="0" smtClean="0">
                <a:solidFill>
                  <a:srgbClr val="131413"/>
                </a:solidFill>
              </a:rPr>
              <a:t>Applications  to Gene </a:t>
            </a:r>
            <a:r>
              <a:rPr lang="en-US" sz="2000" dirty="0">
                <a:solidFill>
                  <a:srgbClr val="131413"/>
                </a:solidFill>
              </a:rPr>
              <a:t>Expression </a:t>
            </a:r>
            <a:r>
              <a:rPr lang="en-US" sz="2000" dirty="0" smtClean="0">
                <a:solidFill>
                  <a:srgbClr val="131413"/>
                </a:solidFill>
              </a:rPr>
              <a:t>Analysis.</a:t>
            </a:r>
            <a:endParaRPr lang="en-US" sz="2000" dirty="0">
              <a:solidFill>
                <a:srgbClr val="131413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graph theory.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85047" y="5952894"/>
            <a:ext cx="97401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Graph theory-based clustering algorithms rely </a:t>
            </a:r>
            <a:r>
              <a:rPr lang="en-US" sz="2000" dirty="0">
                <a:solidFill>
                  <a:srgbClr val="131413"/>
                </a:solidFill>
              </a:rPr>
              <a:t>on </a:t>
            </a:r>
            <a:r>
              <a:rPr lang="en-US" sz="2000" dirty="0" smtClean="0">
                <a:solidFill>
                  <a:srgbClr val="131413"/>
                </a:solidFill>
              </a:rPr>
              <a:t>a graph where </a:t>
            </a:r>
            <a:r>
              <a:rPr lang="en-US" sz="2000" dirty="0">
                <a:solidFill>
                  <a:srgbClr val="131413"/>
                </a:solidFill>
              </a:rPr>
              <a:t>the node is regarded as the data point and the edge is regarded as the </a:t>
            </a:r>
            <a:r>
              <a:rPr lang="en-US" sz="2000" dirty="0" smtClean="0">
                <a:solidFill>
                  <a:srgbClr val="131413"/>
                </a:solidFill>
              </a:rPr>
              <a:t>relationship among </a:t>
            </a:r>
            <a:r>
              <a:rPr lang="en-US" sz="2000" dirty="0">
                <a:solidFill>
                  <a:srgbClr val="131413"/>
                </a:solidFill>
              </a:rPr>
              <a:t>data </a:t>
            </a:r>
            <a:r>
              <a:rPr lang="en-US" sz="2000" dirty="0" smtClean="0">
                <a:solidFill>
                  <a:srgbClr val="131413"/>
                </a:solidFill>
              </a:rPr>
              <a:t>points.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3128680" y="4635803"/>
            <a:ext cx="81399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 err="1" smtClean="0"/>
              <a:t>Sharan</a:t>
            </a:r>
            <a:r>
              <a:rPr lang="es-CO" sz="1200" dirty="0" smtClean="0"/>
              <a:t> </a:t>
            </a:r>
            <a:r>
              <a:rPr lang="es-CO" sz="1200" dirty="0"/>
              <a:t>R, Shamir R (2000) CLICK: a </a:t>
            </a:r>
            <a:r>
              <a:rPr lang="es-CO" sz="1200" dirty="0" err="1"/>
              <a:t>clustering</a:t>
            </a:r>
            <a:r>
              <a:rPr lang="es-CO" sz="1200" dirty="0"/>
              <a:t> </a:t>
            </a:r>
            <a:r>
              <a:rPr lang="es-CO" sz="1200" dirty="0" err="1"/>
              <a:t>algorithm</a:t>
            </a:r>
            <a:r>
              <a:rPr lang="es-CO" sz="1200" dirty="0"/>
              <a:t> </a:t>
            </a:r>
            <a:r>
              <a:rPr lang="es-CO" sz="1200" dirty="0" err="1"/>
              <a:t>with</a:t>
            </a:r>
            <a:r>
              <a:rPr lang="es-CO" sz="1200" dirty="0"/>
              <a:t> </a:t>
            </a:r>
            <a:r>
              <a:rPr lang="es-CO" sz="1200" dirty="0" err="1"/>
              <a:t>applications</a:t>
            </a:r>
            <a:r>
              <a:rPr lang="es-CO" sz="1200" dirty="0"/>
              <a:t> </a:t>
            </a:r>
            <a:r>
              <a:rPr lang="es-CO" sz="1200" dirty="0" err="1"/>
              <a:t>to</a:t>
            </a:r>
            <a:r>
              <a:rPr lang="es-CO" sz="1200" dirty="0"/>
              <a:t> gene </a:t>
            </a:r>
            <a:r>
              <a:rPr lang="es-CO" sz="1200" dirty="0" err="1" smtClean="0"/>
              <a:t>expression</a:t>
            </a:r>
            <a:r>
              <a:rPr lang="es-CO" sz="1200" dirty="0" smtClean="0"/>
              <a:t> </a:t>
            </a:r>
            <a:r>
              <a:rPr lang="es-CO" sz="1200" dirty="0" err="1" smtClean="0"/>
              <a:t>analysis</a:t>
            </a:r>
            <a:r>
              <a:rPr lang="es-CO" sz="1200" dirty="0"/>
              <a:t>. In: </a:t>
            </a:r>
            <a:r>
              <a:rPr lang="es-CO" sz="1200" dirty="0" err="1"/>
              <a:t>Proc</a:t>
            </a:r>
            <a:r>
              <a:rPr lang="es-CO" sz="1200" dirty="0"/>
              <a:t> </a:t>
            </a:r>
            <a:r>
              <a:rPr lang="es-CO" sz="1200" dirty="0" err="1"/>
              <a:t>international</a:t>
            </a:r>
            <a:r>
              <a:rPr lang="es-CO" sz="1200" dirty="0"/>
              <a:t> </a:t>
            </a:r>
            <a:r>
              <a:rPr lang="es-CO" sz="1200" dirty="0" err="1"/>
              <a:t>conference</a:t>
            </a:r>
            <a:r>
              <a:rPr lang="es-CO" sz="1200" dirty="0"/>
              <a:t> </a:t>
            </a:r>
            <a:r>
              <a:rPr lang="es-CO" sz="1200" dirty="0" err="1"/>
              <a:t>intelligent</a:t>
            </a:r>
            <a:r>
              <a:rPr lang="es-CO" sz="1200" dirty="0"/>
              <a:t> </a:t>
            </a:r>
            <a:r>
              <a:rPr lang="es-CO" sz="1200" dirty="0" err="1"/>
              <a:t>systems</a:t>
            </a:r>
            <a:r>
              <a:rPr lang="es-CO" sz="1200" dirty="0"/>
              <a:t> molecular </a:t>
            </a:r>
            <a:r>
              <a:rPr lang="es-CO" sz="1200" dirty="0" err="1"/>
              <a:t>biolgy</a:t>
            </a:r>
            <a:r>
              <a:rPr lang="es-CO" sz="1200" dirty="0"/>
              <a:t>, </a:t>
            </a:r>
            <a:r>
              <a:rPr lang="es-CO" sz="1200" dirty="0" err="1"/>
              <a:t>pp</a:t>
            </a:r>
            <a:r>
              <a:rPr lang="es-CO" sz="1200" dirty="0"/>
              <a:t> </a:t>
            </a:r>
            <a:r>
              <a:rPr lang="es-CO" sz="1200" dirty="0" smtClean="0"/>
              <a:t>307–316.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6693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425389" y="3075811"/>
            <a:ext cx="91171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Advantages</a:t>
            </a:r>
            <a:r>
              <a:rPr lang="en-US" sz="2000" dirty="0">
                <a:solidFill>
                  <a:srgbClr val="131413"/>
                </a:solidFill>
              </a:rPr>
              <a:t>: clustering in </a:t>
            </a:r>
            <a:r>
              <a:rPr lang="en-US" sz="2000" dirty="0" smtClean="0">
                <a:solidFill>
                  <a:srgbClr val="131413"/>
                </a:solidFill>
              </a:rPr>
              <a:t>highly efficient and the </a:t>
            </a:r>
            <a:r>
              <a:rPr lang="en-US" sz="2000" dirty="0">
                <a:solidFill>
                  <a:srgbClr val="131413"/>
                </a:solidFill>
              </a:rPr>
              <a:t>clustering result </a:t>
            </a:r>
            <a:r>
              <a:rPr lang="en-US" sz="2000" dirty="0" smtClean="0">
                <a:solidFill>
                  <a:srgbClr val="131413"/>
                </a:solidFill>
              </a:rPr>
              <a:t>is accurate.</a:t>
            </a:r>
            <a:endParaRPr lang="en-US" sz="2000" dirty="0">
              <a:solidFill>
                <a:srgbClr val="131413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Disadvantages</a:t>
            </a:r>
            <a:r>
              <a:rPr lang="en-US" sz="2000" dirty="0">
                <a:solidFill>
                  <a:srgbClr val="131413"/>
                </a:solidFill>
              </a:rPr>
              <a:t>: the time complexity increasing dramatically with the increasing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of graph </a:t>
            </a:r>
            <a:r>
              <a:rPr lang="en-US" sz="2000" dirty="0" smtClean="0">
                <a:solidFill>
                  <a:srgbClr val="131413"/>
                </a:solidFill>
              </a:rPr>
              <a:t>complexity.</a:t>
            </a:r>
            <a:endParaRPr lang="es-CO" sz="2000" b="1" i="1" dirty="0"/>
          </a:p>
        </p:txBody>
      </p:sp>
      <p:sp>
        <p:nvSpPr>
          <p:cNvPr id="11" name="Rectángulo 10"/>
          <p:cNvSpPr/>
          <p:nvPr/>
        </p:nvSpPr>
        <p:spPr>
          <a:xfrm>
            <a:off x="7910153" y="5321793"/>
            <a:ext cx="3866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131413"/>
                </a:solidFill>
              </a:rPr>
              <a:t>Time </a:t>
            </a:r>
            <a:r>
              <a:rPr lang="en-US" sz="1200" dirty="0">
                <a:solidFill>
                  <a:srgbClr val="131413"/>
                </a:solidFill>
              </a:rPr>
              <a:t>complexity </a:t>
            </a:r>
            <a:r>
              <a:rPr lang="en-US" sz="1200" dirty="0" smtClean="0">
                <a:solidFill>
                  <a:srgbClr val="131413"/>
                </a:solidFill>
              </a:rPr>
              <a:t>of graph theory-based clustering methods</a:t>
            </a:r>
            <a:endParaRPr lang="es-CO" sz="1200" dirty="0"/>
          </a:p>
        </p:txBody>
      </p:sp>
      <p:sp>
        <p:nvSpPr>
          <p:cNvPr id="10" name="Rectángulo 9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graph theory.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698" y="4300051"/>
            <a:ext cx="5874650" cy="1444266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1385047" y="5952894"/>
            <a:ext cx="97401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Graph theory-based clustering algorithms rely </a:t>
            </a:r>
            <a:r>
              <a:rPr lang="en-US" sz="2000" dirty="0">
                <a:solidFill>
                  <a:srgbClr val="131413"/>
                </a:solidFill>
              </a:rPr>
              <a:t>on </a:t>
            </a:r>
            <a:r>
              <a:rPr lang="en-US" sz="2000" dirty="0" smtClean="0">
                <a:solidFill>
                  <a:srgbClr val="131413"/>
                </a:solidFill>
              </a:rPr>
              <a:t>a graph where </a:t>
            </a:r>
            <a:r>
              <a:rPr lang="en-US" sz="2000" dirty="0">
                <a:solidFill>
                  <a:srgbClr val="131413"/>
                </a:solidFill>
              </a:rPr>
              <a:t>the node is regarded as the data point and the edge is regarded as the </a:t>
            </a:r>
            <a:r>
              <a:rPr lang="en-US" sz="2000" dirty="0" smtClean="0">
                <a:solidFill>
                  <a:srgbClr val="131413"/>
                </a:solidFill>
              </a:rPr>
              <a:t>relationship among </a:t>
            </a:r>
            <a:r>
              <a:rPr lang="en-US" sz="2000" dirty="0">
                <a:solidFill>
                  <a:srgbClr val="131413"/>
                </a:solidFill>
              </a:rPr>
              <a:t>data </a:t>
            </a:r>
            <a:r>
              <a:rPr lang="en-US" sz="2000" dirty="0" smtClean="0">
                <a:solidFill>
                  <a:srgbClr val="131413"/>
                </a:solidFill>
              </a:rPr>
              <a:t>points.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71184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grid.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506506" y="5572492"/>
            <a:ext cx="107217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grid based clustering approach uses a </a:t>
            </a:r>
            <a:r>
              <a:rPr lang="en-US" sz="2000" dirty="0" err="1">
                <a:solidFill>
                  <a:srgbClr val="131413"/>
                </a:solidFill>
              </a:rPr>
              <a:t>multiresolution</a:t>
            </a:r>
            <a:r>
              <a:rPr lang="en-US" sz="2000" dirty="0">
                <a:solidFill>
                  <a:srgbClr val="131413"/>
                </a:solidFill>
              </a:rPr>
              <a:t> grid data structure. It quantizes the object space into a finite number of </a:t>
            </a:r>
            <a:r>
              <a:rPr lang="en-US" sz="2000" dirty="0" smtClean="0">
                <a:solidFill>
                  <a:srgbClr val="131413"/>
                </a:solidFill>
              </a:rPr>
              <a:t>cells that </a:t>
            </a:r>
            <a:r>
              <a:rPr lang="en-US" sz="2000" dirty="0">
                <a:solidFill>
                  <a:srgbClr val="131413"/>
                </a:solidFill>
              </a:rPr>
              <a:t>form a grid structure on which all of the operations for clustering are performed. T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5948082" y="4132273"/>
            <a:ext cx="55850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 Survey on STING and CLIQUE Grid Based Clustering Methods. </a:t>
            </a:r>
            <a:r>
              <a:rPr lang="en-US" sz="1200" dirty="0" err="1" smtClean="0"/>
              <a:t>Suman</a:t>
            </a:r>
            <a:r>
              <a:rPr lang="en-US" sz="1200" dirty="0"/>
              <a:t> and </a:t>
            </a:r>
            <a:r>
              <a:rPr lang="en-US" sz="1200" dirty="0" err="1"/>
              <a:t>Pinki</a:t>
            </a:r>
            <a:r>
              <a:rPr lang="en-US" sz="1200" dirty="0"/>
              <a:t> </a:t>
            </a:r>
            <a:r>
              <a:rPr lang="en-US" sz="1200" dirty="0" smtClean="0"/>
              <a:t>Rani. </a:t>
            </a:r>
            <a:endParaRPr lang="es-CO" sz="1200" dirty="0"/>
          </a:p>
        </p:txBody>
      </p:sp>
      <p:sp>
        <p:nvSpPr>
          <p:cNvPr id="22" name="Rectángulo 21"/>
          <p:cNvSpPr/>
          <p:nvPr/>
        </p:nvSpPr>
        <p:spPr>
          <a:xfrm>
            <a:off x="506506" y="4132273"/>
            <a:ext cx="1185134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131413"/>
                </a:solidFill>
              </a:rPr>
              <a:t>STING: A</a:t>
            </a:r>
            <a:r>
              <a:rPr lang="en-US" sz="2000" b="1" i="1" dirty="0" smtClean="0">
                <a:solidFill>
                  <a:srgbClr val="131413"/>
                </a:solidFill>
              </a:rPr>
              <a:t> statistical information grid approach</a:t>
            </a:r>
          </a:p>
          <a:p>
            <a:r>
              <a:rPr lang="en-US" sz="2000" dirty="0" smtClean="0">
                <a:solidFill>
                  <a:srgbClr val="131413"/>
                </a:solidFill>
              </a:rPr>
              <a:t>A </a:t>
            </a:r>
            <a:r>
              <a:rPr lang="en-US" sz="2000" dirty="0">
                <a:solidFill>
                  <a:srgbClr val="131413"/>
                </a:solidFill>
              </a:rPr>
              <a:t>set of </a:t>
            </a:r>
            <a:r>
              <a:rPr lang="en-US" sz="2000" dirty="0" smtClean="0">
                <a:solidFill>
                  <a:srgbClr val="131413"/>
                </a:solidFill>
              </a:rPr>
              <a:t>grid-cells is defined, then data points are assigned </a:t>
            </a:r>
            <a:r>
              <a:rPr lang="en-US" sz="2000" dirty="0">
                <a:solidFill>
                  <a:srgbClr val="131413"/>
                </a:solidFill>
              </a:rPr>
              <a:t>to the appropriate grid cell and compute the </a:t>
            </a:r>
            <a:r>
              <a:rPr lang="en-US" sz="2000" dirty="0" smtClean="0">
                <a:solidFill>
                  <a:srgbClr val="131413"/>
                </a:solidFill>
              </a:rPr>
              <a:t>density of </a:t>
            </a:r>
            <a:r>
              <a:rPr lang="en-US" sz="2000" dirty="0">
                <a:solidFill>
                  <a:srgbClr val="131413"/>
                </a:solidFill>
              </a:rPr>
              <a:t>each cell and eliminate cells, whose density is below </a:t>
            </a:r>
            <a:r>
              <a:rPr lang="en-US" sz="2000" dirty="0" smtClean="0">
                <a:solidFill>
                  <a:srgbClr val="131413"/>
                </a:solidFill>
              </a:rPr>
              <a:t>a defined threshold. There’s a priori statistical knowledge of the space data.</a:t>
            </a:r>
            <a:endParaRPr lang="en-US" sz="2000" dirty="0">
              <a:solidFill>
                <a:srgbClr val="131413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141" y="1062575"/>
            <a:ext cx="3638446" cy="28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6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grid.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506506" y="5572492"/>
            <a:ext cx="107217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grid based clustering approach uses a </a:t>
            </a:r>
            <a:r>
              <a:rPr lang="en-US" sz="2000" dirty="0" err="1">
                <a:solidFill>
                  <a:srgbClr val="131413"/>
                </a:solidFill>
              </a:rPr>
              <a:t>multiresolution</a:t>
            </a:r>
            <a:r>
              <a:rPr lang="en-US" sz="2000" dirty="0">
                <a:solidFill>
                  <a:srgbClr val="131413"/>
                </a:solidFill>
              </a:rPr>
              <a:t> grid data structure. It quantizes the object space into a finite number of </a:t>
            </a:r>
            <a:r>
              <a:rPr lang="en-US" sz="2000" dirty="0" smtClean="0">
                <a:solidFill>
                  <a:srgbClr val="131413"/>
                </a:solidFill>
              </a:rPr>
              <a:t>cells that </a:t>
            </a:r>
            <a:r>
              <a:rPr lang="en-US" sz="2000" dirty="0">
                <a:solidFill>
                  <a:srgbClr val="131413"/>
                </a:solidFill>
              </a:rPr>
              <a:t>form a grid structure on which all of the operations for clustering are performed. T</a:t>
            </a:r>
            <a:endParaRPr lang="es-CO" sz="2000" dirty="0"/>
          </a:p>
        </p:txBody>
      </p:sp>
      <p:sp>
        <p:nvSpPr>
          <p:cNvPr id="4" name="Rectángulo 3"/>
          <p:cNvSpPr/>
          <p:nvPr/>
        </p:nvSpPr>
        <p:spPr>
          <a:xfrm>
            <a:off x="5948082" y="3631831"/>
            <a:ext cx="55850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 Survey on STING and CLIQUE Grid Based Clustering Methods. </a:t>
            </a:r>
            <a:r>
              <a:rPr lang="en-US" sz="1200" dirty="0" err="1" smtClean="0"/>
              <a:t>Suman</a:t>
            </a:r>
            <a:r>
              <a:rPr lang="en-US" sz="1200" dirty="0"/>
              <a:t> and </a:t>
            </a:r>
            <a:r>
              <a:rPr lang="en-US" sz="1200" dirty="0" err="1"/>
              <a:t>Pinki</a:t>
            </a:r>
            <a:r>
              <a:rPr lang="en-US" sz="1200" dirty="0"/>
              <a:t> </a:t>
            </a:r>
            <a:r>
              <a:rPr lang="en-US" sz="1200" dirty="0" smtClean="0"/>
              <a:t>Rani. </a:t>
            </a:r>
            <a:endParaRPr lang="es-CO" sz="1200" dirty="0"/>
          </a:p>
        </p:txBody>
      </p:sp>
      <p:sp>
        <p:nvSpPr>
          <p:cNvPr id="22" name="Rectángulo 21"/>
          <p:cNvSpPr/>
          <p:nvPr/>
        </p:nvSpPr>
        <p:spPr>
          <a:xfrm>
            <a:off x="506507" y="4132273"/>
            <a:ext cx="10475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CLIQUE</a:t>
            </a:r>
            <a:r>
              <a:rPr lang="en-US" sz="2000" b="1" i="1" dirty="0">
                <a:solidFill>
                  <a:srgbClr val="131413"/>
                </a:solidFill>
              </a:rPr>
              <a:t>:  A</a:t>
            </a:r>
            <a:r>
              <a:rPr lang="en-US" sz="2000" b="1" i="1" dirty="0" smtClean="0">
                <a:solidFill>
                  <a:srgbClr val="131413"/>
                </a:solidFill>
              </a:rPr>
              <a:t> dimension growth subspace clustering method</a:t>
            </a:r>
          </a:p>
          <a:p>
            <a:r>
              <a:rPr lang="en-US" sz="2000" dirty="0">
                <a:solidFill>
                  <a:srgbClr val="131413"/>
                </a:solidFill>
              </a:rPr>
              <a:t>CLIQUE takes advantage of the </a:t>
            </a:r>
            <a:r>
              <a:rPr lang="en-US" sz="2000" dirty="0" smtClean="0">
                <a:solidFill>
                  <a:srgbClr val="131413"/>
                </a:solidFill>
              </a:rPr>
              <a:t>grid-based clustering </a:t>
            </a:r>
            <a:r>
              <a:rPr lang="en-US" sz="2000" dirty="0">
                <a:solidFill>
                  <a:srgbClr val="131413"/>
                </a:solidFill>
              </a:rPr>
              <a:t>algorithms and the density-based clustering </a:t>
            </a:r>
            <a:r>
              <a:rPr lang="en-US" sz="2000" dirty="0" smtClean="0">
                <a:solidFill>
                  <a:srgbClr val="131413"/>
                </a:solidFill>
              </a:rPr>
              <a:t>algorithms.</a:t>
            </a:r>
            <a:endParaRPr lang="en-US" sz="2000" dirty="0">
              <a:solidFill>
                <a:srgbClr val="131413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65" y="568799"/>
            <a:ext cx="3638446" cy="28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7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85047" y="2966814"/>
            <a:ext cx="91171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Advantages: low time complexity, high scalability and suitable for </a:t>
            </a:r>
            <a:r>
              <a:rPr lang="en-US" sz="2000" dirty="0" smtClean="0">
                <a:solidFill>
                  <a:srgbClr val="131413"/>
                </a:solidFill>
              </a:rPr>
              <a:t>parallel processing </a:t>
            </a:r>
            <a:r>
              <a:rPr lang="en-US" sz="2000" dirty="0">
                <a:solidFill>
                  <a:srgbClr val="131413"/>
                </a:solidFill>
              </a:rPr>
              <a:t>and increment </a:t>
            </a:r>
            <a:r>
              <a:rPr lang="en-US" sz="2000" dirty="0" smtClean="0">
                <a:solidFill>
                  <a:srgbClr val="131413"/>
                </a:solidFill>
              </a:rPr>
              <a:t>updating.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Disadvantages</a:t>
            </a:r>
            <a:r>
              <a:rPr lang="en-US" sz="2000" dirty="0">
                <a:solidFill>
                  <a:srgbClr val="131413"/>
                </a:solidFill>
              </a:rPr>
              <a:t>: the clustering result sensitive to the granularity (the mesh size</a:t>
            </a:r>
            <a:r>
              <a:rPr lang="en-US" sz="2000" dirty="0" smtClean="0">
                <a:solidFill>
                  <a:srgbClr val="131413"/>
                </a:solidFill>
              </a:rPr>
              <a:t>), the </a:t>
            </a:r>
            <a:r>
              <a:rPr lang="en-US" sz="2000" dirty="0">
                <a:solidFill>
                  <a:srgbClr val="131413"/>
                </a:solidFill>
              </a:rPr>
              <a:t>high calculation efficiency at the cost of reducing the quality of clusters </a:t>
            </a:r>
            <a:r>
              <a:rPr lang="en-US" sz="2000" dirty="0" smtClean="0">
                <a:solidFill>
                  <a:srgbClr val="131413"/>
                </a:solidFill>
              </a:rPr>
              <a:t>and reducing </a:t>
            </a:r>
            <a:r>
              <a:rPr lang="en-US" sz="2000" dirty="0">
                <a:solidFill>
                  <a:srgbClr val="131413"/>
                </a:solidFill>
              </a:rPr>
              <a:t>the clustering </a:t>
            </a:r>
            <a:r>
              <a:rPr lang="en-US" sz="2000" dirty="0" smtClean="0">
                <a:solidFill>
                  <a:srgbClr val="131413"/>
                </a:solidFill>
              </a:rPr>
              <a:t>accuracy.</a:t>
            </a:r>
            <a:endParaRPr lang="es-CO" sz="2000" b="1" i="1" dirty="0"/>
          </a:p>
        </p:txBody>
      </p:sp>
      <p:sp>
        <p:nvSpPr>
          <p:cNvPr id="11" name="Rectángulo 10"/>
          <p:cNvSpPr/>
          <p:nvPr/>
        </p:nvSpPr>
        <p:spPr>
          <a:xfrm>
            <a:off x="7891710" y="5604983"/>
            <a:ext cx="36574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131413"/>
                </a:solidFill>
              </a:rPr>
              <a:t>Time </a:t>
            </a:r>
            <a:r>
              <a:rPr lang="en-US" sz="1200" dirty="0">
                <a:solidFill>
                  <a:srgbClr val="131413"/>
                </a:solidFill>
              </a:rPr>
              <a:t>complexity </a:t>
            </a:r>
            <a:r>
              <a:rPr lang="en-US" sz="1200" dirty="0" smtClean="0">
                <a:solidFill>
                  <a:srgbClr val="131413"/>
                </a:solidFill>
              </a:rPr>
              <a:t>of grid-based clustering methods</a:t>
            </a:r>
            <a:endParaRPr lang="es-CO" sz="1200" dirty="0"/>
          </a:p>
        </p:txBody>
      </p:sp>
      <p:sp>
        <p:nvSpPr>
          <p:cNvPr id="8" name="Rectángulo 7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grid.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91" y="4735190"/>
            <a:ext cx="5725019" cy="141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1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model.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291275" y="4506332"/>
            <a:ext cx="89301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basic idea </a:t>
            </a:r>
            <a:r>
              <a:rPr lang="en-US" sz="2000" dirty="0" smtClean="0">
                <a:solidFill>
                  <a:srgbClr val="131413"/>
                </a:solidFill>
              </a:rPr>
              <a:t>is </a:t>
            </a:r>
            <a:r>
              <a:rPr lang="en-US" sz="2000" dirty="0">
                <a:solidFill>
                  <a:srgbClr val="131413"/>
                </a:solidFill>
              </a:rPr>
              <a:t>to select a particular model for each cluster and find the best </a:t>
            </a:r>
            <a:r>
              <a:rPr lang="en-US" sz="2000" dirty="0" smtClean="0">
                <a:solidFill>
                  <a:srgbClr val="131413"/>
                </a:solidFill>
              </a:rPr>
              <a:t>fitting for </a:t>
            </a:r>
            <a:r>
              <a:rPr lang="en-US" sz="2000" dirty="0">
                <a:solidFill>
                  <a:srgbClr val="131413"/>
                </a:solidFill>
              </a:rPr>
              <a:t>that model. </a:t>
            </a:r>
            <a:endParaRPr lang="es-CO" sz="2000" dirty="0"/>
          </a:p>
        </p:txBody>
      </p:sp>
      <p:sp>
        <p:nvSpPr>
          <p:cNvPr id="22" name="Rectángulo 21"/>
          <p:cNvSpPr/>
          <p:nvPr/>
        </p:nvSpPr>
        <p:spPr>
          <a:xfrm>
            <a:off x="1291275" y="3299011"/>
            <a:ext cx="82557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There </a:t>
            </a:r>
            <a:r>
              <a:rPr lang="en-US" sz="2000" dirty="0">
                <a:solidFill>
                  <a:srgbClr val="131413"/>
                </a:solidFill>
              </a:rPr>
              <a:t>are mainly two kinds of model-based clustering algorithms, </a:t>
            </a:r>
            <a:r>
              <a:rPr lang="en-US" sz="2000" dirty="0" smtClean="0">
                <a:solidFill>
                  <a:srgbClr val="131413"/>
                </a:solidFill>
              </a:rPr>
              <a:t>one based </a:t>
            </a:r>
            <a:r>
              <a:rPr lang="en-US" sz="2000" dirty="0">
                <a:solidFill>
                  <a:srgbClr val="131413"/>
                </a:solidFill>
              </a:rPr>
              <a:t>on </a:t>
            </a:r>
            <a:r>
              <a:rPr lang="en-US" sz="2000" b="1" i="1" dirty="0">
                <a:solidFill>
                  <a:srgbClr val="131413"/>
                </a:solidFill>
              </a:rPr>
              <a:t>statistical learning </a:t>
            </a:r>
            <a:r>
              <a:rPr lang="en-US" sz="2000" b="1" i="1" dirty="0" smtClean="0">
                <a:solidFill>
                  <a:srgbClr val="131413"/>
                </a:solidFill>
              </a:rPr>
              <a:t>methods</a:t>
            </a:r>
            <a:r>
              <a:rPr lang="en-US" sz="2000" dirty="0" smtClean="0">
                <a:solidFill>
                  <a:srgbClr val="131413"/>
                </a:solidFill>
              </a:rPr>
              <a:t> </a:t>
            </a:r>
            <a:r>
              <a:rPr lang="en-US" sz="2000" dirty="0">
                <a:solidFill>
                  <a:srgbClr val="131413"/>
                </a:solidFill>
              </a:rPr>
              <a:t>and the other based on </a:t>
            </a:r>
            <a:r>
              <a:rPr lang="en-US" sz="2000" b="1" i="1" dirty="0">
                <a:solidFill>
                  <a:srgbClr val="131413"/>
                </a:solidFill>
              </a:rPr>
              <a:t>neural network </a:t>
            </a:r>
            <a:r>
              <a:rPr lang="en-US" sz="2000" b="1" i="1" dirty="0" smtClean="0">
                <a:solidFill>
                  <a:srgbClr val="131413"/>
                </a:solidFill>
              </a:rPr>
              <a:t>learning methods</a:t>
            </a:r>
            <a:r>
              <a:rPr lang="en-US" sz="2000" dirty="0" smtClean="0">
                <a:solidFill>
                  <a:srgbClr val="131413"/>
                </a:solidFill>
              </a:rPr>
              <a:t>.</a:t>
            </a:r>
            <a:endParaRPr lang="en-US" sz="2000" dirty="0">
              <a:solidFill>
                <a:srgbClr val="131413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712258" y="5621029"/>
            <a:ext cx="7646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Fisher D (1987) Knowledge acquisition via incremental conceptual clustering. Mach Learn 2:139–172</a:t>
            </a:r>
            <a:r>
              <a:rPr lang="en-US" sz="1200" dirty="0"/>
              <a:t> </a:t>
            </a:r>
            <a:br>
              <a:rPr lang="en-US" sz="1200" dirty="0"/>
            </a:br>
            <a:endParaRPr lang="es-CO" sz="1200" dirty="0"/>
          </a:p>
        </p:txBody>
      </p:sp>
      <p:sp>
        <p:nvSpPr>
          <p:cNvPr id="14" name="Rectángulo 13"/>
          <p:cNvSpPr/>
          <p:nvPr/>
        </p:nvSpPr>
        <p:spPr>
          <a:xfrm>
            <a:off x="1753501" y="5946855"/>
            <a:ext cx="76056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02257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model.</a:t>
            </a:r>
            <a:endParaRPr lang="es-CO" sz="2000" b="1" dirty="0"/>
          </a:p>
        </p:txBody>
      </p:sp>
      <p:sp>
        <p:nvSpPr>
          <p:cNvPr id="3" name="Elipse 2"/>
          <p:cNvSpPr/>
          <p:nvPr/>
        </p:nvSpPr>
        <p:spPr>
          <a:xfrm>
            <a:off x="3181282" y="3232068"/>
            <a:ext cx="1014153" cy="9418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/>
          <p:cNvSpPr/>
          <p:nvPr/>
        </p:nvSpPr>
        <p:spPr>
          <a:xfrm>
            <a:off x="3315785" y="3481403"/>
            <a:ext cx="9760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rgbClr val="131413"/>
                </a:solidFill>
              </a:rPr>
              <a:t>Statistical methods</a:t>
            </a:r>
            <a:endParaRPr lang="es-CO" sz="1200" b="1" i="1" dirty="0"/>
          </a:p>
        </p:txBody>
      </p:sp>
      <p:sp>
        <p:nvSpPr>
          <p:cNvPr id="12" name="Elipse 11"/>
          <p:cNvSpPr/>
          <p:nvPr/>
        </p:nvSpPr>
        <p:spPr>
          <a:xfrm>
            <a:off x="7854624" y="3242512"/>
            <a:ext cx="1014153" cy="9418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7949307" y="3390262"/>
            <a:ext cx="743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i="1" dirty="0" smtClean="0">
                <a:solidFill>
                  <a:srgbClr val="131413"/>
                </a:solidFill>
              </a:rPr>
              <a:t>Neural network</a:t>
            </a:r>
          </a:p>
          <a:p>
            <a:pPr algn="ctr"/>
            <a:r>
              <a:rPr lang="en-US" sz="1200" b="1" i="1" dirty="0" smtClean="0">
                <a:solidFill>
                  <a:srgbClr val="131413"/>
                </a:solidFill>
              </a:rPr>
              <a:t>methods</a:t>
            </a:r>
            <a:endParaRPr lang="es-CO" sz="1200" b="1" i="1" dirty="0"/>
          </a:p>
        </p:txBody>
      </p:sp>
      <p:sp>
        <p:nvSpPr>
          <p:cNvPr id="14" name="Elipse 13"/>
          <p:cNvSpPr/>
          <p:nvPr/>
        </p:nvSpPr>
        <p:spPr>
          <a:xfrm>
            <a:off x="2131962" y="4653722"/>
            <a:ext cx="692680" cy="70761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/>
          <p:cNvSpPr/>
          <p:nvPr/>
        </p:nvSpPr>
        <p:spPr>
          <a:xfrm>
            <a:off x="2104530" y="4869028"/>
            <a:ext cx="9760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rgbClr val="131413"/>
                </a:solidFill>
              </a:rPr>
              <a:t>COBWEB</a:t>
            </a:r>
            <a:endParaRPr lang="es-CO" sz="1200" b="1" i="1" dirty="0"/>
          </a:p>
        </p:txBody>
      </p:sp>
      <p:sp>
        <p:nvSpPr>
          <p:cNvPr id="17" name="Rectángulo 16"/>
          <p:cNvSpPr/>
          <p:nvPr/>
        </p:nvSpPr>
        <p:spPr>
          <a:xfrm>
            <a:off x="4424799" y="4861618"/>
            <a:ext cx="9760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rgbClr val="131413"/>
                </a:solidFill>
              </a:rPr>
              <a:t>GMM</a:t>
            </a:r>
            <a:endParaRPr lang="es-CO" sz="1200" b="1" i="1" dirty="0"/>
          </a:p>
        </p:txBody>
      </p:sp>
      <p:sp>
        <p:nvSpPr>
          <p:cNvPr id="18" name="Elipse 17"/>
          <p:cNvSpPr/>
          <p:nvPr/>
        </p:nvSpPr>
        <p:spPr>
          <a:xfrm>
            <a:off x="4340860" y="4664600"/>
            <a:ext cx="692680" cy="70761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" name="Conector recto de flecha 3"/>
          <p:cNvCxnSpPr/>
          <p:nvPr/>
        </p:nvCxnSpPr>
        <p:spPr>
          <a:xfrm flipH="1">
            <a:off x="2824642" y="4173900"/>
            <a:ext cx="356640" cy="3798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>
            <a:off x="4116715" y="4206869"/>
            <a:ext cx="351832" cy="37981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>
            <a:off x="2461170" y="5441282"/>
            <a:ext cx="17132" cy="5206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>
            <a:off x="4701160" y="5441282"/>
            <a:ext cx="17132" cy="5206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/>
          <p:cNvSpPr/>
          <p:nvPr/>
        </p:nvSpPr>
        <p:spPr>
          <a:xfrm>
            <a:off x="1874225" y="6041835"/>
            <a:ext cx="1173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i="1" dirty="0" smtClean="0">
                <a:solidFill>
                  <a:srgbClr val="131413"/>
                </a:solidFill>
              </a:rPr>
              <a:t>Classification tree</a:t>
            </a:r>
            <a:endParaRPr lang="es-CO" sz="1200" b="1" i="1" dirty="0"/>
          </a:p>
        </p:txBody>
      </p:sp>
      <p:sp>
        <p:nvSpPr>
          <p:cNvPr id="25" name="Rectángulo 24"/>
          <p:cNvSpPr/>
          <p:nvPr/>
        </p:nvSpPr>
        <p:spPr>
          <a:xfrm>
            <a:off x="4100255" y="6010320"/>
            <a:ext cx="1173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i="1" dirty="0" smtClean="0">
                <a:solidFill>
                  <a:srgbClr val="131413"/>
                </a:solidFill>
              </a:rPr>
              <a:t>Gaussian distribution</a:t>
            </a:r>
            <a:endParaRPr lang="es-CO" sz="1200" b="1" i="1" dirty="0"/>
          </a:p>
        </p:txBody>
      </p:sp>
      <p:sp>
        <p:nvSpPr>
          <p:cNvPr id="26" name="Elipse 25"/>
          <p:cNvSpPr/>
          <p:nvPr/>
        </p:nvSpPr>
        <p:spPr>
          <a:xfrm>
            <a:off x="6815400" y="4520939"/>
            <a:ext cx="692680" cy="7076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 26"/>
          <p:cNvSpPr/>
          <p:nvPr/>
        </p:nvSpPr>
        <p:spPr>
          <a:xfrm>
            <a:off x="6892354" y="4751938"/>
            <a:ext cx="976077" cy="2769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rgbClr val="131413"/>
                </a:solidFill>
              </a:rPr>
              <a:t>SOM</a:t>
            </a:r>
            <a:endParaRPr lang="es-CO" sz="1200" b="1" i="1" dirty="0"/>
          </a:p>
        </p:txBody>
      </p:sp>
      <p:sp>
        <p:nvSpPr>
          <p:cNvPr id="28" name="Rectángulo 27"/>
          <p:cNvSpPr/>
          <p:nvPr/>
        </p:nvSpPr>
        <p:spPr>
          <a:xfrm>
            <a:off x="9141889" y="4720176"/>
            <a:ext cx="976077" cy="2769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i="1" dirty="0" smtClean="0">
                <a:solidFill>
                  <a:srgbClr val="131413"/>
                </a:solidFill>
              </a:rPr>
              <a:t>ART</a:t>
            </a:r>
            <a:endParaRPr lang="es-CO" sz="1200" b="1" i="1" dirty="0"/>
          </a:p>
        </p:txBody>
      </p:sp>
      <p:sp>
        <p:nvSpPr>
          <p:cNvPr id="29" name="Elipse 28"/>
          <p:cNvSpPr/>
          <p:nvPr/>
        </p:nvSpPr>
        <p:spPr>
          <a:xfrm>
            <a:off x="9024298" y="4531817"/>
            <a:ext cx="692680" cy="7076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0" name="Conector recto de flecha 29"/>
          <p:cNvCxnSpPr/>
          <p:nvPr/>
        </p:nvCxnSpPr>
        <p:spPr>
          <a:xfrm flipH="1">
            <a:off x="7497984" y="4184344"/>
            <a:ext cx="356640" cy="37981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/>
          <p:nvPr/>
        </p:nvCxnSpPr>
        <p:spPr>
          <a:xfrm>
            <a:off x="8790057" y="4217313"/>
            <a:ext cx="351832" cy="379812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>
            <a:off x="7134512" y="5451726"/>
            <a:ext cx="17132" cy="52060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9374502" y="5451726"/>
            <a:ext cx="17132" cy="52060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>
          <a:xfrm>
            <a:off x="6558709" y="5997222"/>
            <a:ext cx="1206062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b="1" i="1" dirty="0" err="1" smtClean="0">
                <a:solidFill>
                  <a:srgbClr val="131413"/>
                </a:solidFill>
              </a:rPr>
              <a:t>Mapping</a:t>
            </a:r>
            <a:r>
              <a:rPr lang="es-CO" sz="1200" b="1" i="1" dirty="0" smtClean="0">
                <a:solidFill>
                  <a:srgbClr val="131413"/>
                </a:solidFill>
              </a:rPr>
              <a:t> </a:t>
            </a:r>
            <a:r>
              <a:rPr lang="es-CO" sz="1200" b="1" i="1" dirty="0" err="1" smtClean="0">
                <a:solidFill>
                  <a:srgbClr val="131413"/>
                </a:solidFill>
              </a:rPr>
              <a:t>for</a:t>
            </a:r>
            <a:r>
              <a:rPr lang="es-CO" sz="1200" b="1" i="1" dirty="0" smtClean="0">
                <a:solidFill>
                  <a:srgbClr val="131413"/>
                </a:solidFill>
              </a:rPr>
              <a:t> </a:t>
            </a:r>
            <a:r>
              <a:rPr lang="es-CO" sz="1200" b="1" i="1" dirty="0" err="1">
                <a:solidFill>
                  <a:srgbClr val="131413"/>
                </a:solidFill>
              </a:rPr>
              <a:t>dimension</a:t>
            </a:r>
            <a:r>
              <a:rPr lang="es-CO" sz="1200" b="1" i="1" dirty="0">
                <a:solidFill>
                  <a:srgbClr val="131413"/>
                </a:solidFill>
              </a:rPr>
              <a:t> </a:t>
            </a:r>
            <a:r>
              <a:rPr lang="es-CO" sz="1200" b="1" i="1" dirty="0" err="1">
                <a:solidFill>
                  <a:srgbClr val="131413"/>
                </a:solidFill>
              </a:rPr>
              <a:t>reduction</a:t>
            </a:r>
            <a:r>
              <a:rPr lang="es-CO" sz="1200" b="1" i="1" dirty="0"/>
              <a:t> </a:t>
            </a:r>
            <a:br>
              <a:rPr lang="es-CO" sz="1200" b="1" i="1" dirty="0"/>
            </a:br>
            <a:endParaRPr lang="es-CO" sz="1200" b="1" i="1" dirty="0"/>
          </a:p>
        </p:txBody>
      </p:sp>
      <p:sp>
        <p:nvSpPr>
          <p:cNvPr id="34" name="Rectángulo 33"/>
          <p:cNvSpPr/>
          <p:nvPr/>
        </p:nvSpPr>
        <p:spPr>
          <a:xfrm>
            <a:off x="8861148" y="6003482"/>
            <a:ext cx="1206062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O" sz="1200" b="1" i="1" dirty="0" err="1" smtClean="0">
                <a:solidFill>
                  <a:srgbClr val="131413"/>
                </a:solidFill>
              </a:rPr>
              <a:t>Create</a:t>
            </a:r>
            <a:r>
              <a:rPr lang="es-CO" sz="1200" b="1" i="1" dirty="0" smtClean="0">
                <a:solidFill>
                  <a:srgbClr val="131413"/>
                </a:solidFill>
              </a:rPr>
              <a:t> </a:t>
            </a:r>
            <a:r>
              <a:rPr lang="es-CO" sz="1200" b="1" i="1" dirty="0" err="1" smtClean="0">
                <a:solidFill>
                  <a:srgbClr val="131413"/>
                </a:solidFill>
              </a:rPr>
              <a:t>neurons</a:t>
            </a:r>
            <a:r>
              <a:rPr lang="es-CO" sz="1200" b="1" i="1" dirty="0" smtClean="0">
                <a:solidFill>
                  <a:srgbClr val="131413"/>
                </a:solidFill>
              </a:rPr>
              <a:t> </a:t>
            </a:r>
            <a:r>
              <a:rPr lang="es-CO" sz="1200" b="1" i="1" dirty="0" err="1" smtClean="0">
                <a:solidFill>
                  <a:srgbClr val="131413"/>
                </a:solidFill>
              </a:rPr>
              <a:t>when</a:t>
            </a:r>
            <a:r>
              <a:rPr lang="es-CO" sz="1200" b="1" i="1" dirty="0" smtClean="0">
                <a:solidFill>
                  <a:srgbClr val="131413"/>
                </a:solidFill>
              </a:rPr>
              <a:t> </a:t>
            </a:r>
            <a:r>
              <a:rPr lang="es-CO" sz="1200" b="1" i="1" dirty="0" err="1" smtClean="0">
                <a:solidFill>
                  <a:srgbClr val="131413"/>
                </a:solidFill>
              </a:rPr>
              <a:t>necessary</a:t>
            </a:r>
            <a:r>
              <a:rPr lang="es-CO" sz="1200" b="1" i="1" dirty="0"/>
              <a:t/>
            </a:r>
            <a:br>
              <a:rPr lang="es-CO" sz="1200" b="1" i="1" dirty="0"/>
            </a:br>
            <a:endParaRPr lang="es-CO" sz="1200" b="1" i="1" dirty="0"/>
          </a:p>
        </p:txBody>
      </p:sp>
      <p:sp>
        <p:nvSpPr>
          <p:cNvPr id="35" name="Rectángulo 34"/>
          <p:cNvSpPr/>
          <p:nvPr/>
        </p:nvSpPr>
        <p:spPr>
          <a:xfrm>
            <a:off x="9370638" y="3032678"/>
            <a:ext cx="28882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9171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Traditional clustering algorithms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1385047" y="2966814"/>
            <a:ext cx="1016407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 smtClean="0"/>
              <a:t>Advantages</a:t>
            </a:r>
            <a:r>
              <a:rPr lang="en-US" sz="2000" dirty="0"/>
              <a:t>: diverse and well developed models providing means to describe </a:t>
            </a:r>
            <a:r>
              <a:rPr lang="en-US" sz="2000" dirty="0" smtClean="0"/>
              <a:t>data adequately </a:t>
            </a:r>
            <a:r>
              <a:rPr lang="en-US" sz="2000" dirty="0"/>
              <a:t>and each model having its own special characters that may bring </a:t>
            </a:r>
            <a:r>
              <a:rPr lang="en-US" sz="2000" dirty="0" smtClean="0"/>
              <a:t>about some </a:t>
            </a:r>
            <a:r>
              <a:rPr lang="en-US" sz="2000" dirty="0"/>
              <a:t>significant advantages in some specific </a:t>
            </a:r>
            <a:r>
              <a:rPr lang="en-US" sz="2000" dirty="0" smtClean="0"/>
              <a:t>areas.</a:t>
            </a:r>
          </a:p>
          <a:p>
            <a:pPr marL="342900" indent="-342900">
              <a:buFontTx/>
              <a:buChar char="-"/>
            </a:pPr>
            <a:r>
              <a:rPr lang="en-US" sz="2000" dirty="0" smtClean="0"/>
              <a:t>Disadvantages</a:t>
            </a:r>
            <a:r>
              <a:rPr lang="en-US" sz="2000" dirty="0"/>
              <a:t>: relatively high time complexity in general, the premise not completely correct, and the clustering result sensitive to the parameters of </a:t>
            </a:r>
            <a:r>
              <a:rPr lang="en-US" sz="2000" dirty="0" smtClean="0"/>
              <a:t>selected models.</a:t>
            </a:r>
            <a:endParaRPr lang="es-CO" sz="2000" dirty="0"/>
          </a:p>
        </p:txBody>
      </p:sp>
      <p:sp>
        <p:nvSpPr>
          <p:cNvPr id="11" name="Rectángulo 10"/>
          <p:cNvSpPr/>
          <p:nvPr/>
        </p:nvSpPr>
        <p:spPr>
          <a:xfrm>
            <a:off x="8429592" y="5676702"/>
            <a:ext cx="36574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131413"/>
                </a:solidFill>
              </a:rPr>
              <a:t>Time </a:t>
            </a:r>
            <a:r>
              <a:rPr lang="en-US" sz="1200" dirty="0">
                <a:solidFill>
                  <a:srgbClr val="131413"/>
                </a:solidFill>
              </a:rPr>
              <a:t>complexity </a:t>
            </a:r>
            <a:r>
              <a:rPr lang="en-US" sz="1200" dirty="0" smtClean="0">
                <a:solidFill>
                  <a:srgbClr val="131413"/>
                </a:solidFill>
              </a:rPr>
              <a:t>of model-based clustering methods</a:t>
            </a:r>
            <a:endParaRPr lang="es-CO" sz="1200" dirty="0"/>
          </a:p>
        </p:txBody>
      </p:sp>
      <p:sp>
        <p:nvSpPr>
          <p:cNvPr id="8" name="Rectángulo 7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model.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21" y="4732623"/>
            <a:ext cx="6376240" cy="14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6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Modern clustering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kernel.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08845" y="3001942"/>
            <a:ext cx="99199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These clustering </a:t>
            </a:r>
            <a:r>
              <a:rPr lang="en-US" sz="2000" dirty="0">
                <a:solidFill>
                  <a:srgbClr val="131413"/>
                </a:solidFill>
              </a:rPr>
              <a:t>algorithms </a:t>
            </a:r>
            <a:r>
              <a:rPr lang="en-US" sz="2000" dirty="0" smtClean="0">
                <a:solidFill>
                  <a:srgbClr val="131413"/>
                </a:solidFill>
              </a:rPr>
              <a:t>consider a transformation of the input data (input space) into a </a:t>
            </a:r>
            <a:r>
              <a:rPr lang="en-US" sz="2000" dirty="0">
                <a:solidFill>
                  <a:srgbClr val="131413"/>
                </a:solidFill>
              </a:rPr>
              <a:t>high </a:t>
            </a:r>
            <a:r>
              <a:rPr lang="en-US" sz="2000" dirty="0" smtClean="0">
                <a:solidFill>
                  <a:srgbClr val="131413"/>
                </a:solidFill>
              </a:rPr>
              <a:t>dimensional feature </a:t>
            </a:r>
            <a:r>
              <a:rPr lang="en-US" sz="2000" dirty="0">
                <a:solidFill>
                  <a:srgbClr val="131413"/>
                </a:solidFill>
              </a:rPr>
              <a:t>space </a:t>
            </a:r>
            <a:r>
              <a:rPr lang="en-US" sz="2000" dirty="0" smtClean="0">
                <a:solidFill>
                  <a:srgbClr val="131413"/>
                </a:solidFill>
              </a:rPr>
              <a:t>by a nonlinear </a:t>
            </a:r>
            <a:r>
              <a:rPr lang="en-US" sz="2000" dirty="0">
                <a:solidFill>
                  <a:srgbClr val="131413"/>
                </a:solidFill>
              </a:rPr>
              <a:t>mapping </a:t>
            </a:r>
            <a:r>
              <a:rPr lang="en-US" sz="2000" dirty="0" smtClean="0">
                <a:solidFill>
                  <a:srgbClr val="131413"/>
                </a:solidFill>
              </a:rPr>
              <a:t>for the </a:t>
            </a:r>
            <a:r>
              <a:rPr lang="en-US" sz="2000" dirty="0">
                <a:solidFill>
                  <a:srgbClr val="131413"/>
                </a:solidFill>
              </a:rPr>
              <a:t>cluster analysis.</a:t>
            </a:r>
            <a:endParaRPr lang="es-CO" sz="2000" dirty="0"/>
          </a:p>
        </p:txBody>
      </p:sp>
      <p:sp>
        <p:nvSpPr>
          <p:cNvPr id="8" name="Rectángulo 7"/>
          <p:cNvSpPr/>
          <p:nvPr/>
        </p:nvSpPr>
        <p:spPr>
          <a:xfrm>
            <a:off x="1308846" y="3939954"/>
            <a:ext cx="991998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Typical algorithms:</a:t>
            </a:r>
          </a:p>
          <a:p>
            <a:endParaRPr lang="en-US" sz="2000" dirty="0">
              <a:solidFill>
                <a:srgbClr val="131413"/>
              </a:solidFill>
            </a:endParaRPr>
          </a:p>
          <a:p>
            <a:pPr marL="457200" indent="-457200">
              <a:buAutoNum type="arabicPeriod"/>
            </a:pPr>
            <a:r>
              <a:rPr lang="es-CO" sz="2000" dirty="0" err="1" smtClean="0"/>
              <a:t>kernel</a:t>
            </a:r>
            <a:r>
              <a:rPr lang="es-CO" sz="2000" dirty="0" smtClean="0"/>
              <a:t> K-</a:t>
            </a:r>
            <a:r>
              <a:rPr lang="es-CO" sz="2000" dirty="0" err="1" smtClean="0"/>
              <a:t>means</a:t>
            </a:r>
            <a:r>
              <a:rPr lang="es-CO" sz="2000" dirty="0" smtClean="0"/>
              <a:t>.</a:t>
            </a:r>
          </a:p>
          <a:p>
            <a:pPr marL="457200" indent="-457200">
              <a:buAutoNum type="arabicPeriod"/>
            </a:pPr>
            <a:r>
              <a:rPr lang="es-CO" sz="2000" dirty="0" err="1"/>
              <a:t>kernel</a:t>
            </a:r>
            <a:r>
              <a:rPr lang="es-CO" sz="2000" dirty="0"/>
              <a:t> </a:t>
            </a:r>
            <a:r>
              <a:rPr lang="es-CO" sz="2000" dirty="0" smtClean="0"/>
              <a:t>SOM.</a:t>
            </a:r>
          </a:p>
          <a:p>
            <a:pPr marL="457200" indent="-457200">
              <a:buAutoNum type="arabicPeriod"/>
            </a:pPr>
            <a:r>
              <a:rPr lang="es-CO" sz="2000" dirty="0" err="1"/>
              <a:t>kernel</a:t>
            </a:r>
            <a:r>
              <a:rPr lang="es-CO" sz="2000" dirty="0"/>
              <a:t> </a:t>
            </a:r>
            <a:r>
              <a:rPr lang="es-CO" sz="2000" dirty="0" smtClean="0"/>
              <a:t>FCM.</a:t>
            </a:r>
          </a:p>
          <a:p>
            <a:pPr marL="457200" indent="-457200">
              <a:buAutoNum type="arabicPeriod"/>
            </a:pPr>
            <a:r>
              <a:rPr lang="es-CO" sz="2000" dirty="0" err="1" smtClean="0"/>
              <a:t>Support</a:t>
            </a:r>
            <a:r>
              <a:rPr lang="es-CO" sz="2000" dirty="0" smtClean="0"/>
              <a:t> vector </a:t>
            </a:r>
            <a:r>
              <a:rPr lang="es-CO" sz="2000" dirty="0" err="1" smtClean="0"/>
              <a:t>clustering</a:t>
            </a:r>
            <a:r>
              <a:rPr lang="es-CO" sz="2000" dirty="0" smtClean="0"/>
              <a:t> (SVC).</a:t>
            </a:r>
            <a:r>
              <a:rPr lang="es-CO" sz="2000" dirty="0"/>
              <a:t/>
            </a:r>
            <a:br>
              <a:rPr lang="es-CO" sz="2000" dirty="0"/>
            </a:br>
            <a:endParaRPr lang="es-CO" sz="2000" dirty="0" smtClean="0"/>
          </a:p>
          <a:p>
            <a:pPr marL="457200" indent="-457200">
              <a:buAutoNum type="arabicPeriod"/>
            </a:pPr>
            <a:endParaRPr lang="es-CO" sz="2000" dirty="0"/>
          </a:p>
        </p:txBody>
      </p:sp>
      <p:sp>
        <p:nvSpPr>
          <p:cNvPr id="2" name="Rectángulo 1"/>
          <p:cNvSpPr/>
          <p:nvPr/>
        </p:nvSpPr>
        <p:spPr>
          <a:xfrm>
            <a:off x="3899648" y="4677566"/>
            <a:ext cx="33348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1" dirty="0" smtClean="0">
                <a:solidFill>
                  <a:srgbClr val="FF0000"/>
                </a:solidFill>
              </a:rPr>
              <a:t>These methods take </a:t>
            </a:r>
            <a:r>
              <a:rPr lang="en-US" sz="1400" b="1" i="1" dirty="0">
                <a:solidFill>
                  <a:srgbClr val="FF0000"/>
                </a:solidFill>
              </a:rPr>
              <a:t>advantage </a:t>
            </a:r>
            <a:r>
              <a:rPr lang="en-US" sz="1400" b="1" i="1" dirty="0" smtClean="0">
                <a:solidFill>
                  <a:srgbClr val="FF0000"/>
                </a:solidFill>
              </a:rPr>
              <a:t>of the </a:t>
            </a:r>
            <a:r>
              <a:rPr lang="en-US" sz="1400" b="1" i="1" dirty="0">
                <a:solidFill>
                  <a:srgbClr val="FF0000"/>
                </a:solidFill>
              </a:rPr>
              <a:t>kernel method and the original clustering </a:t>
            </a:r>
            <a:r>
              <a:rPr lang="en-US" sz="1400" b="1" i="1" dirty="0" smtClean="0">
                <a:solidFill>
                  <a:srgbClr val="FF0000"/>
                </a:solidFill>
              </a:rPr>
              <a:t>algorithm. </a:t>
            </a:r>
            <a:r>
              <a:rPr lang="en-US" sz="1400" b="1" i="1" dirty="0">
                <a:solidFill>
                  <a:srgbClr val="FF0000"/>
                </a:solidFill>
              </a:rPr>
              <a:t/>
            </a:r>
            <a:br>
              <a:rPr lang="en-US" sz="1400" b="1" i="1" dirty="0">
                <a:solidFill>
                  <a:srgbClr val="FF0000"/>
                </a:solidFill>
              </a:rPr>
            </a:br>
            <a:endParaRPr lang="es-CO" sz="1400" b="1" i="1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388299" y="5861799"/>
            <a:ext cx="649440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A. </a:t>
            </a:r>
            <a:r>
              <a:rPr lang="es-CO" sz="1200" dirty="0" smtClean="0"/>
              <a:t>Ben-</a:t>
            </a:r>
            <a:r>
              <a:rPr lang="es-CO" sz="1200" dirty="0" err="1" smtClean="0"/>
              <a:t>Hur</a:t>
            </a:r>
            <a:r>
              <a:rPr lang="es-CO" sz="1200" dirty="0" smtClean="0"/>
              <a:t> et al. “</a:t>
            </a:r>
            <a:r>
              <a:rPr lang="es-CO" sz="1200" dirty="0" err="1" smtClean="0"/>
              <a:t>Support</a:t>
            </a:r>
            <a:r>
              <a:rPr lang="es-CO" sz="1200" dirty="0" smtClean="0"/>
              <a:t> </a:t>
            </a:r>
            <a:r>
              <a:rPr lang="es-CO" sz="1200" dirty="0"/>
              <a:t>Vector </a:t>
            </a:r>
            <a:r>
              <a:rPr lang="es-CO" sz="1200" dirty="0" err="1" smtClean="0"/>
              <a:t>Clustering</a:t>
            </a:r>
            <a:r>
              <a:rPr lang="es-CO" sz="1200" dirty="0" smtClean="0"/>
              <a:t>”, </a:t>
            </a:r>
            <a:r>
              <a:rPr lang="en-US" sz="1200" dirty="0"/>
              <a:t>Journal of Machine Learning Research 2 (2001) </a:t>
            </a:r>
            <a:r>
              <a:rPr lang="en-US" sz="1200" dirty="0" smtClean="0"/>
              <a:t>125-137.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2902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Modern clustering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kernel.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sp>
        <p:nvSpPr>
          <p:cNvPr id="10" name="Rectángulo 9"/>
          <p:cNvSpPr/>
          <p:nvPr/>
        </p:nvSpPr>
        <p:spPr>
          <a:xfrm>
            <a:off x="1308845" y="3001942"/>
            <a:ext cx="991998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The </a:t>
            </a:r>
            <a:r>
              <a:rPr lang="en-US" sz="2000" dirty="0">
                <a:solidFill>
                  <a:srgbClr val="131413"/>
                </a:solidFill>
              </a:rPr>
              <a:t>time complexity of this kind of clustering algorithms is generally high </a:t>
            </a:r>
            <a:r>
              <a:rPr lang="en-US" sz="2000" dirty="0" smtClean="0">
                <a:solidFill>
                  <a:srgbClr val="131413"/>
                </a:solidFill>
              </a:rPr>
              <a:t>for the </a:t>
            </a:r>
            <a:r>
              <a:rPr lang="en-US" sz="2000" dirty="0">
                <a:solidFill>
                  <a:srgbClr val="131413"/>
                </a:solidFill>
              </a:rPr>
              <a:t>kernel involved in the </a:t>
            </a:r>
            <a:r>
              <a:rPr lang="en-US" sz="2000" dirty="0" smtClean="0">
                <a:solidFill>
                  <a:srgbClr val="131413"/>
                </a:solidFill>
              </a:rPr>
              <a:t>algorithm.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Advantages</a:t>
            </a:r>
            <a:r>
              <a:rPr lang="en-US" sz="2000" dirty="0">
                <a:solidFill>
                  <a:srgbClr val="131413"/>
                </a:solidFill>
              </a:rPr>
              <a:t>: more easy to cluster in the high dimensional feature space, </a:t>
            </a:r>
            <a:r>
              <a:rPr lang="en-US" sz="2000" dirty="0" smtClean="0">
                <a:solidFill>
                  <a:srgbClr val="131413"/>
                </a:solidFill>
              </a:rPr>
              <a:t>suitable for </a:t>
            </a:r>
            <a:r>
              <a:rPr lang="en-US" sz="2000" dirty="0">
                <a:solidFill>
                  <a:srgbClr val="131413"/>
                </a:solidFill>
              </a:rPr>
              <a:t>data with arbitrary shape, able to analyze the noise and separate the </a:t>
            </a:r>
            <a:r>
              <a:rPr lang="en-US" sz="2000" dirty="0" smtClean="0">
                <a:solidFill>
                  <a:srgbClr val="131413"/>
                </a:solidFill>
              </a:rPr>
              <a:t>overlapping clusters</a:t>
            </a:r>
            <a:r>
              <a:rPr lang="en-US" sz="2000" dirty="0">
                <a:solidFill>
                  <a:srgbClr val="131413"/>
                </a:solidFill>
              </a:rPr>
              <a:t>, and not needed to have the preliminary knowledge about the </a:t>
            </a:r>
            <a:r>
              <a:rPr lang="en-US" sz="2000" dirty="0" smtClean="0">
                <a:solidFill>
                  <a:srgbClr val="131413"/>
                </a:solidFill>
              </a:rPr>
              <a:t>topology of data.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Disadvantages</a:t>
            </a:r>
            <a:r>
              <a:rPr lang="en-US" sz="2000" dirty="0">
                <a:solidFill>
                  <a:srgbClr val="131413"/>
                </a:solidFill>
              </a:rPr>
              <a:t>: the clustering result sensitive to the type of kernel and its parameters, time complexity being high, and not suitable for large-scale data.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54617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Modern clustering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Ensemble.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08845" y="3001942"/>
            <a:ext cx="99199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131413"/>
                </a:solidFill>
              </a:rPr>
              <a:t>The </a:t>
            </a:r>
            <a:r>
              <a:rPr lang="en-US" sz="2000" dirty="0">
                <a:solidFill>
                  <a:srgbClr val="131413"/>
                </a:solidFill>
              </a:rPr>
              <a:t>core idea is to generate a set of initial clustering results by a particular </a:t>
            </a:r>
            <a:r>
              <a:rPr lang="en-US" sz="2000" dirty="0" smtClean="0">
                <a:solidFill>
                  <a:srgbClr val="131413"/>
                </a:solidFill>
              </a:rPr>
              <a:t>method and </a:t>
            </a:r>
            <a:r>
              <a:rPr lang="en-US" sz="2000" dirty="0">
                <a:solidFill>
                  <a:srgbClr val="131413"/>
                </a:solidFill>
              </a:rPr>
              <a:t>the final clustering result is </a:t>
            </a:r>
            <a:r>
              <a:rPr lang="en-US" sz="2000" dirty="0" smtClean="0">
                <a:solidFill>
                  <a:srgbClr val="131413"/>
                </a:solidFill>
              </a:rPr>
              <a:t>obtained by </a:t>
            </a:r>
            <a:r>
              <a:rPr lang="en-US" sz="2000" dirty="0">
                <a:solidFill>
                  <a:srgbClr val="131413"/>
                </a:solidFill>
              </a:rPr>
              <a:t>integrating the initial clustering </a:t>
            </a:r>
            <a:r>
              <a:rPr lang="en-US" sz="2000" dirty="0" smtClean="0">
                <a:solidFill>
                  <a:srgbClr val="131413"/>
                </a:solidFill>
              </a:rPr>
              <a:t>results.</a:t>
            </a:r>
            <a:endParaRPr lang="es-CO" sz="2000" dirty="0"/>
          </a:p>
        </p:txBody>
      </p:sp>
      <p:sp>
        <p:nvSpPr>
          <p:cNvPr id="8" name="Rectángulo 7"/>
          <p:cNvSpPr/>
          <p:nvPr/>
        </p:nvSpPr>
        <p:spPr>
          <a:xfrm>
            <a:off x="1308846" y="3939954"/>
            <a:ext cx="991998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 smtClean="0">
                <a:solidFill>
                  <a:srgbClr val="131413"/>
                </a:solidFill>
              </a:rPr>
              <a:t>Four methods:</a:t>
            </a:r>
          </a:p>
          <a:p>
            <a:r>
              <a:rPr lang="en-US" sz="2000" dirty="0" smtClean="0">
                <a:solidFill>
                  <a:srgbClr val="131413"/>
                </a:solidFill>
              </a:rPr>
              <a:t>(1) For </a:t>
            </a:r>
            <a:r>
              <a:rPr lang="en-US" sz="2000" dirty="0">
                <a:solidFill>
                  <a:srgbClr val="131413"/>
                </a:solidFill>
              </a:rPr>
              <a:t>the same data set, employ the same algorithm with the different </a:t>
            </a:r>
            <a:r>
              <a:rPr lang="en-US" sz="2000" dirty="0" smtClean="0">
                <a:solidFill>
                  <a:srgbClr val="131413"/>
                </a:solidFill>
              </a:rPr>
              <a:t>parameters or </a:t>
            </a:r>
            <a:r>
              <a:rPr lang="en-US" sz="2000" dirty="0">
                <a:solidFill>
                  <a:srgbClr val="131413"/>
                </a:solidFill>
              </a:rPr>
              <a:t>the different initial </a:t>
            </a:r>
            <a:r>
              <a:rPr lang="en-US" sz="2000" dirty="0" smtClean="0">
                <a:solidFill>
                  <a:srgbClr val="131413"/>
                </a:solidFill>
              </a:rPr>
              <a:t>conditions.</a:t>
            </a:r>
            <a:endParaRPr lang="en-US" sz="2000" dirty="0">
              <a:solidFill>
                <a:srgbClr val="131413"/>
              </a:solidFill>
            </a:endParaRPr>
          </a:p>
          <a:p>
            <a:r>
              <a:rPr lang="en-US" sz="2000" dirty="0">
                <a:solidFill>
                  <a:srgbClr val="131413"/>
                </a:solidFill>
              </a:rPr>
              <a:t>(2) For the same data set, employ the different </a:t>
            </a:r>
            <a:r>
              <a:rPr lang="en-US" sz="2000" dirty="0" smtClean="0">
                <a:solidFill>
                  <a:srgbClr val="131413"/>
                </a:solidFill>
              </a:rPr>
              <a:t>algorithms.</a:t>
            </a:r>
            <a:endParaRPr lang="en-US" sz="2000" dirty="0">
              <a:solidFill>
                <a:srgbClr val="131413"/>
              </a:solidFill>
            </a:endParaRPr>
          </a:p>
          <a:p>
            <a:r>
              <a:rPr lang="en-US" sz="2000" dirty="0">
                <a:solidFill>
                  <a:srgbClr val="131413"/>
                </a:solidFill>
              </a:rPr>
              <a:t>(3) For the subsets, carry out the clustering </a:t>
            </a:r>
            <a:r>
              <a:rPr lang="en-US" sz="2000" dirty="0" smtClean="0">
                <a:solidFill>
                  <a:srgbClr val="131413"/>
                </a:solidFill>
              </a:rPr>
              <a:t>respectively.</a:t>
            </a:r>
            <a:endParaRPr lang="en-US" sz="2000" dirty="0">
              <a:solidFill>
                <a:srgbClr val="131413"/>
              </a:solidFill>
            </a:endParaRPr>
          </a:p>
          <a:p>
            <a:r>
              <a:rPr lang="en-US" sz="2000" dirty="0">
                <a:solidFill>
                  <a:srgbClr val="131413"/>
                </a:solidFill>
              </a:rPr>
              <a:t>(4) For the same data set, carry out the clustering in different feature spaces based on</a:t>
            </a:r>
          </a:p>
          <a:p>
            <a:r>
              <a:rPr lang="en-US" sz="2000" dirty="0">
                <a:solidFill>
                  <a:srgbClr val="131413"/>
                </a:solidFill>
              </a:rPr>
              <a:t>different </a:t>
            </a:r>
            <a:r>
              <a:rPr lang="en-US" sz="2000" dirty="0" smtClean="0">
                <a:solidFill>
                  <a:srgbClr val="131413"/>
                </a:solidFill>
              </a:rPr>
              <a:t>kernels.</a:t>
            </a:r>
            <a:r>
              <a:rPr lang="es-CO" sz="2000" dirty="0"/>
              <a:t/>
            </a:r>
            <a:br>
              <a:rPr lang="es-CO" sz="2000" dirty="0"/>
            </a:br>
            <a:endParaRPr lang="es-CO" sz="2000" dirty="0" smtClean="0"/>
          </a:p>
          <a:p>
            <a:pPr marL="457200" indent="-457200">
              <a:buAutoNum type="arabicPeriod"/>
            </a:pP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22010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Modern clustering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Ensemble.</a:t>
            </a:r>
            <a:endParaRPr lang="es-CO" sz="2000" b="1" dirty="0"/>
          </a:p>
        </p:txBody>
      </p:sp>
      <p:sp>
        <p:nvSpPr>
          <p:cNvPr id="10" name="Rectángulo 9"/>
          <p:cNvSpPr/>
          <p:nvPr/>
        </p:nvSpPr>
        <p:spPr>
          <a:xfrm>
            <a:off x="1308845" y="3001942"/>
            <a:ext cx="99199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The initial clustering results are integrated by means of the </a:t>
            </a:r>
            <a:r>
              <a:rPr lang="en-US" sz="2000" b="1" i="1" dirty="0">
                <a:solidFill>
                  <a:srgbClr val="131413"/>
                </a:solidFill>
              </a:rPr>
              <a:t>consensus function.</a:t>
            </a:r>
            <a:endParaRPr lang="es-CO" sz="2000" b="1" i="1" dirty="0"/>
          </a:p>
        </p:txBody>
      </p:sp>
      <p:sp>
        <p:nvSpPr>
          <p:cNvPr id="2" name="Rectángulo 1"/>
          <p:cNvSpPr/>
          <p:nvPr/>
        </p:nvSpPr>
        <p:spPr>
          <a:xfrm>
            <a:off x="1461245" y="3529843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co-association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 smtClean="0">
                <a:solidFill>
                  <a:srgbClr val="131413"/>
                </a:solidFill>
              </a:rPr>
              <a:t>matrix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graph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 smtClean="0">
                <a:solidFill>
                  <a:srgbClr val="131413"/>
                </a:solidFill>
              </a:rPr>
              <a:t>partition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relabeling</a:t>
            </a:r>
            <a:r>
              <a:rPr lang="es-CO" dirty="0">
                <a:solidFill>
                  <a:srgbClr val="131413"/>
                </a:solidFill>
              </a:rPr>
              <a:t> and </a:t>
            </a:r>
            <a:r>
              <a:rPr lang="es-CO" dirty="0" err="1" smtClean="0">
                <a:solidFill>
                  <a:srgbClr val="131413"/>
                </a:solidFill>
              </a:rPr>
              <a:t>voting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the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hybrid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 smtClean="0">
                <a:solidFill>
                  <a:srgbClr val="131413"/>
                </a:solidFill>
              </a:rPr>
              <a:t>model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information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 smtClean="0">
                <a:solidFill>
                  <a:srgbClr val="131413"/>
                </a:solidFill>
              </a:rPr>
              <a:t>theory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genetic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 smtClean="0">
                <a:solidFill>
                  <a:srgbClr val="131413"/>
                </a:solidFill>
              </a:rPr>
              <a:t>algorithm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local </a:t>
            </a:r>
            <a:r>
              <a:rPr lang="es-CO" dirty="0" err="1" smtClean="0">
                <a:solidFill>
                  <a:srgbClr val="131413"/>
                </a:solidFill>
              </a:rPr>
              <a:t>adaptation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kernel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 smtClean="0">
                <a:solidFill>
                  <a:srgbClr val="131413"/>
                </a:solidFill>
              </a:rPr>
              <a:t>method</a:t>
            </a:r>
            <a:r>
              <a:rPr lang="es-CO" dirty="0" smtClean="0">
                <a:solidFill>
                  <a:srgbClr val="131413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CO" dirty="0" err="1" smtClean="0">
                <a:solidFill>
                  <a:srgbClr val="131413"/>
                </a:solidFill>
              </a:rPr>
              <a:t>Based</a:t>
            </a:r>
            <a:r>
              <a:rPr lang="es-CO" dirty="0" smtClean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on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fuzzy</a:t>
            </a:r>
            <a:r>
              <a:rPr lang="es-CO" dirty="0">
                <a:solidFill>
                  <a:srgbClr val="131413"/>
                </a:solidFill>
              </a:rPr>
              <a:t> </a:t>
            </a:r>
            <a:r>
              <a:rPr lang="es-CO" dirty="0" err="1">
                <a:solidFill>
                  <a:srgbClr val="131413"/>
                </a:solidFill>
              </a:rPr>
              <a:t>theory</a:t>
            </a:r>
            <a:r>
              <a:rPr lang="es-CO" dirty="0"/>
              <a:t> </a:t>
            </a:r>
            <a:br>
              <a:rPr lang="es-CO" dirty="0"/>
            </a:br>
            <a:endParaRPr lang="es-CO" dirty="0"/>
          </a:p>
        </p:txBody>
      </p:sp>
      <p:sp>
        <p:nvSpPr>
          <p:cNvPr id="8" name="Rectángulo 7"/>
          <p:cNvSpPr/>
          <p:nvPr/>
        </p:nvSpPr>
        <p:spPr>
          <a:xfrm>
            <a:off x="2619377" y="6084388"/>
            <a:ext cx="5599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Some </a:t>
            </a:r>
            <a:r>
              <a:rPr lang="en-US" sz="1400" b="1" i="1" dirty="0" smtClean="0">
                <a:solidFill>
                  <a:srgbClr val="FF0000"/>
                </a:solidFill>
              </a:rPr>
              <a:t>consensus functions!</a:t>
            </a:r>
            <a:endParaRPr lang="es-CO" sz="1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51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Modern clustering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algorithms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31413"/>
                </a:solidFill>
              </a:rPr>
              <a:t>Clustering algorithms based on </a:t>
            </a:r>
            <a:r>
              <a:rPr lang="en-US" sz="2000" dirty="0" smtClean="0">
                <a:solidFill>
                  <a:srgbClr val="131413"/>
                </a:solidFill>
              </a:rPr>
              <a:t>Ensemble. </a:t>
            </a:r>
            <a:r>
              <a:rPr lang="en-US" sz="2000" b="1" i="1" dirty="0" smtClean="0">
                <a:solidFill>
                  <a:srgbClr val="131413"/>
                </a:solidFill>
              </a:rPr>
              <a:t>Analysis.</a:t>
            </a:r>
            <a:endParaRPr lang="es-CO" sz="2000" b="1" i="1" dirty="0"/>
          </a:p>
        </p:txBody>
      </p:sp>
      <p:sp>
        <p:nvSpPr>
          <p:cNvPr id="10" name="Rectángulo 9"/>
          <p:cNvSpPr/>
          <p:nvPr/>
        </p:nvSpPr>
        <p:spPr>
          <a:xfrm>
            <a:off x="1308845" y="3001942"/>
            <a:ext cx="991998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The </a:t>
            </a:r>
            <a:r>
              <a:rPr lang="en-US" sz="2000" dirty="0">
                <a:solidFill>
                  <a:srgbClr val="131413"/>
                </a:solidFill>
              </a:rPr>
              <a:t>time complexity of this kind of algorithm is based on the specific method </a:t>
            </a:r>
            <a:r>
              <a:rPr lang="en-US" sz="2000" dirty="0" smtClean="0">
                <a:solidFill>
                  <a:srgbClr val="131413"/>
                </a:solidFill>
              </a:rPr>
              <a:t>and algorithms </a:t>
            </a:r>
            <a:r>
              <a:rPr lang="en-US" sz="2000" dirty="0">
                <a:solidFill>
                  <a:srgbClr val="131413"/>
                </a:solidFill>
              </a:rPr>
              <a:t>involved in the </a:t>
            </a:r>
            <a:r>
              <a:rPr lang="en-US" sz="2000" dirty="0" smtClean="0">
                <a:solidFill>
                  <a:srgbClr val="131413"/>
                </a:solidFill>
              </a:rPr>
              <a:t>proposal. 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Advantages</a:t>
            </a:r>
            <a:r>
              <a:rPr lang="en-US" sz="2000" dirty="0">
                <a:solidFill>
                  <a:srgbClr val="131413"/>
                </a:solidFill>
              </a:rPr>
              <a:t>: robust, scalable, able to be parallel and taking advantage of </a:t>
            </a:r>
            <a:r>
              <a:rPr lang="en-US" sz="2000" dirty="0" smtClean="0">
                <a:solidFill>
                  <a:srgbClr val="131413"/>
                </a:solidFill>
              </a:rPr>
              <a:t>the strengths </a:t>
            </a:r>
            <a:r>
              <a:rPr lang="en-US" sz="2000" dirty="0">
                <a:solidFill>
                  <a:srgbClr val="131413"/>
                </a:solidFill>
              </a:rPr>
              <a:t>of the involved </a:t>
            </a:r>
            <a:r>
              <a:rPr lang="en-US" sz="2000" dirty="0" smtClean="0">
                <a:solidFill>
                  <a:srgbClr val="131413"/>
                </a:solidFill>
              </a:rPr>
              <a:t>algorithms.</a:t>
            </a:r>
          </a:p>
          <a:p>
            <a:pPr marL="342900" indent="-342900">
              <a:buFontTx/>
              <a:buChar char="-"/>
            </a:pPr>
            <a:r>
              <a:rPr lang="en-US" sz="2000" dirty="0" smtClean="0">
                <a:solidFill>
                  <a:srgbClr val="131413"/>
                </a:solidFill>
              </a:rPr>
              <a:t>Disadvantages</a:t>
            </a:r>
            <a:r>
              <a:rPr lang="en-US" sz="2000" dirty="0">
                <a:solidFill>
                  <a:srgbClr val="131413"/>
                </a:solidFill>
              </a:rPr>
              <a:t>: inadequate understanding about the difference among the </a:t>
            </a:r>
            <a:r>
              <a:rPr lang="en-US" sz="2000" dirty="0" smtClean="0">
                <a:solidFill>
                  <a:srgbClr val="131413"/>
                </a:solidFill>
              </a:rPr>
              <a:t>initial clustering </a:t>
            </a:r>
            <a:r>
              <a:rPr lang="en-US" sz="2000" dirty="0">
                <a:solidFill>
                  <a:srgbClr val="131413"/>
                </a:solidFill>
              </a:rPr>
              <a:t>results, existing deficiencies of the design of the consensus </a:t>
            </a:r>
            <a:r>
              <a:rPr lang="en-US" sz="2000" dirty="0" smtClean="0">
                <a:solidFill>
                  <a:srgbClr val="131413"/>
                </a:solidFill>
              </a:rPr>
              <a:t>function.</a:t>
            </a:r>
            <a:endParaRPr lang="es-CO" sz="2000" b="1" i="1" dirty="0"/>
          </a:p>
        </p:txBody>
      </p:sp>
      <p:sp>
        <p:nvSpPr>
          <p:cNvPr id="11" name="Rectángulo 10"/>
          <p:cNvSpPr/>
          <p:nvPr/>
        </p:nvSpPr>
        <p:spPr>
          <a:xfrm>
            <a:off x="2485743" y="5180421"/>
            <a:ext cx="84063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4995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Other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m</a:t>
            </a:r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odern clustering </a:t>
            </a:r>
            <a:r>
              <a:rPr lang="en-US" sz="2400" b="1" i="1" dirty="0">
                <a:solidFill>
                  <a:srgbClr val="111111"/>
                </a:solidFill>
                <a:latin typeface="Open Sans"/>
              </a:rPr>
              <a:t>algorithms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1290916" y="2464060"/>
            <a:ext cx="991998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Based on Swarm </a:t>
            </a:r>
            <a:r>
              <a:rPr lang="en-US" sz="2000" dirty="0" smtClean="0">
                <a:solidFill>
                  <a:srgbClr val="131413"/>
                </a:solidFill>
              </a:rPr>
              <a:t>Intelligence.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Based on Quantum </a:t>
            </a:r>
            <a:r>
              <a:rPr lang="en-US" sz="2000" dirty="0" smtClean="0">
                <a:solidFill>
                  <a:srgbClr val="131413"/>
                </a:solidFill>
              </a:rPr>
              <a:t>Theory.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Based on Spectral Graph </a:t>
            </a:r>
            <a:r>
              <a:rPr lang="en-US" sz="2000" dirty="0" smtClean="0">
                <a:solidFill>
                  <a:srgbClr val="131413"/>
                </a:solidFill>
              </a:rPr>
              <a:t>Theory.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Based on Affinity </a:t>
            </a:r>
            <a:r>
              <a:rPr lang="en-US" sz="2000" dirty="0" smtClean="0">
                <a:solidFill>
                  <a:srgbClr val="131413"/>
                </a:solidFill>
              </a:rPr>
              <a:t>Propagation.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Based on Density and </a:t>
            </a:r>
            <a:r>
              <a:rPr lang="en-US" sz="2000" dirty="0" smtClean="0">
                <a:solidFill>
                  <a:srgbClr val="131413"/>
                </a:solidFill>
              </a:rPr>
              <a:t>Distance.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for Spatial </a:t>
            </a:r>
            <a:r>
              <a:rPr lang="en-US" sz="2000" dirty="0" smtClean="0">
                <a:solidFill>
                  <a:srgbClr val="131413"/>
                </a:solidFill>
              </a:rPr>
              <a:t>Data.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for Data </a:t>
            </a:r>
            <a:r>
              <a:rPr lang="en-US" sz="2000" dirty="0" smtClean="0">
                <a:solidFill>
                  <a:srgbClr val="131413"/>
                </a:solidFill>
              </a:rPr>
              <a:t>Stream.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rgbClr val="131413"/>
                </a:solidFill>
              </a:rPr>
              <a:t>Clustering Algorithm for Large-Scale </a:t>
            </a:r>
            <a:r>
              <a:rPr lang="en-US" sz="2000" dirty="0" smtClean="0">
                <a:solidFill>
                  <a:srgbClr val="131413"/>
                </a:solidFill>
              </a:rPr>
              <a:t>Data.</a:t>
            </a:r>
            <a:endParaRPr lang="es-CO" sz="2000" b="1" i="1" dirty="0"/>
          </a:p>
        </p:txBody>
      </p:sp>
      <p:sp>
        <p:nvSpPr>
          <p:cNvPr id="11" name="Rectángulo 10"/>
          <p:cNvSpPr/>
          <p:nvPr/>
        </p:nvSpPr>
        <p:spPr>
          <a:xfrm>
            <a:off x="2485743" y="5180421"/>
            <a:ext cx="84063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31413"/>
                </a:solidFill>
              </a:rPr>
              <a:t>“A Comprehensive Survey of Clustering Algorithms”,</a:t>
            </a:r>
            <a:r>
              <a:rPr lang="en-US" sz="1200" dirty="0"/>
              <a:t> D. </a:t>
            </a:r>
            <a:r>
              <a:rPr lang="en-US" sz="1200" dirty="0" err="1"/>
              <a:t>Xu</a:t>
            </a:r>
            <a:r>
              <a:rPr lang="en-US" sz="1200" dirty="0"/>
              <a:t> and Y. </a:t>
            </a:r>
            <a:r>
              <a:rPr lang="en-US" sz="1200" dirty="0" err="1"/>
              <a:t>Tian</a:t>
            </a:r>
            <a:r>
              <a:rPr lang="en-US" sz="1200" dirty="0"/>
              <a:t>. </a:t>
            </a:r>
            <a:r>
              <a:rPr lang="it-IT" sz="1200" dirty="0"/>
              <a:t>Ann. Data. Sci. (2015) 2(2):165–193 DOI 10.1007/s40745-015-0040-1</a:t>
            </a:r>
            <a:r>
              <a:rPr lang="en-US" sz="1200" dirty="0"/>
              <a:t/>
            </a:r>
            <a:br>
              <a:rPr lang="en-US" sz="1200" dirty="0"/>
            </a:b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2615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95082" y="1654459"/>
            <a:ext cx="88481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smtClean="0">
                <a:solidFill>
                  <a:srgbClr val="111111"/>
                </a:solidFill>
                <a:latin typeface="Open Sans"/>
              </a:rPr>
              <a:t>Exercise (Clustering)</a:t>
            </a:r>
            <a:endParaRPr lang="en-US" sz="2400" b="1" i="1" dirty="0">
              <a:solidFill>
                <a:srgbClr val="111111"/>
              </a:solidFill>
              <a:latin typeface="Open Sans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308847" y="2474041"/>
            <a:ext cx="91171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>
                <a:solidFill>
                  <a:srgbClr val="131413"/>
                </a:solidFill>
              </a:rPr>
              <a:t>Given a particular dataset (provided by the teacher), select the proper clustering algorithm. </a:t>
            </a:r>
            <a:r>
              <a:rPr lang="en-US" sz="2000" b="1" i="1" dirty="0" smtClean="0">
                <a:solidFill>
                  <a:srgbClr val="FF0000"/>
                </a:solidFill>
              </a:rPr>
              <a:t>Justify your selection.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Implement the selected algorithm and cluster the provided dataset.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Compare your results vs. a given gold </a:t>
            </a:r>
            <a:r>
              <a:rPr lang="en-US" sz="2000" dirty="0" err="1" smtClean="0"/>
              <a:t>standart</a:t>
            </a:r>
            <a:r>
              <a:rPr lang="en-US" sz="200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Conclusions.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63068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3396</Words>
  <Application>Microsoft Office PowerPoint</Application>
  <PresentationFormat>Panorámica</PresentationFormat>
  <Paragraphs>269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FbdyflTimes-Roman</vt:lpstr>
      <vt:lpstr>Open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227</cp:revision>
  <dcterms:created xsi:type="dcterms:W3CDTF">2017-07-31T19:21:32Z</dcterms:created>
  <dcterms:modified xsi:type="dcterms:W3CDTF">2019-02-26T22:58:11Z</dcterms:modified>
</cp:coreProperties>
</file>
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29"/>
  </p:handoutMasterIdLst>
  <p:sldIdLst>
    <p:sldId id="258" r:id="rId2"/>
    <p:sldId id="259" r:id="rId3"/>
    <p:sldId id="260" r:id="rId4"/>
    <p:sldId id="261" r:id="rId5"/>
    <p:sldId id="262" r:id="rId6"/>
    <p:sldId id="272" r:id="rId7"/>
    <p:sldId id="263" r:id="rId8"/>
    <p:sldId id="264" r:id="rId9"/>
    <p:sldId id="265" r:id="rId10"/>
    <p:sldId id="266" r:id="rId11"/>
    <p:sldId id="267" r:id="rId12"/>
    <p:sldId id="268" r:id="rId13"/>
    <p:sldId id="269" r:id="rId14"/>
    <p:sldId id="270" r:id="rId15"/>
    <p:sldId id="273" r:id="rId16"/>
    <p:sldId id="274" r:id="rId17"/>
    <p:sldId id="275" r:id="rId18"/>
    <p:sldId id="276" r:id="rId19"/>
    <p:sldId id="277" r:id="rId20"/>
    <p:sldId id="278" r:id="rId21"/>
    <p:sldId id="279" r:id="rId22"/>
    <p:sldId id="281" r:id="rId23"/>
    <p:sldId id="282" r:id="rId24"/>
    <p:sldId id="280" r:id="rId25"/>
    <p:sldId id="283" r:id="rId26"/>
    <p:sldId id="284" r:id="rId27"/>
    <p:sldId id="285" r:id="rId28"/>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10" autoAdjust="0"/>
  </p:normalViewPr>
  <p:slideViewPr>
    <p:cSldViewPr snapToGrid="0">
      <p:cViewPr varScale="1">
        <p:scale>
          <a:sx n="82" d="100"/>
          <a:sy n="82" d="100"/>
        </p:scale>
        <p:origin x="672" y="62"/>
      </p:cViewPr>
      <p:guideLst/>
    </p:cSldViewPr>
  </p:slideViewPr>
  <p:notesTextViewPr>
    <p:cViewPr>
      <p:scale>
        <a:sx n="1" d="1"/>
        <a:sy n="1" d="1"/>
      </p:scale>
      <p:origin x="0" y="0"/>
    </p:cViewPr>
  </p:notesTextViewPr>
  <p:notesViewPr>
    <p:cSldViewPr snapToGrid="0">
      <p:cViewPr varScale="1">
        <p:scale>
          <a:sx n="89" d="100"/>
          <a:sy n="89" d="100"/>
        </p:scale>
        <p:origin x="3798"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BB8AFCF-E03D-4A93-A37D-68805BA4DAD7}" type="datetimeFigureOut">
              <a:rPr lang="es-CO" smtClean="0"/>
              <a:t>22/02/2019</a:t>
            </a:fld>
            <a:endParaRPr lang="es-CO"/>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0E03E21-90F9-4E3B-8DD6-3033CFBD6841}" type="slidenum">
              <a:rPr lang="es-CO" smtClean="0"/>
              <a:t>‹#›</a:t>
            </a:fld>
            <a:endParaRPr lang="es-CO"/>
          </a:p>
        </p:txBody>
      </p:sp>
    </p:spTree>
    <p:extLst>
      <p:ext uri="{BB962C8B-B14F-4D97-AF65-F5344CB8AC3E}">
        <p14:creationId xmlns:p14="http://schemas.microsoft.com/office/powerpoint/2010/main" val="475502101"/>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3556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CO"/>
          </a:p>
        </p:txBody>
      </p:sp>
      <p:sp>
        <p:nvSpPr>
          <p:cNvPr id="3" name="Marcador de contenido 2"/>
          <p:cNvSpPr>
            <a:spLocks noGrp="1"/>
          </p:cNvSpPr>
          <p:nvPr>
            <p:ph idx="1"/>
          </p:nvPr>
        </p:nvSpPr>
        <p:spPr>
          <a:xfrm>
            <a:off x="838200" y="1825625"/>
            <a:ext cx="10515600" cy="4351338"/>
          </a:xfrm>
          <a:prstGeom prst="rect">
            <a:avLst/>
          </a:prstGeo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a:xfrm>
            <a:off x="838200" y="6356350"/>
            <a:ext cx="2743200" cy="365125"/>
          </a:xfrm>
          <a:prstGeom prst="rect">
            <a:avLst/>
          </a:prstGeom>
        </p:spPr>
        <p:txBody>
          <a:bodyPr/>
          <a:lstStyle/>
          <a:p>
            <a:fld id="{75D29D20-CDA2-4B53-95E4-080A996034E6}" type="datetimeFigureOut">
              <a:rPr lang="es-CO" smtClean="0"/>
              <a:t>22/02/2019</a:t>
            </a:fld>
            <a:endParaRPr lang="es-CO"/>
          </a:p>
        </p:txBody>
      </p:sp>
      <p:sp>
        <p:nvSpPr>
          <p:cNvPr id="5" name="Marcador de pie de página 4"/>
          <p:cNvSpPr>
            <a:spLocks noGrp="1"/>
          </p:cNvSpPr>
          <p:nvPr>
            <p:ph type="ftr" sz="quarter" idx="11"/>
          </p:nvPr>
        </p:nvSpPr>
        <p:spPr>
          <a:xfrm>
            <a:off x="4038600" y="6356350"/>
            <a:ext cx="4114800" cy="365125"/>
          </a:xfrm>
          <a:prstGeom prst="rect">
            <a:avLst/>
          </a:prstGeom>
        </p:spPr>
        <p:txBody>
          <a:bodyPr/>
          <a:lstStyle/>
          <a:p>
            <a:endParaRPr lang="es-CO"/>
          </a:p>
        </p:txBody>
      </p:sp>
      <p:sp>
        <p:nvSpPr>
          <p:cNvPr id="6" name="Marcador de número de diapositiva 5"/>
          <p:cNvSpPr>
            <a:spLocks noGrp="1"/>
          </p:cNvSpPr>
          <p:nvPr>
            <p:ph type="sldNum" sz="quarter" idx="12"/>
          </p:nvPr>
        </p:nvSpPr>
        <p:spPr>
          <a:xfrm>
            <a:off x="8610600" y="6356350"/>
            <a:ext cx="2743200" cy="365125"/>
          </a:xfrm>
          <a:prstGeom prst="rect">
            <a:avLst/>
          </a:prstGeom>
        </p:spPr>
        <p:txBody>
          <a:bodyPr/>
          <a:lstStyle/>
          <a:p>
            <a:fld id="{EA6E0693-1E4B-4E7C-AB49-4CFAD4587034}" type="slidenum">
              <a:rPr lang="es-CO" smtClean="0"/>
              <a:t>‹#›</a:t>
            </a:fld>
            <a:endParaRPr lang="es-CO"/>
          </a:p>
        </p:txBody>
      </p:sp>
    </p:spTree>
    <p:extLst>
      <p:ext uri="{BB962C8B-B14F-4D97-AF65-F5344CB8AC3E}">
        <p14:creationId xmlns:p14="http://schemas.microsoft.com/office/powerpoint/2010/main" val="3604931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a:prstGeom prst="rect">
            <a:avLst/>
          </a:prstGeom>
        </p:spPr>
        <p:txBody>
          <a:bodyPr anchor="b"/>
          <a:lstStyle>
            <a:lvl1pPr>
              <a:defRPr sz="6000"/>
            </a:lvl1pPr>
          </a:lstStyle>
          <a:p>
            <a:r>
              <a:rPr lang="es-ES"/>
              <a:t>Haga clic para modificar el estilo de título del patrón</a:t>
            </a:r>
            <a:endParaRPr lang="es-CO"/>
          </a:p>
        </p:txBody>
      </p:sp>
      <p:sp>
        <p:nvSpPr>
          <p:cNvPr id="3" name="Marcador de texto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a:xfrm>
            <a:off x="838200" y="6356350"/>
            <a:ext cx="2743200" cy="365125"/>
          </a:xfrm>
          <a:prstGeom prst="rect">
            <a:avLst/>
          </a:prstGeom>
        </p:spPr>
        <p:txBody>
          <a:bodyPr/>
          <a:lstStyle/>
          <a:p>
            <a:fld id="{75D29D20-CDA2-4B53-95E4-080A996034E6}" type="datetimeFigureOut">
              <a:rPr lang="es-CO" smtClean="0"/>
              <a:t>22/02/2019</a:t>
            </a:fld>
            <a:endParaRPr lang="es-CO"/>
          </a:p>
        </p:txBody>
      </p:sp>
      <p:sp>
        <p:nvSpPr>
          <p:cNvPr id="5" name="Marcador de pie de página 4"/>
          <p:cNvSpPr>
            <a:spLocks noGrp="1"/>
          </p:cNvSpPr>
          <p:nvPr>
            <p:ph type="ftr" sz="quarter" idx="11"/>
          </p:nvPr>
        </p:nvSpPr>
        <p:spPr>
          <a:xfrm>
            <a:off x="4038600" y="6356350"/>
            <a:ext cx="4114800" cy="365125"/>
          </a:xfrm>
          <a:prstGeom prst="rect">
            <a:avLst/>
          </a:prstGeom>
        </p:spPr>
        <p:txBody>
          <a:bodyPr/>
          <a:lstStyle/>
          <a:p>
            <a:endParaRPr lang="es-CO"/>
          </a:p>
        </p:txBody>
      </p:sp>
      <p:sp>
        <p:nvSpPr>
          <p:cNvPr id="6" name="Marcador de número de diapositiva 5"/>
          <p:cNvSpPr>
            <a:spLocks noGrp="1"/>
          </p:cNvSpPr>
          <p:nvPr>
            <p:ph type="sldNum" sz="quarter" idx="12"/>
          </p:nvPr>
        </p:nvSpPr>
        <p:spPr>
          <a:xfrm>
            <a:off x="8610600" y="6356350"/>
            <a:ext cx="2743200" cy="365125"/>
          </a:xfrm>
          <a:prstGeom prst="rect">
            <a:avLst/>
          </a:prstGeom>
        </p:spPr>
        <p:txBody>
          <a:bodyPr/>
          <a:lstStyle/>
          <a:p>
            <a:fld id="{EA6E0693-1E4B-4E7C-AB49-4CFAD4587034}" type="slidenum">
              <a:rPr lang="es-CO" smtClean="0"/>
              <a:t>‹#›</a:t>
            </a:fld>
            <a:endParaRPr lang="es-CO"/>
          </a:p>
        </p:txBody>
      </p:sp>
    </p:spTree>
    <p:extLst>
      <p:ext uri="{BB962C8B-B14F-4D97-AF65-F5344CB8AC3E}">
        <p14:creationId xmlns:p14="http://schemas.microsoft.com/office/powerpoint/2010/main" val="2714936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CO"/>
          </a:p>
        </p:txBody>
      </p:sp>
      <p:sp>
        <p:nvSpPr>
          <p:cNvPr id="3" name="Marcador de contenido 2"/>
          <p:cNvSpPr>
            <a:spLocks noGrp="1"/>
          </p:cNvSpPr>
          <p:nvPr>
            <p:ph sz="half" idx="1"/>
          </p:nvPr>
        </p:nvSpPr>
        <p:spPr>
          <a:xfrm>
            <a:off x="838200" y="1825625"/>
            <a:ext cx="5181600" cy="4351338"/>
          </a:xfrm>
          <a:prstGeom prst="rect">
            <a:avLst/>
          </a:prstGeo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p:cNvSpPr>
            <a:spLocks noGrp="1"/>
          </p:cNvSpPr>
          <p:nvPr>
            <p:ph sz="half" idx="2"/>
          </p:nvPr>
        </p:nvSpPr>
        <p:spPr>
          <a:xfrm>
            <a:off x="6172200" y="1825625"/>
            <a:ext cx="5181600" cy="4351338"/>
          </a:xfrm>
          <a:prstGeom prst="rect">
            <a:avLst/>
          </a:prstGeo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p:cNvSpPr>
            <a:spLocks noGrp="1"/>
          </p:cNvSpPr>
          <p:nvPr>
            <p:ph type="dt" sz="half" idx="10"/>
          </p:nvPr>
        </p:nvSpPr>
        <p:spPr>
          <a:xfrm>
            <a:off x="838200" y="6356350"/>
            <a:ext cx="2743200" cy="365125"/>
          </a:xfrm>
          <a:prstGeom prst="rect">
            <a:avLst/>
          </a:prstGeom>
        </p:spPr>
        <p:txBody>
          <a:bodyPr/>
          <a:lstStyle/>
          <a:p>
            <a:fld id="{75D29D20-CDA2-4B53-95E4-080A996034E6}" type="datetimeFigureOut">
              <a:rPr lang="es-CO" smtClean="0"/>
              <a:t>22/02/2019</a:t>
            </a:fld>
            <a:endParaRPr lang="es-CO"/>
          </a:p>
        </p:txBody>
      </p:sp>
      <p:sp>
        <p:nvSpPr>
          <p:cNvPr id="6" name="Marcador de pie de página 5"/>
          <p:cNvSpPr>
            <a:spLocks noGrp="1"/>
          </p:cNvSpPr>
          <p:nvPr>
            <p:ph type="ftr" sz="quarter" idx="11"/>
          </p:nvPr>
        </p:nvSpPr>
        <p:spPr>
          <a:xfrm>
            <a:off x="4038600" y="6356350"/>
            <a:ext cx="4114800" cy="365125"/>
          </a:xfrm>
          <a:prstGeom prst="rect">
            <a:avLst/>
          </a:prstGeom>
        </p:spPr>
        <p:txBody>
          <a:bodyPr/>
          <a:lstStyle/>
          <a:p>
            <a:endParaRPr lang="es-CO"/>
          </a:p>
        </p:txBody>
      </p:sp>
      <p:sp>
        <p:nvSpPr>
          <p:cNvPr id="7" name="Marcador de número de diapositiva 6"/>
          <p:cNvSpPr>
            <a:spLocks noGrp="1"/>
          </p:cNvSpPr>
          <p:nvPr>
            <p:ph type="sldNum" sz="quarter" idx="12"/>
          </p:nvPr>
        </p:nvSpPr>
        <p:spPr>
          <a:xfrm>
            <a:off x="8610600" y="6356350"/>
            <a:ext cx="2743200" cy="365125"/>
          </a:xfrm>
          <a:prstGeom prst="rect">
            <a:avLst/>
          </a:prstGeom>
        </p:spPr>
        <p:txBody>
          <a:bodyPr/>
          <a:lstStyle/>
          <a:p>
            <a:fld id="{EA6E0693-1E4B-4E7C-AB49-4CFAD4587034}" type="slidenum">
              <a:rPr lang="es-CO" smtClean="0"/>
              <a:t>‹#›</a:t>
            </a:fld>
            <a:endParaRPr lang="es-CO"/>
          </a:p>
        </p:txBody>
      </p:sp>
    </p:spTree>
    <p:extLst>
      <p:ext uri="{BB962C8B-B14F-4D97-AF65-F5344CB8AC3E}">
        <p14:creationId xmlns:p14="http://schemas.microsoft.com/office/powerpoint/2010/main" val="23981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a:prstGeom prst="rect">
            <a:avLst/>
          </a:prstGeom>
        </p:spPr>
        <p:txBody>
          <a:bodyPr/>
          <a:lstStyle/>
          <a:p>
            <a:r>
              <a:rPr lang="es-ES"/>
              <a:t>Haga clic para modificar el estilo de título del patrón</a:t>
            </a:r>
            <a:endParaRPr lang="es-CO"/>
          </a:p>
        </p:txBody>
      </p:sp>
      <p:sp>
        <p:nvSpPr>
          <p:cNvPr id="3" name="Marcador de texto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a:prstGeom prst="rect">
            <a:avLst/>
          </a:prstGeo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a:prstGeom prst="rect">
            <a:avLst/>
          </a:prstGeo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p:cNvSpPr>
            <a:spLocks noGrp="1"/>
          </p:cNvSpPr>
          <p:nvPr>
            <p:ph type="dt" sz="half" idx="10"/>
          </p:nvPr>
        </p:nvSpPr>
        <p:spPr>
          <a:xfrm>
            <a:off x="838200" y="6356350"/>
            <a:ext cx="2743200" cy="365125"/>
          </a:xfrm>
          <a:prstGeom prst="rect">
            <a:avLst/>
          </a:prstGeom>
        </p:spPr>
        <p:txBody>
          <a:bodyPr/>
          <a:lstStyle/>
          <a:p>
            <a:fld id="{75D29D20-CDA2-4B53-95E4-080A996034E6}" type="datetimeFigureOut">
              <a:rPr lang="es-CO" smtClean="0"/>
              <a:t>22/02/2019</a:t>
            </a:fld>
            <a:endParaRPr lang="es-CO"/>
          </a:p>
        </p:txBody>
      </p:sp>
      <p:sp>
        <p:nvSpPr>
          <p:cNvPr id="8" name="Marcador de pie de página 7"/>
          <p:cNvSpPr>
            <a:spLocks noGrp="1"/>
          </p:cNvSpPr>
          <p:nvPr>
            <p:ph type="ftr" sz="quarter" idx="11"/>
          </p:nvPr>
        </p:nvSpPr>
        <p:spPr>
          <a:xfrm>
            <a:off x="4038600" y="6356350"/>
            <a:ext cx="4114800" cy="365125"/>
          </a:xfrm>
          <a:prstGeom prst="rect">
            <a:avLst/>
          </a:prstGeom>
        </p:spPr>
        <p:txBody>
          <a:bodyPr/>
          <a:lstStyle/>
          <a:p>
            <a:endParaRPr lang="es-CO"/>
          </a:p>
        </p:txBody>
      </p:sp>
      <p:sp>
        <p:nvSpPr>
          <p:cNvPr id="9" name="Marcador de número de diapositiva 8"/>
          <p:cNvSpPr>
            <a:spLocks noGrp="1"/>
          </p:cNvSpPr>
          <p:nvPr>
            <p:ph type="sldNum" sz="quarter" idx="12"/>
          </p:nvPr>
        </p:nvSpPr>
        <p:spPr>
          <a:xfrm>
            <a:off x="8610600" y="6356350"/>
            <a:ext cx="2743200" cy="365125"/>
          </a:xfrm>
          <a:prstGeom prst="rect">
            <a:avLst/>
          </a:prstGeom>
        </p:spPr>
        <p:txBody>
          <a:bodyPr/>
          <a:lstStyle/>
          <a:p>
            <a:fld id="{EA6E0693-1E4B-4E7C-AB49-4CFAD4587034}" type="slidenum">
              <a:rPr lang="es-CO" smtClean="0"/>
              <a:t>‹#›</a:t>
            </a:fld>
            <a:endParaRPr lang="es-CO"/>
          </a:p>
        </p:txBody>
      </p:sp>
    </p:spTree>
    <p:extLst>
      <p:ext uri="{BB962C8B-B14F-4D97-AF65-F5344CB8AC3E}">
        <p14:creationId xmlns:p14="http://schemas.microsoft.com/office/powerpoint/2010/main" val="2678369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CO"/>
          </a:p>
        </p:txBody>
      </p:sp>
      <p:sp>
        <p:nvSpPr>
          <p:cNvPr id="3" name="Marcador de fecha 2"/>
          <p:cNvSpPr>
            <a:spLocks noGrp="1"/>
          </p:cNvSpPr>
          <p:nvPr>
            <p:ph type="dt" sz="half" idx="10"/>
          </p:nvPr>
        </p:nvSpPr>
        <p:spPr>
          <a:xfrm>
            <a:off x="838200" y="6356350"/>
            <a:ext cx="2743200" cy="365125"/>
          </a:xfrm>
          <a:prstGeom prst="rect">
            <a:avLst/>
          </a:prstGeom>
        </p:spPr>
        <p:txBody>
          <a:bodyPr/>
          <a:lstStyle/>
          <a:p>
            <a:fld id="{75D29D20-CDA2-4B53-95E4-080A996034E6}" type="datetimeFigureOut">
              <a:rPr lang="es-CO" smtClean="0"/>
              <a:t>22/02/2019</a:t>
            </a:fld>
            <a:endParaRPr lang="es-CO"/>
          </a:p>
        </p:txBody>
      </p:sp>
      <p:sp>
        <p:nvSpPr>
          <p:cNvPr id="4" name="Marcador de pie de página 3"/>
          <p:cNvSpPr>
            <a:spLocks noGrp="1"/>
          </p:cNvSpPr>
          <p:nvPr>
            <p:ph type="ftr" sz="quarter" idx="11"/>
          </p:nvPr>
        </p:nvSpPr>
        <p:spPr>
          <a:xfrm>
            <a:off x="4038600" y="6356350"/>
            <a:ext cx="4114800" cy="365125"/>
          </a:xfrm>
          <a:prstGeom prst="rect">
            <a:avLst/>
          </a:prstGeom>
        </p:spPr>
        <p:txBody>
          <a:bodyPr/>
          <a:lstStyle/>
          <a:p>
            <a:endParaRPr lang="es-CO"/>
          </a:p>
        </p:txBody>
      </p:sp>
      <p:sp>
        <p:nvSpPr>
          <p:cNvPr id="5" name="Marcador de número de diapositiva 4"/>
          <p:cNvSpPr>
            <a:spLocks noGrp="1"/>
          </p:cNvSpPr>
          <p:nvPr>
            <p:ph type="sldNum" sz="quarter" idx="12"/>
          </p:nvPr>
        </p:nvSpPr>
        <p:spPr>
          <a:xfrm>
            <a:off x="8610600" y="6356350"/>
            <a:ext cx="2743200" cy="365125"/>
          </a:xfrm>
          <a:prstGeom prst="rect">
            <a:avLst/>
          </a:prstGeom>
        </p:spPr>
        <p:txBody>
          <a:bodyPr/>
          <a:lstStyle/>
          <a:p>
            <a:fld id="{EA6E0693-1E4B-4E7C-AB49-4CFAD4587034}" type="slidenum">
              <a:rPr lang="es-CO" smtClean="0"/>
              <a:t>‹#›</a:t>
            </a:fld>
            <a:endParaRPr lang="es-CO"/>
          </a:p>
        </p:txBody>
      </p:sp>
    </p:spTree>
    <p:extLst>
      <p:ext uri="{BB962C8B-B14F-4D97-AF65-F5344CB8AC3E}">
        <p14:creationId xmlns:p14="http://schemas.microsoft.com/office/powerpoint/2010/main" val="2992116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Marcador de fecha 1"/>
          <p:cNvSpPr>
            <a:spLocks noGrp="1"/>
          </p:cNvSpPr>
          <p:nvPr>
            <p:ph type="dt" sz="half" idx="10"/>
          </p:nvPr>
        </p:nvSpPr>
        <p:spPr>
          <a:xfrm>
            <a:off x="838200" y="6356350"/>
            <a:ext cx="2743200" cy="365125"/>
          </a:xfrm>
          <a:prstGeom prst="rect">
            <a:avLst/>
          </a:prstGeom>
        </p:spPr>
        <p:txBody>
          <a:bodyPr/>
          <a:lstStyle/>
          <a:p>
            <a:fld id="{75D29D20-CDA2-4B53-95E4-080A996034E6}" type="datetimeFigureOut">
              <a:rPr lang="es-CO" smtClean="0"/>
              <a:t>22/02/2019</a:t>
            </a:fld>
            <a:endParaRPr lang="es-CO"/>
          </a:p>
        </p:txBody>
      </p:sp>
      <p:sp>
        <p:nvSpPr>
          <p:cNvPr id="3" name="Marcador de pie de página 2"/>
          <p:cNvSpPr>
            <a:spLocks noGrp="1"/>
          </p:cNvSpPr>
          <p:nvPr>
            <p:ph type="ftr" sz="quarter" idx="11"/>
          </p:nvPr>
        </p:nvSpPr>
        <p:spPr>
          <a:xfrm>
            <a:off x="4038600" y="6356350"/>
            <a:ext cx="4114800" cy="365125"/>
          </a:xfrm>
          <a:prstGeom prst="rect">
            <a:avLst/>
          </a:prstGeom>
        </p:spPr>
        <p:txBody>
          <a:bodyPr/>
          <a:lstStyle/>
          <a:p>
            <a:endParaRPr lang="es-CO"/>
          </a:p>
        </p:txBody>
      </p:sp>
      <p:sp>
        <p:nvSpPr>
          <p:cNvPr id="4" name="Marcador de número de diapositiva 3"/>
          <p:cNvSpPr>
            <a:spLocks noGrp="1"/>
          </p:cNvSpPr>
          <p:nvPr>
            <p:ph type="sldNum" sz="quarter" idx="12"/>
          </p:nvPr>
        </p:nvSpPr>
        <p:spPr>
          <a:xfrm>
            <a:off x="8610600" y="6356350"/>
            <a:ext cx="2743200" cy="365125"/>
          </a:xfrm>
          <a:prstGeom prst="rect">
            <a:avLst/>
          </a:prstGeom>
        </p:spPr>
        <p:txBody>
          <a:bodyPr/>
          <a:lstStyle/>
          <a:p>
            <a:fld id="{EA6E0693-1E4B-4E7C-AB49-4CFAD4587034}" type="slidenum">
              <a:rPr lang="es-CO" smtClean="0"/>
              <a:t>‹#›</a:t>
            </a:fld>
            <a:endParaRPr lang="es-CO"/>
          </a:p>
        </p:txBody>
      </p:sp>
    </p:spTree>
    <p:extLst>
      <p:ext uri="{BB962C8B-B14F-4D97-AF65-F5344CB8AC3E}">
        <p14:creationId xmlns:p14="http://schemas.microsoft.com/office/powerpoint/2010/main" val="3182792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CO"/>
          </a:p>
        </p:txBody>
      </p:sp>
      <p:sp>
        <p:nvSpPr>
          <p:cNvPr id="3" name="Marcador de contenido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a:xfrm>
            <a:off x="838200" y="6356350"/>
            <a:ext cx="2743200" cy="365125"/>
          </a:xfrm>
          <a:prstGeom prst="rect">
            <a:avLst/>
          </a:prstGeom>
        </p:spPr>
        <p:txBody>
          <a:bodyPr/>
          <a:lstStyle/>
          <a:p>
            <a:fld id="{75D29D20-CDA2-4B53-95E4-080A996034E6}" type="datetimeFigureOut">
              <a:rPr lang="es-CO" smtClean="0"/>
              <a:t>22/02/2019</a:t>
            </a:fld>
            <a:endParaRPr lang="es-CO"/>
          </a:p>
        </p:txBody>
      </p:sp>
      <p:sp>
        <p:nvSpPr>
          <p:cNvPr id="6" name="Marcador de pie de página 5"/>
          <p:cNvSpPr>
            <a:spLocks noGrp="1"/>
          </p:cNvSpPr>
          <p:nvPr>
            <p:ph type="ftr" sz="quarter" idx="11"/>
          </p:nvPr>
        </p:nvSpPr>
        <p:spPr>
          <a:xfrm>
            <a:off x="4038600" y="6356350"/>
            <a:ext cx="4114800" cy="365125"/>
          </a:xfrm>
          <a:prstGeom prst="rect">
            <a:avLst/>
          </a:prstGeom>
        </p:spPr>
        <p:txBody>
          <a:bodyPr/>
          <a:lstStyle/>
          <a:p>
            <a:endParaRPr lang="es-CO"/>
          </a:p>
        </p:txBody>
      </p:sp>
      <p:sp>
        <p:nvSpPr>
          <p:cNvPr id="7" name="Marcador de número de diapositiva 6"/>
          <p:cNvSpPr>
            <a:spLocks noGrp="1"/>
          </p:cNvSpPr>
          <p:nvPr>
            <p:ph type="sldNum" sz="quarter" idx="12"/>
          </p:nvPr>
        </p:nvSpPr>
        <p:spPr>
          <a:xfrm>
            <a:off x="8610600" y="6356350"/>
            <a:ext cx="2743200" cy="365125"/>
          </a:xfrm>
          <a:prstGeom prst="rect">
            <a:avLst/>
          </a:prstGeom>
        </p:spPr>
        <p:txBody>
          <a:bodyPr/>
          <a:lstStyle/>
          <a:p>
            <a:fld id="{EA6E0693-1E4B-4E7C-AB49-4CFAD4587034}" type="slidenum">
              <a:rPr lang="es-CO" smtClean="0"/>
              <a:t>‹#›</a:t>
            </a:fld>
            <a:endParaRPr lang="es-CO"/>
          </a:p>
        </p:txBody>
      </p:sp>
    </p:spTree>
    <p:extLst>
      <p:ext uri="{BB962C8B-B14F-4D97-AF65-F5344CB8AC3E}">
        <p14:creationId xmlns:p14="http://schemas.microsoft.com/office/powerpoint/2010/main" val="2008019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a:xfrm>
            <a:off x="838200" y="6356350"/>
            <a:ext cx="2743200" cy="365125"/>
          </a:xfrm>
          <a:prstGeom prst="rect">
            <a:avLst/>
          </a:prstGeom>
        </p:spPr>
        <p:txBody>
          <a:bodyPr/>
          <a:lstStyle/>
          <a:p>
            <a:fld id="{75D29D20-CDA2-4B53-95E4-080A996034E6}" type="datetimeFigureOut">
              <a:rPr lang="es-CO" smtClean="0"/>
              <a:t>22/02/2019</a:t>
            </a:fld>
            <a:endParaRPr lang="es-CO"/>
          </a:p>
        </p:txBody>
      </p:sp>
      <p:sp>
        <p:nvSpPr>
          <p:cNvPr id="6" name="Marcador de pie de página 5"/>
          <p:cNvSpPr>
            <a:spLocks noGrp="1"/>
          </p:cNvSpPr>
          <p:nvPr>
            <p:ph type="ftr" sz="quarter" idx="11"/>
          </p:nvPr>
        </p:nvSpPr>
        <p:spPr>
          <a:xfrm>
            <a:off x="4038600" y="6356350"/>
            <a:ext cx="4114800" cy="365125"/>
          </a:xfrm>
          <a:prstGeom prst="rect">
            <a:avLst/>
          </a:prstGeom>
        </p:spPr>
        <p:txBody>
          <a:bodyPr/>
          <a:lstStyle/>
          <a:p>
            <a:endParaRPr lang="es-CO"/>
          </a:p>
        </p:txBody>
      </p:sp>
      <p:sp>
        <p:nvSpPr>
          <p:cNvPr id="7" name="Marcador de número de diapositiva 6"/>
          <p:cNvSpPr>
            <a:spLocks noGrp="1"/>
          </p:cNvSpPr>
          <p:nvPr>
            <p:ph type="sldNum" sz="quarter" idx="12"/>
          </p:nvPr>
        </p:nvSpPr>
        <p:spPr>
          <a:xfrm>
            <a:off x="8610600" y="6356350"/>
            <a:ext cx="2743200" cy="365125"/>
          </a:xfrm>
          <a:prstGeom prst="rect">
            <a:avLst/>
          </a:prstGeom>
        </p:spPr>
        <p:txBody>
          <a:bodyPr/>
          <a:lstStyle/>
          <a:p>
            <a:fld id="{EA6E0693-1E4B-4E7C-AB49-4CFAD4587034}" type="slidenum">
              <a:rPr lang="es-CO" smtClean="0"/>
              <a:t>‹#›</a:t>
            </a:fld>
            <a:endParaRPr lang="es-CO"/>
          </a:p>
        </p:txBody>
      </p:sp>
    </p:spTree>
    <p:extLst>
      <p:ext uri="{BB962C8B-B14F-4D97-AF65-F5344CB8AC3E}">
        <p14:creationId xmlns:p14="http://schemas.microsoft.com/office/powerpoint/2010/main" val="859630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CO"/>
          </a:p>
        </p:txBody>
      </p:sp>
      <p:sp>
        <p:nvSpPr>
          <p:cNvPr id="3" name="Marcador de texto vertical 2"/>
          <p:cNvSpPr>
            <a:spLocks noGrp="1"/>
          </p:cNvSpPr>
          <p:nvPr>
            <p:ph type="body" orient="vert" idx="1"/>
          </p:nvPr>
        </p:nvSpPr>
        <p:spPr>
          <a:xfrm>
            <a:off x="838200" y="1825625"/>
            <a:ext cx="10515600" cy="4351338"/>
          </a:xfrm>
          <a:prstGeom prst="rect">
            <a:avLst/>
          </a:prstGeo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a:xfrm>
            <a:off x="838200" y="6356350"/>
            <a:ext cx="2743200" cy="365125"/>
          </a:xfrm>
          <a:prstGeom prst="rect">
            <a:avLst/>
          </a:prstGeom>
        </p:spPr>
        <p:txBody>
          <a:bodyPr/>
          <a:lstStyle/>
          <a:p>
            <a:fld id="{75D29D20-CDA2-4B53-95E4-080A996034E6}" type="datetimeFigureOut">
              <a:rPr lang="es-CO" smtClean="0"/>
              <a:t>22/02/2019</a:t>
            </a:fld>
            <a:endParaRPr lang="es-CO"/>
          </a:p>
        </p:txBody>
      </p:sp>
      <p:sp>
        <p:nvSpPr>
          <p:cNvPr id="5" name="Marcador de pie de página 4"/>
          <p:cNvSpPr>
            <a:spLocks noGrp="1"/>
          </p:cNvSpPr>
          <p:nvPr>
            <p:ph type="ftr" sz="quarter" idx="11"/>
          </p:nvPr>
        </p:nvSpPr>
        <p:spPr>
          <a:xfrm>
            <a:off x="4038600" y="6356350"/>
            <a:ext cx="4114800" cy="365125"/>
          </a:xfrm>
          <a:prstGeom prst="rect">
            <a:avLst/>
          </a:prstGeom>
        </p:spPr>
        <p:txBody>
          <a:bodyPr/>
          <a:lstStyle/>
          <a:p>
            <a:endParaRPr lang="es-CO"/>
          </a:p>
        </p:txBody>
      </p:sp>
      <p:sp>
        <p:nvSpPr>
          <p:cNvPr id="6" name="Marcador de número de diapositiva 5"/>
          <p:cNvSpPr>
            <a:spLocks noGrp="1"/>
          </p:cNvSpPr>
          <p:nvPr>
            <p:ph type="sldNum" sz="quarter" idx="12"/>
          </p:nvPr>
        </p:nvSpPr>
        <p:spPr>
          <a:xfrm>
            <a:off x="8610600" y="6356350"/>
            <a:ext cx="2743200" cy="365125"/>
          </a:xfrm>
          <a:prstGeom prst="rect">
            <a:avLst/>
          </a:prstGeom>
        </p:spPr>
        <p:txBody>
          <a:bodyPr/>
          <a:lstStyle/>
          <a:p>
            <a:fld id="{EA6E0693-1E4B-4E7C-AB49-4CFAD4587034}" type="slidenum">
              <a:rPr lang="es-CO" smtClean="0"/>
              <a:t>‹#›</a:t>
            </a:fld>
            <a:endParaRPr lang="es-CO"/>
          </a:p>
        </p:txBody>
      </p:sp>
    </p:spTree>
    <p:extLst>
      <p:ext uri="{BB962C8B-B14F-4D97-AF65-F5344CB8AC3E}">
        <p14:creationId xmlns:p14="http://schemas.microsoft.com/office/powerpoint/2010/main" val="1428537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a:prstGeom prst="rect">
            <a:avLst/>
          </a:prstGeom>
        </p:spPr>
        <p:txBody>
          <a:bodyPr vert="eaVert"/>
          <a:lstStyle/>
          <a:p>
            <a:r>
              <a:rPr lang="es-ES"/>
              <a:t>Haga clic para modificar el estilo de título del patrón</a:t>
            </a:r>
            <a:endParaRPr lang="es-CO"/>
          </a:p>
        </p:txBody>
      </p:sp>
      <p:sp>
        <p:nvSpPr>
          <p:cNvPr id="3" name="Marcador de texto vertical 2"/>
          <p:cNvSpPr>
            <a:spLocks noGrp="1"/>
          </p:cNvSpPr>
          <p:nvPr>
            <p:ph type="body" orient="vert" idx="1"/>
          </p:nvPr>
        </p:nvSpPr>
        <p:spPr>
          <a:xfrm>
            <a:off x="838200" y="365125"/>
            <a:ext cx="7734300" cy="5811838"/>
          </a:xfrm>
          <a:prstGeom prst="rect">
            <a:avLst/>
          </a:prstGeo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a:xfrm>
            <a:off x="838200" y="6356350"/>
            <a:ext cx="2743200" cy="365125"/>
          </a:xfrm>
          <a:prstGeom prst="rect">
            <a:avLst/>
          </a:prstGeom>
        </p:spPr>
        <p:txBody>
          <a:bodyPr/>
          <a:lstStyle/>
          <a:p>
            <a:fld id="{75D29D20-CDA2-4B53-95E4-080A996034E6}" type="datetimeFigureOut">
              <a:rPr lang="es-CO" smtClean="0"/>
              <a:t>22/02/2019</a:t>
            </a:fld>
            <a:endParaRPr lang="es-CO"/>
          </a:p>
        </p:txBody>
      </p:sp>
      <p:sp>
        <p:nvSpPr>
          <p:cNvPr id="5" name="Marcador de pie de página 4"/>
          <p:cNvSpPr>
            <a:spLocks noGrp="1"/>
          </p:cNvSpPr>
          <p:nvPr>
            <p:ph type="ftr" sz="quarter" idx="11"/>
          </p:nvPr>
        </p:nvSpPr>
        <p:spPr>
          <a:xfrm>
            <a:off x="4038600" y="6356350"/>
            <a:ext cx="4114800" cy="365125"/>
          </a:xfrm>
          <a:prstGeom prst="rect">
            <a:avLst/>
          </a:prstGeom>
        </p:spPr>
        <p:txBody>
          <a:bodyPr/>
          <a:lstStyle/>
          <a:p>
            <a:endParaRPr lang="es-CO"/>
          </a:p>
        </p:txBody>
      </p:sp>
      <p:sp>
        <p:nvSpPr>
          <p:cNvPr id="6" name="Marcador de número de diapositiva 5"/>
          <p:cNvSpPr>
            <a:spLocks noGrp="1"/>
          </p:cNvSpPr>
          <p:nvPr>
            <p:ph type="sldNum" sz="quarter" idx="12"/>
          </p:nvPr>
        </p:nvSpPr>
        <p:spPr>
          <a:xfrm>
            <a:off x="8610600" y="6356350"/>
            <a:ext cx="2743200" cy="365125"/>
          </a:xfrm>
          <a:prstGeom prst="rect">
            <a:avLst/>
          </a:prstGeom>
        </p:spPr>
        <p:txBody>
          <a:bodyPr/>
          <a:lstStyle/>
          <a:p>
            <a:fld id="{EA6E0693-1E4B-4E7C-AB49-4CFAD4587034}" type="slidenum">
              <a:rPr lang="es-CO" smtClean="0"/>
              <a:t>‹#›</a:t>
            </a:fld>
            <a:endParaRPr lang="es-CO"/>
          </a:p>
        </p:txBody>
      </p:sp>
    </p:spTree>
    <p:extLst>
      <p:ext uri="{BB962C8B-B14F-4D97-AF65-F5344CB8AC3E}">
        <p14:creationId xmlns:p14="http://schemas.microsoft.com/office/powerpoint/2010/main" val="844147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9223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99907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979854" y="1507392"/>
            <a:ext cx="10170228" cy="1569660"/>
          </a:xfrm>
          <a:prstGeom prst="rect">
            <a:avLst/>
          </a:prstGeom>
          <a:noFill/>
        </p:spPr>
        <p:txBody>
          <a:bodyPr wrap="square" rtlCol="0">
            <a:spAutoFit/>
          </a:bodyPr>
          <a:lstStyle/>
          <a:p>
            <a:r>
              <a:rPr lang="en-US" sz="3600" dirty="0"/>
              <a:t>Intro to new methods and tendencies in machine learning techniques</a:t>
            </a:r>
            <a:br>
              <a:rPr lang="es-CO" sz="3600" dirty="0"/>
            </a:br>
            <a:r>
              <a:rPr lang="es-CO" sz="2400" dirty="0"/>
              <a:t>Febrero 12 de 2019</a:t>
            </a:r>
            <a:endParaRPr lang="es-CO" sz="3600" dirty="0">
              <a:solidFill>
                <a:srgbClr val="FF0000"/>
              </a:solidFill>
            </a:endParaRPr>
          </a:p>
        </p:txBody>
      </p:sp>
      <p:sp>
        <p:nvSpPr>
          <p:cNvPr id="5" name="Rectángulo 4"/>
          <p:cNvSpPr/>
          <p:nvPr/>
        </p:nvSpPr>
        <p:spPr>
          <a:xfrm>
            <a:off x="1422400" y="3265438"/>
            <a:ext cx="10287000" cy="1569660"/>
          </a:xfrm>
          <a:prstGeom prst="rect">
            <a:avLst/>
          </a:prstGeom>
        </p:spPr>
        <p:txBody>
          <a:bodyPr wrap="square">
            <a:spAutoFit/>
          </a:bodyPr>
          <a:lstStyle/>
          <a:p>
            <a:r>
              <a:rPr lang="es-CO" sz="2400" dirty="0"/>
              <a:t>Carlos Alejandro Trujillo Anaya – </a:t>
            </a:r>
            <a:r>
              <a:rPr lang="es-CO" sz="2400" b="1" dirty="0"/>
              <a:t>carlostrujillo@itm.edu.co</a:t>
            </a:r>
            <a:endParaRPr lang="es-CO" sz="2400" b="1" dirty="0">
              <a:solidFill>
                <a:schemeClr val="bg1"/>
              </a:solidFill>
            </a:endParaRPr>
          </a:p>
          <a:p>
            <a:r>
              <a:rPr lang="es-CO" sz="2400" dirty="0" err="1"/>
              <a:t>Electronics</a:t>
            </a:r>
            <a:r>
              <a:rPr lang="es-CO" sz="2400" dirty="0"/>
              <a:t> and </a:t>
            </a:r>
            <a:r>
              <a:rPr lang="es-CO" sz="2400" dirty="0" err="1"/>
              <a:t>telecomunications</a:t>
            </a:r>
            <a:r>
              <a:rPr lang="es-CO" sz="2400" dirty="0"/>
              <a:t> </a:t>
            </a:r>
            <a:r>
              <a:rPr lang="es-CO" sz="2400" dirty="0" err="1"/>
              <a:t>department</a:t>
            </a:r>
            <a:endParaRPr lang="es-CO" sz="2400" dirty="0"/>
          </a:p>
          <a:p>
            <a:r>
              <a:rPr lang="es-CO" sz="2400" dirty="0" err="1"/>
              <a:t>Course</a:t>
            </a:r>
            <a:r>
              <a:rPr lang="es-CO" sz="2400" dirty="0"/>
              <a:t> </a:t>
            </a:r>
            <a:r>
              <a:rPr lang="es-CO" sz="2400" dirty="0" err="1"/>
              <a:t>belonging</a:t>
            </a:r>
            <a:r>
              <a:rPr lang="es-CO" sz="2400" dirty="0"/>
              <a:t> </a:t>
            </a:r>
            <a:r>
              <a:rPr lang="es-CO" sz="2400" dirty="0" err="1"/>
              <a:t>to</a:t>
            </a:r>
            <a:r>
              <a:rPr lang="es-CO" sz="2400" dirty="0"/>
              <a:t> “Maestría en Automatización y Control Industrial”.</a:t>
            </a:r>
          </a:p>
          <a:p>
            <a:r>
              <a:rPr lang="es-CO" sz="2400" dirty="0" err="1"/>
              <a:t>Tuesday</a:t>
            </a:r>
            <a:r>
              <a:rPr lang="es-CO" sz="2400" dirty="0"/>
              <a:t> 18-21</a:t>
            </a:r>
          </a:p>
        </p:txBody>
      </p:sp>
    </p:spTree>
    <p:extLst>
      <p:ext uri="{BB962C8B-B14F-4D97-AF65-F5344CB8AC3E}">
        <p14:creationId xmlns:p14="http://schemas.microsoft.com/office/powerpoint/2010/main" val="1140555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2214281" y="2828836"/>
            <a:ext cx="7781365" cy="923330"/>
          </a:xfrm>
          <a:prstGeom prst="rect">
            <a:avLst/>
          </a:prstGeom>
        </p:spPr>
        <p:txBody>
          <a:bodyPr wrap="square">
            <a:spAutoFit/>
          </a:bodyPr>
          <a:lstStyle/>
          <a:p>
            <a:r>
              <a:rPr lang="en-US" i="1" dirty="0">
                <a:solidFill>
                  <a:srgbClr val="111111"/>
                </a:solidFill>
                <a:latin typeface="Open Sans"/>
              </a:rPr>
              <a:t>“A computer program is said to learn from experience E with respect to some class of tasks T and performance measure P if its performance at tasks in T, as measured by P, improves with experience E.”</a:t>
            </a:r>
            <a:endParaRPr lang="es-CO" i="1" dirty="0"/>
          </a:p>
        </p:txBody>
      </p:sp>
    </p:spTree>
    <p:extLst>
      <p:ext uri="{BB962C8B-B14F-4D97-AF65-F5344CB8AC3E}">
        <p14:creationId xmlns:p14="http://schemas.microsoft.com/office/powerpoint/2010/main" val="3476389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2501971" y="2443010"/>
            <a:ext cx="5725019" cy="4093388"/>
          </a:xfrm>
          <a:prstGeom prst="rect">
            <a:avLst/>
          </a:prstGeom>
        </p:spPr>
      </p:pic>
      <p:sp>
        <p:nvSpPr>
          <p:cNvPr id="5" name="CuadroTexto 4"/>
          <p:cNvSpPr txBox="1"/>
          <p:nvPr/>
        </p:nvSpPr>
        <p:spPr>
          <a:xfrm>
            <a:off x="923974" y="1677064"/>
            <a:ext cx="3931076" cy="461665"/>
          </a:xfrm>
          <a:prstGeom prst="rect">
            <a:avLst/>
          </a:prstGeom>
          <a:noFill/>
        </p:spPr>
        <p:txBody>
          <a:bodyPr wrap="none" rtlCol="0">
            <a:spAutoFit/>
          </a:bodyPr>
          <a:lstStyle/>
          <a:p>
            <a:pPr lvl="0"/>
            <a:r>
              <a:rPr lang="en-US" sz="2400" b="1" dirty="0"/>
              <a:t>Machine Learning Algorithms</a:t>
            </a:r>
            <a:endParaRPr lang="es-CO" sz="2400" b="1" dirty="0"/>
          </a:p>
        </p:txBody>
      </p:sp>
      <p:sp>
        <p:nvSpPr>
          <p:cNvPr id="6" name="Rectángulo 5"/>
          <p:cNvSpPr/>
          <p:nvPr/>
        </p:nvSpPr>
        <p:spPr>
          <a:xfrm>
            <a:off x="3121152" y="6536398"/>
            <a:ext cx="7860792" cy="276999"/>
          </a:xfrm>
          <a:prstGeom prst="rect">
            <a:avLst/>
          </a:prstGeom>
        </p:spPr>
        <p:txBody>
          <a:bodyPr wrap="square">
            <a:spAutoFit/>
          </a:bodyPr>
          <a:lstStyle/>
          <a:p>
            <a:r>
              <a:rPr lang="es-CO" sz="1200" dirty="0"/>
              <a:t>https://www.techleer.com/articles/203-machine-learning-algorithm-backbone-of-emerging-technologies/</a:t>
            </a:r>
          </a:p>
        </p:txBody>
      </p:sp>
    </p:spTree>
    <p:extLst>
      <p:ext uri="{BB962C8B-B14F-4D97-AF65-F5344CB8AC3E}">
        <p14:creationId xmlns:p14="http://schemas.microsoft.com/office/powerpoint/2010/main" val="1488992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2584267" y="2443010"/>
            <a:ext cx="5725019" cy="4093388"/>
          </a:xfrm>
          <a:prstGeom prst="rect">
            <a:avLst/>
          </a:prstGeom>
        </p:spPr>
      </p:pic>
      <p:cxnSp>
        <p:nvCxnSpPr>
          <p:cNvPr id="5" name="Conector recto de flecha 4"/>
          <p:cNvCxnSpPr/>
          <p:nvPr/>
        </p:nvCxnSpPr>
        <p:spPr>
          <a:xfrm>
            <a:off x="2194560" y="3730752"/>
            <a:ext cx="1024136" cy="393192"/>
          </a:xfrm>
          <a:prstGeom prst="straightConnector1">
            <a:avLst/>
          </a:prstGeom>
          <a:ln w="76200">
            <a:tailEnd type="triangle"/>
          </a:ln>
        </p:spPr>
        <p:style>
          <a:lnRef idx="3">
            <a:schemeClr val="accent6"/>
          </a:lnRef>
          <a:fillRef idx="0">
            <a:schemeClr val="accent6"/>
          </a:fillRef>
          <a:effectRef idx="2">
            <a:schemeClr val="accent6"/>
          </a:effectRef>
          <a:fontRef idx="minor">
            <a:schemeClr val="tx1"/>
          </a:fontRef>
        </p:style>
      </p:cxnSp>
      <p:cxnSp>
        <p:nvCxnSpPr>
          <p:cNvPr id="6" name="Conector recto de flecha 5"/>
          <p:cNvCxnSpPr/>
          <p:nvPr/>
        </p:nvCxnSpPr>
        <p:spPr>
          <a:xfrm flipH="1" flipV="1">
            <a:off x="7674881" y="4123944"/>
            <a:ext cx="1139935" cy="425196"/>
          </a:xfrm>
          <a:prstGeom prst="straightConnector1">
            <a:avLst/>
          </a:prstGeom>
          <a:ln w="76200">
            <a:tailEnd type="triangle"/>
          </a:ln>
        </p:spPr>
        <p:style>
          <a:lnRef idx="3">
            <a:schemeClr val="accent6"/>
          </a:lnRef>
          <a:fillRef idx="0">
            <a:schemeClr val="accent6"/>
          </a:fillRef>
          <a:effectRef idx="2">
            <a:schemeClr val="accent6"/>
          </a:effectRef>
          <a:fontRef idx="minor">
            <a:schemeClr val="tx1"/>
          </a:fontRef>
        </p:style>
      </p:cxnSp>
      <p:cxnSp>
        <p:nvCxnSpPr>
          <p:cNvPr id="7" name="Conector recto de flecha 6"/>
          <p:cNvCxnSpPr/>
          <p:nvPr/>
        </p:nvCxnSpPr>
        <p:spPr>
          <a:xfrm flipH="1">
            <a:off x="6966019" y="2724912"/>
            <a:ext cx="1417723" cy="47282"/>
          </a:xfrm>
          <a:prstGeom prst="straightConnector1">
            <a:avLst/>
          </a:prstGeom>
          <a:ln w="76200">
            <a:tailEnd type="triangle"/>
          </a:ln>
        </p:spPr>
        <p:style>
          <a:lnRef idx="3">
            <a:schemeClr val="accent6"/>
          </a:lnRef>
          <a:fillRef idx="0">
            <a:schemeClr val="accent6"/>
          </a:fillRef>
          <a:effectRef idx="2">
            <a:schemeClr val="accent6"/>
          </a:effectRef>
          <a:fontRef idx="minor">
            <a:schemeClr val="tx1"/>
          </a:fontRef>
        </p:style>
      </p:cxnSp>
      <p:sp>
        <p:nvSpPr>
          <p:cNvPr id="8" name="Rectángulo 7"/>
          <p:cNvSpPr/>
          <p:nvPr/>
        </p:nvSpPr>
        <p:spPr>
          <a:xfrm>
            <a:off x="3121152" y="6536398"/>
            <a:ext cx="7860792" cy="276999"/>
          </a:xfrm>
          <a:prstGeom prst="rect">
            <a:avLst/>
          </a:prstGeom>
        </p:spPr>
        <p:txBody>
          <a:bodyPr wrap="square">
            <a:spAutoFit/>
          </a:bodyPr>
          <a:lstStyle/>
          <a:p>
            <a:r>
              <a:rPr lang="es-CO" sz="1200" dirty="0"/>
              <a:t>https://www.techleer.com/articles/203-machine-learning-algorithm-backbone-of-emerging-technologies/</a:t>
            </a:r>
          </a:p>
        </p:txBody>
      </p:sp>
      <p:sp>
        <p:nvSpPr>
          <p:cNvPr id="9" name="CuadroTexto 8"/>
          <p:cNvSpPr txBox="1"/>
          <p:nvPr/>
        </p:nvSpPr>
        <p:spPr>
          <a:xfrm>
            <a:off x="923974" y="1677064"/>
            <a:ext cx="5883085" cy="461665"/>
          </a:xfrm>
          <a:prstGeom prst="rect">
            <a:avLst/>
          </a:prstGeom>
          <a:noFill/>
        </p:spPr>
        <p:txBody>
          <a:bodyPr wrap="none" rtlCol="0">
            <a:spAutoFit/>
          </a:bodyPr>
          <a:lstStyle/>
          <a:p>
            <a:pPr lvl="0"/>
            <a:r>
              <a:rPr lang="en-US" sz="2400" b="1" dirty="0"/>
              <a:t>Machine Learning Algorithms (in this course)</a:t>
            </a:r>
            <a:endParaRPr lang="es-CO" sz="2400" b="1" dirty="0"/>
          </a:p>
        </p:txBody>
      </p:sp>
    </p:spTree>
    <p:extLst>
      <p:ext uri="{BB962C8B-B14F-4D97-AF65-F5344CB8AC3E}">
        <p14:creationId xmlns:p14="http://schemas.microsoft.com/office/powerpoint/2010/main" val="3233442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Resultado de imagen para Supervised Machine Learning Algorith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9552" y="2588559"/>
            <a:ext cx="7515920" cy="3184712"/>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p:cNvSpPr txBox="1"/>
          <p:nvPr/>
        </p:nvSpPr>
        <p:spPr>
          <a:xfrm>
            <a:off x="923974" y="1677064"/>
            <a:ext cx="5883085" cy="461665"/>
          </a:xfrm>
          <a:prstGeom prst="rect">
            <a:avLst/>
          </a:prstGeom>
          <a:noFill/>
        </p:spPr>
        <p:txBody>
          <a:bodyPr wrap="none" rtlCol="0">
            <a:spAutoFit/>
          </a:bodyPr>
          <a:lstStyle/>
          <a:p>
            <a:pPr lvl="0"/>
            <a:r>
              <a:rPr lang="en-US" sz="2400" b="1" dirty="0"/>
              <a:t>Machine Learning Algorithms (in this course)</a:t>
            </a:r>
            <a:endParaRPr lang="es-CO" sz="2400" b="1" dirty="0"/>
          </a:p>
        </p:txBody>
      </p:sp>
      <p:sp>
        <p:nvSpPr>
          <p:cNvPr id="6" name="Rectángulo 5"/>
          <p:cNvSpPr/>
          <p:nvPr/>
        </p:nvSpPr>
        <p:spPr>
          <a:xfrm>
            <a:off x="3173506" y="5773271"/>
            <a:ext cx="6096000" cy="276999"/>
          </a:xfrm>
          <a:prstGeom prst="rect">
            <a:avLst/>
          </a:prstGeom>
        </p:spPr>
        <p:txBody>
          <a:bodyPr>
            <a:spAutoFit/>
          </a:bodyPr>
          <a:lstStyle/>
          <a:p>
            <a:r>
              <a:rPr lang="es-CO" sz="1200" dirty="0"/>
              <a:t>https://in.mathworks.com/help/stats/machine-learning-in-matlab.html</a:t>
            </a:r>
          </a:p>
        </p:txBody>
      </p:sp>
    </p:spTree>
    <p:extLst>
      <p:ext uri="{BB962C8B-B14F-4D97-AF65-F5344CB8AC3E}">
        <p14:creationId xmlns:p14="http://schemas.microsoft.com/office/powerpoint/2010/main" val="1820255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532965" y="5352853"/>
            <a:ext cx="9144000" cy="1015663"/>
          </a:xfrm>
          <a:prstGeom prst="rect">
            <a:avLst/>
          </a:prstGeom>
        </p:spPr>
        <p:txBody>
          <a:bodyPr wrap="square">
            <a:spAutoFit/>
          </a:bodyPr>
          <a:lstStyle/>
          <a:p>
            <a:r>
              <a:rPr lang="en-US" sz="2000" b="1" dirty="0"/>
              <a:t>Clustering</a:t>
            </a:r>
            <a:r>
              <a:rPr lang="en-US" sz="2000" dirty="0"/>
              <a:t> is the task of dividing the population or data points into a number of groups such that data points in the same groups are more similar to other data points in the same group and dissimilar to the data points in other groups</a:t>
            </a:r>
            <a:endParaRPr lang="es-CO" sz="2000" dirty="0"/>
          </a:p>
        </p:txBody>
      </p:sp>
      <p:sp>
        <p:nvSpPr>
          <p:cNvPr id="5" name="CuadroTexto 4"/>
          <p:cNvSpPr txBox="1"/>
          <p:nvPr/>
        </p:nvSpPr>
        <p:spPr>
          <a:xfrm>
            <a:off x="923974" y="1677064"/>
            <a:ext cx="4045466" cy="461665"/>
          </a:xfrm>
          <a:prstGeom prst="rect">
            <a:avLst/>
          </a:prstGeom>
          <a:noFill/>
        </p:spPr>
        <p:txBody>
          <a:bodyPr wrap="none" rtlCol="0">
            <a:spAutoFit/>
          </a:bodyPr>
          <a:lstStyle/>
          <a:p>
            <a:pPr lvl="0"/>
            <a:r>
              <a:rPr lang="en-US" sz="2400" b="1" dirty="0"/>
              <a:t>Clustering in machine learning</a:t>
            </a:r>
          </a:p>
        </p:txBody>
      </p:sp>
      <p:pic>
        <p:nvPicPr>
          <p:cNvPr id="7" name="Imagen 6"/>
          <p:cNvPicPr>
            <a:picLocks noChangeAspect="1"/>
          </p:cNvPicPr>
          <p:nvPr/>
        </p:nvPicPr>
        <p:blipFill>
          <a:blip r:embed="rId2"/>
          <a:stretch>
            <a:fillRect/>
          </a:stretch>
        </p:blipFill>
        <p:spPr>
          <a:xfrm>
            <a:off x="1054474" y="2939023"/>
            <a:ext cx="4924985" cy="1819067"/>
          </a:xfrm>
          <a:prstGeom prst="rect">
            <a:avLst/>
          </a:prstGeom>
        </p:spPr>
      </p:pic>
      <p:pic>
        <p:nvPicPr>
          <p:cNvPr id="8" name="Imagen 7"/>
          <p:cNvPicPr>
            <a:picLocks noChangeAspect="1"/>
          </p:cNvPicPr>
          <p:nvPr/>
        </p:nvPicPr>
        <p:blipFill>
          <a:blip r:embed="rId3"/>
          <a:stretch>
            <a:fillRect/>
          </a:stretch>
        </p:blipFill>
        <p:spPr>
          <a:xfrm>
            <a:off x="6373065" y="1677064"/>
            <a:ext cx="4752975" cy="3200400"/>
          </a:xfrm>
          <a:prstGeom prst="rect">
            <a:avLst/>
          </a:prstGeom>
        </p:spPr>
      </p:pic>
    </p:spTree>
    <p:extLst>
      <p:ext uri="{BB962C8B-B14F-4D97-AF65-F5344CB8AC3E}">
        <p14:creationId xmlns:p14="http://schemas.microsoft.com/office/powerpoint/2010/main" val="288930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3200400" y="6216588"/>
            <a:ext cx="6096000" cy="276999"/>
          </a:xfrm>
          <a:prstGeom prst="rect">
            <a:avLst/>
          </a:prstGeom>
        </p:spPr>
        <p:txBody>
          <a:bodyPr>
            <a:spAutoFit/>
          </a:bodyPr>
          <a:lstStyle/>
          <a:p>
            <a:r>
              <a:rPr lang="es-CO" sz="1200" dirty="0"/>
              <a:t>https://www.kdnuggets.com/2017/05/machine-learning-crash-course-part-1.html</a:t>
            </a:r>
          </a:p>
        </p:txBody>
      </p:sp>
      <p:sp>
        <p:nvSpPr>
          <p:cNvPr id="5" name="CuadroTexto 4"/>
          <p:cNvSpPr txBox="1"/>
          <p:nvPr/>
        </p:nvSpPr>
        <p:spPr>
          <a:xfrm>
            <a:off x="923974" y="1677064"/>
            <a:ext cx="4442370" cy="461665"/>
          </a:xfrm>
          <a:prstGeom prst="rect">
            <a:avLst/>
          </a:prstGeom>
          <a:noFill/>
        </p:spPr>
        <p:txBody>
          <a:bodyPr wrap="none" rtlCol="0">
            <a:spAutoFit/>
          </a:bodyPr>
          <a:lstStyle/>
          <a:p>
            <a:pPr lvl="0"/>
            <a:r>
              <a:rPr lang="en-US" sz="2400" b="1" dirty="0"/>
              <a:t>Classification in machine learning</a:t>
            </a:r>
          </a:p>
        </p:txBody>
      </p:sp>
      <p:pic>
        <p:nvPicPr>
          <p:cNvPr id="6" name="Imagen 5"/>
          <p:cNvPicPr>
            <a:picLocks noChangeAspect="1"/>
          </p:cNvPicPr>
          <p:nvPr/>
        </p:nvPicPr>
        <p:blipFill>
          <a:blip r:embed="rId2"/>
          <a:stretch>
            <a:fillRect/>
          </a:stretch>
        </p:blipFill>
        <p:spPr>
          <a:xfrm>
            <a:off x="2193100" y="2811461"/>
            <a:ext cx="3018646" cy="2732395"/>
          </a:xfrm>
          <a:prstGeom prst="rect">
            <a:avLst/>
          </a:prstGeom>
        </p:spPr>
      </p:pic>
      <p:pic>
        <p:nvPicPr>
          <p:cNvPr id="7" name="Picture 2" descr="Resultado de imagen para orang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5903" y="1677064"/>
            <a:ext cx="1612985" cy="1612985"/>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p:cNvPicPr>
            <a:picLocks noChangeAspect="1"/>
          </p:cNvPicPr>
          <p:nvPr/>
        </p:nvPicPr>
        <p:blipFill>
          <a:blip r:embed="rId4"/>
          <a:stretch>
            <a:fillRect/>
          </a:stretch>
        </p:blipFill>
        <p:spPr>
          <a:xfrm>
            <a:off x="8826418" y="1677064"/>
            <a:ext cx="1424724" cy="1424724"/>
          </a:xfrm>
          <a:prstGeom prst="rect">
            <a:avLst/>
          </a:prstGeom>
        </p:spPr>
      </p:pic>
      <p:pic>
        <p:nvPicPr>
          <p:cNvPr id="9" name="Imagen 8"/>
          <p:cNvPicPr>
            <a:picLocks noChangeAspect="1"/>
          </p:cNvPicPr>
          <p:nvPr/>
        </p:nvPicPr>
        <p:blipFill>
          <a:blip r:embed="rId5"/>
          <a:stretch>
            <a:fillRect/>
          </a:stretch>
        </p:blipFill>
        <p:spPr>
          <a:xfrm>
            <a:off x="6933425" y="3476064"/>
            <a:ext cx="1535463" cy="1768288"/>
          </a:xfrm>
          <a:prstGeom prst="rect">
            <a:avLst/>
          </a:prstGeom>
        </p:spPr>
      </p:pic>
      <p:pic>
        <p:nvPicPr>
          <p:cNvPr id="10" name="Imagen 9"/>
          <p:cNvPicPr>
            <a:picLocks noChangeAspect="1"/>
          </p:cNvPicPr>
          <p:nvPr/>
        </p:nvPicPr>
        <p:blipFill>
          <a:blip r:embed="rId6"/>
          <a:stretch>
            <a:fillRect/>
          </a:stretch>
        </p:blipFill>
        <p:spPr>
          <a:xfrm>
            <a:off x="9040906" y="3526017"/>
            <a:ext cx="1847850" cy="1847850"/>
          </a:xfrm>
          <a:prstGeom prst="rect">
            <a:avLst/>
          </a:prstGeom>
        </p:spPr>
      </p:pic>
    </p:spTree>
    <p:extLst>
      <p:ext uri="{BB962C8B-B14F-4D97-AF65-F5344CB8AC3E}">
        <p14:creationId xmlns:p14="http://schemas.microsoft.com/office/powerpoint/2010/main" val="3177791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4939553" y="6416093"/>
            <a:ext cx="6096000" cy="276999"/>
          </a:xfrm>
          <a:prstGeom prst="rect">
            <a:avLst/>
          </a:prstGeom>
        </p:spPr>
        <p:txBody>
          <a:bodyPr>
            <a:spAutoFit/>
          </a:bodyPr>
          <a:lstStyle/>
          <a:p>
            <a:r>
              <a:rPr lang="es-CO" sz="1200" dirty="0"/>
              <a:t>https://www.kdnuggets.com/2017/05/machine-learning-crash-course-part-1.html</a:t>
            </a:r>
          </a:p>
        </p:txBody>
      </p:sp>
      <p:sp>
        <p:nvSpPr>
          <p:cNvPr id="5" name="CuadroTexto 4"/>
          <p:cNvSpPr txBox="1"/>
          <p:nvPr/>
        </p:nvSpPr>
        <p:spPr>
          <a:xfrm>
            <a:off x="923974" y="1677064"/>
            <a:ext cx="4442370" cy="461665"/>
          </a:xfrm>
          <a:prstGeom prst="rect">
            <a:avLst/>
          </a:prstGeom>
          <a:noFill/>
        </p:spPr>
        <p:txBody>
          <a:bodyPr wrap="none" rtlCol="0">
            <a:spAutoFit/>
          </a:bodyPr>
          <a:lstStyle/>
          <a:p>
            <a:pPr lvl="0"/>
            <a:r>
              <a:rPr lang="en-US" sz="2400" b="1" dirty="0"/>
              <a:t>Classification in machine learning</a:t>
            </a:r>
          </a:p>
        </p:txBody>
      </p:sp>
      <p:pic>
        <p:nvPicPr>
          <p:cNvPr id="6" name="Imagen 5"/>
          <p:cNvPicPr>
            <a:picLocks noChangeAspect="1"/>
          </p:cNvPicPr>
          <p:nvPr/>
        </p:nvPicPr>
        <p:blipFill>
          <a:blip r:embed="rId2"/>
          <a:stretch>
            <a:fillRect/>
          </a:stretch>
        </p:blipFill>
        <p:spPr>
          <a:xfrm>
            <a:off x="1470212" y="2437948"/>
            <a:ext cx="3895725" cy="3676650"/>
          </a:xfrm>
          <a:prstGeom prst="rect">
            <a:avLst/>
          </a:prstGeom>
        </p:spPr>
      </p:pic>
      <p:sp>
        <p:nvSpPr>
          <p:cNvPr id="7" name="Rectángulo 6"/>
          <p:cNvSpPr/>
          <p:nvPr/>
        </p:nvSpPr>
        <p:spPr>
          <a:xfrm>
            <a:off x="8662428" y="1477009"/>
            <a:ext cx="3021106" cy="400110"/>
          </a:xfrm>
          <a:prstGeom prst="rect">
            <a:avLst/>
          </a:prstGeom>
        </p:spPr>
        <p:txBody>
          <a:bodyPr wrap="square">
            <a:spAutoFit/>
          </a:bodyPr>
          <a:lstStyle/>
          <a:p>
            <a:r>
              <a:rPr lang="en-US" sz="2000" b="1" dirty="0"/>
              <a:t>Goal: </a:t>
            </a:r>
            <a:r>
              <a:rPr lang="en-US" sz="2000" dirty="0"/>
              <a:t>Decision boundary</a:t>
            </a:r>
          </a:p>
        </p:txBody>
      </p:sp>
      <p:pic>
        <p:nvPicPr>
          <p:cNvPr id="8" name="Imagen 7"/>
          <p:cNvPicPr>
            <a:picLocks noChangeAspect="1"/>
          </p:cNvPicPr>
          <p:nvPr/>
        </p:nvPicPr>
        <p:blipFill>
          <a:blip r:embed="rId3"/>
          <a:stretch>
            <a:fillRect/>
          </a:stretch>
        </p:blipFill>
        <p:spPr>
          <a:xfrm>
            <a:off x="5779153" y="2256973"/>
            <a:ext cx="3914775" cy="3857625"/>
          </a:xfrm>
          <a:prstGeom prst="rect">
            <a:avLst/>
          </a:prstGeom>
        </p:spPr>
      </p:pic>
    </p:spTree>
    <p:extLst>
      <p:ext uri="{BB962C8B-B14F-4D97-AF65-F5344CB8AC3E}">
        <p14:creationId xmlns:p14="http://schemas.microsoft.com/office/powerpoint/2010/main" val="4141697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4939553" y="6416093"/>
            <a:ext cx="6096000" cy="276999"/>
          </a:xfrm>
          <a:prstGeom prst="rect">
            <a:avLst/>
          </a:prstGeom>
        </p:spPr>
        <p:txBody>
          <a:bodyPr>
            <a:spAutoFit/>
          </a:bodyPr>
          <a:lstStyle/>
          <a:p>
            <a:r>
              <a:rPr lang="es-CO" sz="1200" dirty="0"/>
              <a:t>https://www.kdnuggets.com/2017/05/machine-learning-crash-course-part-1.html</a:t>
            </a:r>
          </a:p>
        </p:txBody>
      </p:sp>
      <p:sp>
        <p:nvSpPr>
          <p:cNvPr id="5" name="CuadroTexto 4"/>
          <p:cNvSpPr txBox="1"/>
          <p:nvPr/>
        </p:nvSpPr>
        <p:spPr>
          <a:xfrm>
            <a:off x="923974" y="1677064"/>
            <a:ext cx="4442370" cy="461665"/>
          </a:xfrm>
          <a:prstGeom prst="rect">
            <a:avLst/>
          </a:prstGeom>
          <a:noFill/>
        </p:spPr>
        <p:txBody>
          <a:bodyPr wrap="none" rtlCol="0">
            <a:spAutoFit/>
          </a:bodyPr>
          <a:lstStyle/>
          <a:p>
            <a:pPr lvl="0"/>
            <a:r>
              <a:rPr lang="en-US" sz="2400" b="1" dirty="0"/>
              <a:t>Classification in machine learning</a:t>
            </a:r>
          </a:p>
        </p:txBody>
      </p:sp>
      <p:sp>
        <p:nvSpPr>
          <p:cNvPr id="6" name="Rectángulo 5"/>
          <p:cNvSpPr/>
          <p:nvPr/>
        </p:nvSpPr>
        <p:spPr>
          <a:xfrm>
            <a:off x="6905347" y="2758961"/>
            <a:ext cx="3021106" cy="2554545"/>
          </a:xfrm>
          <a:prstGeom prst="rect">
            <a:avLst/>
          </a:prstGeom>
        </p:spPr>
        <p:txBody>
          <a:bodyPr wrap="square">
            <a:spAutoFit/>
          </a:bodyPr>
          <a:lstStyle/>
          <a:p>
            <a:pPr algn="ctr"/>
            <a:r>
              <a:rPr lang="en-US" sz="2000" dirty="0"/>
              <a:t>By giving our algorithm examples of apples and oranges to learn from, it can generalize its experience to images of apples and oranges that it has never encountered before.</a:t>
            </a:r>
          </a:p>
        </p:txBody>
      </p:sp>
      <p:pic>
        <p:nvPicPr>
          <p:cNvPr id="7" name="Imagen 6"/>
          <p:cNvPicPr>
            <a:picLocks noChangeAspect="1"/>
          </p:cNvPicPr>
          <p:nvPr/>
        </p:nvPicPr>
        <p:blipFill>
          <a:blip r:embed="rId2"/>
          <a:stretch>
            <a:fillRect/>
          </a:stretch>
        </p:blipFill>
        <p:spPr>
          <a:xfrm>
            <a:off x="1546819" y="2582956"/>
            <a:ext cx="4767665" cy="3566832"/>
          </a:xfrm>
          <a:prstGeom prst="rect">
            <a:avLst/>
          </a:prstGeom>
        </p:spPr>
      </p:pic>
    </p:spTree>
    <p:extLst>
      <p:ext uri="{BB962C8B-B14F-4D97-AF65-F5344CB8AC3E}">
        <p14:creationId xmlns:p14="http://schemas.microsoft.com/office/powerpoint/2010/main" val="1675754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3200400" y="6216588"/>
            <a:ext cx="6096000" cy="276999"/>
          </a:xfrm>
          <a:prstGeom prst="rect">
            <a:avLst/>
          </a:prstGeom>
        </p:spPr>
        <p:txBody>
          <a:bodyPr>
            <a:spAutoFit/>
          </a:bodyPr>
          <a:lstStyle/>
          <a:p>
            <a:r>
              <a:rPr lang="es-CO" sz="1200" dirty="0"/>
              <a:t>https://www.kdnuggets.com/2017/05/machine-learning-crash-course-part-1.html</a:t>
            </a:r>
          </a:p>
        </p:txBody>
      </p:sp>
      <p:sp>
        <p:nvSpPr>
          <p:cNvPr id="5" name="CuadroTexto 4"/>
          <p:cNvSpPr txBox="1"/>
          <p:nvPr/>
        </p:nvSpPr>
        <p:spPr>
          <a:xfrm>
            <a:off x="923974" y="1677064"/>
            <a:ext cx="4150560" cy="461665"/>
          </a:xfrm>
          <a:prstGeom prst="rect">
            <a:avLst/>
          </a:prstGeom>
          <a:noFill/>
        </p:spPr>
        <p:txBody>
          <a:bodyPr wrap="none" rtlCol="0">
            <a:spAutoFit/>
          </a:bodyPr>
          <a:lstStyle/>
          <a:p>
            <a:pPr lvl="0"/>
            <a:r>
              <a:rPr lang="en-US" sz="2400" b="1" dirty="0"/>
              <a:t>Regression in machine learning</a:t>
            </a:r>
          </a:p>
        </p:txBody>
      </p:sp>
      <p:pic>
        <p:nvPicPr>
          <p:cNvPr id="6" name="Imagen 5"/>
          <p:cNvPicPr>
            <a:picLocks noChangeAspect="1"/>
          </p:cNvPicPr>
          <p:nvPr/>
        </p:nvPicPr>
        <p:blipFill>
          <a:blip r:embed="rId2"/>
          <a:stretch>
            <a:fillRect/>
          </a:stretch>
        </p:blipFill>
        <p:spPr>
          <a:xfrm>
            <a:off x="1450040" y="2860039"/>
            <a:ext cx="4983797" cy="2635238"/>
          </a:xfrm>
          <a:prstGeom prst="rect">
            <a:avLst/>
          </a:prstGeom>
        </p:spPr>
      </p:pic>
      <p:sp>
        <p:nvSpPr>
          <p:cNvPr id="7" name="Rectángulo 6"/>
          <p:cNvSpPr/>
          <p:nvPr/>
        </p:nvSpPr>
        <p:spPr>
          <a:xfrm>
            <a:off x="6887417" y="3135479"/>
            <a:ext cx="3021106" cy="1938992"/>
          </a:xfrm>
          <a:prstGeom prst="rect">
            <a:avLst/>
          </a:prstGeom>
        </p:spPr>
        <p:txBody>
          <a:bodyPr wrap="square">
            <a:spAutoFit/>
          </a:bodyPr>
          <a:lstStyle/>
          <a:p>
            <a:pPr algn="ctr"/>
            <a:r>
              <a:rPr lang="en-US" sz="2000" dirty="0"/>
              <a:t>In this case… we can define a pattern!</a:t>
            </a:r>
          </a:p>
          <a:p>
            <a:pPr algn="ctr"/>
            <a:r>
              <a:rPr lang="en-US" sz="2000" dirty="0"/>
              <a:t>We want our algorithm to find and use this pattern to predict house prices based on house size.</a:t>
            </a:r>
          </a:p>
        </p:txBody>
      </p:sp>
    </p:spTree>
    <p:extLst>
      <p:ext uri="{BB962C8B-B14F-4D97-AF65-F5344CB8AC3E}">
        <p14:creationId xmlns:p14="http://schemas.microsoft.com/office/powerpoint/2010/main" val="3125210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3200400" y="6216588"/>
            <a:ext cx="6096000" cy="276999"/>
          </a:xfrm>
          <a:prstGeom prst="rect">
            <a:avLst/>
          </a:prstGeom>
        </p:spPr>
        <p:txBody>
          <a:bodyPr>
            <a:spAutoFit/>
          </a:bodyPr>
          <a:lstStyle/>
          <a:p>
            <a:r>
              <a:rPr lang="es-CO" sz="1200" dirty="0"/>
              <a:t>https://www.kdnuggets.com/2017/05/machine-learning-crash-course-part-1.html</a:t>
            </a:r>
          </a:p>
        </p:txBody>
      </p:sp>
      <p:sp>
        <p:nvSpPr>
          <p:cNvPr id="5" name="CuadroTexto 4"/>
          <p:cNvSpPr txBox="1"/>
          <p:nvPr/>
        </p:nvSpPr>
        <p:spPr>
          <a:xfrm>
            <a:off x="923974" y="1677064"/>
            <a:ext cx="4150560" cy="461665"/>
          </a:xfrm>
          <a:prstGeom prst="rect">
            <a:avLst/>
          </a:prstGeom>
          <a:noFill/>
        </p:spPr>
        <p:txBody>
          <a:bodyPr wrap="none" rtlCol="0">
            <a:spAutoFit/>
          </a:bodyPr>
          <a:lstStyle/>
          <a:p>
            <a:pPr lvl="0"/>
            <a:r>
              <a:rPr lang="en-US" sz="2400" b="1" dirty="0"/>
              <a:t>Regression in machine learning</a:t>
            </a:r>
          </a:p>
        </p:txBody>
      </p:sp>
      <p:sp>
        <p:nvSpPr>
          <p:cNvPr id="6" name="Rectángulo 5"/>
          <p:cNvSpPr/>
          <p:nvPr/>
        </p:nvSpPr>
        <p:spPr>
          <a:xfrm>
            <a:off x="6887417" y="3135479"/>
            <a:ext cx="3021106" cy="1323439"/>
          </a:xfrm>
          <a:prstGeom prst="rect">
            <a:avLst/>
          </a:prstGeom>
        </p:spPr>
        <p:txBody>
          <a:bodyPr wrap="square">
            <a:spAutoFit/>
          </a:bodyPr>
          <a:lstStyle/>
          <a:p>
            <a:pPr algn="ctr"/>
            <a:r>
              <a:rPr lang="en-US" sz="2000" dirty="0"/>
              <a:t>Intuitively we can see that there is a diagonal strip in the graph that most houses seem to land on</a:t>
            </a:r>
          </a:p>
        </p:txBody>
      </p:sp>
      <p:pic>
        <p:nvPicPr>
          <p:cNvPr id="7" name="Imagen 6"/>
          <p:cNvPicPr>
            <a:picLocks noChangeAspect="1"/>
          </p:cNvPicPr>
          <p:nvPr/>
        </p:nvPicPr>
        <p:blipFill>
          <a:blip r:embed="rId2"/>
          <a:stretch>
            <a:fillRect/>
          </a:stretch>
        </p:blipFill>
        <p:spPr>
          <a:xfrm>
            <a:off x="1420067" y="2758433"/>
            <a:ext cx="5467350" cy="2838450"/>
          </a:xfrm>
          <a:prstGeom prst="rect">
            <a:avLst/>
          </a:prstGeom>
        </p:spPr>
      </p:pic>
    </p:spTree>
    <p:extLst>
      <p:ext uri="{BB962C8B-B14F-4D97-AF65-F5344CB8AC3E}">
        <p14:creationId xmlns:p14="http://schemas.microsoft.com/office/powerpoint/2010/main" val="4241299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3200400" y="6216588"/>
            <a:ext cx="6096000" cy="276999"/>
          </a:xfrm>
          <a:prstGeom prst="rect">
            <a:avLst/>
          </a:prstGeom>
        </p:spPr>
        <p:txBody>
          <a:bodyPr>
            <a:spAutoFit/>
          </a:bodyPr>
          <a:lstStyle/>
          <a:p>
            <a:r>
              <a:rPr lang="es-CO" sz="1200" dirty="0"/>
              <a:t>https://www.kdnuggets.com/2017/05/machine-learning-crash-course-part-1.html</a:t>
            </a:r>
          </a:p>
        </p:txBody>
      </p:sp>
      <p:sp>
        <p:nvSpPr>
          <p:cNvPr id="5" name="CuadroTexto 4"/>
          <p:cNvSpPr txBox="1"/>
          <p:nvPr/>
        </p:nvSpPr>
        <p:spPr>
          <a:xfrm>
            <a:off x="923974" y="1677064"/>
            <a:ext cx="4150560" cy="461665"/>
          </a:xfrm>
          <a:prstGeom prst="rect">
            <a:avLst/>
          </a:prstGeom>
          <a:noFill/>
        </p:spPr>
        <p:txBody>
          <a:bodyPr wrap="none" rtlCol="0">
            <a:spAutoFit/>
          </a:bodyPr>
          <a:lstStyle/>
          <a:p>
            <a:pPr lvl="0"/>
            <a:r>
              <a:rPr lang="en-US" sz="2400" b="1" dirty="0"/>
              <a:t>Regression in machine learning</a:t>
            </a:r>
          </a:p>
        </p:txBody>
      </p:sp>
      <p:sp>
        <p:nvSpPr>
          <p:cNvPr id="6" name="Rectángulo 5"/>
          <p:cNvSpPr/>
          <p:nvPr/>
        </p:nvSpPr>
        <p:spPr>
          <a:xfrm>
            <a:off x="6654335" y="3207197"/>
            <a:ext cx="3021106" cy="1323439"/>
          </a:xfrm>
          <a:prstGeom prst="rect">
            <a:avLst/>
          </a:prstGeom>
        </p:spPr>
        <p:txBody>
          <a:bodyPr wrap="square">
            <a:spAutoFit/>
          </a:bodyPr>
          <a:lstStyle/>
          <a:p>
            <a:pPr algn="ctr"/>
            <a:r>
              <a:rPr lang="en-US" sz="2000" dirty="0"/>
              <a:t>The blue line, called a predictor, predicts the price of a house from its square footage. </a:t>
            </a:r>
          </a:p>
        </p:txBody>
      </p:sp>
      <p:pic>
        <p:nvPicPr>
          <p:cNvPr id="7" name="Imagen 6"/>
          <p:cNvPicPr>
            <a:picLocks noChangeAspect="1"/>
          </p:cNvPicPr>
          <p:nvPr/>
        </p:nvPicPr>
        <p:blipFill>
          <a:blip r:embed="rId2"/>
          <a:stretch>
            <a:fillRect/>
          </a:stretch>
        </p:blipFill>
        <p:spPr>
          <a:xfrm>
            <a:off x="654984" y="2791771"/>
            <a:ext cx="6076950" cy="2771775"/>
          </a:xfrm>
          <a:prstGeom prst="rect">
            <a:avLst/>
          </a:prstGeom>
        </p:spPr>
      </p:pic>
      <p:sp>
        <p:nvSpPr>
          <p:cNvPr id="8" name="Rectángulo 7"/>
          <p:cNvSpPr/>
          <p:nvPr/>
        </p:nvSpPr>
        <p:spPr>
          <a:xfrm>
            <a:off x="5791200" y="4911947"/>
            <a:ext cx="6096000" cy="923330"/>
          </a:xfrm>
          <a:prstGeom prst="rect">
            <a:avLst/>
          </a:prstGeom>
        </p:spPr>
        <p:txBody>
          <a:bodyPr>
            <a:spAutoFit/>
          </a:bodyPr>
          <a:lstStyle/>
          <a:p>
            <a:pPr algn="ctr"/>
            <a:r>
              <a:rPr lang="en-US" dirty="0"/>
              <a:t>So we’ve seen examples of one and two input variables, but many machine learning applications take into account hundreds and even thousands of variables. </a:t>
            </a:r>
            <a:endParaRPr lang="es-CO" dirty="0"/>
          </a:p>
        </p:txBody>
      </p:sp>
    </p:spTree>
    <p:extLst>
      <p:ext uri="{BB962C8B-B14F-4D97-AF65-F5344CB8AC3E}">
        <p14:creationId xmlns:p14="http://schemas.microsoft.com/office/powerpoint/2010/main" val="3162793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3200400" y="6216588"/>
            <a:ext cx="6096000" cy="276999"/>
          </a:xfrm>
          <a:prstGeom prst="rect">
            <a:avLst/>
          </a:prstGeom>
        </p:spPr>
        <p:txBody>
          <a:bodyPr>
            <a:spAutoFit/>
          </a:bodyPr>
          <a:lstStyle/>
          <a:p>
            <a:r>
              <a:rPr lang="es-CO" sz="1200" dirty="0"/>
              <a:t>https://www.kdnuggets.com/2017/05/machine-learning-crash-course-part-1.html</a:t>
            </a:r>
          </a:p>
        </p:txBody>
      </p:sp>
      <p:sp>
        <p:nvSpPr>
          <p:cNvPr id="5" name="CuadroTexto 4"/>
          <p:cNvSpPr txBox="1"/>
          <p:nvPr/>
        </p:nvSpPr>
        <p:spPr>
          <a:xfrm>
            <a:off x="923974" y="1677064"/>
            <a:ext cx="4150560" cy="461665"/>
          </a:xfrm>
          <a:prstGeom prst="rect">
            <a:avLst/>
          </a:prstGeom>
          <a:noFill/>
        </p:spPr>
        <p:txBody>
          <a:bodyPr wrap="none" rtlCol="0">
            <a:spAutoFit/>
          </a:bodyPr>
          <a:lstStyle/>
          <a:p>
            <a:pPr lvl="0"/>
            <a:r>
              <a:rPr lang="en-US" sz="2400" b="1" dirty="0"/>
              <a:t>Regression in machine learning</a:t>
            </a:r>
          </a:p>
        </p:txBody>
      </p:sp>
      <p:sp>
        <p:nvSpPr>
          <p:cNvPr id="6" name="Rectángulo 5"/>
          <p:cNvSpPr/>
          <p:nvPr/>
        </p:nvSpPr>
        <p:spPr>
          <a:xfrm>
            <a:off x="701770" y="2866539"/>
            <a:ext cx="3021106" cy="400110"/>
          </a:xfrm>
          <a:prstGeom prst="rect">
            <a:avLst/>
          </a:prstGeom>
        </p:spPr>
        <p:txBody>
          <a:bodyPr wrap="square">
            <a:spAutoFit/>
          </a:bodyPr>
          <a:lstStyle/>
          <a:p>
            <a:pPr algn="ctr"/>
            <a:r>
              <a:rPr lang="en-US" sz="2000" dirty="0"/>
              <a:t>The predictor</a:t>
            </a:r>
          </a:p>
        </p:txBody>
      </p:sp>
      <p:sp>
        <p:nvSpPr>
          <p:cNvPr id="7" name="Rectángulo 6"/>
          <p:cNvSpPr/>
          <p:nvPr/>
        </p:nvSpPr>
        <p:spPr>
          <a:xfrm>
            <a:off x="1828800" y="3343451"/>
            <a:ext cx="6096000" cy="1107996"/>
          </a:xfrm>
          <a:prstGeom prst="rect">
            <a:avLst/>
          </a:prstGeom>
        </p:spPr>
        <p:txBody>
          <a:bodyPr>
            <a:spAutoFit/>
          </a:bodyPr>
          <a:lstStyle/>
          <a:p>
            <a:pPr algn="ctr"/>
            <a:r>
              <a:rPr lang="en-US" i="1" dirty="0"/>
              <a:t>f(x) </a:t>
            </a:r>
            <a:r>
              <a:rPr lang="en-US" dirty="0"/>
              <a:t>= </a:t>
            </a:r>
            <a:r>
              <a:rPr lang="en-US" i="1" dirty="0" err="1"/>
              <a:t>c</a:t>
            </a:r>
            <a:r>
              <a:rPr lang="en-US" i="1" baseline="-25000" dirty="0" err="1"/>
              <a:t>n</a:t>
            </a:r>
            <a:r>
              <a:rPr lang="en-US" i="1" dirty="0" err="1"/>
              <a:t>x</a:t>
            </a:r>
            <a:r>
              <a:rPr lang="en-US" i="1" baseline="-25000" dirty="0" err="1"/>
              <a:t>n</a:t>
            </a:r>
            <a:r>
              <a:rPr lang="en-US" i="1" dirty="0"/>
              <a:t> +c</a:t>
            </a:r>
            <a:r>
              <a:rPr lang="en-US" i="1" baseline="-25000" dirty="0"/>
              <a:t>n1</a:t>
            </a:r>
            <a:r>
              <a:rPr lang="en-US" i="1" dirty="0"/>
              <a:t>x</a:t>
            </a:r>
            <a:r>
              <a:rPr lang="en-US" i="1" baseline="-25000" dirty="0"/>
              <a:t>n1</a:t>
            </a:r>
            <a:r>
              <a:rPr lang="en-US" i="1" dirty="0"/>
              <a:t> + … + c</a:t>
            </a:r>
            <a:r>
              <a:rPr lang="en-US" i="1" baseline="-25000" dirty="0"/>
              <a:t>0</a:t>
            </a:r>
          </a:p>
          <a:p>
            <a:pPr algn="ctr"/>
            <a:r>
              <a:rPr lang="en-US" i="1" baseline="-25000" dirty="0"/>
              <a:t>  </a:t>
            </a:r>
          </a:p>
          <a:p>
            <a:pPr algn="ctr"/>
            <a:r>
              <a:rPr lang="en-US" i="1" dirty="0"/>
              <a:t>x</a:t>
            </a:r>
            <a:r>
              <a:rPr lang="en-US" dirty="0"/>
              <a:t> is a feature</a:t>
            </a:r>
          </a:p>
          <a:p>
            <a:pPr algn="ctr"/>
            <a:r>
              <a:rPr lang="en-US" i="1" dirty="0"/>
              <a:t>c</a:t>
            </a:r>
            <a:r>
              <a:rPr lang="en-US" dirty="0"/>
              <a:t> is a parameter or weight</a:t>
            </a:r>
            <a:endParaRPr lang="es-CO" dirty="0"/>
          </a:p>
        </p:txBody>
      </p:sp>
      <p:sp>
        <p:nvSpPr>
          <p:cNvPr id="8" name="Rectángulo 7"/>
          <p:cNvSpPr/>
          <p:nvPr/>
        </p:nvSpPr>
        <p:spPr>
          <a:xfrm>
            <a:off x="2026534" y="4870432"/>
            <a:ext cx="6096000" cy="646331"/>
          </a:xfrm>
          <a:prstGeom prst="rect">
            <a:avLst/>
          </a:prstGeom>
        </p:spPr>
        <p:txBody>
          <a:bodyPr>
            <a:spAutoFit/>
          </a:bodyPr>
          <a:lstStyle/>
          <a:p>
            <a:pPr algn="ctr"/>
            <a:r>
              <a:rPr lang="en-US" i="1" dirty="0">
                <a:solidFill>
                  <a:srgbClr val="FF0000"/>
                </a:solidFill>
              </a:rPr>
              <a:t>In our example, the parameters could be the square footage and the number of power outlets!</a:t>
            </a:r>
            <a:endParaRPr lang="es-CO" dirty="0">
              <a:solidFill>
                <a:srgbClr val="FF0000"/>
              </a:solidFill>
            </a:endParaRPr>
          </a:p>
        </p:txBody>
      </p:sp>
    </p:spTree>
    <p:extLst>
      <p:ext uri="{BB962C8B-B14F-4D97-AF65-F5344CB8AC3E}">
        <p14:creationId xmlns:p14="http://schemas.microsoft.com/office/powerpoint/2010/main" val="1009552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3200400" y="6216588"/>
            <a:ext cx="6096000" cy="276999"/>
          </a:xfrm>
          <a:prstGeom prst="rect">
            <a:avLst/>
          </a:prstGeom>
        </p:spPr>
        <p:txBody>
          <a:bodyPr>
            <a:spAutoFit/>
          </a:bodyPr>
          <a:lstStyle/>
          <a:p>
            <a:r>
              <a:rPr lang="es-CO" sz="1200" dirty="0"/>
              <a:t>https://www.kdnuggets.com/2017/05/machine-learning-crash-course-part-1.html</a:t>
            </a:r>
          </a:p>
        </p:txBody>
      </p:sp>
      <p:sp>
        <p:nvSpPr>
          <p:cNvPr id="5" name="CuadroTexto 4"/>
          <p:cNvSpPr txBox="1"/>
          <p:nvPr/>
        </p:nvSpPr>
        <p:spPr>
          <a:xfrm>
            <a:off x="923974" y="1677064"/>
            <a:ext cx="4150560" cy="461665"/>
          </a:xfrm>
          <a:prstGeom prst="rect">
            <a:avLst/>
          </a:prstGeom>
          <a:noFill/>
        </p:spPr>
        <p:txBody>
          <a:bodyPr wrap="none" rtlCol="0">
            <a:spAutoFit/>
          </a:bodyPr>
          <a:lstStyle/>
          <a:p>
            <a:pPr lvl="0"/>
            <a:r>
              <a:rPr lang="en-US" sz="2400" b="1" dirty="0"/>
              <a:t>Regression in machine learning</a:t>
            </a:r>
          </a:p>
        </p:txBody>
      </p:sp>
      <p:sp>
        <p:nvSpPr>
          <p:cNvPr id="6" name="Rectángulo 5"/>
          <p:cNvSpPr/>
          <p:nvPr/>
        </p:nvSpPr>
        <p:spPr>
          <a:xfrm>
            <a:off x="154923" y="2852022"/>
            <a:ext cx="7402324" cy="400110"/>
          </a:xfrm>
          <a:prstGeom prst="rect">
            <a:avLst/>
          </a:prstGeom>
        </p:spPr>
        <p:txBody>
          <a:bodyPr wrap="square">
            <a:spAutoFit/>
          </a:bodyPr>
          <a:lstStyle/>
          <a:p>
            <a:pPr algn="ctr"/>
            <a:r>
              <a:rPr lang="en-US" sz="2000" dirty="0"/>
              <a:t>The predictor (in our example with only two variables)</a:t>
            </a:r>
          </a:p>
        </p:txBody>
      </p:sp>
      <p:sp>
        <p:nvSpPr>
          <p:cNvPr id="7" name="Rectángulo 6"/>
          <p:cNvSpPr/>
          <p:nvPr/>
        </p:nvSpPr>
        <p:spPr>
          <a:xfrm>
            <a:off x="-528918" y="3436291"/>
            <a:ext cx="6096000" cy="369332"/>
          </a:xfrm>
          <a:prstGeom prst="rect">
            <a:avLst/>
          </a:prstGeom>
        </p:spPr>
        <p:txBody>
          <a:bodyPr>
            <a:spAutoFit/>
          </a:bodyPr>
          <a:lstStyle/>
          <a:p>
            <a:pPr algn="ctr"/>
            <a:r>
              <a:rPr lang="en-US" i="1" dirty="0"/>
              <a:t>y(x) </a:t>
            </a:r>
            <a:r>
              <a:rPr lang="en-US" dirty="0"/>
              <a:t>= </a:t>
            </a:r>
            <a:r>
              <a:rPr lang="en-US" i="1" dirty="0"/>
              <a:t>c</a:t>
            </a:r>
            <a:r>
              <a:rPr lang="en-US" i="1" baseline="-25000" dirty="0"/>
              <a:t>1</a:t>
            </a:r>
            <a:r>
              <a:rPr lang="en-US" i="1" dirty="0"/>
              <a:t>x + c</a:t>
            </a:r>
            <a:r>
              <a:rPr lang="en-US" i="1" baseline="-25000" dirty="0"/>
              <a:t>0</a:t>
            </a:r>
            <a:endParaRPr lang="es-CO" dirty="0"/>
          </a:p>
        </p:txBody>
      </p:sp>
      <p:sp>
        <p:nvSpPr>
          <p:cNvPr id="8" name="Rectángulo 7"/>
          <p:cNvSpPr/>
          <p:nvPr/>
        </p:nvSpPr>
        <p:spPr>
          <a:xfrm>
            <a:off x="2411864" y="3989782"/>
            <a:ext cx="6096000" cy="923330"/>
          </a:xfrm>
          <a:prstGeom prst="rect">
            <a:avLst/>
          </a:prstGeom>
        </p:spPr>
        <p:txBody>
          <a:bodyPr>
            <a:spAutoFit/>
          </a:bodyPr>
          <a:lstStyle/>
          <a:p>
            <a:r>
              <a:rPr lang="en-US" i="1" dirty="0"/>
              <a:t>y(x): price of the house</a:t>
            </a:r>
            <a:endParaRPr lang="es-CO" i="1" dirty="0"/>
          </a:p>
          <a:p>
            <a:r>
              <a:rPr lang="es-CO" i="1" dirty="0"/>
              <a:t>x: </a:t>
            </a:r>
            <a:r>
              <a:rPr lang="en-US" i="1" dirty="0"/>
              <a:t>size of the house</a:t>
            </a:r>
          </a:p>
          <a:p>
            <a:r>
              <a:rPr lang="es-CO" i="1" dirty="0"/>
              <a:t>C</a:t>
            </a:r>
            <a:r>
              <a:rPr lang="es-CO" i="1" baseline="-25000" dirty="0"/>
              <a:t>0</a:t>
            </a:r>
            <a:r>
              <a:rPr lang="en-US" i="1" dirty="0"/>
              <a:t>: the base price of the house</a:t>
            </a:r>
            <a:endParaRPr lang="en-US" dirty="0"/>
          </a:p>
        </p:txBody>
      </p:sp>
      <p:sp>
        <p:nvSpPr>
          <p:cNvPr id="2" name="Rectángulo 1"/>
          <p:cNvSpPr/>
          <p:nvPr/>
        </p:nvSpPr>
        <p:spPr>
          <a:xfrm>
            <a:off x="5727192" y="4913112"/>
            <a:ext cx="6096000" cy="830997"/>
          </a:xfrm>
          <a:prstGeom prst="rect">
            <a:avLst/>
          </a:prstGeom>
        </p:spPr>
        <p:txBody>
          <a:bodyPr>
            <a:spAutoFit/>
          </a:bodyPr>
          <a:lstStyle/>
          <a:p>
            <a:pPr algn="ctr"/>
            <a:r>
              <a:rPr lang="en-US" sz="1600" dirty="0"/>
              <a:t>The goal is to calculate the parameters!</a:t>
            </a:r>
          </a:p>
          <a:p>
            <a:pPr algn="ctr"/>
            <a:r>
              <a:rPr lang="en-US" sz="1600" dirty="0"/>
              <a:t>The classical methods can get impractical when working with hundreds or thousands of variables, so we use machine learning algorithms.</a:t>
            </a:r>
            <a:endParaRPr lang="es-CO" sz="1600" dirty="0"/>
          </a:p>
        </p:txBody>
      </p:sp>
    </p:spTree>
    <p:extLst>
      <p:ext uri="{BB962C8B-B14F-4D97-AF65-F5344CB8AC3E}">
        <p14:creationId xmlns:p14="http://schemas.microsoft.com/office/powerpoint/2010/main" val="3690162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7149163" y="6372036"/>
            <a:ext cx="1459335" cy="276999"/>
          </a:xfrm>
          <a:prstGeom prst="rect">
            <a:avLst/>
          </a:prstGeom>
        </p:spPr>
        <p:txBody>
          <a:bodyPr>
            <a:spAutoFit/>
          </a:bodyPr>
          <a:lstStyle/>
          <a:p>
            <a:r>
              <a:rPr lang="es-CO" sz="1200" dirty="0" err="1"/>
              <a:t>Thales</a:t>
            </a:r>
            <a:r>
              <a:rPr lang="es-CO" sz="1200" dirty="0"/>
              <a:t> </a:t>
            </a:r>
            <a:r>
              <a:rPr lang="es-CO" sz="1200" dirty="0" err="1"/>
              <a:t>Sehn</a:t>
            </a:r>
            <a:r>
              <a:rPr lang="es-CO" sz="1200" dirty="0"/>
              <a:t> </a:t>
            </a:r>
            <a:r>
              <a:rPr lang="es-CO" sz="1200" dirty="0" err="1"/>
              <a:t>Korting</a:t>
            </a:r>
            <a:endParaRPr lang="es-CO" sz="1200" dirty="0"/>
          </a:p>
        </p:txBody>
      </p:sp>
      <p:sp>
        <p:nvSpPr>
          <p:cNvPr id="5" name="CuadroTexto 4"/>
          <p:cNvSpPr txBox="1"/>
          <p:nvPr/>
        </p:nvSpPr>
        <p:spPr>
          <a:xfrm>
            <a:off x="923974" y="1677064"/>
            <a:ext cx="5574090" cy="461665"/>
          </a:xfrm>
          <a:prstGeom prst="rect">
            <a:avLst/>
          </a:prstGeom>
          <a:noFill/>
        </p:spPr>
        <p:txBody>
          <a:bodyPr wrap="none" rtlCol="0">
            <a:spAutoFit/>
          </a:bodyPr>
          <a:lstStyle/>
          <a:p>
            <a:pPr lvl="0"/>
            <a:r>
              <a:rPr lang="en-US" sz="2400" b="1" dirty="0"/>
              <a:t>Traditional algorithms in machine learning</a:t>
            </a:r>
          </a:p>
        </p:txBody>
      </p:sp>
      <p:sp>
        <p:nvSpPr>
          <p:cNvPr id="6" name="Rectángulo 5"/>
          <p:cNvSpPr/>
          <p:nvPr/>
        </p:nvSpPr>
        <p:spPr>
          <a:xfrm>
            <a:off x="-1006365" y="2405239"/>
            <a:ext cx="7402324" cy="400110"/>
          </a:xfrm>
          <a:prstGeom prst="rect">
            <a:avLst/>
          </a:prstGeom>
        </p:spPr>
        <p:txBody>
          <a:bodyPr wrap="square">
            <a:spAutoFit/>
          </a:bodyPr>
          <a:lstStyle/>
          <a:p>
            <a:pPr algn="ctr"/>
            <a:r>
              <a:rPr lang="en-US" sz="2000" b="1" dirty="0"/>
              <a:t>k-NN (k-nearest neighbor)</a:t>
            </a:r>
          </a:p>
        </p:txBody>
      </p:sp>
      <p:pic>
        <p:nvPicPr>
          <p:cNvPr id="9" name="Imagen 8"/>
          <p:cNvPicPr>
            <a:picLocks noChangeAspect="1"/>
          </p:cNvPicPr>
          <p:nvPr/>
        </p:nvPicPr>
        <p:blipFill>
          <a:blip r:embed="rId2"/>
          <a:stretch>
            <a:fillRect/>
          </a:stretch>
        </p:blipFill>
        <p:spPr>
          <a:xfrm>
            <a:off x="1504199" y="2964730"/>
            <a:ext cx="5269971" cy="3279290"/>
          </a:xfrm>
          <a:prstGeom prst="rect">
            <a:avLst/>
          </a:prstGeom>
        </p:spPr>
      </p:pic>
      <p:sp>
        <p:nvSpPr>
          <p:cNvPr id="10" name="Rectángulo 9"/>
          <p:cNvSpPr/>
          <p:nvPr/>
        </p:nvSpPr>
        <p:spPr>
          <a:xfrm>
            <a:off x="-524781" y="4523599"/>
            <a:ext cx="7402324" cy="400110"/>
          </a:xfrm>
          <a:prstGeom prst="rect">
            <a:avLst/>
          </a:prstGeom>
        </p:spPr>
        <p:txBody>
          <a:bodyPr wrap="square">
            <a:spAutoFit/>
          </a:bodyPr>
          <a:lstStyle/>
          <a:p>
            <a:pPr algn="ctr"/>
            <a:r>
              <a:rPr lang="en-US" sz="2000" dirty="0">
                <a:solidFill>
                  <a:srgbClr val="FF0000"/>
                </a:solidFill>
              </a:rPr>
              <a:t>c</a:t>
            </a:r>
          </a:p>
        </p:txBody>
      </p:sp>
    </p:spTree>
    <p:extLst>
      <p:ext uri="{BB962C8B-B14F-4D97-AF65-F5344CB8AC3E}">
        <p14:creationId xmlns:p14="http://schemas.microsoft.com/office/powerpoint/2010/main" val="371641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7149163" y="6372036"/>
            <a:ext cx="1459335" cy="276999"/>
          </a:xfrm>
          <a:prstGeom prst="rect">
            <a:avLst/>
          </a:prstGeom>
        </p:spPr>
        <p:txBody>
          <a:bodyPr>
            <a:spAutoFit/>
          </a:bodyPr>
          <a:lstStyle/>
          <a:p>
            <a:r>
              <a:rPr lang="es-CO" sz="1200" dirty="0" err="1"/>
              <a:t>Thales</a:t>
            </a:r>
            <a:r>
              <a:rPr lang="es-CO" sz="1200" dirty="0"/>
              <a:t> </a:t>
            </a:r>
            <a:r>
              <a:rPr lang="es-CO" sz="1200" dirty="0" err="1"/>
              <a:t>Sehn</a:t>
            </a:r>
            <a:r>
              <a:rPr lang="es-CO" sz="1200" dirty="0"/>
              <a:t> </a:t>
            </a:r>
            <a:r>
              <a:rPr lang="es-CO" sz="1200" dirty="0" err="1"/>
              <a:t>Korting</a:t>
            </a:r>
            <a:endParaRPr lang="es-CO" sz="1200" dirty="0"/>
          </a:p>
        </p:txBody>
      </p:sp>
      <p:sp>
        <p:nvSpPr>
          <p:cNvPr id="5" name="CuadroTexto 4"/>
          <p:cNvSpPr txBox="1"/>
          <p:nvPr/>
        </p:nvSpPr>
        <p:spPr>
          <a:xfrm>
            <a:off x="923974" y="1677064"/>
            <a:ext cx="5574090" cy="461665"/>
          </a:xfrm>
          <a:prstGeom prst="rect">
            <a:avLst/>
          </a:prstGeom>
          <a:noFill/>
        </p:spPr>
        <p:txBody>
          <a:bodyPr wrap="none" rtlCol="0">
            <a:spAutoFit/>
          </a:bodyPr>
          <a:lstStyle/>
          <a:p>
            <a:pPr lvl="0"/>
            <a:r>
              <a:rPr lang="en-US" sz="2400" b="1" dirty="0"/>
              <a:t>Traditional algorithms in machine learning</a:t>
            </a:r>
          </a:p>
        </p:txBody>
      </p:sp>
      <p:sp>
        <p:nvSpPr>
          <p:cNvPr id="6" name="Rectángulo 5"/>
          <p:cNvSpPr/>
          <p:nvPr/>
        </p:nvSpPr>
        <p:spPr>
          <a:xfrm>
            <a:off x="-1006365" y="2405239"/>
            <a:ext cx="7402324" cy="400110"/>
          </a:xfrm>
          <a:prstGeom prst="rect">
            <a:avLst/>
          </a:prstGeom>
        </p:spPr>
        <p:txBody>
          <a:bodyPr wrap="square">
            <a:spAutoFit/>
          </a:bodyPr>
          <a:lstStyle/>
          <a:p>
            <a:pPr algn="ctr"/>
            <a:r>
              <a:rPr lang="en-US" sz="2000" b="1" dirty="0"/>
              <a:t>k-NN (k-nearest neighbor)</a:t>
            </a:r>
          </a:p>
        </p:txBody>
      </p:sp>
      <p:pic>
        <p:nvPicPr>
          <p:cNvPr id="9" name="Imagen 8"/>
          <p:cNvPicPr>
            <a:picLocks noChangeAspect="1"/>
          </p:cNvPicPr>
          <p:nvPr/>
        </p:nvPicPr>
        <p:blipFill>
          <a:blip r:embed="rId2"/>
          <a:stretch>
            <a:fillRect/>
          </a:stretch>
        </p:blipFill>
        <p:spPr>
          <a:xfrm>
            <a:off x="1504199" y="2964730"/>
            <a:ext cx="5269971" cy="3279290"/>
          </a:xfrm>
          <a:prstGeom prst="rect">
            <a:avLst/>
          </a:prstGeom>
        </p:spPr>
      </p:pic>
      <p:sp>
        <p:nvSpPr>
          <p:cNvPr id="10" name="Rectángulo 9"/>
          <p:cNvSpPr/>
          <p:nvPr/>
        </p:nvSpPr>
        <p:spPr>
          <a:xfrm>
            <a:off x="-524781" y="4523599"/>
            <a:ext cx="7402324" cy="400110"/>
          </a:xfrm>
          <a:prstGeom prst="rect">
            <a:avLst/>
          </a:prstGeom>
        </p:spPr>
        <p:txBody>
          <a:bodyPr wrap="square">
            <a:spAutoFit/>
          </a:bodyPr>
          <a:lstStyle/>
          <a:p>
            <a:pPr algn="ctr"/>
            <a:r>
              <a:rPr lang="en-US" sz="2000" dirty="0">
                <a:solidFill>
                  <a:srgbClr val="FF0000"/>
                </a:solidFill>
              </a:rPr>
              <a:t>c</a:t>
            </a:r>
          </a:p>
        </p:txBody>
      </p:sp>
      <p:pic>
        <p:nvPicPr>
          <p:cNvPr id="2" name="Imagen 1"/>
          <p:cNvPicPr>
            <a:picLocks noChangeAspect="1"/>
          </p:cNvPicPr>
          <p:nvPr/>
        </p:nvPicPr>
        <p:blipFill>
          <a:blip r:embed="rId3"/>
          <a:stretch>
            <a:fillRect/>
          </a:stretch>
        </p:blipFill>
        <p:spPr>
          <a:xfrm>
            <a:off x="5154261" y="3973400"/>
            <a:ext cx="2119541" cy="1261950"/>
          </a:xfrm>
          <a:prstGeom prst="rect">
            <a:avLst/>
          </a:prstGeom>
        </p:spPr>
      </p:pic>
      <p:sp>
        <p:nvSpPr>
          <p:cNvPr id="3" name="Elipse 2"/>
          <p:cNvSpPr/>
          <p:nvPr/>
        </p:nvSpPr>
        <p:spPr>
          <a:xfrm>
            <a:off x="2694797" y="4288536"/>
            <a:ext cx="1016222" cy="928526"/>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1912258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1332645" y="3106576"/>
            <a:ext cx="5816518" cy="3363715"/>
          </a:xfrm>
          <a:prstGeom prst="rect">
            <a:avLst/>
          </a:prstGeom>
        </p:spPr>
      </p:pic>
      <p:sp>
        <p:nvSpPr>
          <p:cNvPr id="5" name="Rectángulo 4"/>
          <p:cNvSpPr/>
          <p:nvPr/>
        </p:nvSpPr>
        <p:spPr>
          <a:xfrm>
            <a:off x="7149163" y="6372036"/>
            <a:ext cx="1459335" cy="276999"/>
          </a:xfrm>
          <a:prstGeom prst="rect">
            <a:avLst/>
          </a:prstGeom>
        </p:spPr>
        <p:txBody>
          <a:bodyPr>
            <a:spAutoFit/>
          </a:bodyPr>
          <a:lstStyle/>
          <a:p>
            <a:r>
              <a:rPr lang="es-CO" sz="1200" dirty="0" err="1"/>
              <a:t>Thales</a:t>
            </a:r>
            <a:r>
              <a:rPr lang="es-CO" sz="1200" dirty="0"/>
              <a:t> </a:t>
            </a:r>
            <a:r>
              <a:rPr lang="es-CO" sz="1200" dirty="0" err="1"/>
              <a:t>Sehn</a:t>
            </a:r>
            <a:r>
              <a:rPr lang="es-CO" sz="1200" dirty="0"/>
              <a:t> </a:t>
            </a:r>
            <a:r>
              <a:rPr lang="es-CO" sz="1200" dirty="0" err="1"/>
              <a:t>Korting</a:t>
            </a:r>
            <a:endParaRPr lang="es-CO" sz="1200" dirty="0"/>
          </a:p>
        </p:txBody>
      </p:sp>
      <p:sp>
        <p:nvSpPr>
          <p:cNvPr id="6" name="CuadroTexto 5"/>
          <p:cNvSpPr txBox="1"/>
          <p:nvPr/>
        </p:nvSpPr>
        <p:spPr>
          <a:xfrm>
            <a:off x="923974" y="1677064"/>
            <a:ext cx="5574090" cy="461665"/>
          </a:xfrm>
          <a:prstGeom prst="rect">
            <a:avLst/>
          </a:prstGeom>
          <a:noFill/>
        </p:spPr>
        <p:txBody>
          <a:bodyPr wrap="none" rtlCol="0">
            <a:spAutoFit/>
          </a:bodyPr>
          <a:lstStyle/>
          <a:p>
            <a:pPr lvl="0"/>
            <a:r>
              <a:rPr lang="en-US" sz="2400" b="1" dirty="0"/>
              <a:t>Traditional algorithms in machine learning</a:t>
            </a:r>
          </a:p>
        </p:txBody>
      </p:sp>
      <p:sp>
        <p:nvSpPr>
          <p:cNvPr id="7" name="Rectángulo 6"/>
          <p:cNvSpPr/>
          <p:nvPr/>
        </p:nvSpPr>
        <p:spPr>
          <a:xfrm>
            <a:off x="-1006365" y="2405239"/>
            <a:ext cx="7402324" cy="400110"/>
          </a:xfrm>
          <a:prstGeom prst="rect">
            <a:avLst/>
          </a:prstGeom>
        </p:spPr>
        <p:txBody>
          <a:bodyPr wrap="square">
            <a:spAutoFit/>
          </a:bodyPr>
          <a:lstStyle/>
          <a:p>
            <a:pPr algn="ctr"/>
            <a:r>
              <a:rPr lang="en-US" sz="2000" b="1" dirty="0"/>
              <a:t>k-NN (k-nearest neighbor)</a:t>
            </a:r>
          </a:p>
        </p:txBody>
      </p:sp>
      <p:pic>
        <p:nvPicPr>
          <p:cNvPr id="8" name="Imagen 7"/>
          <p:cNvPicPr>
            <a:picLocks noChangeAspect="1"/>
          </p:cNvPicPr>
          <p:nvPr/>
        </p:nvPicPr>
        <p:blipFill>
          <a:blip r:embed="rId3"/>
          <a:stretch>
            <a:fillRect/>
          </a:stretch>
        </p:blipFill>
        <p:spPr>
          <a:xfrm>
            <a:off x="7602705" y="2679490"/>
            <a:ext cx="4009180" cy="2267114"/>
          </a:xfrm>
          <a:prstGeom prst="rect">
            <a:avLst/>
          </a:prstGeom>
        </p:spPr>
      </p:pic>
    </p:spTree>
    <p:extLst>
      <p:ext uri="{BB962C8B-B14F-4D97-AF65-F5344CB8AC3E}">
        <p14:creationId xmlns:p14="http://schemas.microsoft.com/office/powerpoint/2010/main" val="324423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7149163" y="6372036"/>
            <a:ext cx="1459335" cy="276999"/>
          </a:xfrm>
          <a:prstGeom prst="rect">
            <a:avLst/>
          </a:prstGeom>
        </p:spPr>
        <p:txBody>
          <a:bodyPr>
            <a:spAutoFit/>
          </a:bodyPr>
          <a:lstStyle/>
          <a:p>
            <a:r>
              <a:rPr lang="es-CO" sz="1200" dirty="0" err="1"/>
              <a:t>Thales</a:t>
            </a:r>
            <a:r>
              <a:rPr lang="es-CO" sz="1200" dirty="0"/>
              <a:t> </a:t>
            </a:r>
            <a:r>
              <a:rPr lang="es-CO" sz="1200" dirty="0" err="1"/>
              <a:t>Sehn</a:t>
            </a:r>
            <a:r>
              <a:rPr lang="es-CO" sz="1200" dirty="0"/>
              <a:t> </a:t>
            </a:r>
            <a:r>
              <a:rPr lang="es-CO" sz="1200" dirty="0" err="1"/>
              <a:t>Korting</a:t>
            </a:r>
            <a:endParaRPr lang="es-CO" sz="1200" dirty="0"/>
          </a:p>
        </p:txBody>
      </p:sp>
      <p:sp>
        <p:nvSpPr>
          <p:cNvPr id="6" name="CuadroTexto 5"/>
          <p:cNvSpPr txBox="1"/>
          <p:nvPr/>
        </p:nvSpPr>
        <p:spPr>
          <a:xfrm>
            <a:off x="923974" y="1677064"/>
            <a:ext cx="5574090" cy="461665"/>
          </a:xfrm>
          <a:prstGeom prst="rect">
            <a:avLst/>
          </a:prstGeom>
          <a:noFill/>
        </p:spPr>
        <p:txBody>
          <a:bodyPr wrap="none" rtlCol="0">
            <a:spAutoFit/>
          </a:bodyPr>
          <a:lstStyle/>
          <a:p>
            <a:pPr lvl="0"/>
            <a:r>
              <a:rPr lang="en-US" sz="2400" b="1" dirty="0"/>
              <a:t>Traditional algorithms in machine learning</a:t>
            </a:r>
          </a:p>
        </p:txBody>
      </p:sp>
      <p:sp>
        <p:nvSpPr>
          <p:cNvPr id="7" name="Rectángulo 6"/>
          <p:cNvSpPr/>
          <p:nvPr/>
        </p:nvSpPr>
        <p:spPr>
          <a:xfrm>
            <a:off x="-1006365" y="2405239"/>
            <a:ext cx="7402324" cy="400110"/>
          </a:xfrm>
          <a:prstGeom prst="rect">
            <a:avLst/>
          </a:prstGeom>
        </p:spPr>
        <p:txBody>
          <a:bodyPr wrap="square">
            <a:spAutoFit/>
          </a:bodyPr>
          <a:lstStyle/>
          <a:p>
            <a:pPr algn="ctr"/>
            <a:r>
              <a:rPr lang="en-US" sz="2000" b="1" dirty="0"/>
              <a:t>Naive Bayes algorithm</a:t>
            </a:r>
          </a:p>
        </p:txBody>
      </p:sp>
      <p:sp>
        <p:nvSpPr>
          <p:cNvPr id="2" name="Rectángulo 1"/>
          <p:cNvSpPr/>
          <p:nvPr/>
        </p:nvSpPr>
        <p:spPr>
          <a:xfrm>
            <a:off x="923974" y="5519851"/>
            <a:ext cx="10594848" cy="369332"/>
          </a:xfrm>
          <a:prstGeom prst="rect">
            <a:avLst/>
          </a:prstGeom>
        </p:spPr>
        <p:txBody>
          <a:bodyPr wrap="square">
            <a:spAutoFit/>
          </a:bodyPr>
          <a:lstStyle/>
          <a:p>
            <a:r>
              <a:rPr lang="en-US" dirty="0"/>
              <a:t>It is a classification technique based on Bayes’ Theorem with an assumption of independence among predictors.</a:t>
            </a:r>
            <a:endParaRPr lang="es-CO" dirty="0"/>
          </a:p>
        </p:txBody>
      </p:sp>
      <mc:AlternateContent xmlns:mc="http://schemas.openxmlformats.org/markup-compatibility/2006" xmlns:a14="http://schemas.microsoft.com/office/drawing/2010/main">
        <mc:Choice Requires="a14">
          <p:sp>
            <p:nvSpPr>
              <p:cNvPr id="9" name="Rectángulo 8"/>
              <p:cNvSpPr/>
              <p:nvPr/>
            </p:nvSpPr>
            <p:spPr>
              <a:xfrm>
                <a:off x="2612501" y="3463498"/>
                <a:ext cx="3030142" cy="699102"/>
              </a:xfrm>
              <a:prstGeom prst="rect">
                <a:avLst/>
              </a:prstGeom>
            </p:spPr>
            <p:txBody>
              <a:bodyPr wrap="square">
                <a:spAutoFit/>
              </a:bodyPr>
              <a:lstStyle/>
              <a:p>
                <a:r>
                  <a:rPr lang="en-US" sz="2200" i="1" dirty="0"/>
                  <a:t>P(</a:t>
                </a:r>
                <a:r>
                  <a:rPr lang="en-US" sz="2200" i="1" dirty="0" err="1"/>
                  <a:t>c│x</a:t>
                </a:r>
                <a:r>
                  <a:rPr lang="en-US" sz="2200" i="1" dirty="0"/>
                  <a:t>) = </a:t>
                </a:r>
                <a14:m>
                  <m:oMath xmlns:m="http://schemas.openxmlformats.org/officeDocument/2006/math">
                    <m:f>
                      <m:fPr>
                        <m:ctrlPr>
                          <a:rPr lang="en-US" sz="2200" i="1" smtClean="0">
                            <a:latin typeface="Cambria Math" panose="02040503050406030204" pitchFamily="18" charset="0"/>
                          </a:rPr>
                        </m:ctrlPr>
                      </m:fPr>
                      <m:num>
                        <m:r>
                          <m:rPr>
                            <m:nor/>
                          </m:rPr>
                          <a:rPr lang="en-US" sz="2200" i="1" dirty="0"/>
                          <m:t>P</m:t>
                        </m:r>
                        <m:r>
                          <m:rPr>
                            <m:nor/>
                          </m:rPr>
                          <a:rPr lang="en-US" sz="2200" i="1" dirty="0"/>
                          <m:t>(</m:t>
                        </m:r>
                        <m:r>
                          <m:rPr>
                            <m:nor/>
                          </m:rPr>
                          <a:rPr lang="en-US" sz="2200" i="1" dirty="0"/>
                          <m:t>x</m:t>
                        </m:r>
                        <m:r>
                          <m:rPr>
                            <m:nor/>
                          </m:rPr>
                          <a:rPr lang="en-US" sz="2200" i="1" dirty="0"/>
                          <m:t>│</m:t>
                        </m:r>
                        <m:r>
                          <m:rPr>
                            <m:nor/>
                          </m:rPr>
                          <a:rPr lang="en-US" sz="2200" i="1" dirty="0"/>
                          <m:t>c</m:t>
                        </m:r>
                        <m:r>
                          <m:rPr>
                            <m:nor/>
                          </m:rPr>
                          <a:rPr lang="en-US" sz="2200" i="1" dirty="0"/>
                          <m:t>)</m:t>
                        </m:r>
                        <m:r>
                          <m:rPr>
                            <m:nor/>
                          </m:rPr>
                          <a:rPr lang="en-US" sz="2200" i="1" dirty="0"/>
                          <m:t>P</m:t>
                        </m:r>
                        <m:r>
                          <m:rPr>
                            <m:nor/>
                          </m:rPr>
                          <a:rPr lang="en-US" sz="2200" i="1" dirty="0"/>
                          <m:t>(</m:t>
                        </m:r>
                        <m:r>
                          <m:rPr>
                            <m:nor/>
                          </m:rPr>
                          <a:rPr lang="en-US" sz="2200" i="1" dirty="0"/>
                          <m:t>c</m:t>
                        </m:r>
                        <m:r>
                          <m:rPr>
                            <m:nor/>
                          </m:rPr>
                          <a:rPr lang="en-US" sz="2200" i="1" dirty="0"/>
                          <m:t>)</m:t>
                        </m:r>
                      </m:num>
                      <m:den>
                        <m:r>
                          <m:rPr>
                            <m:nor/>
                          </m:rPr>
                          <a:rPr lang="en-US" sz="2200" i="1" dirty="0"/>
                          <m:t>P</m:t>
                        </m:r>
                        <m:r>
                          <m:rPr>
                            <m:nor/>
                          </m:rPr>
                          <a:rPr lang="en-US" sz="2200" i="1" dirty="0"/>
                          <m:t>(</m:t>
                        </m:r>
                        <m:r>
                          <m:rPr>
                            <m:nor/>
                          </m:rPr>
                          <a:rPr lang="en-US" sz="2200" i="1" dirty="0"/>
                          <m:t>x</m:t>
                        </m:r>
                        <m:r>
                          <m:rPr>
                            <m:nor/>
                          </m:rPr>
                          <a:rPr lang="en-US" sz="2200" i="1" dirty="0"/>
                          <m:t>)</m:t>
                        </m:r>
                        <m:r>
                          <m:rPr>
                            <m:nor/>
                          </m:rPr>
                          <a:rPr lang="es-CO" sz="2200" i="1" dirty="0"/>
                          <m:t> </m:t>
                        </m:r>
                      </m:den>
                    </m:f>
                  </m:oMath>
                </a14:m>
                <a:endParaRPr lang="es-CO" sz="2200" i="1" dirty="0"/>
              </a:p>
            </p:txBody>
          </p:sp>
        </mc:Choice>
        <mc:Fallback xmlns="">
          <p:sp>
            <p:nvSpPr>
              <p:cNvPr id="9" name="Rectángulo 8"/>
              <p:cNvSpPr>
                <a:spLocks noRot="1" noChangeAspect="1" noMove="1" noResize="1" noEditPoints="1" noAdjustHandles="1" noChangeArrowheads="1" noChangeShapeType="1" noTextEdit="1"/>
              </p:cNvSpPr>
              <p:nvPr/>
            </p:nvSpPr>
            <p:spPr>
              <a:xfrm>
                <a:off x="2612501" y="3463498"/>
                <a:ext cx="3030142" cy="699102"/>
              </a:xfrm>
              <a:prstGeom prst="rect">
                <a:avLst/>
              </a:prstGeom>
              <a:blipFill rotWithShape="0">
                <a:blip r:embed="rId2"/>
                <a:stretch>
                  <a:fillRect l="-2616" b="-870"/>
                </a:stretch>
              </a:blipFill>
            </p:spPr>
            <p:txBody>
              <a:bodyPr/>
              <a:lstStyle/>
              <a:p>
                <a:r>
                  <a:rPr lang="es-CO">
                    <a:noFill/>
                  </a:rPr>
                  <a:t> </a:t>
                </a:r>
              </a:p>
            </p:txBody>
          </p:sp>
        </mc:Fallback>
      </mc:AlternateContent>
      <p:sp>
        <p:nvSpPr>
          <p:cNvPr id="10" name="Rectángulo 9"/>
          <p:cNvSpPr/>
          <p:nvPr/>
        </p:nvSpPr>
        <p:spPr>
          <a:xfrm>
            <a:off x="923974" y="4469752"/>
            <a:ext cx="2184986" cy="307777"/>
          </a:xfrm>
          <a:prstGeom prst="rect">
            <a:avLst/>
          </a:prstGeom>
        </p:spPr>
        <p:txBody>
          <a:bodyPr wrap="square">
            <a:spAutoFit/>
          </a:bodyPr>
          <a:lstStyle/>
          <a:p>
            <a:r>
              <a:rPr lang="en-US" sz="1400" dirty="0"/>
              <a:t>Posterior probability</a:t>
            </a:r>
            <a:endParaRPr lang="es-CO" sz="1400" dirty="0"/>
          </a:p>
        </p:txBody>
      </p:sp>
      <p:sp>
        <p:nvSpPr>
          <p:cNvPr id="11" name="Rectángulo 10"/>
          <p:cNvSpPr/>
          <p:nvPr/>
        </p:nvSpPr>
        <p:spPr>
          <a:xfrm>
            <a:off x="4684310" y="2861451"/>
            <a:ext cx="2184986" cy="307777"/>
          </a:xfrm>
          <a:prstGeom prst="rect">
            <a:avLst/>
          </a:prstGeom>
        </p:spPr>
        <p:txBody>
          <a:bodyPr wrap="square">
            <a:spAutoFit/>
          </a:bodyPr>
          <a:lstStyle/>
          <a:p>
            <a:r>
              <a:rPr lang="en-US" sz="1400" dirty="0"/>
              <a:t>Class prior probability</a:t>
            </a:r>
            <a:endParaRPr lang="es-CO" sz="1400" dirty="0"/>
          </a:p>
        </p:txBody>
      </p:sp>
      <p:sp>
        <p:nvSpPr>
          <p:cNvPr id="12" name="Rectángulo 11"/>
          <p:cNvSpPr/>
          <p:nvPr/>
        </p:nvSpPr>
        <p:spPr>
          <a:xfrm>
            <a:off x="5032678" y="4357494"/>
            <a:ext cx="2184986" cy="307777"/>
          </a:xfrm>
          <a:prstGeom prst="rect">
            <a:avLst/>
          </a:prstGeom>
        </p:spPr>
        <p:txBody>
          <a:bodyPr wrap="square">
            <a:spAutoFit/>
          </a:bodyPr>
          <a:lstStyle/>
          <a:p>
            <a:r>
              <a:rPr lang="en-US" sz="1400" dirty="0"/>
              <a:t>Predictor prior probability</a:t>
            </a:r>
            <a:endParaRPr lang="es-CO" sz="1400" dirty="0"/>
          </a:p>
        </p:txBody>
      </p:sp>
      <p:sp>
        <p:nvSpPr>
          <p:cNvPr id="13" name="Rectángulo 12"/>
          <p:cNvSpPr/>
          <p:nvPr/>
        </p:nvSpPr>
        <p:spPr>
          <a:xfrm>
            <a:off x="3035079" y="2860760"/>
            <a:ext cx="2184986" cy="307777"/>
          </a:xfrm>
          <a:prstGeom prst="rect">
            <a:avLst/>
          </a:prstGeom>
        </p:spPr>
        <p:txBody>
          <a:bodyPr wrap="square">
            <a:spAutoFit/>
          </a:bodyPr>
          <a:lstStyle/>
          <a:p>
            <a:r>
              <a:rPr lang="en-US" sz="1400" dirty="0"/>
              <a:t>Likelihood</a:t>
            </a:r>
            <a:endParaRPr lang="es-CO" sz="1400" dirty="0"/>
          </a:p>
        </p:txBody>
      </p:sp>
      <p:cxnSp>
        <p:nvCxnSpPr>
          <p:cNvPr id="15" name="Conector recto de flecha 14"/>
          <p:cNvCxnSpPr/>
          <p:nvPr/>
        </p:nvCxnSpPr>
        <p:spPr>
          <a:xfrm flipH="1">
            <a:off x="4814324" y="3180882"/>
            <a:ext cx="436707" cy="43719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p:cNvCxnSpPr/>
          <p:nvPr/>
        </p:nvCxnSpPr>
        <p:spPr>
          <a:xfrm flipH="1" flipV="1">
            <a:off x="4503858" y="4029707"/>
            <a:ext cx="528819" cy="32709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p:cNvCxnSpPr/>
          <p:nvPr/>
        </p:nvCxnSpPr>
        <p:spPr>
          <a:xfrm>
            <a:off x="3621238" y="3127951"/>
            <a:ext cx="246674" cy="32320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p:cNvCxnSpPr/>
          <p:nvPr/>
        </p:nvCxnSpPr>
        <p:spPr>
          <a:xfrm flipV="1">
            <a:off x="2237446" y="4029707"/>
            <a:ext cx="533186" cy="32832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23" name="Imagen 22"/>
          <p:cNvPicPr>
            <a:picLocks noChangeAspect="1"/>
          </p:cNvPicPr>
          <p:nvPr/>
        </p:nvPicPr>
        <p:blipFill>
          <a:blip r:embed="rId3"/>
          <a:stretch>
            <a:fillRect/>
          </a:stretch>
        </p:blipFill>
        <p:spPr>
          <a:xfrm>
            <a:off x="8045190" y="2317953"/>
            <a:ext cx="1422450" cy="1422450"/>
          </a:xfrm>
          <a:prstGeom prst="rect">
            <a:avLst/>
          </a:prstGeom>
        </p:spPr>
      </p:pic>
      <p:sp>
        <p:nvSpPr>
          <p:cNvPr id="24" name="Rectángulo 23"/>
          <p:cNvSpPr/>
          <p:nvPr/>
        </p:nvSpPr>
        <p:spPr>
          <a:xfrm>
            <a:off x="9321336" y="2212252"/>
            <a:ext cx="2204546" cy="1754326"/>
          </a:xfrm>
          <a:prstGeom prst="rect">
            <a:avLst/>
          </a:prstGeom>
        </p:spPr>
        <p:txBody>
          <a:bodyPr wrap="square">
            <a:spAutoFit/>
          </a:bodyPr>
          <a:lstStyle/>
          <a:p>
            <a:r>
              <a:rPr lang="en-US" dirty="0"/>
              <a:t>For example, a fruit may be considered to be an apple if it is red, round, and about 3 inches in diameter.</a:t>
            </a:r>
            <a:endParaRPr lang="es-CO" dirty="0"/>
          </a:p>
        </p:txBody>
      </p:sp>
    </p:spTree>
    <p:extLst>
      <p:ext uri="{BB962C8B-B14F-4D97-AF65-F5344CB8AC3E}">
        <p14:creationId xmlns:p14="http://schemas.microsoft.com/office/powerpoint/2010/main" val="5969804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923974" y="1677064"/>
            <a:ext cx="5574090" cy="461665"/>
          </a:xfrm>
          <a:prstGeom prst="rect">
            <a:avLst/>
          </a:prstGeom>
          <a:noFill/>
        </p:spPr>
        <p:txBody>
          <a:bodyPr wrap="none" rtlCol="0">
            <a:spAutoFit/>
          </a:bodyPr>
          <a:lstStyle/>
          <a:p>
            <a:pPr lvl="0"/>
            <a:r>
              <a:rPr lang="en-US" sz="2400" b="1" dirty="0"/>
              <a:t>Traditional algorithms in machine learning</a:t>
            </a:r>
          </a:p>
        </p:txBody>
      </p:sp>
      <p:sp>
        <p:nvSpPr>
          <p:cNvPr id="7" name="Rectángulo 6"/>
          <p:cNvSpPr/>
          <p:nvPr/>
        </p:nvSpPr>
        <p:spPr>
          <a:xfrm>
            <a:off x="-1006365" y="2405239"/>
            <a:ext cx="7402324" cy="400110"/>
          </a:xfrm>
          <a:prstGeom prst="rect">
            <a:avLst/>
          </a:prstGeom>
        </p:spPr>
        <p:txBody>
          <a:bodyPr wrap="square">
            <a:spAutoFit/>
          </a:bodyPr>
          <a:lstStyle/>
          <a:p>
            <a:pPr algn="ctr"/>
            <a:r>
              <a:rPr lang="en-US" sz="2000" b="1" dirty="0"/>
              <a:t>Naive Bayes algorithm (Example)</a:t>
            </a:r>
          </a:p>
        </p:txBody>
      </p:sp>
      <p:pic>
        <p:nvPicPr>
          <p:cNvPr id="3" name="Imagen 2"/>
          <p:cNvPicPr>
            <a:picLocks noChangeAspect="1"/>
          </p:cNvPicPr>
          <p:nvPr/>
        </p:nvPicPr>
        <p:blipFill>
          <a:blip r:embed="rId2"/>
          <a:stretch>
            <a:fillRect/>
          </a:stretch>
        </p:blipFill>
        <p:spPr>
          <a:xfrm>
            <a:off x="1441825" y="2988921"/>
            <a:ext cx="8320796" cy="3031657"/>
          </a:xfrm>
          <a:prstGeom prst="rect">
            <a:avLst/>
          </a:prstGeom>
        </p:spPr>
      </p:pic>
      <p:sp>
        <p:nvSpPr>
          <p:cNvPr id="4" name="Rectángulo 3"/>
          <p:cNvSpPr/>
          <p:nvPr/>
        </p:nvSpPr>
        <p:spPr>
          <a:xfrm>
            <a:off x="1975104" y="6204150"/>
            <a:ext cx="8113776" cy="276999"/>
          </a:xfrm>
          <a:prstGeom prst="rect">
            <a:avLst/>
          </a:prstGeom>
        </p:spPr>
        <p:txBody>
          <a:bodyPr>
            <a:spAutoFit/>
          </a:bodyPr>
          <a:lstStyle/>
          <a:p>
            <a:r>
              <a:rPr lang="es-CO" sz="1200" dirty="0"/>
              <a:t>https://www.analyticsvidhya.com/blog/2017/09/naive-bayes-explained/</a:t>
            </a:r>
          </a:p>
        </p:txBody>
      </p:sp>
    </p:spTree>
    <p:extLst>
      <p:ext uri="{BB962C8B-B14F-4D97-AF65-F5344CB8AC3E}">
        <p14:creationId xmlns:p14="http://schemas.microsoft.com/office/powerpoint/2010/main" val="2544191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923974" y="1677064"/>
            <a:ext cx="5574090" cy="461665"/>
          </a:xfrm>
          <a:prstGeom prst="rect">
            <a:avLst/>
          </a:prstGeom>
          <a:noFill/>
        </p:spPr>
        <p:txBody>
          <a:bodyPr wrap="none" rtlCol="0">
            <a:spAutoFit/>
          </a:bodyPr>
          <a:lstStyle/>
          <a:p>
            <a:pPr lvl="0"/>
            <a:r>
              <a:rPr lang="en-US" sz="2400" b="1" dirty="0"/>
              <a:t>Traditional algorithms in machine learning</a:t>
            </a:r>
          </a:p>
        </p:txBody>
      </p:sp>
      <p:sp>
        <p:nvSpPr>
          <p:cNvPr id="7" name="Rectángulo 6"/>
          <p:cNvSpPr/>
          <p:nvPr/>
        </p:nvSpPr>
        <p:spPr>
          <a:xfrm>
            <a:off x="-1006365" y="2405239"/>
            <a:ext cx="7402324" cy="400110"/>
          </a:xfrm>
          <a:prstGeom prst="rect">
            <a:avLst/>
          </a:prstGeom>
        </p:spPr>
        <p:txBody>
          <a:bodyPr wrap="square">
            <a:spAutoFit/>
          </a:bodyPr>
          <a:lstStyle/>
          <a:p>
            <a:pPr algn="ctr"/>
            <a:r>
              <a:rPr lang="en-US" sz="2000" b="1" dirty="0"/>
              <a:t>Naive Bayes algorithm (Example)</a:t>
            </a:r>
          </a:p>
        </p:txBody>
      </p:sp>
      <p:sp>
        <p:nvSpPr>
          <p:cNvPr id="4" name="Rectángulo 3"/>
          <p:cNvSpPr/>
          <p:nvPr/>
        </p:nvSpPr>
        <p:spPr>
          <a:xfrm>
            <a:off x="1243584" y="3195774"/>
            <a:ext cx="8113776" cy="2308324"/>
          </a:xfrm>
          <a:prstGeom prst="rect">
            <a:avLst/>
          </a:prstGeom>
        </p:spPr>
        <p:txBody>
          <a:bodyPr>
            <a:spAutoFit/>
          </a:bodyPr>
          <a:lstStyle/>
          <a:p>
            <a:r>
              <a:rPr lang="en-US" sz="1600" b="1" dirty="0"/>
              <a:t>Problem: </a:t>
            </a:r>
            <a:r>
              <a:rPr lang="en-US" sz="1600" dirty="0"/>
              <a:t>Players will play if weather is sunny. Is this statement is correct?</a:t>
            </a:r>
          </a:p>
          <a:p>
            <a:endParaRPr lang="en-US" sz="1600" dirty="0"/>
          </a:p>
          <a:p>
            <a:r>
              <a:rPr lang="en-US" sz="1600" dirty="0"/>
              <a:t>We can solve it using above discussed method of posterior probability.</a:t>
            </a:r>
          </a:p>
          <a:p>
            <a:endParaRPr lang="en-US" sz="1600" dirty="0"/>
          </a:p>
          <a:p>
            <a:r>
              <a:rPr lang="en-US" sz="1600" dirty="0"/>
              <a:t>P(Yes | Sunny) = P( Sunny | Yes) * P(Yes) / P (Sunny)</a:t>
            </a:r>
          </a:p>
          <a:p>
            <a:endParaRPr lang="en-US" sz="1600" dirty="0"/>
          </a:p>
          <a:p>
            <a:r>
              <a:rPr lang="en-US" sz="1600" dirty="0"/>
              <a:t>Here we have P (Sunny |Yes) = 3/9 = 0.33, P(Sunny) = 5/14 = 0.36, P( Yes)= 9/14 = 0.64</a:t>
            </a:r>
          </a:p>
          <a:p>
            <a:endParaRPr lang="en-US" sz="1600" dirty="0"/>
          </a:p>
          <a:p>
            <a:r>
              <a:rPr lang="en-US" sz="1600" dirty="0"/>
              <a:t>Now, P (Yes | Sunny) = 0.33 * 0.64 / 0.36 = 0.60, which has higher probability.</a:t>
            </a:r>
            <a:endParaRPr lang="es-CO" sz="1600" dirty="0"/>
          </a:p>
        </p:txBody>
      </p:sp>
      <p:sp>
        <p:nvSpPr>
          <p:cNvPr id="8" name="Rectángulo 7"/>
          <p:cNvSpPr/>
          <p:nvPr/>
        </p:nvSpPr>
        <p:spPr>
          <a:xfrm>
            <a:off x="1975104" y="6204150"/>
            <a:ext cx="8113776" cy="276999"/>
          </a:xfrm>
          <a:prstGeom prst="rect">
            <a:avLst/>
          </a:prstGeom>
        </p:spPr>
        <p:txBody>
          <a:bodyPr>
            <a:spAutoFit/>
          </a:bodyPr>
          <a:lstStyle/>
          <a:p>
            <a:r>
              <a:rPr lang="es-CO" sz="1200" dirty="0"/>
              <a:t>https://www.analyticsvidhya.com/blog/2017/09/naive-bayes-explained/</a:t>
            </a:r>
          </a:p>
        </p:txBody>
      </p:sp>
    </p:spTree>
    <p:extLst>
      <p:ext uri="{BB962C8B-B14F-4D97-AF65-F5344CB8AC3E}">
        <p14:creationId xmlns:p14="http://schemas.microsoft.com/office/powerpoint/2010/main" val="20564178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923974" y="1677064"/>
            <a:ext cx="5574090" cy="461665"/>
          </a:xfrm>
          <a:prstGeom prst="rect">
            <a:avLst/>
          </a:prstGeom>
          <a:noFill/>
        </p:spPr>
        <p:txBody>
          <a:bodyPr wrap="none" rtlCol="0">
            <a:spAutoFit/>
          </a:bodyPr>
          <a:lstStyle/>
          <a:p>
            <a:pPr lvl="0"/>
            <a:r>
              <a:rPr lang="en-US" sz="2400" b="1" dirty="0"/>
              <a:t>Traditional algorithms in machine learning</a:t>
            </a:r>
          </a:p>
        </p:txBody>
      </p:sp>
      <p:sp>
        <p:nvSpPr>
          <p:cNvPr id="7" name="Rectángulo 6"/>
          <p:cNvSpPr/>
          <p:nvPr/>
        </p:nvSpPr>
        <p:spPr>
          <a:xfrm>
            <a:off x="-1143525" y="2438671"/>
            <a:ext cx="7402324" cy="400110"/>
          </a:xfrm>
          <a:prstGeom prst="rect">
            <a:avLst/>
          </a:prstGeom>
        </p:spPr>
        <p:txBody>
          <a:bodyPr wrap="square">
            <a:spAutoFit/>
          </a:bodyPr>
          <a:lstStyle/>
          <a:p>
            <a:pPr algn="ctr"/>
            <a:r>
              <a:rPr lang="en-US" sz="2000" b="1" dirty="0"/>
              <a:t>Decision tree algorithm</a:t>
            </a:r>
          </a:p>
        </p:txBody>
      </p:sp>
      <p:sp>
        <p:nvSpPr>
          <p:cNvPr id="8" name="Rectángulo 7"/>
          <p:cNvSpPr/>
          <p:nvPr/>
        </p:nvSpPr>
        <p:spPr>
          <a:xfrm>
            <a:off x="1975104" y="6204150"/>
            <a:ext cx="8113776" cy="276999"/>
          </a:xfrm>
          <a:prstGeom prst="rect">
            <a:avLst/>
          </a:prstGeom>
        </p:spPr>
        <p:txBody>
          <a:bodyPr>
            <a:spAutoFit/>
          </a:bodyPr>
          <a:lstStyle/>
          <a:p>
            <a:r>
              <a:rPr lang="es-CO" sz="1200" dirty="0"/>
              <a:t>https://www.analyticsvidhya.com/blog/2016/04/complete-tutorial-tree-based-modeling-scratch-in-python/</a:t>
            </a:r>
          </a:p>
        </p:txBody>
      </p:sp>
      <p:pic>
        <p:nvPicPr>
          <p:cNvPr id="2" name="Imagen 1"/>
          <p:cNvPicPr>
            <a:picLocks noChangeAspect="1"/>
          </p:cNvPicPr>
          <p:nvPr/>
        </p:nvPicPr>
        <p:blipFill>
          <a:blip r:embed="rId2"/>
          <a:stretch>
            <a:fillRect/>
          </a:stretch>
        </p:blipFill>
        <p:spPr>
          <a:xfrm>
            <a:off x="1762412" y="3032049"/>
            <a:ext cx="4735651" cy="2993608"/>
          </a:xfrm>
          <a:prstGeom prst="rect">
            <a:avLst/>
          </a:prstGeom>
        </p:spPr>
      </p:pic>
      <p:sp>
        <p:nvSpPr>
          <p:cNvPr id="3" name="Rectángulo 2"/>
          <p:cNvSpPr/>
          <p:nvPr/>
        </p:nvSpPr>
        <p:spPr>
          <a:xfrm>
            <a:off x="7123176" y="3354526"/>
            <a:ext cx="3136392" cy="1754326"/>
          </a:xfrm>
          <a:prstGeom prst="rect">
            <a:avLst/>
          </a:prstGeom>
        </p:spPr>
        <p:txBody>
          <a:bodyPr wrap="square">
            <a:spAutoFit/>
          </a:bodyPr>
          <a:lstStyle/>
          <a:p>
            <a:pPr algn="ctr"/>
            <a:r>
              <a:rPr lang="en-US" dirty="0"/>
              <a:t>In this technique, we split the population or sample into two or more homogeneous sets (or sub-populations) based on most significant splitter / differentiator in input variables.</a:t>
            </a:r>
            <a:endParaRPr lang="es-CO" dirty="0"/>
          </a:p>
        </p:txBody>
      </p:sp>
    </p:spTree>
    <p:extLst>
      <p:ext uri="{BB962C8B-B14F-4D97-AF65-F5344CB8AC3E}">
        <p14:creationId xmlns:p14="http://schemas.microsoft.com/office/powerpoint/2010/main" val="3500726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923974" y="1677064"/>
            <a:ext cx="5574090" cy="461665"/>
          </a:xfrm>
          <a:prstGeom prst="rect">
            <a:avLst/>
          </a:prstGeom>
          <a:noFill/>
        </p:spPr>
        <p:txBody>
          <a:bodyPr wrap="none" rtlCol="0">
            <a:spAutoFit/>
          </a:bodyPr>
          <a:lstStyle/>
          <a:p>
            <a:pPr lvl="0"/>
            <a:r>
              <a:rPr lang="en-US" sz="2400" b="1" dirty="0"/>
              <a:t>Traditional algorithms in machine learning</a:t>
            </a:r>
          </a:p>
        </p:txBody>
      </p:sp>
      <p:sp>
        <p:nvSpPr>
          <p:cNvPr id="7" name="Rectángulo 6"/>
          <p:cNvSpPr/>
          <p:nvPr/>
        </p:nvSpPr>
        <p:spPr>
          <a:xfrm>
            <a:off x="-1143525" y="2438671"/>
            <a:ext cx="7402324" cy="400110"/>
          </a:xfrm>
          <a:prstGeom prst="rect">
            <a:avLst/>
          </a:prstGeom>
        </p:spPr>
        <p:txBody>
          <a:bodyPr wrap="square">
            <a:spAutoFit/>
          </a:bodyPr>
          <a:lstStyle/>
          <a:p>
            <a:pPr algn="ctr"/>
            <a:r>
              <a:rPr lang="en-US" sz="2000" b="1" dirty="0"/>
              <a:t>Decision tree algorithm</a:t>
            </a:r>
          </a:p>
        </p:txBody>
      </p:sp>
      <p:sp>
        <p:nvSpPr>
          <p:cNvPr id="8" name="Rectángulo 7"/>
          <p:cNvSpPr/>
          <p:nvPr/>
        </p:nvSpPr>
        <p:spPr>
          <a:xfrm>
            <a:off x="1975104" y="6204150"/>
            <a:ext cx="8113776" cy="276999"/>
          </a:xfrm>
          <a:prstGeom prst="rect">
            <a:avLst/>
          </a:prstGeom>
        </p:spPr>
        <p:txBody>
          <a:bodyPr>
            <a:spAutoFit/>
          </a:bodyPr>
          <a:lstStyle/>
          <a:p>
            <a:r>
              <a:rPr lang="es-CO" sz="1200" dirty="0"/>
              <a:t>https://www.analyticsvidhya.com/blog/2016/04/complete-tutorial-tree-based-modeling-scratch-in-python/</a:t>
            </a:r>
          </a:p>
        </p:txBody>
      </p:sp>
      <p:sp>
        <p:nvSpPr>
          <p:cNvPr id="3" name="Rectángulo 2"/>
          <p:cNvSpPr/>
          <p:nvPr/>
        </p:nvSpPr>
        <p:spPr>
          <a:xfrm>
            <a:off x="6748272" y="2275205"/>
            <a:ext cx="4928616" cy="923330"/>
          </a:xfrm>
          <a:prstGeom prst="rect">
            <a:avLst/>
          </a:prstGeom>
        </p:spPr>
        <p:txBody>
          <a:bodyPr wrap="square">
            <a:spAutoFit/>
          </a:bodyPr>
          <a:lstStyle/>
          <a:p>
            <a:pPr algn="ctr"/>
            <a:r>
              <a:rPr lang="en-US" dirty="0"/>
              <a:t>Let’s say we have a sample of 30 students with three variables Gender (Boy/ Girl), Class( IX/ X) and Height (5 to 6 </a:t>
            </a:r>
            <a:r>
              <a:rPr lang="en-US" dirty="0" err="1"/>
              <a:t>ft</a:t>
            </a:r>
            <a:r>
              <a:rPr lang="en-US" dirty="0"/>
              <a:t>).</a:t>
            </a:r>
            <a:endParaRPr lang="es-CO" dirty="0"/>
          </a:p>
        </p:txBody>
      </p:sp>
      <p:pic>
        <p:nvPicPr>
          <p:cNvPr id="5" name="Imagen 4"/>
          <p:cNvPicPr>
            <a:picLocks noChangeAspect="1"/>
          </p:cNvPicPr>
          <p:nvPr/>
        </p:nvPicPr>
        <p:blipFill>
          <a:blip r:embed="rId2"/>
          <a:stretch>
            <a:fillRect/>
          </a:stretch>
        </p:blipFill>
        <p:spPr>
          <a:xfrm>
            <a:off x="641012" y="3335011"/>
            <a:ext cx="8898295" cy="2118386"/>
          </a:xfrm>
          <a:prstGeom prst="rect">
            <a:avLst/>
          </a:prstGeom>
        </p:spPr>
      </p:pic>
    </p:spTree>
    <p:extLst>
      <p:ext uri="{BB962C8B-B14F-4D97-AF65-F5344CB8AC3E}">
        <p14:creationId xmlns:p14="http://schemas.microsoft.com/office/powerpoint/2010/main" val="26770783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923974" y="1677064"/>
            <a:ext cx="6479081" cy="461665"/>
          </a:xfrm>
          <a:prstGeom prst="rect">
            <a:avLst/>
          </a:prstGeom>
          <a:noFill/>
        </p:spPr>
        <p:txBody>
          <a:bodyPr wrap="none" rtlCol="0">
            <a:spAutoFit/>
          </a:bodyPr>
          <a:lstStyle/>
          <a:p>
            <a:pPr lvl="0"/>
            <a:r>
              <a:rPr lang="en-US" sz="2400" b="1" dirty="0"/>
              <a:t>New trends in machine learning (a few examples)</a:t>
            </a:r>
          </a:p>
        </p:txBody>
      </p:sp>
      <p:sp>
        <p:nvSpPr>
          <p:cNvPr id="7" name="Rectángulo 6"/>
          <p:cNvSpPr/>
          <p:nvPr/>
        </p:nvSpPr>
        <p:spPr>
          <a:xfrm>
            <a:off x="-1289829" y="2429527"/>
            <a:ext cx="7402324" cy="400110"/>
          </a:xfrm>
          <a:prstGeom prst="rect">
            <a:avLst/>
          </a:prstGeom>
        </p:spPr>
        <p:txBody>
          <a:bodyPr wrap="square">
            <a:spAutoFit/>
          </a:bodyPr>
          <a:lstStyle/>
          <a:p>
            <a:pPr algn="ctr"/>
            <a:r>
              <a:rPr lang="en-US" sz="2000" b="1" dirty="0"/>
              <a:t>Capsule Networks</a:t>
            </a:r>
          </a:p>
        </p:txBody>
      </p:sp>
      <p:pic>
        <p:nvPicPr>
          <p:cNvPr id="4" name="Imagen 3"/>
          <p:cNvPicPr>
            <a:picLocks noChangeAspect="1"/>
          </p:cNvPicPr>
          <p:nvPr/>
        </p:nvPicPr>
        <p:blipFill>
          <a:blip r:embed="rId2"/>
          <a:stretch>
            <a:fillRect/>
          </a:stretch>
        </p:blipFill>
        <p:spPr>
          <a:xfrm>
            <a:off x="1837230" y="3188854"/>
            <a:ext cx="7292243" cy="2254226"/>
          </a:xfrm>
          <a:prstGeom prst="rect">
            <a:avLst/>
          </a:prstGeom>
        </p:spPr>
      </p:pic>
      <p:sp>
        <p:nvSpPr>
          <p:cNvPr id="9" name="Rectángulo 8"/>
          <p:cNvSpPr/>
          <p:nvPr/>
        </p:nvSpPr>
        <p:spPr>
          <a:xfrm>
            <a:off x="5715000" y="5802297"/>
            <a:ext cx="4928616" cy="369332"/>
          </a:xfrm>
          <a:prstGeom prst="rect">
            <a:avLst/>
          </a:prstGeom>
        </p:spPr>
        <p:txBody>
          <a:bodyPr wrap="square">
            <a:spAutoFit/>
          </a:bodyPr>
          <a:lstStyle/>
          <a:p>
            <a:pPr algn="ctr"/>
            <a:r>
              <a:rPr lang="en-US" dirty="0"/>
              <a:t>A new structure inside neural nets!</a:t>
            </a:r>
            <a:endParaRPr lang="es-CO" dirty="0"/>
          </a:p>
        </p:txBody>
      </p:sp>
    </p:spTree>
    <p:extLst>
      <p:ext uri="{BB962C8B-B14F-4D97-AF65-F5344CB8AC3E}">
        <p14:creationId xmlns:p14="http://schemas.microsoft.com/office/powerpoint/2010/main" val="34335173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923974" y="1677064"/>
            <a:ext cx="6479081" cy="461665"/>
          </a:xfrm>
          <a:prstGeom prst="rect">
            <a:avLst/>
          </a:prstGeom>
          <a:noFill/>
        </p:spPr>
        <p:txBody>
          <a:bodyPr wrap="none" rtlCol="0">
            <a:spAutoFit/>
          </a:bodyPr>
          <a:lstStyle/>
          <a:p>
            <a:pPr lvl="0"/>
            <a:r>
              <a:rPr lang="en-US" sz="2400" b="1" dirty="0"/>
              <a:t>New trends in machine learning (a few examples)</a:t>
            </a:r>
          </a:p>
        </p:txBody>
      </p:sp>
      <p:sp>
        <p:nvSpPr>
          <p:cNvPr id="7" name="Rectángulo 6"/>
          <p:cNvSpPr/>
          <p:nvPr/>
        </p:nvSpPr>
        <p:spPr>
          <a:xfrm>
            <a:off x="1480803" y="2363295"/>
            <a:ext cx="3868437" cy="400110"/>
          </a:xfrm>
          <a:prstGeom prst="rect">
            <a:avLst/>
          </a:prstGeom>
        </p:spPr>
        <p:txBody>
          <a:bodyPr wrap="square">
            <a:spAutoFit/>
          </a:bodyPr>
          <a:lstStyle/>
          <a:p>
            <a:r>
              <a:rPr lang="en-US" sz="2000" b="1" dirty="0"/>
              <a:t>Automated machine learning</a:t>
            </a:r>
          </a:p>
        </p:txBody>
      </p:sp>
      <p:sp>
        <p:nvSpPr>
          <p:cNvPr id="9" name="Rectángulo 8"/>
          <p:cNvSpPr/>
          <p:nvPr/>
        </p:nvSpPr>
        <p:spPr>
          <a:xfrm>
            <a:off x="4347883" y="5748508"/>
            <a:ext cx="7676298" cy="369332"/>
          </a:xfrm>
          <a:prstGeom prst="rect">
            <a:avLst/>
          </a:prstGeom>
        </p:spPr>
        <p:txBody>
          <a:bodyPr wrap="square">
            <a:spAutoFit/>
          </a:bodyPr>
          <a:lstStyle/>
          <a:p>
            <a:r>
              <a:rPr lang="en-US" dirty="0"/>
              <a:t>The search to automatically choose a good algorithm!</a:t>
            </a:r>
            <a:endParaRPr lang="es-CO" dirty="0"/>
          </a:p>
        </p:txBody>
      </p:sp>
      <p:pic>
        <p:nvPicPr>
          <p:cNvPr id="2" name="Imagen 1"/>
          <p:cNvPicPr>
            <a:picLocks noChangeAspect="1"/>
          </p:cNvPicPr>
          <p:nvPr/>
        </p:nvPicPr>
        <p:blipFill>
          <a:blip r:embed="rId2"/>
          <a:stretch>
            <a:fillRect/>
          </a:stretch>
        </p:blipFill>
        <p:spPr>
          <a:xfrm>
            <a:off x="1106334" y="2829637"/>
            <a:ext cx="7553122" cy="2706373"/>
          </a:xfrm>
          <a:prstGeom prst="rect">
            <a:avLst/>
          </a:prstGeom>
        </p:spPr>
      </p:pic>
    </p:spTree>
    <p:extLst>
      <p:ext uri="{BB962C8B-B14F-4D97-AF65-F5344CB8AC3E}">
        <p14:creationId xmlns:p14="http://schemas.microsoft.com/office/powerpoint/2010/main" val="41627470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923974" y="1677064"/>
            <a:ext cx="6479081" cy="461665"/>
          </a:xfrm>
          <a:prstGeom prst="rect">
            <a:avLst/>
          </a:prstGeom>
          <a:noFill/>
        </p:spPr>
        <p:txBody>
          <a:bodyPr wrap="none" rtlCol="0">
            <a:spAutoFit/>
          </a:bodyPr>
          <a:lstStyle/>
          <a:p>
            <a:pPr lvl="0"/>
            <a:r>
              <a:rPr lang="en-US" sz="2400" b="1" dirty="0"/>
              <a:t>New trends in machine learning (a few examples)</a:t>
            </a:r>
          </a:p>
        </p:txBody>
      </p:sp>
      <p:sp>
        <p:nvSpPr>
          <p:cNvPr id="7" name="Rectángulo 6"/>
          <p:cNvSpPr/>
          <p:nvPr/>
        </p:nvSpPr>
        <p:spPr>
          <a:xfrm>
            <a:off x="1480803" y="2363295"/>
            <a:ext cx="3868437" cy="400110"/>
          </a:xfrm>
          <a:prstGeom prst="rect">
            <a:avLst/>
          </a:prstGeom>
        </p:spPr>
        <p:txBody>
          <a:bodyPr wrap="square">
            <a:spAutoFit/>
          </a:bodyPr>
          <a:lstStyle/>
          <a:p>
            <a:r>
              <a:rPr lang="en-US" sz="2000" b="1" dirty="0"/>
              <a:t>Generative adversarial networks</a:t>
            </a:r>
          </a:p>
        </p:txBody>
      </p:sp>
      <p:sp>
        <p:nvSpPr>
          <p:cNvPr id="9" name="Rectángulo 8"/>
          <p:cNvSpPr/>
          <p:nvPr/>
        </p:nvSpPr>
        <p:spPr>
          <a:xfrm>
            <a:off x="5225921" y="5856084"/>
            <a:ext cx="4933063" cy="369332"/>
          </a:xfrm>
          <a:prstGeom prst="rect">
            <a:avLst/>
          </a:prstGeom>
        </p:spPr>
        <p:txBody>
          <a:bodyPr wrap="square">
            <a:spAutoFit/>
          </a:bodyPr>
          <a:lstStyle/>
          <a:p>
            <a:r>
              <a:rPr lang="en-US" dirty="0"/>
              <a:t>Simultaneously training two adversarial models</a:t>
            </a:r>
            <a:endParaRPr lang="es-CO" dirty="0"/>
          </a:p>
        </p:txBody>
      </p:sp>
      <p:pic>
        <p:nvPicPr>
          <p:cNvPr id="3" name="Imagen 2"/>
          <p:cNvPicPr>
            <a:picLocks noChangeAspect="1"/>
          </p:cNvPicPr>
          <p:nvPr/>
        </p:nvPicPr>
        <p:blipFill>
          <a:blip r:embed="rId2"/>
          <a:stretch>
            <a:fillRect/>
          </a:stretch>
        </p:blipFill>
        <p:spPr>
          <a:xfrm>
            <a:off x="1819083" y="3084929"/>
            <a:ext cx="7244987" cy="2342054"/>
          </a:xfrm>
          <a:prstGeom prst="rect">
            <a:avLst/>
          </a:prstGeom>
        </p:spPr>
      </p:pic>
    </p:spTree>
    <p:extLst>
      <p:ext uri="{BB962C8B-B14F-4D97-AF65-F5344CB8AC3E}">
        <p14:creationId xmlns:p14="http://schemas.microsoft.com/office/powerpoint/2010/main" val="22507688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1301508" y="2987971"/>
            <a:ext cx="9020810" cy="2489464"/>
          </a:xfrm>
          <a:prstGeom prst="rect">
            <a:avLst/>
          </a:prstGeom>
        </p:spPr>
      </p:pic>
      <p:sp>
        <p:nvSpPr>
          <p:cNvPr id="5" name="CuadroTexto 4"/>
          <p:cNvSpPr txBox="1"/>
          <p:nvPr/>
        </p:nvSpPr>
        <p:spPr>
          <a:xfrm>
            <a:off x="923974" y="1677064"/>
            <a:ext cx="6479081" cy="461665"/>
          </a:xfrm>
          <a:prstGeom prst="rect">
            <a:avLst/>
          </a:prstGeom>
          <a:noFill/>
        </p:spPr>
        <p:txBody>
          <a:bodyPr wrap="none" rtlCol="0">
            <a:spAutoFit/>
          </a:bodyPr>
          <a:lstStyle/>
          <a:p>
            <a:pPr lvl="0"/>
            <a:r>
              <a:rPr lang="en-US" sz="2400" b="1" dirty="0"/>
              <a:t>New trends in machine learning (a few examples)</a:t>
            </a:r>
          </a:p>
        </p:txBody>
      </p:sp>
      <p:sp>
        <p:nvSpPr>
          <p:cNvPr id="6" name="Rectángulo 5"/>
          <p:cNvSpPr/>
          <p:nvPr/>
        </p:nvSpPr>
        <p:spPr>
          <a:xfrm>
            <a:off x="1480803" y="2363295"/>
            <a:ext cx="3868437" cy="400110"/>
          </a:xfrm>
          <a:prstGeom prst="rect">
            <a:avLst/>
          </a:prstGeom>
        </p:spPr>
        <p:txBody>
          <a:bodyPr wrap="square">
            <a:spAutoFit/>
          </a:bodyPr>
          <a:lstStyle/>
          <a:p>
            <a:r>
              <a:rPr lang="en-US" sz="2000" b="1" dirty="0"/>
              <a:t>Explainable artificial intelligence</a:t>
            </a:r>
          </a:p>
        </p:txBody>
      </p:sp>
      <p:sp>
        <p:nvSpPr>
          <p:cNvPr id="7" name="Rectángulo 6"/>
          <p:cNvSpPr/>
          <p:nvPr/>
        </p:nvSpPr>
        <p:spPr>
          <a:xfrm>
            <a:off x="5225921" y="5856084"/>
            <a:ext cx="5836526" cy="369332"/>
          </a:xfrm>
          <a:prstGeom prst="rect">
            <a:avLst/>
          </a:prstGeom>
        </p:spPr>
        <p:txBody>
          <a:bodyPr wrap="square">
            <a:spAutoFit/>
          </a:bodyPr>
          <a:lstStyle/>
          <a:p>
            <a:r>
              <a:rPr lang="en-US" dirty="0"/>
              <a:t>“A plea for more interpretability in artificial intelligence”</a:t>
            </a:r>
            <a:endParaRPr lang="es-CO" dirty="0"/>
          </a:p>
        </p:txBody>
      </p:sp>
    </p:spTree>
    <p:extLst>
      <p:ext uri="{BB962C8B-B14F-4D97-AF65-F5344CB8AC3E}">
        <p14:creationId xmlns:p14="http://schemas.microsoft.com/office/powerpoint/2010/main" val="32258288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923974" y="1677064"/>
            <a:ext cx="6479081" cy="461665"/>
          </a:xfrm>
          <a:prstGeom prst="rect">
            <a:avLst/>
          </a:prstGeom>
          <a:noFill/>
        </p:spPr>
        <p:txBody>
          <a:bodyPr wrap="none" rtlCol="0">
            <a:spAutoFit/>
          </a:bodyPr>
          <a:lstStyle/>
          <a:p>
            <a:pPr lvl="0"/>
            <a:r>
              <a:rPr lang="en-US" sz="2400" b="1" dirty="0"/>
              <a:t>New trends in machine learning (a few examples)</a:t>
            </a:r>
          </a:p>
        </p:txBody>
      </p:sp>
      <p:sp>
        <p:nvSpPr>
          <p:cNvPr id="6" name="Rectángulo 5"/>
          <p:cNvSpPr/>
          <p:nvPr/>
        </p:nvSpPr>
        <p:spPr>
          <a:xfrm>
            <a:off x="1480803" y="2363295"/>
            <a:ext cx="3868437" cy="400110"/>
          </a:xfrm>
          <a:prstGeom prst="rect">
            <a:avLst/>
          </a:prstGeom>
        </p:spPr>
        <p:txBody>
          <a:bodyPr wrap="square">
            <a:spAutoFit/>
          </a:bodyPr>
          <a:lstStyle/>
          <a:p>
            <a:r>
              <a:rPr lang="en-US" sz="2000" b="1" dirty="0"/>
              <a:t>Deep reinforcement learning</a:t>
            </a:r>
          </a:p>
        </p:txBody>
      </p:sp>
      <p:sp>
        <p:nvSpPr>
          <p:cNvPr id="7" name="Rectángulo 6"/>
          <p:cNvSpPr/>
          <p:nvPr/>
        </p:nvSpPr>
        <p:spPr>
          <a:xfrm>
            <a:off x="2175196" y="5969577"/>
            <a:ext cx="8248964" cy="369332"/>
          </a:xfrm>
          <a:prstGeom prst="rect">
            <a:avLst/>
          </a:prstGeom>
        </p:spPr>
        <p:txBody>
          <a:bodyPr wrap="square">
            <a:spAutoFit/>
          </a:bodyPr>
          <a:lstStyle/>
          <a:p>
            <a:r>
              <a:rPr lang="en-US" dirty="0"/>
              <a:t>How to successfully learn control policies directly from high-dimensional input data</a:t>
            </a:r>
            <a:endParaRPr lang="es-CO" dirty="0"/>
          </a:p>
        </p:txBody>
      </p:sp>
      <p:pic>
        <p:nvPicPr>
          <p:cNvPr id="2" name="Imagen 1"/>
          <p:cNvPicPr>
            <a:picLocks noChangeAspect="1"/>
          </p:cNvPicPr>
          <p:nvPr/>
        </p:nvPicPr>
        <p:blipFill>
          <a:blip r:embed="rId2"/>
          <a:stretch>
            <a:fillRect/>
          </a:stretch>
        </p:blipFill>
        <p:spPr>
          <a:xfrm>
            <a:off x="923974" y="2763405"/>
            <a:ext cx="8592483" cy="2814778"/>
          </a:xfrm>
          <a:prstGeom prst="rect">
            <a:avLst/>
          </a:prstGeom>
        </p:spPr>
      </p:pic>
    </p:spTree>
    <p:extLst>
      <p:ext uri="{BB962C8B-B14F-4D97-AF65-F5344CB8AC3E}">
        <p14:creationId xmlns:p14="http://schemas.microsoft.com/office/powerpoint/2010/main" val="65822092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254</TotalTime>
  <Words>970</Words>
  <Application>Microsoft Office PowerPoint</Application>
  <PresentationFormat>Widescreen</PresentationFormat>
  <Paragraphs>109</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Cambria Math</vt:lpstr>
      <vt:lpstr>Open Sans</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Andres Rodriguez Andrade</dc:creator>
  <cp:lastModifiedBy>Calelo</cp:lastModifiedBy>
  <cp:revision>74</cp:revision>
  <dcterms:created xsi:type="dcterms:W3CDTF">2017-07-31T19:21:32Z</dcterms:created>
  <dcterms:modified xsi:type="dcterms:W3CDTF">2019-02-23T02:04:43Z</dcterms:modified>
</cp:coreProperties>
</file>
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4"/>
  </p:handoutMasterIdLst>
  <p:sldIdLst>
    <p:sldId id="258" r:id="rId2"/>
    <p:sldId id="259" r:id="rId3"/>
    <p:sldId id="265" r:id="rId4"/>
    <p:sldId id="274" r:id="rId5"/>
    <p:sldId id="266" r:id="rId6"/>
    <p:sldId id="267" r:id="rId7"/>
    <p:sldId id="268" r:id="rId8"/>
    <p:sldId id="269" r:id="rId9"/>
    <p:sldId id="271" r:id="rId10"/>
    <p:sldId id="272" r:id="rId11"/>
    <p:sldId id="273" r:id="rId12"/>
    <p:sldId id="275" r:id="rId13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10" autoAdjust="0"/>
  </p:normalViewPr>
  <p:slideViewPr>
    <p:cSldViewPr snapToGrid="0">
      <p:cViewPr varScale="1">
        <p:scale>
          <a:sx n="106" d="100"/>
          <a:sy n="106" d="100"/>
        </p:scale>
        <p:origin x="9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379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B8AFCF-E03D-4A93-A37D-68805BA4DAD7}" type="datetimeFigureOut">
              <a:rPr lang="es-CO" smtClean="0"/>
              <a:t>08/02/2019</a:t>
            </a:fld>
            <a:endParaRPr lang="es-C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E03E21-90F9-4E3B-8DD6-3033CFBD684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755021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355626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08/02/2019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049317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08/02/2019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149368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08/02/2019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9813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08/02/2019</a:t>
            </a:fld>
            <a:endParaRPr lang="es-C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7836979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08/02/2019</a:t>
            </a:fld>
            <a:endParaRPr lang="es-C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9211649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08/02/2019</a:t>
            </a:fld>
            <a:endParaRPr lang="es-C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827923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08/02/2019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0801933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08/02/2019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596308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08/02/2019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285378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08/02/2019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441473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92233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9990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8.gi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TjZBTDzGeGg&amp;list=PLUl4u3cNGP63gFHB6xb-kVBiQHYe_4hSi" TargetMode="External"/><Relationship Id="rId7" Type="http://schemas.openxmlformats.org/officeDocument/2006/relationships/hyperlink" Target="http://www.fast.ai/" TargetMode="External"/><Relationship Id="rId2" Type="http://schemas.openxmlformats.org/officeDocument/2006/relationships/hyperlink" Target="https://distill.pub/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aima.cs.berkeley.edu/" TargetMode="External"/><Relationship Id="rId5" Type="http://schemas.openxmlformats.org/officeDocument/2006/relationships/hyperlink" Target="https://blog.acolyer.org/" TargetMode="External"/><Relationship Id="rId4" Type="http://schemas.openxmlformats.org/officeDocument/2006/relationships/hyperlink" Target="https://www.youtube.com/channel/UCcIXc5mJsHVYTZR1maL5l9w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060536" y="1928733"/>
            <a:ext cx="422558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3600" dirty="0" smtClean="0"/>
              <a:t>Inteligencia Artificial I</a:t>
            </a:r>
          </a:p>
          <a:p>
            <a:r>
              <a:rPr lang="es-CO" sz="2400" dirty="0" smtClean="0"/>
              <a:t>2019-I</a:t>
            </a:r>
            <a:endParaRPr lang="es-CO" sz="3600" dirty="0">
              <a:solidFill>
                <a:srgbClr val="FF0000"/>
              </a:solidFill>
            </a:endParaRPr>
          </a:p>
        </p:txBody>
      </p:sp>
      <p:sp>
        <p:nvSpPr>
          <p:cNvPr id="3" name="Rectángulo 2"/>
          <p:cNvSpPr/>
          <p:nvPr/>
        </p:nvSpPr>
        <p:spPr>
          <a:xfrm>
            <a:off x="1422400" y="3265438"/>
            <a:ext cx="10287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400" dirty="0" smtClean="0"/>
              <a:t>Carlos </a:t>
            </a:r>
            <a:r>
              <a:rPr lang="es-CO" sz="2400" dirty="0"/>
              <a:t>Alejandro Trujillo Anaya – </a:t>
            </a:r>
            <a:r>
              <a:rPr lang="es-CO" sz="2400" b="1" dirty="0"/>
              <a:t>carlostrujillo@itm.edu.co</a:t>
            </a:r>
            <a:endParaRPr lang="es-CO" sz="2400" b="1" dirty="0">
              <a:solidFill>
                <a:schemeClr val="bg1"/>
              </a:solidFill>
            </a:endParaRPr>
          </a:p>
          <a:p>
            <a:r>
              <a:rPr lang="es-CO" sz="2400" dirty="0" smtClean="0"/>
              <a:t>Departamento </a:t>
            </a:r>
            <a:r>
              <a:rPr lang="es-CO" sz="2400" dirty="0"/>
              <a:t>de </a:t>
            </a:r>
            <a:r>
              <a:rPr lang="es-CO" sz="2400" dirty="0" smtClean="0"/>
              <a:t>electrónica y telecomunicaciones</a:t>
            </a:r>
            <a:endParaRPr lang="es-CO" sz="2400" dirty="0"/>
          </a:p>
          <a:p>
            <a:r>
              <a:rPr lang="es-CO" sz="2400" dirty="0" smtClean="0"/>
              <a:t>Asignatura perteneciente a Ingeniería electrónica</a:t>
            </a:r>
          </a:p>
          <a:p>
            <a:r>
              <a:rPr lang="es-CO" sz="2400" dirty="0" smtClean="0"/>
              <a:t>Viernes 16-18</a:t>
            </a:r>
          </a:p>
          <a:p>
            <a:r>
              <a:rPr lang="es-CO" sz="2400" dirty="0" smtClean="0"/>
              <a:t>O2</a:t>
            </a:r>
            <a:endParaRPr lang="es-CO" sz="2400" dirty="0"/>
          </a:p>
        </p:txBody>
      </p:sp>
    </p:spTree>
    <p:extLst>
      <p:ext uri="{BB962C8B-B14F-4D97-AF65-F5344CB8AC3E}">
        <p14:creationId xmlns:p14="http://schemas.microsoft.com/office/powerpoint/2010/main" val="1140555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Resultado de imagen para computational scienc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371" y="1648618"/>
            <a:ext cx="2963546" cy="261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ángulo 5"/>
          <p:cNvSpPr/>
          <p:nvPr/>
        </p:nvSpPr>
        <p:spPr>
          <a:xfrm>
            <a:off x="443395" y="4266968"/>
            <a:ext cx="28494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1200" dirty="0"/>
              <a:t>http://www.csci.psu.edu/background.html</a:t>
            </a:r>
          </a:p>
        </p:txBody>
      </p:sp>
      <p:sp>
        <p:nvSpPr>
          <p:cNvPr id="7" name="Rectángulo 6"/>
          <p:cNvSpPr/>
          <p:nvPr/>
        </p:nvSpPr>
        <p:spPr>
          <a:xfrm>
            <a:off x="3618379" y="3749826"/>
            <a:ext cx="2187388" cy="2634485"/>
          </a:xfrm>
          <a:prstGeom prst="rect">
            <a:avLst/>
          </a:prstGeom>
          <a:noFill/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Rectángulo 11"/>
          <p:cNvSpPr/>
          <p:nvPr/>
        </p:nvSpPr>
        <p:spPr>
          <a:xfrm>
            <a:off x="3869470" y="3839473"/>
            <a:ext cx="168520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1400" b="1" dirty="0" smtClean="0"/>
              <a:t>Enfoque algorítmico</a:t>
            </a:r>
          </a:p>
          <a:p>
            <a:pPr algn="ctr"/>
            <a:r>
              <a:rPr lang="es-CO" sz="1400" b="1" dirty="0" smtClean="0"/>
              <a:t> tradicional</a:t>
            </a:r>
            <a:endParaRPr lang="es-CO" sz="1400" b="1" dirty="0"/>
          </a:p>
        </p:txBody>
      </p:sp>
      <p:sp>
        <p:nvSpPr>
          <p:cNvPr id="9" name="Elipse 8"/>
          <p:cNvSpPr/>
          <p:nvPr/>
        </p:nvSpPr>
        <p:spPr>
          <a:xfrm>
            <a:off x="4174190" y="4452340"/>
            <a:ext cx="1075764" cy="519953"/>
          </a:xfrm>
          <a:prstGeom prst="ellipse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Rectángulo 13"/>
          <p:cNvSpPr/>
          <p:nvPr/>
        </p:nvSpPr>
        <p:spPr>
          <a:xfrm>
            <a:off x="4260153" y="4558427"/>
            <a:ext cx="90383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1400" b="1" dirty="0" smtClean="0"/>
              <a:t>Problema</a:t>
            </a:r>
            <a:endParaRPr lang="es-CO" sz="1400" b="1" dirty="0"/>
          </a:p>
        </p:txBody>
      </p:sp>
      <p:sp>
        <p:nvSpPr>
          <p:cNvPr id="15" name="Elipse 14"/>
          <p:cNvSpPr/>
          <p:nvPr/>
        </p:nvSpPr>
        <p:spPr>
          <a:xfrm>
            <a:off x="4174190" y="5061940"/>
            <a:ext cx="1075764" cy="519953"/>
          </a:xfrm>
          <a:prstGeom prst="ellipse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Rectángulo 15"/>
          <p:cNvSpPr/>
          <p:nvPr/>
        </p:nvSpPr>
        <p:spPr>
          <a:xfrm>
            <a:off x="4329597" y="5168027"/>
            <a:ext cx="76495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1400" b="1" dirty="0" smtClean="0"/>
              <a:t>Modelo</a:t>
            </a:r>
            <a:endParaRPr lang="es-CO" sz="1400" b="1" dirty="0"/>
          </a:p>
        </p:txBody>
      </p:sp>
      <p:sp>
        <p:nvSpPr>
          <p:cNvPr id="17" name="Elipse 16"/>
          <p:cNvSpPr/>
          <p:nvPr/>
        </p:nvSpPr>
        <p:spPr>
          <a:xfrm>
            <a:off x="4174190" y="5723125"/>
            <a:ext cx="1075764" cy="519953"/>
          </a:xfrm>
          <a:prstGeom prst="ellipse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Rectángulo 17"/>
          <p:cNvSpPr/>
          <p:nvPr/>
        </p:nvSpPr>
        <p:spPr>
          <a:xfrm>
            <a:off x="4246304" y="5829212"/>
            <a:ext cx="93153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1400" b="1" dirty="0" smtClean="0"/>
              <a:t>Algoritmo</a:t>
            </a:r>
            <a:endParaRPr lang="es-CO" sz="1400" b="1" dirty="0"/>
          </a:p>
        </p:txBody>
      </p:sp>
      <p:pic>
        <p:nvPicPr>
          <p:cNvPr id="19" name="Picture 31">
            <a:extLst>
              <a:ext uri="{FF2B5EF4-FFF2-40B4-BE49-F238E27FC236}">
                <a16:creationId xmlns:a16="http://schemas.microsoft.com/office/drawing/2014/main" xmlns="" id="{C80DAB71-B4C6-4FCE-AF23-350E2AFF66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135" b="94253" l="6471" r="95882">
                        <a14:foregroundMark x1="91961" y1="10181" x2="91961" y2="10181"/>
                        <a14:foregroundMark x1="32745" y1="6897" x2="32745" y2="6897"/>
                        <a14:foregroundMark x1="6471" y1="76190" x2="6471" y2="76190"/>
                        <a14:foregroundMark x1="14706" y1="94417" x2="14706" y2="94417"/>
                        <a14:foregroundMark x1="33333" y1="2135" x2="33333" y2="2135"/>
                        <a14:foregroundMark x1="95882" y1="13136" x2="95882" y2="1313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497651" y="4690175"/>
            <a:ext cx="1815419" cy="2167825"/>
          </a:xfrm>
          <a:prstGeom prst="rect">
            <a:avLst/>
          </a:prstGeom>
        </p:spPr>
      </p:pic>
      <p:pic>
        <p:nvPicPr>
          <p:cNvPr id="1028" name="Picture 4" descr="https://sophos.files.wordpress.com/2017/09/screen-shot-2017-09-11-at-9-37-03-am.png?w=64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5735" y="1319146"/>
            <a:ext cx="5631591" cy="1933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ángulo 12"/>
          <p:cNvSpPr/>
          <p:nvPr/>
        </p:nvSpPr>
        <p:spPr>
          <a:xfrm>
            <a:off x="6419850" y="3294894"/>
            <a:ext cx="6096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O" sz="1200" dirty="0"/>
              <a:t>https://news.sophos.com/en-us/2017/09/21/man-vs-machine-comparing-artificial-and-biological-neural-networks/</a:t>
            </a:r>
          </a:p>
        </p:txBody>
      </p:sp>
    </p:spTree>
    <p:extLst>
      <p:ext uri="{BB962C8B-B14F-4D97-AF65-F5344CB8AC3E}">
        <p14:creationId xmlns:p14="http://schemas.microsoft.com/office/powerpoint/2010/main" val="295195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Resultado de imagen para artificial neural network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799" y="2158674"/>
            <a:ext cx="3166825" cy="2505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ángulo 1"/>
          <p:cNvSpPr/>
          <p:nvPr/>
        </p:nvSpPr>
        <p:spPr>
          <a:xfrm>
            <a:off x="685800" y="4906060"/>
            <a:ext cx="279082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200" dirty="0"/>
              <a:t>https://www.tutorialspoint.com/artificial_intelligence/artificial_intelligence_neural_networks.htm</a:t>
            </a:r>
          </a:p>
        </p:txBody>
      </p:sp>
      <p:sp>
        <p:nvSpPr>
          <p:cNvPr id="20" name="Rectángulo 19"/>
          <p:cNvSpPr/>
          <p:nvPr/>
        </p:nvSpPr>
        <p:spPr>
          <a:xfrm>
            <a:off x="1164934" y="1729955"/>
            <a:ext cx="183255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1400" b="1" dirty="0" smtClean="0"/>
              <a:t>Red neuronal artificial</a:t>
            </a:r>
          </a:p>
        </p:txBody>
      </p:sp>
      <p:pic>
        <p:nvPicPr>
          <p:cNvPr id="2056" name="Picture 8" descr="Genetic algorith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6087" y="1951037"/>
            <a:ext cx="3381375" cy="3095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ángulo 3"/>
          <p:cNvSpPr/>
          <p:nvPr/>
        </p:nvSpPr>
        <p:spPr>
          <a:xfrm>
            <a:off x="4474168" y="5229225"/>
            <a:ext cx="358521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1200" dirty="0"/>
              <a:t>https://quantdare.com/ga-to-define-a-trading-system/</a:t>
            </a:r>
          </a:p>
        </p:txBody>
      </p:sp>
      <p:pic>
        <p:nvPicPr>
          <p:cNvPr id="2058" name="Picture 10" descr="Resultado de imagen para fuzzy logic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8925" y="2636836"/>
            <a:ext cx="2743200" cy="1724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/>
          <p:cNvSpPr/>
          <p:nvPr/>
        </p:nvSpPr>
        <p:spPr>
          <a:xfrm>
            <a:off x="8658225" y="4360861"/>
            <a:ext cx="34099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200" dirty="0"/>
              <a:t>https://www.doc.ic.ac.uk/~nd/surprise_96/journal/vol2/jp6/article2.html</a:t>
            </a:r>
          </a:p>
        </p:txBody>
      </p:sp>
      <p:sp>
        <p:nvSpPr>
          <p:cNvPr id="24" name="Rectángulo 23"/>
          <p:cNvSpPr/>
          <p:nvPr/>
        </p:nvSpPr>
        <p:spPr>
          <a:xfrm>
            <a:off x="5463193" y="1551978"/>
            <a:ext cx="160717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1400" b="1" dirty="0" smtClean="0"/>
              <a:t>Algoritmo genético</a:t>
            </a:r>
          </a:p>
        </p:txBody>
      </p:sp>
      <p:sp>
        <p:nvSpPr>
          <p:cNvPr id="25" name="Rectángulo 24"/>
          <p:cNvSpPr/>
          <p:nvPr/>
        </p:nvSpPr>
        <p:spPr>
          <a:xfrm>
            <a:off x="9653049" y="2329059"/>
            <a:ext cx="115986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1400" b="1" dirty="0" smtClean="0"/>
              <a:t>Lógica Difusa</a:t>
            </a:r>
          </a:p>
        </p:txBody>
      </p:sp>
      <p:pic>
        <p:nvPicPr>
          <p:cNvPr id="11" name="Picture 31">
            <a:extLst>
              <a:ext uri="{FF2B5EF4-FFF2-40B4-BE49-F238E27FC236}">
                <a16:creationId xmlns:a16="http://schemas.microsoft.com/office/drawing/2014/main" xmlns="" id="{C80DAB71-B4C6-4FCE-AF23-350E2AFF667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2135" b="94253" l="6471" r="95882">
                        <a14:foregroundMark x1="91961" y1="10181" x2="91961" y2="10181"/>
                        <a14:foregroundMark x1="32745" y1="6897" x2="32745" y2="6897"/>
                        <a14:foregroundMark x1="6471" y1="76190" x2="6471" y2="76190"/>
                        <a14:foregroundMark x1="14706" y1="94417" x2="14706" y2="94417"/>
                        <a14:foregroundMark x1="33333" y1="2135" x2="33333" y2="2135"/>
                        <a14:foregroundMark x1="95882" y1="13136" x2="95882" y2="1313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471986" y="3738613"/>
            <a:ext cx="1815419" cy="2167825"/>
          </a:xfrm>
          <a:prstGeom prst="rect">
            <a:avLst/>
          </a:prstGeom>
        </p:spPr>
      </p:pic>
      <p:pic>
        <p:nvPicPr>
          <p:cNvPr id="12" name="Picture 31">
            <a:extLst>
              <a:ext uri="{FF2B5EF4-FFF2-40B4-BE49-F238E27FC236}">
                <a16:creationId xmlns:a16="http://schemas.microsoft.com/office/drawing/2014/main" xmlns="" id="{C80DAB71-B4C6-4FCE-AF23-350E2AFF667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2135" b="94253" l="6471" r="95882">
                        <a14:foregroundMark x1="91961" y1="10181" x2="91961" y2="10181"/>
                        <a14:foregroundMark x1="32745" y1="6897" x2="32745" y2="6897"/>
                        <a14:foregroundMark x1="6471" y1="76190" x2="6471" y2="76190"/>
                        <a14:foregroundMark x1="14706" y1="94417" x2="14706" y2="94417"/>
                        <a14:foregroundMark x1="33333" y1="2135" x2="33333" y2="2135"/>
                        <a14:foregroundMark x1="95882" y1="13136" x2="95882" y2="1313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755982" y="3276948"/>
            <a:ext cx="1815419" cy="2167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336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Resultado de imagen para artificial neural network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0934" y="398580"/>
            <a:ext cx="3166825" cy="2505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ángulo 1"/>
          <p:cNvSpPr/>
          <p:nvPr/>
        </p:nvSpPr>
        <p:spPr>
          <a:xfrm>
            <a:off x="347472" y="3177937"/>
            <a:ext cx="577900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2000" b="1" dirty="0" smtClean="0"/>
              <a:t>El curso pretende continuar la línea que inteligencia artificial que se comenzó con el curso de visión artificial!</a:t>
            </a:r>
            <a:endParaRPr lang="es-CO" sz="2000" b="1" dirty="0"/>
          </a:p>
        </p:txBody>
      </p:sp>
      <p:sp>
        <p:nvSpPr>
          <p:cNvPr id="20" name="Rectángulo 19"/>
          <p:cNvSpPr/>
          <p:nvPr/>
        </p:nvSpPr>
        <p:spPr>
          <a:xfrm>
            <a:off x="7300934" y="90803"/>
            <a:ext cx="183255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1400" b="1" dirty="0" smtClean="0"/>
              <a:t>Red neuronal artificial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6900" y="4033598"/>
            <a:ext cx="3014894" cy="1693055"/>
          </a:xfrm>
          <a:prstGeom prst="rect">
            <a:avLst/>
          </a:prstGeom>
        </p:spPr>
      </p:pic>
      <p:sp>
        <p:nvSpPr>
          <p:cNvPr id="14" name="Rectángulo 13"/>
          <p:cNvSpPr/>
          <p:nvPr/>
        </p:nvSpPr>
        <p:spPr>
          <a:xfrm>
            <a:off x="7232904" y="3734799"/>
            <a:ext cx="36491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1400" b="1" dirty="0" smtClean="0"/>
              <a:t>Técnicas de visión artificial de nivel intermedio</a:t>
            </a:r>
          </a:p>
        </p:txBody>
      </p:sp>
      <p:sp>
        <p:nvSpPr>
          <p:cNvPr id="6" name="Flecha derecha 5"/>
          <p:cNvSpPr/>
          <p:nvPr/>
        </p:nvSpPr>
        <p:spPr>
          <a:xfrm rot="19420414">
            <a:off x="5892769" y="2119239"/>
            <a:ext cx="1316736" cy="740664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Flecha derecha 15"/>
          <p:cNvSpPr/>
          <p:nvPr/>
        </p:nvSpPr>
        <p:spPr>
          <a:xfrm rot="1682295">
            <a:off x="5887389" y="4183686"/>
            <a:ext cx="1316736" cy="740664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Rectángulo 6"/>
          <p:cNvSpPr/>
          <p:nvPr/>
        </p:nvSpPr>
        <p:spPr>
          <a:xfrm>
            <a:off x="7232904" y="5726653"/>
            <a:ext cx="460857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200" dirty="0"/>
              <a:t>https://towardsdatascience.com/advanced-lane-detection-for-autonomous-vehicles-using-computer-vision-techniques-f229e4245e41?gi=75763a6113ae</a:t>
            </a:r>
          </a:p>
        </p:txBody>
      </p:sp>
      <p:sp>
        <p:nvSpPr>
          <p:cNvPr id="18" name="Rectángulo 17"/>
          <p:cNvSpPr/>
          <p:nvPr/>
        </p:nvSpPr>
        <p:spPr>
          <a:xfrm>
            <a:off x="7232904" y="2914702"/>
            <a:ext cx="37764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200" dirty="0"/>
              <a:t>https://www.tutorialspoint.com/artificial_intelligence/artificial_intelligence_neural_networks.htm</a:t>
            </a:r>
          </a:p>
        </p:txBody>
      </p:sp>
    </p:spTree>
    <p:extLst>
      <p:ext uri="{BB962C8B-B14F-4D97-AF65-F5344CB8AC3E}">
        <p14:creationId xmlns:p14="http://schemas.microsoft.com/office/powerpoint/2010/main" val="2062098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1286986" y="1907556"/>
            <a:ext cx="977153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dirty="0" smtClean="0"/>
              <a:t>Comprender </a:t>
            </a:r>
            <a:r>
              <a:rPr lang="es-CO" sz="2000" dirty="0"/>
              <a:t>las técnicas del reconocimiento de patrones, con aplicación al control de calidad </a:t>
            </a:r>
            <a:r>
              <a:rPr lang="es-CO" sz="2000" dirty="0" smtClean="0"/>
              <a:t>y la </a:t>
            </a:r>
            <a:r>
              <a:rPr lang="es-CO" sz="2000" dirty="0"/>
              <a:t>automatización de procesos.</a:t>
            </a:r>
          </a:p>
        </p:txBody>
      </p:sp>
      <p:sp>
        <p:nvSpPr>
          <p:cNvPr id="20" name="Rectángulo 19"/>
          <p:cNvSpPr/>
          <p:nvPr/>
        </p:nvSpPr>
        <p:spPr>
          <a:xfrm>
            <a:off x="858424" y="1476669"/>
            <a:ext cx="2121735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 smtClean="0"/>
              <a:t>Objetivo general</a:t>
            </a:r>
          </a:p>
        </p:txBody>
      </p:sp>
      <p:sp>
        <p:nvSpPr>
          <p:cNvPr id="12" name="Rectángulo 11"/>
          <p:cNvSpPr/>
          <p:nvPr/>
        </p:nvSpPr>
        <p:spPr>
          <a:xfrm>
            <a:off x="858424" y="3067344"/>
            <a:ext cx="264098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 smtClean="0"/>
              <a:t>Objetivos específicos</a:t>
            </a:r>
          </a:p>
        </p:txBody>
      </p:sp>
      <p:sp>
        <p:nvSpPr>
          <p:cNvPr id="13" name="Rectángulo 12"/>
          <p:cNvSpPr/>
          <p:nvPr/>
        </p:nvSpPr>
        <p:spPr>
          <a:xfrm>
            <a:off x="1286985" y="3575175"/>
            <a:ext cx="9771539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Tx/>
              <a:buChar char="-"/>
            </a:pPr>
            <a:r>
              <a:rPr lang="es-CO" sz="2000" dirty="0" smtClean="0"/>
              <a:t>Comprender los criterios </a:t>
            </a:r>
            <a:r>
              <a:rPr lang="es-CO" sz="2000" dirty="0"/>
              <a:t>de </a:t>
            </a:r>
            <a:r>
              <a:rPr lang="es-CO" sz="2000" dirty="0" smtClean="0"/>
              <a:t>selección y </a:t>
            </a:r>
            <a:r>
              <a:rPr lang="es-CO" sz="2000" dirty="0"/>
              <a:t>extracción </a:t>
            </a:r>
            <a:r>
              <a:rPr lang="es-CO" sz="2000" dirty="0" smtClean="0"/>
              <a:t>de características en imágenes</a:t>
            </a:r>
            <a:r>
              <a:rPr lang="es-CO" sz="2000" dirty="0"/>
              <a:t>.</a:t>
            </a:r>
            <a:endParaRPr lang="es-CO" sz="2000" dirty="0" smtClean="0"/>
          </a:p>
          <a:p>
            <a:pPr marL="342900" indent="-342900">
              <a:buFontTx/>
              <a:buChar char="-"/>
            </a:pPr>
            <a:r>
              <a:rPr lang="es-CO" sz="2000" dirty="0" smtClean="0"/>
              <a:t>Conceptualizar la teoría </a:t>
            </a:r>
            <a:r>
              <a:rPr lang="es-CO" sz="2000" dirty="0"/>
              <a:t>y aplicación del </a:t>
            </a:r>
            <a:r>
              <a:rPr lang="es-CO" sz="2000" dirty="0" smtClean="0"/>
              <a:t>clasificador Bayesiano</a:t>
            </a:r>
            <a:r>
              <a:rPr lang="es-CO" sz="2000" dirty="0"/>
              <a:t>.</a:t>
            </a:r>
            <a:endParaRPr lang="es-CO" sz="2000" dirty="0" smtClean="0"/>
          </a:p>
          <a:p>
            <a:pPr marL="342900" indent="-342900">
              <a:buFontTx/>
              <a:buChar char="-"/>
            </a:pPr>
            <a:r>
              <a:rPr lang="es-CO" sz="2000" dirty="0" smtClean="0"/>
              <a:t>Comprender el funcionamiento de una </a:t>
            </a:r>
            <a:r>
              <a:rPr lang="es-CO" sz="2000" dirty="0"/>
              <a:t>red neuronal.</a:t>
            </a:r>
            <a:endParaRPr lang="es-CO" sz="2000" dirty="0" smtClean="0"/>
          </a:p>
          <a:p>
            <a:pPr marL="342900" indent="-342900">
              <a:buFontTx/>
              <a:buChar char="-"/>
            </a:pPr>
            <a:r>
              <a:rPr lang="es-CO" sz="2000" dirty="0" smtClean="0"/>
              <a:t>Seleccionar la arquitectura </a:t>
            </a:r>
            <a:r>
              <a:rPr lang="es-CO" sz="2000" dirty="0"/>
              <a:t>de </a:t>
            </a:r>
            <a:r>
              <a:rPr lang="es-CO" sz="2000" dirty="0" smtClean="0"/>
              <a:t>red adecuada de </a:t>
            </a:r>
            <a:r>
              <a:rPr lang="es-CO" sz="2000" dirty="0"/>
              <a:t>acuerdo </a:t>
            </a:r>
            <a:r>
              <a:rPr lang="es-CO" sz="2000" dirty="0" smtClean="0"/>
              <a:t>a un problema particular planteado.</a:t>
            </a:r>
          </a:p>
          <a:p>
            <a:pPr marL="342900" indent="-342900">
              <a:buFontTx/>
              <a:buChar char="-"/>
            </a:pPr>
            <a:r>
              <a:rPr lang="es-CO" sz="2000" dirty="0"/>
              <a:t>Diseña soluciones </a:t>
            </a:r>
            <a:r>
              <a:rPr lang="es-CO" sz="2000" dirty="0" smtClean="0"/>
              <a:t>de reconocimiento de patrones </a:t>
            </a:r>
            <a:r>
              <a:rPr lang="es-CO" sz="2000" dirty="0"/>
              <a:t>basado </a:t>
            </a:r>
            <a:r>
              <a:rPr lang="es-CO" sz="2000" dirty="0" smtClean="0"/>
              <a:t>en redes </a:t>
            </a:r>
            <a:r>
              <a:rPr lang="es-CO" sz="2000" dirty="0"/>
              <a:t>neuronales </a:t>
            </a:r>
            <a:r>
              <a:rPr lang="es-CO" sz="2000" dirty="0" smtClean="0"/>
              <a:t>y visión artificial.</a:t>
            </a:r>
            <a:endParaRPr lang="es-CO" sz="2000" dirty="0"/>
          </a:p>
        </p:txBody>
      </p:sp>
    </p:spTree>
    <p:extLst>
      <p:ext uri="{BB962C8B-B14F-4D97-AF65-F5344CB8AC3E}">
        <p14:creationId xmlns:p14="http://schemas.microsoft.com/office/powerpoint/2010/main" val="368519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ángulo 19"/>
          <p:cNvSpPr/>
          <p:nvPr/>
        </p:nvSpPr>
        <p:spPr>
          <a:xfrm>
            <a:off x="940687" y="1343319"/>
            <a:ext cx="2890663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 smtClean="0"/>
              <a:t>Cronograma de trabajo</a:t>
            </a:r>
          </a:p>
        </p:txBody>
      </p:sp>
      <p:graphicFrame>
        <p:nvGraphicFramePr>
          <p:cNvPr id="3" name="Tab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4440574"/>
              </p:ext>
            </p:extLst>
          </p:nvPr>
        </p:nvGraphicFramePr>
        <p:xfrm>
          <a:off x="1704975" y="2486023"/>
          <a:ext cx="7194550" cy="2514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247775"/>
                <a:gridCol w="5946775"/>
              </a:tblGrid>
              <a:tr h="311944"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 dirty="0">
                          <a:effectLst/>
                        </a:rPr>
                        <a:t>Semana</a:t>
                      </a:r>
                      <a:endParaRPr lang="es-CO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 dirty="0">
                          <a:effectLst/>
                        </a:rPr>
                        <a:t>Tema</a:t>
                      </a:r>
                      <a:endParaRPr lang="es-CO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311944"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u="none" strike="noStrike">
                          <a:effectLst/>
                        </a:rPr>
                        <a:t>1</a:t>
                      </a:r>
                      <a:endParaRPr lang="es-CO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u="none" strike="noStrike">
                          <a:effectLst/>
                        </a:rPr>
                        <a:t>Introducción</a:t>
                      </a:r>
                      <a:endParaRPr lang="es-CO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311944"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u="none" strike="noStrike" dirty="0">
                          <a:effectLst/>
                        </a:rPr>
                        <a:t>2-5</a:t>
                      </a:r>
                      <a:endParaRPr lang="es-CO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u="none" strike="noStrike" dirty="0" smtClean="0">
                          <a:effectLst/>
                        </a:rPr>
                        <a:t>Métodos de extracción de características</a:t>
                      </a:r>
                      <a:endParaRPr lang="es-CO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311944"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u="none" strike="noStrike" dirty="0" smtClean="0">
                          <a:effectLst/>
                        </a:rPr>
                        <a:t>6</a:t>
                      </a:r>
                      <a:endParaRPr lang="es-CO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u="none" strike="noStrike" dirty="0" smtClean="0">
                          <a:effectLst/>
                        </a:rPr>
                        <a:t>Regresión lineal</a:t>
                      </a:r>
                      <a:endParaRPr lang="es-CO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311944"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u="none" strike="noStrike" dirty="0" smtClean="0">
                          <a:effectLst/>
                        </a:rPr>
                        <a:t>7</a:t>
                      </a:r>
                      <a:endParaRPr lang="es-CO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u="none" strike="noStrike" dirty="0" smtClean="0">
                          <a:effectLst/>
                        </a:rPr>
                        <a:t>Validación cruzada</a:t>
                      </a:r>
                      <a:endParaRPr lang="es-CO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311944"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u="none" strike="noStrike" dirty="0" smtClean="0">
                          <a:effectLst/>
                        </a:rPr>
                        <a:t>8</a:t>
                      </a:r>
                      <a:endParaRPr lang="es-CO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u="none" strike="noStrike" dirty="0" smtClean="0">
                          <a:effectLst/>
                        </a:rPr>
                        <a:t>Descenso del gradiente </a:t>
                      </a:r>
                      <a:endParaRPr lang="es-CO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311944"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9</a:t>
                      </a:r>
                      <a:endParaRPr lang="es-CO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u="none" strike="noStrike" dirty="0" smtClean="0">
                          <a:effectLst/>
                        </a:rPr>
                        <a:t>Rata de aprendizaje</a:t>
                      </a:r>
                      <a:endParaRPr lang="es-CO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57163"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10-14</a:t>
                      </a:r>
                      <a:endParaRPr lang="es-CO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000" u="none" strike="noStrike" dirty="0" smtClean="0">
                          <a:effectLst/>
                        </a:rPr>
                        <a:t>Redes Neuronales</a:t>
                      </a:r>
                      <a:endParaRPr lang="es-CO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3870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ángulo 19"/>
          <p:cNvSpPr/>
          <p:nvPr/>
        </p:nvSpPr>
        <p:spPr>
          <a:xfrm>
            <a:off x="1057643" y="1638594"/>
            <a:ext cx="1685205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 smtClean="0"/>
              <a:t>Metodología</a:t>
            </a:r>
          </a:p>
        </p:txBody>
      </p:sp>
      <p:sp>
        <p:nvSpPr>
          <p:cNvPr id="4" name="Rectángulo 3"/>
          <p:cNvSpPr/>
          <p:nvPr/>
        </p:nvSpPr>
        <p:spPr>
          <a:xfrm>
            <a:off x="1286985" y="2336925"/>
            <a:ext cx="9771539" cy="30162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s-CO" sz="2000" dirty="0" smtClean="0"/>
              <a:t>Por parte del profesor:</a:t>
            </a:r>
          </a:p>
          <a:p>
            <a:pPr marL="342900" indent="-342900">
              <a:buFontTx/>
              <a:buChar char="-"/>
            </a:pPr>
            <a:r>
              <a:rPr lang="es-CO" sz="2000" dirty="0" smtClean="0"/>
              <a:t>Sesiones magistrales y/o taller.</a:t>
            </a:r>
          </a:p>
          <a:p>
            <a:pPr marL="342900" indent="-342900">
              <a:buFontTx/>
              <a:buChar char="-"/>
            </a:pPr>
            <a:r>
              <a:rPr lang="es-CO" sz="2000" dirty="0" smtClean="0"/>
              <a:t>Planteamiento de talleres (evaluación de la asignatura), exámenes y definición de los proyectos finales de la asignatura.</a:t>
            </a:r>
          </a:p>
          <a:p>
            <a:pPr marL="342900" indent="-342900">
              <a:buFontTx/>
              <a:buChar char="-"/>
            </a:pPr>
            <a:endParaRPr lang="es-CO" sz="2000" dirty="0" smtClean="0"/>
          </a:p>
          <a:p>
            <a:pPr>
              <a:spcAft>
                <a:spcPts val="600"/>
              </a:spcAft>
            </a:pPr>
            <a:r>
              <a:rPr lang="es-CO" sz="2000" dirty="0" smtClean="0"/>
              <a:t>Por parte del estudiante:</a:t>
            </a:r>
          </a:p>
          <a:p>
            <a:pPr marL="342900" indent="-342900">
              <a:buFontTx/>
              <a:buChar char="-"/>
            </a:pPr>
            <a:r>
              <a:rPr lang="es-CO" sz="2000" dirty="0" smtClean="0"/>
              <a:t>Lectura de la referencia de consulta para cada tema.</a:t>
            </a:r>
          </a:p>
          <a:p>
            <a:pPr marL="342900" indent="-342900">
              <a:buFontTx/>
              <a:buChar char="-"/>
            </a:pPr>
            <a:r>
              <a:rPr lang="es-CO" sz="2000" dirty="0" smtClean="0"/>
              <a:t>Entrega de los actividades planteadas por el profesor en la fecha especificada.</a:t>
            </a:r>
          </a:p>
          <a:p>
            <a:pPr marL="342900" indent="-342900">
              <a:buFontTx/>
              <a:buChar char="-"/>
            </a:pPr>
            <a:endParaRPr lang="es-CO" sz="2000" dirty="0" smtClean="0"/>
          </a:p>
        </p:txBody>
      </p:sp>
    </p:spTree>
    <p:extLst>
      <p:ext uri="{BB962C8B-B14F-4D97-AF65-F5344CB8AC3E}">
        <p14:creationId xmlns:p14="http://schemas.microsoft.com/office/powerpoint/2010/main" val="3759703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ángulo 19"/>
          <p:cNvSpPr/>
          <p:nvPr/>
        </p:nvSpPr>
        <p:spPr>
          <a:xfrm>
            <a:off x="1183641" y="1638594"/>
            <a:ext cx="1433213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 smtClean="0"/>
              <a:t>Evaluación</a:t>
            </a:r>
          </a:p>
        </p:txBody>
      </p:sp>
      <p:graphicFrame>
        <p:nvGraphicFramePr>
          <p:cNvPr id="5" name="Tab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6939307"/>
              </p:ext>
            </p:extLst>
          </p:nvPr>
        </p:nvGraphicFramePr>
        <p:xfrm>
          <a:off x="1704975" y="2486023"/>
          <a:ext cx="7150290" cy="2238377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981200"/>
                <a:gridCol w="5169090"/>
              </a:tblGrid>
              <a:tr h="311944"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 dirty="0" smtClean="0">
                          <a:effectLst/>
                        </a:rPr>
                        <a:t>Porcentaje (%)</a:t>
                      </a:r>
                      <a:endParaRPr lang="es-CO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 dirty="0" smtClean="0">
                          <a:effectLst/>
                        </a:rPr>
                        <a:t>Actividad</a:t>
                      </a:r>
                      <a:r>
                        <a:rPr lang="es-CO" sz="2000" b="1" u="none" strike="noStrike" baseline="0" dirty="0" smtClean="0">
                          <a:effectLst/>
                        </a:rPr>
                        <a:t> evaluativa</a:t>
                      </a:r>
                      <a:endParaRPr lang="es-CO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352427"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u="none" strike="noStrike" dirty="0" smtClean="0">
                          <a:effectLst/>
                        </a:rPr>
                        <a:t>20</a:t>
                      </a:r>
                      <a:endParaRPr lang="es-CO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u="none" strike="noStrike" dirty="0" smtClean="0">
                          <a:effectLst/>
                        </a:rPr>
                        <a:t>Taller métodos de extracción de </a:t>
                      </a:r>
                      <a:r>
                        <a:rPr lang="es-CO" sz="2000" u="none" strike="noStrike" dirty="0" smtClean="0">
                          <a:effectLst/>
                        </a:rPr>
                        <a:t>características.</a:t>
                      </a:r>
                      <a:endParaRPr lang="es-CO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311944"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u="none" strike="noStrike" dirty="0" smtClean="0">
                          <a:effectLst/>
                        </a:rPr>
                        <a:t>15</a:t>
                      </a:r>
                      <a:endParaRPr lang="es-CO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Quiz</a:t>
                      </a:r>
                      <a:r>
                        <a:rPr lang="es-CO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# 1</a:t>
                      </a:r>
                      <a:endParaRPr lang="es-CO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311944"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u="none" strike="noStrike" dirty="0" smtClean="0">
                          <a:effectLst/>
                        </a:rPr>
                        <a:t>15</a:t>
                      </a:r>
                      <a:endParaRPr lang="es-CO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u="none" strike="noStrike" dirty="0" err="1" smtClean="0">
                          <a:effectLst/>
                        </a:rPr>
                        <a:t>Quiz</a:t>
                      </a:r>
                      <a:r>
                        <a:rPr lang="es-CO" sz="2000" u="none" strike="noStrike" dirty="0" smtClean="0">
                          <a:effectLst/>
                        </a:rPr>
                        <a:t> # 2</a:t>
                      </a:r>
                      <a:endParaRPr lang="es-CO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311944"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u="none" strike="noStrike" dirty="0" smtClean="0">
                          <a:effectLst/>
                        </a:rPr>
                        <a:t>20</a:t>
                      </a:r>
                      <a:endParaRPr lang="es-CO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Taller redes neuronales</a:t>
                      </a:r>
                      <a:endParaRPr lang="es-CO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311944"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u="none" strike="noStrike" dirty="0" smtClean="0">
                          <a:effectLst/>
                        </a:rPr>
                        <a:t>20</a:t>
                      </a:r>
                      <a:endParaRPr lang="es-CO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u="none" strike="noStrike" dirty="0" smtClean="0">
                          <a:effectLst/>
                        </a:rPr>
                        <a:t>Proyecto final – artículo</a:t>
                      </a:r>
                      <a:endParaRPr lang="es-CO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57163"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u="none" strike="noStrike" dirty="0" smtClean="0">
                          <a:effectLst/>
                        </a:rPr>
                        <a:t>10</a:t>
                      </a:r>
                      <a:endParaRPr lang="es-CO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Exposición</a:t>
                      </a:r>
                      <a:endParaRPr lang="es-CO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0123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ángulo 19"/>
          <p:cNvSpPr/>
          <p:nvPr/>
        </p:nvSpPr>
        <p:spPr>
          <a:xfrm>
            <a:off x="294509" y="1610019"/>
            <a:ext cx="5840381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/>
              <a:t>Condiciones para el desarrollo del </a:t>
            </a:r>
            <a:r>
              <a:rPr lang="es-CO" sz="2200" b="1" dirty="0" smtClean="0"/>
              <a:t>curso </a:t>
            </a:r>
            <a:r>
              <a:rPr lang="es-CO" sz="2200" b="1" dirty="0" smtClean="0">
                <a:solidFill>
                  <a:srgbClr val="FF0000"/>
                </a:solidFill>
              </a:rPr>
              <a:t>(Parte I)</a:t>
            </a:r>
          </a:p>
        </p:txBody>
      </p:sp>
      <p:sp>
        <p:nvSpPr>
          <p:cNvPr id="4" name="Rectángulo 3"/>
          <p:cNvSpPr/>
          <p:nvPr/>
        </p:nvSpPr>
        <p:spPr>
          <a:xfrm>
            <a:off x="1286985" y="2336925"/>
            <a:ext cx="9771539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Tx/>
              <a:buChar char="-"/>
            </a:pPr>
            <a:r>
              <a:rPr lang="es-CO" sz="2000" dirty="0"/>
              <a:t>El registro de faltas de asistencia y el ingreso de notas se hará tal y como se especifica en el </a:t>
            </a:r>
            <a:r>
              <a:rPr lang="es-CO" sz="2000" dirty="0" smtClean="0"/>
              <a:t>reglamento estudiantil.</a:t>
            </a:r>
          </a:p>
          <a:p>
            <a:pPr marL="342900" indent="-342900">
              <a:buFontTx/>
              <a:buChar char="-"/>
            </a:pPr>
            <a:r>
              <a:rPr lang="es-CO" sz="2000" dirty="0" smtClean="0"/>
              <a:t>El </a:t>
            </a:r>
            <a:r>
              <a:rPr lang="es-CO" sz="2000" dirty="0"/>
              <a:t>material práctico del curso será elaborado en el lenguaje de programación </a:t>
            </a:r>
            <a:r>
              <a:rPr lang="es-CO" sz="2000" dirty="0" err="1"/>
              <a:t>Python</a:t>
            </a:r>
            <a:r>
              <a:rPr lang="es-CO" sz="2000" dirty="0"/>
              <a:t>, sin embargo, para </a:t>
            </a:r>
            <a:r>
              <a:rPr lang="es-CO" sz="2000" dirty="0" smtClean="0"/>
              <a:t>el desarrollo </a:t>
            </a:r>
            <a:r>
              <a:rPr lang="es-CO" sz="2000" dirty="0"/>
              <a:t>de trabajos puede utilizar la tecnología con la que esté </a:t>
            </a:r>
            <a:r>
              <a:rPr lang="es-CO" sz="2000" dirty="0" smtClean="0"/>
              <a:t>familiarizado.</a:t>
            </a:r>
          </a:p>
          <a:p>
            <a:pPr marL="342900" indent="-342900">
              <a:buFontTx/>
              <a:buChar char="-"/>
            </a:pPr>
            <a:r>
              <a:rPr lang="es-CO" sz="2000" dirty="0" smtClean="0"/>
              <a:t>Es </a:t>
            </a:r>
            <a:r>
              <a:rPr lang="es-CO" sz="2000" dirty="0"/>
              <a:t>responsabilidad del estudiante revisar periódicamente su correo institucional para estar al tanto </a:t>
            </a:r>
            <a:r>
              <a:rPr lang="es-CO" sz="2000" dirty="0" smtClean="0"/>
              <a:t>del cronograma </a:t>
            </a:r>
            <a:r>
              <a:rPr lang="es-CO" sz="2000" dirty="0"/>
              <a:t>y las informaciones enviadas por el profesor vía </a:t>
            </a:r>
            <a:r>
              <a:rPr lang="es-CO" sz="2000" dirty="0" smtClean="0"/>
              <a:t>e-mail.</a:t>
            </a:r>
          </a:p>
          <a:p>
            <a:pPr marL="342900" indent="-342900">
              <a:buFontTx/>
              <a:buChar char="-"/>
            </a:pPr>
            <a:r>
              <a:rPr lang="es-CO" sz="2000" dirty="0" smtClean="0"/>
              <a:t>La </a:t>
            </a:r>
            <a:r>
              <a:rPr lang="es-CO" sz="2000" dirty="0"/>
              <a:t>solución </a:t>
            </a:r>
            <a:r>
              <a:rPr lang="es-CO" sz="2000" dirty="0" smtClean="0"/>
              <a:t>de los talleres sólo </a:t>
            </a:r>
            <a:r>
              <a:rPr lang="es-CO" sz="2000" dirty="0"/>
              <a:t>se recibe en las fechas establecidas. Los </a:t>
            </a:r>
            <a:r>
              <a:rPr lang="es-CO" sz="2000" dirty="0" smtClean="0"/>
              <a:t>talleres que </a:t>
            </a:r>
            <a:r>
              <a:rPr lang="es-CO" sz="2000" dirty="0"/>
              <a:t>sean entregados fuera de esa fecha recibirán una nota de </a:t>
            </a:r>
            <a:r>
              <a:rPr lang="es-CO" sz="2000" dirty="0" smtClean="0"/>
              <a:t>0.</a:t>
            </a:r>
          </a:p>
          <a:p>
            <a:pPr marL="342900" indent="-342900">
              <a:buFontTx/>
              <a:buChar char="-"/>
            </a:pPr>
            <a:r>
              <a:rPr lang="es-CO" sz="2000" dirty="0" smtClean="0"/>
              <a:t>Para </a:t>
            </a:r>
            <a:r>
              <a:rPr lang="es-CO" sz="2000" dirty="0"/>
              <a:t>ser calificados, los programas o algoritmos desarrollados deben ser sustentados al docente durante </a:t>
            </a:r>
            <a:r>
              <a:rPr lang="es-CO" sz="2000" dirty="0" smtClean="0"/>
              <a:t>el </a:t>
            </a:r>
            <a:r>
              <a:rPr lang="es-CO" sz="2000" dirty="0"/>
              <a:t>tiempo de clase o en el momento de la entrega. Programas o algoritmos no </a:t>
            </a:r>
            <a:r>
              <a:rPr lang="es-CO" sz="2000" dirty="0" smtClean="0"/>
              <a:t>sustentados recibirán </a:t>
            </a:r>
            <a:r>
              <a:rPr lang="es-CO" sz="2000" dirty="0"/>
              <a:t>una nota de 0</a:t>
            </a:r>
            <a:r>
              <a:rPr lang="es-CO" sz="2000" dirty="0" smtClean="0"/>
              <a:t>.</a:t>
            </a:r>
          </a:p>
        </p:txBody>
      </p:sp>
      <p:sp>
        <p:nvSpPr>
          <p:cNvPr id="6" name="Rectángulo 5"/>
          <p:cNvSpPr/>
          <p:nvPr/>
        </p:nvSpPr>
        <p:spPr>
          <a:xfrm>
            <a:off x="6368148" y="6122577"/>
            <a:ext cx="3256212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 smtClean="0"/>
              <a:t>Autor: Prof. Pedro </a:t>
            </a:r>
            <a:r>
              <a:rPr lang="es-CO" sz="2200" b="1" dirty="0" err="1" smtClean="0"/>
              <a:t>Atencio</a:t>
            </a:r>
            <a:endParaRPr lang="es-CO" sz="2200" b="1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69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ángulo 19"/>
          <p:cNvSpPr/>
          <p:nvPr/>
        </p:nvSpPr>
        <p:spPr>
          <a:xfrm>
            <a:off x="256839" y="1610019"/>
            <a:ext cx="5915722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/>
              <a:t>Condiciones para el desarrollo del </a:t>
            </a:r>
            <a:r>
              <a:rPr lang="es-CO" sz="2200" b="1" dirty="0" smtClean="0"/>
              <a:t>curso </a:t>
            </a:r>
            <a:r>
              <a:rPr lang="es-CO" sz="2200" b="1" dirty="0" smtClean="0">
                <a:solidFill>
                  <a:srgbClr val="FF0000"/>
                </a:solidFill>
              </a:rPr>
              <a:t>(Parte II)</a:t>
            </a:r>
          </a:p>
        </p:txBody>
      </p:sp>
      <p:sp>
        <p:nvSpPr>
          <p:cNvPr id="4" name="Rectángulo 3"/>
          <p:cNvSpPr/>
          <p:nvPr/>
        </p:nvSpPr>
        <p:spPr>
          <a:xfrm>
            <a:off x="1286985" y="2336925"/>
            <a:ext cx="9771539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Tx/>
              <a:buChar char="-"/>
            </a:pPr>
            <a:r>
              <a:rPr lang="es-CO" sz="2000" dirty="0" smtClean="0"/>
              <a:t>No </a:t>
            </a:r>
            <a:r>
              <a:rPr lang="es-CO" sz="2000" dirty="0"/>
              <a:t>se admite la copia de talleres </a:t>
            </a:r>
            <a:r>
              <a:rPr lang="es-CO" sz="2000" dirty="0" smtClean="0"/>
              <a:t>entre </a:t>
            </a:r>
            <a:r>
              <a:rPr lang="es-CO" sz="2000" dirty="0"/>
              <a:t>los </a:t>
            </a:r>
            <a:r>
              <a:rPr lang="es-CO" sz="2000" dirty="0" smtClean="0"/>
              <a:t>grupos de </a:t>
            </a:r>
            <a:r>
              <a:rPr lang="es-CO" sz="2000" dirty="0"/>
              <a:t>trabajo. Copias de trabajo tendrán una asignación de 0</a:t>
            </a:r>
            <a:r>
              <a:rPr lang="es-CO" sz="2000" dirty="0" smtClean="0"/>
              <a:t>.</a:t>
            </a:r>
          </a:p>
          <a:p>
            <a:pPr marL="342900" indent="-342900">
              <a:buFontTx/>
              <a:buChar char="-"/>
            </a:pPr>
            <a:r>
              <a:rPr lang="es-CO" sz="2000" dirty="0" smtClean="0"/>
              <a:t>Los </a:t>
            </a:r>
            <a:r>
              <a:rPr lang="es-CO" sz="2000" dirty="0"/>
              <a:t>reclamos por notas serán admitidos durante los 5 días hábiles siguientes a la entrega de la misma</a:t>
            </a:r>
            <a:r>
              <a:rPr lang="es-CO" sz="2000" dirty="0" smtClean="0"/>
              <a:t>.</a:t>
            </a:r>
            <a:endParaRPr lang="es-CO" sz="2000" dirty="0"/>
          </a:p>
          <a:p>
            <a:pPr marL="342900" indent="-342900">
              <a:buFontTx/>
              <a:buChar char="-"/>
            </a:pPr>
            <a:r>
              <a:rPr lang="es-CO" sz="2000" dirty="0" smtClean="0"/>
              <a:t>Es </a:t>
            </a:r>
            <a:r>
              <a:rPr lang="es-CO" sz="2000" dirty="0"/>
              <a:t>necesario que el estudiante retome en tiempo de estudio independiente conceptos previos de </a:t>
            </a:r>
            <a:r>
              <a:rPr lang="es-CO" sz="2000" dirty="0" smtClean="0"/>
              <a:t>cálculo, operaciones </a:t>
            </a:r>
            <a:r>
              <a:rPr lang="es-CO" sz="2000" dirty="0"/>
              <a:t>vectoriales y matriciales, conceptos básicos </a:t>
            </a:r>
            <a:r>
              <a:rPr lang="es-CO" sz="2000" dirty="0" smtClean="0"/>
              <a:t>de probabilidad</a:t>
            </a:r>
            <a:r>
              <a:rPr lang="es-CO" sz="2000" dirty="0"/>
              <a:t>, conceptos básicos </a:t>
            </a:r>
            <a:r>
              <a:rPr lang="es-CO" sz="2000" dirty="0" smtClean="0"/>
              <a:t>de programación </a:t>
            </a:r>
            <a:r>
              <a:rPr lang="es-CO" sz="2000" dirty="0"/>
              <a:t>y estructura de datos.</a:t>
            </a:r>
          </a:p>
          <a:p>
            <a:pPr marL="342900" indent="-342900">
              <a:buFontTx/>
              <a:buChar char="-"/>
            </a:pPr>
            <a:r>
              <a:rPr lang="es-CO" sz="2000" dirty="0" smtClean="0"/>
              <a:t>Las </a:t>
            </a:r>
            <a:r>
              <a:rPr lang="es-CO" sz="2000" dirty="0"/>
              <a:t>fechas pueden variar debido a las posibles modificaciones del programa durante el semestre. En </a:t>
            </a:r>
            <a:r>
              <a:rPr lang="es-CO" sz="2000" dirty="0" smtClean="0"/>
              <a:t>caso de </a:t>
            </a:r>
            <a:r>
              <a:rPr lang="es-CO" sz="2000" dirty="0"/>
              <a:t>una modificación, la nueva fecha de </a:t>
            </a:r>
            <a:r>
              <a:rPr lang="es-CO" sz="2000" dirty="0" smtClean="0"/>
              <a:t>entrega </a:t>
            </a:r>
            <a:r>
              <a:rPr lang="es-CO" sz="2000" dirty="0"/>
              <a:t>de un taller se asignará </a:t>
            </a:r>
            <a:r>
              <a:rPr lang="es-CO" sz="2000" dirty="0" smtClean="0"/>
              <a:t>como mínimo </a:t>
            </a:r>
            <a:r>
              <a:rPr lang="es-CO" sz="2000" dirty="0"/>
              <a:t>una semana antes de dicho evento.</a:t>
            </a:r>
          </a:p>
          <a:p>
            <a:pPr marL="342900" indent="-342900">
              <a:buFontTx/>
              <a:buChar char="-"/>
            </a:pPr>
            <a:r>
              <a:rPr lang="es-CO" sz="2000" dirty="0" smtClean="0"/>
              <a:t>El </a:t>
            </a:r>
            <a:r>
              <a:rPr lang="es-CO" sz="2000" dirty="0"/>
              <a:t>principal medio de comunicación entre estudiantes y docente será el correo electrónico institucional</a:t>
            </a:r>
            <a:r>
              <a:rPr lang="es-CO" sz="2000" dirty="0" smtClean="0"/>
              <a:t>.</a:t>
            </a:r>
            <a:endParaRPr lang="es-CO" sz="2000" dirty="0"/>
          </a:p>
        </p:txBody>
      </p:sp>
      <p:sp>
        <p:nvSpPr>
          <p:cNvPr id="5" name="Rectángulo 4"/>
          <p:cNvSpPr/>
          <p:nvPr/>
        </p:nvSpPr>
        <p:spPr>
          <a:xfrm>
            <a:off x="6368148" y="6122577"/>
            <a:ext cx="3256212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 smtClean="0"/>
              <a:t>Autor: Prof. Pedro </a:t>
            </a:r>
            <a:r>
              <a:rPr lang="es-CO" sz="2200" b="1" dirty="0" err="1" smtClean="0"/>
              <a:t>Atencio</a:t>
            </a:r>
            <a:endParaRPr lang="es-CO" sz="2200" b="1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6125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ángulo 19"/>
          <p:cNvSpPr/>
          <p:nvPr/>
        </p:nvSpPr>
        <p:spPr>
          <a:xfrm>
            <a:off x="219168" y="1610019"/>
            <a:ext cx="5991064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/>
              <a:t>Condiciones para el desarrollo del </a:t>
            </a:r>
            <a:r>
              <a:rPr lang="es-CO" sz="2200" b="1" dirty="0" smtClean="0"/>
              <a:t>curso </a:t>
            </a:r>
            <a:r>
              <a:rPr lang="es-CO" sz="2200" b="1" dirty="0" smtClean="0">
                <a:solidFill>
                  <a:srgbClr val="FF0000"/>
                </a:solidFill>
              </a:rPr>
              <a:t>(Parte III)</a:t>
            </a:r>
          </a:p>
        </p:txBody>
      </p:sp>
      <p:sp>
        <p:nvSpPr>
          <p:cNvPr id="4" name="Rectángulo 3"/>
          <p:cNvSpPr/>
          <p:nvPr/>
        </p:nvSpPr>
        <p:spPr>
          <a:xfrm>
            <a:off x="1286985" y="2336925"/>
            <a:ext cx="9771539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Tx/>
              <a:buChar char="-"/>
            </a:pPr>
            <a:r>
              <a:rPr lang="es-CO" sz="2000" dirty="0" smtClean="0"/>
              <a:t>El </a:t>
            </a:r>
            <a:r>
              <a:rPr lang="es-CO" sz="2000" dirty="0"/>
              <a:t>uso de lenguaje indebido en clase es está estrictamente </a:t>
            </a:r>
            <a:r>
              <a:rPr lang="es-CO" sz="2000" dirty="0" smtClean="0"/>
              <a:t>prohibido.</a:t>
            </a:r>
          </a:p>
          <a:p>
            <a:pPr marL="342900" indent="-342900">
              <a:buFontTx/>
              <a:buChar char="-"/>
            </a:pPr>
            <a:r>
              <a:rPr lang="es-CO" sz="2000" dirty="0" smtClean="0"/>
              <a:t>Tratar </a:t>
            </a:r>
            <a:r>
              <a:rPr lang="es-CO" sz="2000" dirty="0"/>
              <a:t>con respeto y amabilidad a sus compañeros y </a:t>
            </a:r>
            <a:r>
              <a:rPr lang="es-CO" sz="2000" dirty="0" smtClean="0"/>
              <a:t>docente.</a:t>
            </a:r>
          </a:p>
          <a:p>
            <a:pPr marL="342900" indent="-342900">
              <a:buFontTx/>
              <a:buChar char="-"/>
            </a:pPr>
            <a:r>
              <a:rPr lang="es-CO" sz="2000" dirty="0" smtClean="0"/>
              <a:t>Evitar </a:t>
            </a:r>
            <a:r>
              <a:rPr lang="es-CO" sz="2000" dirty="0"/>
              <a:t>al máximo el uso de dispositivos móviles en el horario de clase y recordar utilizar el </a:t>
            </a:r>
            <a:r>
              <a:rPr lang="es-CO" sz="2000" dirty="0" smtClean="0"/>
              <a:t>modo silencio antes </a:t>
            </a:r>
            <a:r>
              <a:rPr lang="es-CO" sz="2000" dirty="0"/>
              <a:t>de comenzar la </a:t>
            </a:r>
            <a:r>
              <a:rPr lang="es-CO" sz="2000" dirty="0" smtClean="0"/>
              <a:t>clase.</a:t>
            </a:r>
          </a:p>
          <a:p>
            <a:pPr marL="342900" indent="-342900">
              <a:buFontTx/>
              <a:buChar char="-"/>
            </a:pPr>
            <a:r>
              <a:rPr lang="es-CO" sz="2000" dirty="0" smtClean="0"/>
              <a:t>En </a:t>
            </a:r>
            <a:r>
              <a:rPr lang="es-CO" sz="2000" dirty="0"/>
              <a:t>caso de ser necesario contestar una llamada o mensaje, por favor retirarse del salón para </a:t>
            </a:r>
            <a:r>
              <a:rPr lang="es-CO" sz="2000" dirty="0" smtClean="0"/>
              <a:t>ello.</a:t>
            </a:r>
          </a:p>
          <a:p>
            <a:pPr marL="342900" indent="-342900">
              <a:buFontTx/>
              <a:buChar char="-"/>
            </a:pPr>
            <a:r>
              <a:rPr lang="es-CO" sz="2000" dirty="0" smtClean="0"/>
              <a:t>El </a:t>
            </a:r>
            <a:r>
              <a:rPr lang="es-CO" sz="2000" dirty="0"/>
              <a:t>estudiante es responsable de hacer el uso adecuado de la bibliografía del curso para complementar </a:t>
            </a:r>
            <a:r>
              <a:rPr lang="es-CO" sz="2000" dirty="0" smtClean="0"/>
              <a:t>el contenido </a:t>
            </a:r>
            <a:r>
              <a:rPr lang="es-CO" sz="2000" dirty="0"/>
              <a:t>entregado en clase (se recomienda consultar la bibliografía en inglés).</a:t>
            </a:r>
            <a:endParaRPr lang="es-CO" sz="2000" dirty="0" smtClean="0"/>
          </a:p>
        </p:txBody>
      </p:sp>
      <p:sp>
        <p:nvSpPr>
          <p:cNvPr id="5" name="Rectángulo 4"/>
          <p:cNvSpPr/>
          <p:nvPr/>
        </p:nvSpPr>
        <p:spPr>
          <a:xfrm>
            <a:off x="6368148" y="6122577"/>
            <a:ext cx="3256212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 smtClean="0"/>
              <a:t>Autor: Prof. Pedro </a:t>
            </a:r>
            <a:r>
              <a:rPr lang="es-CO" sz="2200" b="1" dirty="0" err="1" smtClean="0"/>
              <a:t>Atencio</a:t>
            </a:r>
            <a:endParaRPr lang="es-CO" sz="2200" b="1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0047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ángulo 19"/>
          <p:cNvSpPr/>
          <p:nvPr/>
        </p:nvSpPr>
        <p:spPr>
          <a:xfrm>
            <a:off x="1131352" y="1638594"/>
            <a:ext cx="1537793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 smtClean="0"/>
              <a:t>Referencias</a:t>
            </a:r>
          </a:p>
        </p:txBody>
      </p:sp>
      <p:sp>
        <p:nvSpPr>
          <p:cNvPr id="4" name="Rectángulo 3"/>
          <p:cNvSpPr/>
          <p:nvPr/>
        </p:nvSpPr>
        <p:spPr>
          <a:xfrm>
            <a:off x="1286985" y="2336925"/>
            <a:ext cx="9771539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Tx/>
              <a:buChar char="-"/>
            </a:pPr>
            <a:r>
              <a:rPr lang="es-CO" sz="2000" dirty="0"/>
              <a:t>Revista </a:t>
            </a:r>
            <a:r>
              <a:rPr lang="es-CO" sz="2000" dirty="0" err="1"/>
              <a:t>Distill</a:t>
            </a:r>
            <a:r>
              <a:rPr lang="es-CO" sz="2000" dirty="0"/>
              <a:t> (openai.org) </a:t>
            </a:r>
            <a:r>
              <a:rPr lang="es-CO" sz="2000" dirty="0" smtClean="0">
                <a:hlinkClick r:id="rId2"/>
              </a:rPr>
              <a:t>https</a:t>
            </a:r>
            <a:r>
              <a:rPr lang="es-CO" sz="2000" dirty="0">
                <a:hlinkClick r:id="rId2"/>
              </a:rPr>
              <a:t>://</a:t>
            </a:r>
            <a:r>
              <a:rPr lang="es-CO" sz="2000" dirty="0" smtClean="0">
                <a:hlinkClick r:id="rId2"/>
              </a:rPr>
              <a:t>distill.pub/</a:t>
            </a:r>
            <a:endParaRPr lang="es-CO" sz="2000" dirty="0" smtClean="0"/>
          </a:p>
          <a:p>
            <a:pPr marL="342900" indent="-342900">
              <a:buFontTx/>
              <a:buChar char="-"/>
            </a:pPr>
            <a:r>
              <a:rPr lang="es-CO" sz="2000" dirty="0" smtClean="0"/>
              <a:t>Curso </a:t>
            </a:r>
            <a:r>
              <a:rPr lang="es-CO" sz="2000" dirty="0"/>
              <a:t>de inteligencia artificial del profesor Patrick </a:t>
            </a:r>
            <a:r>
              <a:rPr lang="es-CO" sz="2000" dirty="0" smtClean="0"/>
              <a:t>Winston: </a:t>
            </a:r>
            <a:r>
              <a:rPr lang="es-CO" sz="2000" dirty="0" smtClean="0">
                <a:hlinkClick r:id="rId3"/>
              </a:rPr>
              <a:t>https</a:t>
            </a:r>
            <a:r>
              <a:rPr lang="es-CO" sz="2000" dirty="0">
                <a:hlinkClick r:id="rId3"/>
              </a:rPr>
              <a:t>://</a:t>
            </a:r>
            <a:r>
              <a:rPr lang="es-CO" sz="2000" dirty="0" smtClean="0">
                <a:hlinkClick r:id="rId3"/>
              </a:rPr>
              <a:t>www.youtube.com/watch?v=TjZBTDzGeGg&amp;list=PLUl4u3cNGP63gFHB6xb-kVBiQHYe_4hSi</a:t>
            </a:r>
            <a:endParaRPr lang="es-CO" sz="2000" dirty="0" smtClean="0"/>
          </a:p>
          <a:p>
            <a:pPr marL="342900" indent="-342900">
              <a:buFontTx/>
              <a:buChar char="-"/>
            </a:pPr>
            <a:r>
              <a:rPr lang="es-CO" sz="2000" dirty="0" smtClean="0"/>
              <a:t>Curso </a:t>
            </a:r>
            <a:r>
              <a:rPr lang="es-CO" sz="2000" dirty="0"/>
              <a:t>de </a:t>
            </a:r>
            <a:r>
              <a:rPr lang="es-CO" sz="2000" dirty="0" err="1"/>
              <a:t>Deep</a:t>
            </a:r>
            <a:r>
              <a:rPr lang="es-CO" sz="2000" dirty="0"/>
              <a:t> </a:t>
            </a:r>
            <a:r>
              <a:rPr lang="es-CO" sz="2000" dirty="0" err="1"/>
              <a:t>Learning</a:t>
            </a:r>
            <a:r>
              <a:rPr lang="es-CO" sz="2000" dirty="0"/>
              <a:t> de Andrew </a:t>
            </a:r>
            <a:r>
              <a:rPr lang="es-CO" sz="2000" dirty="0" err="1" smtClean="0"/>
              <a:t>Ng</a:t>
            </a:r>
            <a:r>
              <a:rPr lang="es-CO" sz="2000" dirty="0" smtClean="0"/>
              <a:t>: </a:t>
            </a:r>
            <a:r>
              <a:rPr lang="es-CO" sz="2000" dirty="0" smtClean="0">
                <a:hlinkClick r:id="rId4"/>
              </a:rPr>
              <a:t>https</a:t>
            </a:r>
            <a:r>
              <a:rPr lang="es-CO" sz="2000" dirty="0">
                <a:hlinkClick r:id="rId4"/>
              </a:rPr>
              <a:t>://</a:t>
            </a:r>
            <a:r>
              <a:rPr lang="es-CO" sz="2000" dirty="0" smtClean="0">
                <a:hlinkClick r:id="rId4"/>
              </a:rPr>
              <a:t>www.youtube.com/channel/UCcIXc5mJsHVYTZR1maL5l9w</a:t>
            </a:r>
            <a:endParaRPr lang="es-CO" sz="2000" dirty="0" smtClean="0"/>
          </a:p>
          <a:p>
            <a:pPr marL="342900" indent="-342900">
              <a:buFontTx/>
              <a:buChar char="-"/>
            </a:pPr>
            <a:r>
              <a:rPr lang="es-CO" sz="2000" dirty="0" smtClean="0"/>
              <a:t>Revisión </a:t>
            </a:r>
            <a:r>
              <a:rPr lang="es-CO" sz="2000" dirty="0"/>
              <a:t>de artículos por </a:t>
            </a:r>
            <a:r>
              <a:rPr lang="es-CO" sz="2000" dirty="0" err="1"/>
              <a:t>Adrian</a:t>
            </a:r>
            <a:r>
              <a:rPr lang="es-CO" sz="2000" dirty="0"/>
              <a:t> </a:t>
            </a:r>
            <a:r>
              <a:rPr lang="es-CO" sz="2000" dirty="0" err="1"/>
              <a:t>Colyer</a:t>
            </a:r>
            <a:r>
              <a:rPr lang="es-CO" sz="2000" dirty="0"/>
              <a:t> (</a:t>
            </a:r>
            <a:r>
              <a:rPr lang="es-CO" sz="2000" dirty="0" err="1"/>
              <a:t>The</a:t>
            </a:r>
            <a:r>
              <a:rPr lang="es-CO" sz="2000" dirty="0"/>
              <a:t> </a:t>
            </a:r>
            <a:r>
              <a:rPr lang="es-CO" sz="2000" dirty="0" err="1"/>
              <a:t>Morning</a:t>
            </a:r>
            <a:r>
              <a:rPr lang="es-CO" sz="2000" dirty="0"/>
              <a:t> </a:t>
            </a:r>
            <a:r>
              <a:rPr lang="es-CO" sz="2000" dirty="0" err="1"/>
              <a:t>Paper</a:t>
            </a:r>
            <a:r>
              <a:rPr lang="es-CO" sz="2000" dirty="0" smtClean="0"/>
              <a:t>):         </a:t>
            </a:r>
            <a:r>
              <a:rPr lang="es-CO" sz="2000" dirty="0" smtClean="0">
                <a:hlinkClick r:id="rId5"/>
              </a:rPr>
              <a:t>https</a:t>
            </a:r>
            <a:r>
              <a:rPr lang="es-CO" sz="2000" dirty="0">
                <a:hlinkClick r:id="rId5"/>
              </a:rPr>
              <a:t>://blog.acolyer.org</a:t>
            </a:r>
            <a:r>
              <a:rPr lang="es-CO" sz="2000" dirty="0" smtClean="0">
                <a:hlinkClick r:id="rId5"/>
              </a:rPr>
              <a:t>/</a:t>
            </a:r>
            <a:endParaRPr lang="es-CO" sz="2000" dirty="0" smtClean="0"/>
          </a:p>
          <a:p>
            <a:pPr marL="342900" indent="-342900">
              <a:buFontTx/>
              <a:buChar char="-"/>
            </a:pPr>
            <a:r>
              <a:rPr lang="es-CO" sz="2000" dirty="0" smtClean="0"/>
              <a:t>Russell </a:t>
            </a:r>
            <a:r>
              <a:rPr lang="es-CO" sz="2000" dirty="0"/>
              <a:t>&amp; </a:t>
            </a:r>
            <a:r>
              <a:rPr lang="es-CO" sz="2000" dirty="0" err="1"/>
              <a:t>Norvig</a:t>
            </a:r>
            <a:r>
              <a:rPr lang="es-CO" sz="2000" dirty="0"/>
              <a:t>. Inteligencia Artificial: Un enfoque moderno (tercera </a:t>
            </a:r>
            <a:r>
              <a:rPr lang="es-CO" sz="2000" dirty="0" smtClean="0"/>
              <a:t>edición) </a:t>
            </a:r>
            <a:r>
              <a:rPr lang="es-CO" sz="2000" dirty="0" smtClean="0">
                <a:hlinkClick r:id="rId6"/>
              </a:rPr>
              <a:t>http</a:t>
            </a:r>
            <a:r>
              <a:rPr lang="es-CO" sz="2000" dirty="0">
                <a:hlinkClick r:id="rId6"/>
              </a:rPr>
              <a:t>://aima.cs.berkeley.edu</a:t>
            </a:r>
            <a:r>
              <a:rPr lang="es-CO" sz="2000" dirty="0" smtClean="0">
                <a:hlinkClick r:id="rId6"/>
              </a:rPr>
              <a:t>/</a:t>
            </a:r>
            <a:endParaRPr lang="es-CO" sz="2000" dirty="0" smtClean="0"/>
          </a:p>
          <a:p>
            <a:pPr marL="342900" indent="-342900">
              <a:buFontTx/>
              <a:buChar char="-"/>
            </a:pPr>
            <a:r>
              <a:rPr lang="es-CO" sz="2000" dirty="0" smtClean="0"/>
              <a:t>Curso </a:t>
            </a:r>
            <a:r>
              <a:rPr lang="es-CO" sz="2000" dirty="0"/>
              <a:t>de </a:t>
            </a:r>
            <a:r>
              <a:rPr lang="es-CO" sz="2000" dirty="0" err="1"/>
              <a:t>Deep</a:t>
            </a:r>
            <a:r>
              <a:rPr lang="es-CO" sz="2000" dirty="0"/>
              <a:t> </a:t>
            </a:r>
            <a:r>
              <a:rPr lang="es-CO" sz="2000" dirty="0" err="1"/>
              <a:t>Learning</a:t>
            </a:r>
            <a:r>
              <a:rPr lang="es-CO" sz="2000" dirty="0"/>
              <a:t> Aplicado. </a:t>
            </a:r>
            <a:br>
              <a:rPr lang="es-CO" sz="2000" dirty="0"/>
            </a:br>
            <a:r>
              <a:rPr lang="es-CO" sz="2000" dirty="0" smtClean="0">
                <a:hlinkClick r:id="rId7"/>
              </a:rPr>
              <a:t>www.fast.ai</a:t>
            </a:r>
            <a:endParaRPr lang="es-CO" sz="2000" dirty="0" smtClean="0"/>
          </a:p>
          <a:p>
            <a:pPr marL="342900" indent="-342900">
              <a:buFontTx/>
              <a:buChar char="-"/>
            </a:pPr>
            <a:endParaRPr lang="es-CO" sz="2000" dirty="0" smtClean="0"/>
          </a:p>
        </p:txBody>
      </p:sp>
    </p:spTree>
    <p:extLst>
      <p:ext uri="{BB962C8B-B14F-4D97-AF65-F5344CB8AC3E}">
        <p14:creationId xmlns:p14="http://schemas.microsoft.com/office/powerpoint/2010/main" val="31415532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533</TotalTime>
  <Words>787</Words>
  <Application>Microsoft Office PowerPoint</Application>
  <PresentationFormat>Panorámica</PresentationFormat>
  <Paragraphs>101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Andres Rodriguez Andrade</dc:creator>
  <cp:lastModifiedBy>Carlos Alejandro Trujillo Anaya</cp:lastModifiedBy>
  <cp:revision>89</cp:revision>
  <dcterms:created xsi:type="dcterms:W3CDTF">2017-07-31T19:21:32Z</dcterms:created>
  <dcterms:modified xsi:type="dcterms:W3CDTF">2019-02-08T20:01:46Z</dcterms:modified>
</cp:coreProperties>
</file>
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7"/>
  </p:handoutMasterIdLst>
  <p:sldIdLst>
    <p:sldId id="258" r:id="rId2"/>
    <p:sldId id="288" r:id="rId3"/>
    <p:sldId id="259" r:id="rId4"/>
    <p:sldId id="290" r:id="rId5"/>
    <p:sldId id="291" r:id="rId6"/>
    <p:sldId id="296" r:id="rId7"/>
    <p:sldId id="298" r:id="rId8"/>
    <p:sldId id="299" r:id="rId9"/>
    <p:sldId id="300" r:id="rId10"/>
    <p:sldId id="301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92" r:id="rId19"/>
    <p:sldId id="289" r:id="rId20"/>
    <p:sldId id="293" r:id="rId21"/>
    <p:sldId id="294" r:id="rId22"/>
    <p:sldId id="295" r:id="rId23"/>
    <p:sldId id="303" r:id="rId24"/>
    <p:sldId id="307" r:id="rId25"/>
    <p:sldId id="308" r:id="rId26"/>
    <p:sldId id="302" r:id="rId27"/>
    <p:sldId id="304" r:id="rId28"/>
    <p:sldId id="305" r:id="rId29"/>
    <p:sldId id="309" r:id="rId30"/>
    <p:sldId id="310" r:id="rId31"/>
    <p:sldId id="311" r:id="rId32"/>
    <p:sldId id="312" r:id="rId33"/>
    <p:sldId id="313" r:id="rId34"/>
    <p:sldId id="314" r:id="rId35"/>
    <p:sldId id="287" r:id="rId3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41" autoAdjust="0"/>
    <p:restoredTop sz="94610" autoAdjust="0"/>
  </p:normalViewPr>
  <p:slideViewPr>
    <p:cSldViewPr snapToGrid="0">
      <p:cViewPr varScale="1">
        <p:scale>
          <a:sx n="82" d="100"/>
          <a:sy n="82" d="100"/>
        </p:scale>
        <p:origin x="79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8AFCF-E03D-4A93-A37D-68805BA4DAD7}" type="datetimeFigureOut">
              <a:rPr lang="es-CO" smtClean="0"/>
              <a:t>22/02/2019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03E21-90F9-4E3B-8DD6-3033CFBD6841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5502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556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493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493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22/02/2019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8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22/02/2019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836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22/02/2019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2116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22/02/2019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279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22/02/2019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8019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22/02/2019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9630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8537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4147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223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99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carlostrujillo@itm.edu.c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image" Target="../media/image43.png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42.wmf"/><Relationship Id="rId4" Type="http://schemas.microsoft.com/office/2007/relationships/hdphoto" Target="../media/hdphoto3.wdp"/><Relationship Id="rId9" Type="http://schemas.openxmlformats.org/officeDocument/2006/relationships/oleObject" Target="../embeddings/oleObject3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4.bin"/><Relationship Id="rId4" Type="http://schemas.microsoft.com/office/2007/relationships/hdphoto" Target="../media/hdphoto3.wdp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060536" y="1928733"/>
            <a:ext cx="69099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3600" dirty="0"/>
              <a:t>Técnicas de aprendizaje de máquina</a:t>
            </a:r>
          </a:p>
          <a:p>
            <a:r>
              <a:rPr lang="es-CO" sz="2400" dirty="0"/>
              <a:t>Febrero 15 de 2019 - Febrero 22 de 2019 </a:t>
            </a:r>
            <a:endParaRPr lang="es-CO" sz="3600" dirty="0">
              <a:solidFill>
                <a:srgbClr val="FF0000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1409700" y="3140822"/>
            <a:ext cx="10287000" cy="261610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400" dirty="0"/>
              <a:t>Carlos Alejandro Trujillo Anaya – </a:t>
            </a:r>
            <a:r>
              <a:rPr lang="es-CO" sz="2400" b="1" dirty="0">
                <a:hlinkClick r:id="rId2"/>
              </a:rPr>
              <a:t>carlostrujillo@itm.edu.co</a:t>
            </a:r>
            <a:endParaRPr lang="es-CO" sz="2400" b="1" dirty="0"/>
          </a:p>
          <a:p>
            <a:r>
              <a:rPr lang="es-CO" sz="2000" dirty="0"/>
              <a:t>M212</a:t>
            </a:r>
          </a:p>
          <a:p>
            <a:r>
              <a:rPr lang="es-CO" sz="2400" dirty="0"/>
              <a:t>Departamento de electrónica y telecomunicaciones</a:t>
            </a:r>
          </a:p>
          <a:p>
            <a:r>
              <a:rPr lang="es-CO" sz="2400" dirty="0"/>
              <a:t>Inteligencia Artificial I</a:t>
            </a:r>
          </a:p>
          <a:p>
            <a:r>
              <a:rPr lang="es-CO" sz="2400" dirty="0"/>
              <a:t>Asignatura perteneciente a Ingeniería electrónica</a:t>
            </a:r>
          </a:p>
          <a:p>
            <a:r>
              <a:rPr lang="es-CO" sz="2400" dirty="0"/>
              <a:t>Viernes 16-18</a:t>
            </a:r>
          </a:p>
          <a:p>
            <a:r>
              <a:rPr lang="es-CO" sz="2400" dirty="0"/>
              <a:t>O2</a:t>
            </a:r>
          </a:p>
        </p:txBody>
      </p:sp>
    </p:spTree>
    <p:extLst>
      <p:ext uri="{BB962C8B-B14F-4D97-AF65-F5344CB8AC3E}">
        <p14:creationId xmlns:p14="http://schemas.microsoft.com/office/powerpoint/2010/main" val="1140555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fference between AI, machine learning, and deep learning">
            <a:extLst>
              <a:ext uri="{FF2B5EF4-FFF2-40B4-BE49-F238E27FC236}">
                <a16:creationId xmlns:a16="http://schemas.microsoft.com/office/drawing/2014/main" id="{D6602D70-79A8-489F-BA35-AD550D34F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8908" y="2127909"/>
            <a:ext cx="5665876" cy="3489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85CF5F4-57B3-4200-8529-CF0F8A02552F}"/>
              </a:ext>
            </a:extLst>
          </p:cNvPr>
          <p:cNvSpPr/>
          <p:nvPr/>
        </p:nvSpPr>
        <p:spPr>
          <a:xfrm>
            <a:off x="3527393" y="5751381"/>
            <a:ext cx="88569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https://www.geospatialworld.net/blogs/difference-between-ai%EF%BB%BF-machine-learning-and-deep-learning/</a:t>
            </a:r>
          </a:p>
        </p:txBody>
      </p:sp>
      <p:sp>
        <p:nvSpPr>
          <p:cNvPr id="7" name="Rectángulo 19">
            <a:extLst>
              <a:ext uri="{FF2B5EF4-FFF2-40B4-BE49-F238E27FC236}">
                <a16:creationId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Una perspectiva general</a:t>
            </a:r>
          </a:p>
        </p:txBody>
      </p:sp>
    </p:spTree>
    <p:extLst>
      <p:ext uri="{BB962C8B-B14F-4D97-AF65-F5344CB8AC3E}">
        <p14:creationId xmlns:p14="http://schemas.microsoft.com/office/powerpoint/2010/main" val="3206547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/>
          <p:cNvSpPr/>
          <p:nvPr/>
        </p:nvSpPr>
        <p:spPr>
          <a:xfrm>
            <a:off x="1402923" y="2761261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dirty="0"/>
              <a:t>k-</a:t>
            </a:r>
            <a:r>
              <a:rPr lang="es-CO" sz="2000" dirty="0" err="1"/>
              <a:t>Nearest</a:t>
            </a:r>
            <a:r>
              <a:rPr lang="es-CO" sz="2000" dirty="0"/>
              <a:t> </a:t>
            </a:r>
            <a:r>
              <a:rPr lang="es-CO" sz="2000" dirty="0" err="1"/>
              <a:t>Neighbors</a:t>
            </a:r>
            <a:r>
              <a:rPr lang="es-CO" sz="2000" dirty="0"/>
              <a:t> (k-NN)</a:t>
            </a:r>
          </a:p>
          <a:p>
            <a:r>
              <a:rPr lang="es-CO" sz="2000" dirty="0" err="1"/>
              <a:t>Naïve</a:t>
            </a:r>
            <a:r>
              <a:rPr lang="es-CO" sz="2000" dirty="0"/>
              <a:t> Bayes</a:t>
            </a:r>
          </a:p>
          <a:p>
            <a:r>
              <a:rPr lang="es-CO" sz="2000" dirty="0" err="1"/>
              <a:t>Logistic</a:t>
            </a:r>
            <a:r>
              <a:rPr lang="es-CO" sz="2000" dirty="0"/>
              <a:t> </a:t>
            </a:r>
            <a:r>
              <a:rPr lang="es-CO" sz="2000" dirty="0" err="1"/>
              <a:t>Regression</a:t>
            </a:r>
            <a:endParaRPr lang="es-CO" sz="2000" dirty="0"/>
          </a:p>
          <a:p>
            <a:r>
              <a:rPr lang="es-CO" sz="2000" dirty="0" err="1"/>
              <a:t>Support</a:t>
            </a:r>
            <a:r>
              <a:rPr lang="es-CO" sz="2000" dirty="0"/>
              <a:t> Vector Machines (</a:t>
            </a:r>
            <a:r>
              <a:rPr lang="es-CO" sz="2000" dirty="0" err="1"/>
              <a:t>SVMs</a:t>
            </a:r>
            <a:r>
              <a:rPr lang="es-CO" sz="2000" dirty="0"/>
              <a:t>)</a:t>
            </a:r>
          </a:p>
          <a:p>
            <a:r>
              <a:rPr lang="es-CO" sz="2000" dirty="0" err="1"/>
              <a:t>Decision</a:t>
            </a:r>
            <a:r>
              <a:rPr lang="es-CO" sz="2000" dirty="0"/>
              <a:t> </a:t>
            </a:r>
            <a:r>
              <a:rPr lang="es-CO" sz="2000" dirty="0" err="1"/>
              <a:t>Trees</a:t>
            </a:r>
            <a:endParaRPr lang="es-CO" sz="2000" dirty="0"/>
          </a:p>
          <a:p>
            <a:r>
              <a:rPr lang="es-CO" sz="2000" dirty="0" err="1"/>
              <a:t>Random</a:t>
            </a:r>
            <a:r>
              <a:rPr lang="es-CO" sz="2000" dirty="0"/>
              <a:t> </a:t>
            </a:r>
            <a:r>
              <a:rPr lang="es-CO" sz="2000" dirty="0" err="1"/>
              <a:t>Forests</a:t>
            </a:r>
            <a:endParaRPr lang="es-CO" sz="2000" dirty="0"/>
          </a:p>
          <a:p>
            <a:r>
              <a:rPr lang="es-CO" sz="2000" dirty="0" err="1">
                <a:solidFill>
                  <a:srgbClr val="FF0000"/>
                </a:solidFill>
              </a:rPr>
              <a:t>Perceptrons</a:t>
            </a:r>
            <a:endParaRPr lang="es-CO" sz="2000" dirty="0">
              <a:solidFill>
                <a:srgbClr val="FF0000"/>
              </a:solidFill>
            </a:endParaRPr>
          </a:p>
          <a:p>
            <a:r>
              <a:rPr lang="es-CO" sz="2000" dirty="0" err="1">
                <a:solidFill>
                  <a:srgbClr val="FF0000"/>
                </a:solidFill>
              </a:rPr>
              <a:t>Multi-layer</a:t>
            </a:r>
            <a:r>
              <a:rPr lang="es-CO" sz="2000" dirty="0">
                <a:solidFill>
                  <a:srgbClr val="FF0000"/>
                </a:solidFill>
              </a:rPr>
              <a:t>, </a:t>
            </a:r>
            <a:r>
              <a:rPr lang="es-CO" sz="2000" dirty="0" err="1">
                <a:solidFill>
                  <a:srgbClr val="FF0000"/>
                </a:solidFill>
              </a:rPr>
              <a:t>feedforward</a:t>
            </a:r>
            <a:r>
              <a:rPr lang="es-CO" sz="2000" dirty="0">
                <a:solidFill>
                  <a:srgbClr val="FF0000"/>
                </a:solidFill>
              </a:rPr>
              <a:t> neural </a:t>
            </a:r>
            <a:r>
              <a:rPr lang="es-CO" sz="2000" dirty="0" err="1">
                <a:solidFill>
                  <a:srgbClr val="FF0000"/>
                </a:solidFill>
              </a:rPr>
              <a:t>networks</a:t>
            </a:r>
            <a:endParaRPr lang="es-CO" sz="2000" dirty="0">
              <a:solidFill>
                <a:srgbClr val="FF0000"/>
              </a:solidFill>
            </a:endParaRPr>
          </a:p>
          <a:p>
            <a:r>
              <a:rPr lang="es-CO" sz="2000" dirty="0" err="1">
                <a:solidFill>
                  <a:srgbClr val="FF0000"/>
                </a:solidFill>
              </a:rPr>
              <a:t>Convolutional</a:t>
            </a:r>
            <a:r>
              <a:rPr lang="es-CO" sz="2000" dirty="0">
                <a:solidFill>
                  <a:srgbClr val="FF0000"/>
                </a:solidFill>
              </a:rPr>
              <a:t> Neural Networks (</a:t>
            </a:r>
            <a:r>
              <a:rPr lang="es-CO" sz="2000" dirty="0" err="1">
                <a:solidFill>
                  <a:srgbClr val="FF0000"/>
                </a:solidFill>
              </a:rPr>
              <a:t>CNNs</a:t>
            </a:r>
            <a:r>
              <a:rPr lang="es-CO" sz="20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0" name="Rectángulo 19"/>
          <p:cNvSpPr/>
          <p:nvPr/>
        </p:nvSpPr>
        <p:spPr>
          <a:xfrm>
            <a:off x="852508" y="1562890"/>
            <a:ext cx="811225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Selección (arbitraria) de algoritmos de aprendizaje de máquina que todos debemos saber (… y que le dan sentido a la extracción y selección de características):</a:t>
            </a:r>
          </a:p>
        </p:txBody>
      </p:sp>
      <p:sp>
        <p:nvSpPr>
          <p:cNvPr id="24" name="Rectángulo 23"/>
          <p:cNvSpPr/>
          <p:nvPr/>
        </p:nvSpPr>
        <p:spPr>
          <a:xfrm>
            <a:off x="6364047" y="6411044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</p:spTree>
    <p:extLst>
      <p:ext uri="{BB962C8B-B14F-4D97-AF65-F5344CB8AC3E}">
        <p14:creationId xmlns:p14="http://schemas.microsoft.com/office/powerpoint/2010/main" val="295195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Conjunto de datos</a:t>
            </a:r>
          </a:p>
        </p:txBody>
      </p:sp>
      <p:pic>
        <p:nvPicPr>
          <p:cNvPr id="2050" name="Picture 2" descr="https://www.pyimagesearch.com/wp-content/uploads/2019/01/python_ml_iris.jpg">
            <a:extLst>
              <a:ext uri="{FF2B5EF4-FFF2-40B4-BE49-F238E27FC236}">
                <a16:creationId xmlns:a16="http://schemas.microsoft.com/office/drawing/2014/main" id="{16BAD989-1944-4641-9F56-A6C02A8EF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046" y="2605923"/>
            <a:ext cx="4293765" cy="3234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700B4DF-E0C7-4392-9864-8BCC54F5F042}"/>
              </a:ext>
            </a:extLst>
          </p:cNvPr>
          <p:cNvSpPr/>
          <p:nvPr/>
        </p:nvSpPr>
        <p:spPr>
          <a:xfrm>
            <a:off x="3666831" y="5916513"/>
            <a:ext cx="1467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latin typeface="Helvetica Neue"/>
              </a:rPr>
              <a:t> Iris dataset</a:t>
            </a:r>
            <a:endParaRPr lang="en-US" i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89F631-9C25-4622-B06F-27E8D93D2B9B}"/>
              </a:ext>
            </a:extLst>
          </p:cNvPr>
          <p:cNvSpPr/>
          <p:nvPr/>
        </p:nvSpPr>
        <p:spPr>
          <a:xfrm>
            <a:off x="6386004" y="2828835"/>
            <a:ext cx="50218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pt-BR" dirty="0">
                <a:latin typeface="Helvetica Neue"/>
              </a:rPr>
              <a:t>Tres clases componen este conjunto de datos</a:t>
            </a:r>
            <a:r>
              <a:rPr lang="pt-BR" i="1" dirty="0">
                <a:latin typeface="Helvetica Neue"/>
              </a:rPr>
              <a:t>:</a:t>
            </a:r>
          </a:p>
          <a:p>
            <a:pPr fontAlgn="base">
              <a:buFont typeface="+mj-lt"/>
              <a:buAutoNum type="arabicPeriod"/>
            </a:pPr>
            <a:r>
              <a:rPr lang="pt-BR" i="1" dirty="0">
                <a:latin typeface="Helvetica Neue"/>
              </a:rPr>
              <a:t>Iris Setosa</a:t>
            </a:r>
            <a:endParaRPr lang="pt-BR" dirty="0">
              <a:latin typeface="Helvetica Neue"/>
            </a:endParaRPr>
          </a:p>
          <a:p>
            <a:pPr fontAlgn="base">
              <a:buFont typeface="+mj-lt"/>
              <a:buAutoNum type="arabicPeriod"/>
            </a:pPr>
            <a:r>
              <a:rPr lang="pt-BR" i="1" dirty="0">
                <a:latin typeface="Helvetica Neue"/>
              </a:rPr>
              <a:t>Iris Versicolor</a:t>
            </a:r>
            <a:endParaRPr lang="pt-BR" dirty="0">
              <a:latin typeface="Helvetica Neue"/>
            </a:endParaRPr>
          </a:p>
          <a:p>
            <a:pPr fontAlgn="base">
              <a:buFont typeface="+mj-lt"/>
              <a:buAutoNum type="arabicPeriod"/>
            </a:pPr>
            <a:r>
              <a:rPr lang="pt-BR" i="1" dirty="0">
                <a:latin typeface="Helvetica Neue"/>
              </a:rPr>
              <a:t>Iris Virginica</a:t>
            </a:r>
            <a:endParaRPr lang="pt-BR" b="0" i="0" dirty="0">
              <a:effectLst/>
              <a:latin typeface="Helvetica Neue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A237AD-9923-4CDB-BEFC-A58174CDAE3C}"/>
              </a:ext>
            </a:extLst>
          </p:cNvPr>
          <p:cNvSpPr/>
          <p:nvPr/>
        </p:nvSpPr>
        <p:spPr>
          <a:xfrm>
            <a:off x="6386004" y="4363230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dirty="0" err="1">
                <a:latin typeface="Helvetica Neue"/>
              </a:rPr>
              <a:t>Cada</a:t>
            </a:r>
            <a:r>
              <a:rPr lang="en-US" dirty="0">
                <a:latin typeface="Helvetica Neue"/>
              </a:rPr>
              <a:t> </a:t>
            </a:r>
            <a:r>
              <a:rPr lang="en-US" dirty="0" err="1">
                <a:latin typeface="Helvetica Neue"/>
              </a:rPr>
              <a:t>instancia</a:t>
            </a:r>
            <a:r>
              <a:rPr lang="en-US" dirty="0">
                <a:latin typeface="Helvetica Neue"/>
              </a:rPr>
              <a:t> se </a:t>
            </a:r>
            <a:r>
              <a:rPr lang="en-US" dirty="0" err="1">
                <a:latin typeface="Helvetica Neue"/>
              </a:rPr>
              <a:t>representa</a:t>
            </a:r>
            <a:r>
              <a:rPr lang="en-US" dirty="0">
                <a:latin typeface="Helvetica Neue"/>
              </a:rPr>
              <a:t> por 4 </a:t>
            </a:r>
            <a:r>
              <a:rPr lang="en-US" dirty="0" err="1">
                <a:latin typeface="Helvetica Neue"/>
              </a:rPr>
              <a:t>atributos</a:t>
            </a:r>
            <a:r>
              <a:rPr lang="en-US" dirty="0">
                <a:latin typeface="Helvetica Neue"/>
              </a:rPr>
              <a:t>:</a:t>
            </a:r>
          </a:p>
          <a:p>
            <a:pPr fontAlgn="base">
              <a:buFont typeface="+mj-lt"/>
              <a:buAutoNum type="arabicPeriod"/>
            </a:pPr>
            <a:r>
              <a:rPr lang="en-US" i="1" dirty="0">
                <a:latin typeface="Helvetica Neue"/>
              </a:rPr>
              <a:t>Sepal length</a:t>
            </a:r>
          </a:p>
          <a:p>
            <a:pPr fontAlgn="base">
              <a:buFont typeface="+mj-lt"/>
              <a:buAutoNum type="arabicPeriod"/>
            </a:pPr>
            <a:r>
              <a:rPr lang="en-US" i="1" dirty="0">
                <a:latin typeface="Helvetica Neue"/>
              </a:rPr>
              <a:t>Sepal width</a:t>
            </a:r>
          </a:p>
          <a:p>
            <a:pPr fontAlgn="base">
              <a:buFont typeface="+mj-lt"/>
              <a:buAutoNum type="arabicPeriod"/>
            </a:pPr>
            <a:r>
              <a:rPr lang="en-US" i="1" dirty="0">
                <a:latin typeface="Helvetica Neue"/>
              </a:rPr>
              <a:t>Petal length</a:t>
            </a:r>
          </a:p>
          <a:p>
            <a:pPr fontAlgn="base">
              <a:buFont typeface="+mj-lt"/>
              <a:buAutoNum type="arabicPeriod"/>
            </a:pPr>
            <a:r>
              <a:rPr lang="en-US" i="1" dirty="0">
                <a:latin typeface="Helvetica Neue"/>
              </a:rPr>
              <a:t>Petal width</a:t>
            </a:r>
            <a:endParaRPr lang="en-US" b="0" i="1" dirty="0"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93782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Conjunto de datos (Imágenes)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00B4DF-E0C7-4392-9864-8BCC54F5F042}"/>
              </a:ext>
            </a:extLst>
          </p:cNvPr>
          <p:cNvSpPr/>
          <p:nvPr/>
        </p:nvSpPr>
        <p:spPr>
          <a:xfrm>
            <a:off x="3666831" y="5916513"/>
            <a:ext cx="27751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latin typeface="Helvetica Neue"/>
              </a:rPr>
              <a:t>3-scenes image dataset</a:t>
            </a:r>
            <a:endParaRPr lang="en-US" i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89F631-9C25-4622-B06F-27E8D93D2B9B}"/>
              </a:ext>
            </a:extLst>
          </p:cNvPr>
          <p:cNvSpPr/>
          <p:nvPr/>
        </p:nvSpPr>
        <p:spPr>
          <a:xfrm>
            <a:off x="6386004" y="2828835"/>
            <a:ext cx="50218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pt-BR" dirty="0">
                <a:latin typeface="Helvetica Neue"/>
              </a:rPr>
              <a:t>Tres clases componen este conjunto de datos</a:t>
            </a:r>
            <a:r>
              <a:rPr lang="pt-BR" i="1" dirty="0">
                <a:latin typeface="Helvetica Neue"/>
              </a:rPr>
              <a:t>:</a:t>
            </a:r>
          </a:p>
          <a:p>
            <a:pPr fontAlgn="base">
              <a:buFont typeface="+mj-lt"/>
              <a:buAutoNum type="arabicPeriod"/>
            </a:pPr>
            <a:r>
              <a:rPr lang="pt-BR" i="1" dirty="0">
                <a:latin typeface="Helvetica Neue"/>
              </a:rPr>
              <a:t>Costa</a:t>
            </a:r>
            <a:endParaRPr lang="pt-BR" dirty="0">
              <a:latin typeface="Helvetica Neue"/>
            </a:endParaRPr>
          </a:p>
          <a:p>
            <a:pPr fontAlgn="base">
              <a:buFont typeface="+mj-lt"/>
              <a:buAutoNum type="arabicPeriod"/>
            </a:pPr>
            <a:r>
              <a:rPr lang="pt-BR" i="1" dirty="0">
                <a:latin typeface="Helvetica Neue"/>
              </a:rPr>
              <a:t>Bosques</a:t>
            </a:r>
            <a:endParaRPr lang="pt-BR" dirty="0">
              <a:latin typeface="Helvetica Neue"/>
            </a:endParaRPr>
          </a:p>
          <a:p>
            <a:pPr fontAlgn="base">
              <a:buFont typeface="+mj-lt"/>
              <a:buAutoNum type="arabicPeriod"/>
            </a:pPr>
            <a:r>
              <a:rPr lang="pt-BR" b="0" i="1" dirty="0">
                <a:effectLst/>
                <a:latin typeface="Helvetica Neue"/>
              </a:rPr>
              <a:t>Autopistas</a:t>
            </a:r>
            <a:endParaRPr lang="pt-BR" b="0" i="0" dirty="0">
              <a:effectLst/>
              <a:latin typeface="Helvetica Neue"/>
            </a:endParaRPr>
          </a:p>
        </p:txBody>
      </p:sp>
      <p:pic>
        <p:nvPicPr>
          <p:cNvPr id="3074" name="Picture 2" descr="https://www.pyimagesearch.com/wp-content/uploads/2019/01/python_ml_3scenes.jpg">
            <a:extLst>
              <a:ext uri="{FF2B5EF4-FFF2-40B4-BE49-F238E27FC236}">
                <a16:creationId xmlns:a16="http://schemas.microsoft.com/office/drawing/2014/main" id="{AD5321C0-3EF9-4561-83E2-1CCCC6DDD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050" y="2828835"/>
            <a:ext cx="4723141" cy="2786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377BB93-692F-43BF-AB7E-A0D6EA4E359D}"/>
              </a:ext>
            </a:extLst>
          </p:cNvPr>
          <p:cNvSpPr/>
          <p:nvPr/>
        </p:nvSpPr>
        <p:spPr>
          <a:xfrm>
            <a:off x="1112308" y="5563559"/>
            <a:ext cx="227075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https://www.pyimagesearch.com</a:t>
            </a:r>
          </a:p>
        </p:txBody>
      </p:sp>
    </p:spTree>
    <p:extLst>
      <p:ext uri="{BB962C8B-B14F-4D97-AF65-F5344CB8AC3E}">
        <p14:creationId xmlns:p14="http://schemas.microsoft.com/office/powerpoint/2010/main" val="2493723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870185" y="1566416"/>
            <a:ext cx="105948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 err="1"/>
              <a:t>Clasificación</a:t>
            </a:r>
            <a:r>
              <a:rPr lang="en-US" sz="2400" dirty="0"/>
              <a:t>, </a:t>
            </a:r>
            <a:r>
              <a:rPr lang="en-US" sz="2400" dirty="0" err="1"/>
              <a:t>una</a:t>
            </a:r>
            <a:r>
              <a:rPr lang="en-US" sz="2400" dirty="0"/>
              <a:t> de </a:t>
            </a:r>
            <a:r>
              <a:rPr lang="en-US" sz="2400" dirty="0" err="1"/>
              <a:t>las</a:t>
            </a:r>
            <a:r>
              <a:rPr lang="en-US" sz="2400" dirty="0"/>
              <a:t> </a:t>
            </a:r>
            <a:r>
              <a:rPr lang="en-US" sz="2400" dirty="0" err="1"/>
              <a:t>tareas</a:t>
            </a:r>
            <a:r>
              <a:rPr lang="en-US" sz="2400" dirty="0"/>
              <a:t>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en-US" sz="2400" dirty="0" err="1"/>
              <a:t>llevan</a:t>
            </a:r>
            <a:r>
              <a:rPr lang="en-US" sz="2400" dirty="0"/>
              <a:t> a </a:t>
            </a:r>
            <a:r>
              <a:rPr lang="en-US" sz="2400" dirty="0" err="1"/>
              <a:t>cabo</a:t>
            </a:r>
            <a:r>
              <a:rPr lang="en-US" sz="2400" dirty="0"/>
              <a:t> los </a:t>
            </a:r>
            <a:r>
              <a:rPr lang="en-US" sz="2400" dirty="0" err="1"/>
              <a:t>algoritmos</a:t>
            </a:r>
            <a:r>
              <a:rPr lang="en-US" sz="2400" dirty="0"/>
              <a:t> de </a:t>
            </a:r>
            <a:r>
              <a:rPr lang="en-US" sz="2400" dirty="0" err="1"/>
              <a:t>aprendizaje</a:t>
            </a:r>
            <a:r>
              <a:rPr lang="en-US" sz="2400" dirty="0"/>
              <a:t> de </a:t>
            </a:r>
            <a:r>
              <a:rPr lang="en-US" sz="2400" dirty="0" err="1"/>
              <a:t>máquina</a:t>
            </a:r>
            <a:r>
              <a:rPr lang="en-US" sz="2400" dirty="0"/>
              <a:t> (</a:t>
            </a:r>
            <a:r>
              <a:rPr lang="en-US" sz="2400" dirty="0" err="1"/>
              <a:t>Inteligencia</a:t>
            </a:r>
            <a:r>
              <a:rPr lang="en-US" sz="2400" dirty="0"/>
              <a:t> Artificial)</a:t>
            </a:r>
            <a:endParaRPr lang="es-CO" sz="24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515" y="2801892"/>
            <a:ext cx="2773795" cy="2921652"/>
          </a:xfrm>
          <a:prstGeom prst="rect">
            <a:avLst/>
          </a:prstGeom>
        </p:spPr>
      </p:pic>
      <p:cxnSp>
        <p:nvCxnSpPr>
          <p:cNvPr id="5" name="Conector recto de flecha 4"/>
          <p:cNvCxnSpPr/>
          <p:nvPr/>
        </p:nvCxnSpPr>
        <p:spPr>
          <a:xfrm flipV="1">
            <a:off x="4168590" y="3352800"/>
            <a:ext cx="17929" cy="2286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/>
          <p:cNvCxnSpPr/>
          <p:nvPr/>
        </p:nvCxnSpPr>
        <p:spPr>
          <a:xfrm>
            <a:off x="4413270" y="5916706"/>
            <a:ext cx="2381980" cy="896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051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3200400" y="6216588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/>
              <a:t>https://www.kdnuggets.com/2017/05/machine-learning-crash-course-part-1.html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923974" y="1677064"/>
            <a:ext cx="5290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400" b="1" dirty="0" err="1"/>
              <a:t>Clasificación</a:t>
            </a:r>
            <a:r>
              <a:rPr lang="en-US" sz="2400" b="1" dirty="0"/>
              <a:t> en </a:t>
            </a:r>
            <a:r>
              <a:rPr lang="en-US" sz="2400" b="1" dirty="0" err="1"/>
              <a:t>aprendizaje</a:t>
            </a:r>
            <a:r>
              <a:rPr lang="en-US" sz="2400" b="1" dirty="0"/>
              <a:t> de </a:t>
            </a:r>
            <a:r>
              <a:rPr lang="en-US" sz="2400" b="1" dirty="0" err="1"/>
              <a:t>máquina</a:t>
            </a:r>
            <a:endParaRPr lang="en-US" sz="2400" b="1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100" y="2811461"/>
            <a:ext cx="3018646" cy="2732395"/>
          </a:xfrm>
          <a:prstGeom prst="rect">
            <a:avLst/>
          </a:prstGeom>
        </p:spPr>
      </p:pic>
      <p:pic>
        <p:nvPicPr>
          <p:cNvPr id="7" name="Picture 2" descr="Resultado de imagen para orang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5903" y="1677064"/>
            <a:ext cx="1612985" cy="1612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6418" y="1677064"/>
            <a:ext cx="1424724" cy="1424724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3425" y="3476064"/>
            <a:ext cx="1535463" cy="1768288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0906" y="3526017"/>
            <a:ext cx="1847850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56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4939553" y="6416093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/>
              <a:t>https://www.kdnuggets.com/2017/05/machine-learning-crash-course-part-1.html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212" y="2437948"/>
            <a:ext cx="3895725" cy="3676650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7882498" y="1247592"/>
            <a:ext cx="387023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/>
              <a:t>Objetivo</a:t>
            </a:r>
            <a:r>
              <a:rPr lang="en-US" sz="2000" b="1" dirty="0"/>
              <a:t>: </a:t>
            </a:r>
            <a:r>
              <a:rPr lang="en-US" sz="2000" dirty="0" err="1"/>
              <a:t>Determinar</a:t>
            </a:r>
            <a:r>
              <a:rPr lang="en-US" sz="2000" dirty="0"/>
              <a:t> la </a:t>
            </a:r>
            <a:r>
              <a:rPr lang="en-US" sz="2000" dirty="0" err="1"/>
              <a:t>frontera</a:t>
            </a:r>
            <a:r>
              <a:rPr lang="en-US" sz="2000" dirty="0"/>
              <a:t> de </a:t>
            </a:r>
            <a:r>
              <a:rPr lang="en-US" sz="2000" dirty="0" err="1"/>
              <a:t>decisión</a:t>
            </a:r>
            <a:endParaRPr lang="en-US" sz="2000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153" y="2256973"/>
            <a:ext cx="3914775" cy="3857625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923974" y="1677064"/>
            <a:ext cx="5290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400" b="1" dirty="0" err="1"/>
              <a:t>Clasificación</a:t>
            </a:r>
            <a:r>
              <a:rPr lang="en-US" sz="2400" b="1" dirty="0"/>
              <a:t> en </a:t>
            </a:r>
            <a:r>
              <a:rPr lang="en-US" sz="2400" b="1" dirty="0" err="1"/>
              <a:t>aprendizaje</a:t>
            </a:r>
            <a:r>
              <a:rPr lang="en-US" sz="2400" b="1" dirty="0"/>
              <a:t> de </a:t>
            </a:r>
            <a:r>
              <a:rPr lang="en-US" sz="2400" b="1" dirty="0" err="1"/>
              <a:t>máquina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48551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4939553" y="6416093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/>
              <a:t>https://www.kdnuggets.com/2017/05/machine-learning-crash-course-part-1.html</a:t>
            </a:r>
          </a:p>
        </p:txBody>
      </p:sp>
      <p:sp>
        <p:nvSpPr>
          <p:cNvPr id="6" name="Rectángulo 5"/>
          <p:cNvSpPr/>
          <p:nvPr/>
        </p:nvSpPr>
        <p:spPr>
          <a:xfrm>
            <a:off x="6905347" y="2758961"/>
            <a:ext cx="302110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/>
              <a:t>Al darle a nuestro clasificador ejemplos de naranjas y manzanas para que aprenda, el puede generalizar su experiencia para imágenes de manzanas y naranjas que nunca ha visto.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819" y="2582956"/>
            <a:ext cx="4767665" cy="356683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923974" y="1677064"/>
            <a:ext cx="5290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400" b="1" dirty="0" err="1"/>
              <a:t>Clasificación</a:t>
            </a:r>
            <a:r>
              <a:rPr lang="en-US" sz="2400" b="1" dirty="0"/>
              <a:t> en </a:t>
            </a:r>
            <a:r>
              <a:rPr lang="en-US" sz="2400" b="1" dirty="0" err="1"/>
              <a:t>aprendizaje</a:t>
            </a:r>
            <a:r>
              <a:rPr lang="en-US" sz="2400" b="1" dirty="0"/>
              <a:t> de </a:t>
            </a:r>
            <a:r>
              <a:rPr lang="en-US" sz="2400" b="1" dirty="0" err="1"/>
              <a:t>máquina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896656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200" y="2804359"/>
            <a:ext cx="4755859" cy="337260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868" y="2640527"/>
            <a:ext cx="2773795" cy="2921652"/>
          </a:xfrm>
          <a:prstGeom prst="rect">
            <a:avLst/>
          </a:prstGeom>
        </p:spPr>
      </p:pic>
      <p:cxnSp>
        <p:nvCxnSpPr>
          <p:cNvPr id="6" name="Conector recto de flecha 5"/>
          <p:cNvCxnSpPr/>
          <p:nvPr/>
        </p:nvCxnSpPr>
        <p:spPr>
          <a:xfrm flipV="1">
            <a:off x="1030943" y="3191435"/>
            <a:ext cx="17929" cy="2286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/>
          <p:cNvCxnSpPr/>
          <p:nvPr/>
        </p:nvCxnSpPr>
        <p:spPr>
          <a:xfrm>
            <a:off x="1275623" y="5755341"/>
            <a:ext cx="2381980" cy="896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/>
          <p:cNvSpPr/>
          <p:nvPr/>
        </p:nvSpPr>
        <p:spPr>
          <a:xfrm>
            <a:off x="870185" y="1566416"/>
            <a:ext cx="10594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 err="1"/>
              <a:t>Cómo</a:t>
            </a:r>
            <a:r>
              <a:rPr lang="en-US" sz="2400" b="1" i="1" dirty="0"/>
              <a:t> </a:t>
            </a:r>
            <a:r>
              <a:rPr lang="en-US" sz="2400" b="1" i="1" dirty="0" err="1"/>
              <a:t>podemos</a:t>
            </a:r>
            <a:r>
              <a:rPr lang="en-US" sz="2400" b="1" i="1" dirty="0"/>
              <a:t> </a:t>
            </a:r>
            <a:r>
              <a:rPr lang="en-US" sz="2400" b="1" i="1" dirty="0" err="1"/>
              <a:t>calificar</a:t>
            </a:r>
            <a:r>
              <a:rPr lang="en-US" sz="2400" b="1" i="1" dirty="0"/>
              <a:t> un </a:t>
            </a:r>
            <a:r>
              <a:rPr lang="en-US" sz="2400" b="1" i="1" dirty="0" err="1"/>
              <a:t>clasificador</a:t>
            </a:r>
            <a:r>
              <a:rPr lang="en-US" sz="2400" b="1" i="1" dirty="0"/>
              <a:t>?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684952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7149163" y="6372036"/>
            <a:ext cx="1459335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 err="1"/>
              <a:t>Thales</a:t>
            </a:r>
            <a:r>
              <a:rPr lang="es-CO" sz="1200" dirty="0"/>
              <a:t> </a:t>
            </a:r>
            <a:r>
              <a:rPr lang="es-CO" sz="1200" dirty="0" err="1"/>
              <a:t>Sehn</a:t>
            </a:r>
            <a:r>
              <a:rPr lang="es-CO" sz="1200" dirty="0"/>
              <a:t> </a:t>
            </a:r>
            <a:r>
              <a:rPr lang="es-CO" sz="1200" dirty="0" err="1"/>
              <a:t>Korting</a:t>
            </a:r>
            <a:endParaRPr lang="es-CO" sz="1200" dirty="0"/>
          </a:p>
        </p:txBody>
      </p:sp>
      <p:sp>
        <p:nvSpPr>
          <p:cNvPr id="6" name="Rectángulo 5"/>
          <p:cNvSpPr/>
          <p:nvPr/>
        </p:nvSpPr>
        <p:spPr>
          <a:xfrm>
            <a:off x="-1050753" y="1934291"/>
            <a:ext cx="74023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k-NN (k-nearest neighbor)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199" y="2964730"/>
            <a:ext cx="5269971" cy="3279290"/>
          </a:xfrm>
          <a:prstGeom prst="rect">
            <a:avLst/>
          </a:prstGeom>
        </p:spPr>
      </p:pic>
      <p:sp>
        <p:nvSpPr>
          <p:cNvPr id="10" name="Rectángulo 9"/>
          <p:cNvSpPr/>
          <p:nvPr/>
        </p:nvSpPr>
        <p:spPr>
          <a:xfrm>
            <a:off x="-524781" y="4523599"/>
            <a:ext cx="74023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71641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7149163" y="6372036"/>
            <a:ext cx="1459335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 err="1"/>
              <a:t>Thales</a:t>
            </a:r>
            <a:r>
              <a:rPr lang="es-CO" sz="1200" dirty="0"/>
              <a:t> </a:t>
            </a:r>
            <a:r>
              <a:rPr lang="es-CO" sz="1200" dirty="0" err="1"/>
              <a:t>Sehn</a:t>
            </a:r>
            <a:r>
              <a:rPr lang="es-CO" sz="1200" dirty="0"/>
              <a:t> </a:t>
            </a:r>
            <a:r>
              <a:rPr lang="es-CO" sz="1200" dirty="0" err="1"/>
              <a:t>Korting</a:t>
            </a:r>
            <a:endParaRPr lang="es-CO" sz="1200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199" y="2964730"/>
            <a:ext cx="5269971" cy="3279290"/>
          </a:xfrm>
          <a:prstGeom prst="rect">
            <a:avLst/>
          </a:prstGeom>
        </p:spPr>
      </p:pic>
      <p:sp>
        <p:nvSpPr>
          <p:cNvPr id="10" name="Rectángulo 9"/>
          <p:cNvSpPr/>
          <p:nvPr/>
        </p:nvSpPr>
        <p:spPr>
          <a:xfrm>
            <a:off x="-524781" y="4523599"/>
            <a:ext cx="74023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c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261" y="3973400"/>
            <a:ext cx="2119541" cy="1261950"/>
          </a:xfrm>
          <a:prstGeom prst="rect">
            <a:avLst/>
          </a:prstGeom>
        </p:spPr>
      </p:pic>
      <p:sp>
        <p:nvSpPr>
          <p:cNvPr id="3" name="Elipse 2"/>
          <p:cNvSpPr/>
          <p:nvPr/>
        </p:nvSpPr>
        <p:spPr>
          <a:xfrm>
            <a:off x="2694797" y="4288536"/>
            <a:ext cx="1016222" cy="92852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5">
            <a:extLst>
              <a:ext uri="{FF2B5EF4-FFF2-40B4-BE49-F238E27FC236}">
                <a16:creationId xmlns:a16="http://schemas.microsoft.com/office/drawing/2014/main" id="{D7521303-4305-44F1-A669-FE2EA5D53DA3}"/>
              </a:ext>
            </a:extLst>
          </p:cNvPr>
          <p:cNvSpPr/>
          <p:nvPr/>
        </p:nvSpPr>
        <p:spPr>
          <a:xfrm>
            <a:off x="-1050753" y="1934291"/>
            <a:ext cx="74023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k-NN (k-nearest neighbor)</a:t>
            </a:r>
          </a:p>
        </p:txBody>
      </p:sp>
    </p:spTree>
    <p:extLst>
      <p:ext uri="{BB962C8B-B14F-4D97-AF65-F5344CB8AC3E}">
        <p14:creationId xmlns:p14="http://schemas.microsoft.com/office/powerpoint/2010/main" val="1912258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645" y="3106576"/>
            <a:ext cx="5816518" cy="3363715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7149163" y="6372036"/>
            <a:ext cx="1459335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 err="1"/>
              <a:t>Thales</a:t>
            </a:r>
            <a:r>
              <a:rPr lang="es-CO" sz="1200" dirty="0"/>
              <a:t> </a:t>
            </a:r>
            <a:r>
              <a:rPr lang="es-CO" sz="1200" dirty="0" err="1"/>
              <a:t>Sehn</a:t>
            </a:r>
            <a:r>
              <a:rPr lang="es-CO" sz="1200" dirty="0"/>
              <a:t> </a:t>
            </a:r>
            <a:r>
              <a:rPr lang="es-CO" sz="1200" dirty="0" err="1"/>
              <a:t>Korting</a:t>
            </a:r>
            <a:endParaRPr lang="es-CO" sz="1200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705" y="2679490"/>
            <a:ext cx="4009180" cy="2267114"/>
          </a:xfrm>
          <a:prstGeom prst="rect">
            <a:avLst/>
          </a:prstGeom>
        </p:spPr>
      </p:pic>
      <p:sp>
        <p:nvSpPr>
          <p:cNvPr id="9" name="Rectángulo 5">
            <a:extLst>
              <a:ext uri="{FF2B5EF4-FFF2-40B4-BE49-F238E27FC236}">
                <a16:creationId xmlns:a16="http://schemas.microsoft.com/office/drawing/2014/main" id="{8F9D4A42-6034-433D-9A6D-73D4CBD07B3B}"/>
              </a:ext>
            </a:extLst>
          </p:cNvPr>
          <p:cNvSpPr/>
          <p:nvPr/>
        </p:nvSpPr>
        <p:spPr>
          <a:xfrm>
            <a:off x="-1050753" y="1934291"/>
            <a:ext cx="74023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k-NN (k-nearest neighbor)</a:t>
            </a:r>
          </a:p>
        </p:txBody>
      </p:sp>
    </p:spTree>
    <p:extLst>
      <p:ext uri="{BB962C8B-B14F-4D97-AF65-F5344CB8AC3E}">
        <p14:creationId xmlns:p14="http://schemas.microsoft.com/office/powerpoint/2010/main" val="324423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-930530" y="1933653"/>
            <a:ext cx="74023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Naive Bayes algorithm</a:t>
            </a:r>
          </a:p>
        </p:txBody>
      </p:sp>
      <p:sp>
        <p:nvSpPr>
          <p:cNvPr id="2" name="Rectángulo 1"/>
          <p:cNvSpPr/>
          <p:nvPr/>
        </p:nvSpPr>
        <p:spPr>
          <a:xfrm>
            <a:off x="923974" y="5519851"/>
            <a:ext cx="10594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It is a classification technique based on Bayes’ Theorem with an assumption of independence among predictors.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2612501" y="3463498"/>
                <a:ext cx="3030142" cy="6991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i="1" dirty="0"/>
                  <a:t>P(</a:t>
                </a:r>
                <a:r>
                  <a:rPr lang="en-US" sz="2200" i="1" dirty="0" err="1"/>
                  <a:t>c│x</a:t>
                </a:r>
                <a:r>
                  <a:rPr lang="en-US" sz="2200" i="1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200" i="1" dirty="0"/>
                          <m:t>P</m:t>
                        </m:r>
                        <m:r>
                          <m:rPr>
                            <m:nor/>
                          </m:rPr>
                          <a:rPr lang="en-US" sz="2200" i="1" dirty="0"/>
                          <m:t>(</m:t>
                        </m:r>
                        <m:r>
                          <m:rPr>
                            <m:nor/>
                          </m:rPr>
                          <a:rPr lang="en-US" sz="2200" i="1" dirty="0"/>
                          <m:t>x</m:t>
                        </m:r>
                        <m:r>
                          <m:rPr>
                            <m:nor/>
                          </m:rPr>
                          <a:rPr lang="en-US" sz="2200" i="1" dirty="0"/>
                          <m:t>│</m:t>
                        </m:r>
                        <m:r>
                          <m:rPr>
                            <m:nor/>
                          </m:rPr>
                          <a:rPr lang="en-US" sz="2200" i="1" dirty="0"/>
                          <m:t>c</m:t>
                        </m:r>
                        <m:r>
                          <m:rPr>
                            <m:nor/>
                          </m:rPr>
                          <a:rPr lang="en-US" sz="2200" i="1" dirty="0"/>
                          <m:t>)</m:t>
                        </m:r>
                        <m:r>
                          <m:rPr>
                            <m:nor/>
                          </m:rPr>
                          <a:rPr lang="en-US" sz="2200" i="1" dirty="0"/>
                          <m:t>P</m:t>
                        </m:r>
                        <m:r>
                          <m:rPr>
                            <m:nor/>
                          </m:rPr>
                          <a:rPr lang="en-US" sz="2200" i="1" dirty="0"/>
                          <m:t>(</m:t>
                        </m:r>
                        <m:r>
                          <m:rPr>
                            <m:nor/>
                          </m:rPr>
                          <a:rPr lang="en-US" sz="2200" i="1" dirty="0"/>
                          <m:t>c</m:t>
                        </m:r>
                        <m:r>
                          <m:rPr>
                            <m:nor/>
                          </m:rPr>
                          <a:rPr lang="en-US" sz="2200" i="1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200" i="1" dirty="0"/>
                          <m:t>P</m:t>
                        </m:r>
                        <m:r>
                          <m:rPr>
                            <m:nor/>
                          </m:rPr>
                          <a:rPr lang="en-US" sz="2200" i="1" dirty="0"/>
                          <m:t>(</m:t>
                        </m:r>
                        <m:r>
                          <m:rPr>
                            <m:nor/>
                          </m:rPr>
                          <a:rPr lang="en-US" sz="2200" i="1" dirty="0"/>
                          <m:t>x</m:t>
                        </m:r>
                        <m:r>
                          <m:rPr>
                            <m:nor/>
                          </m:rPr>
                          <a:rPr lang="en-US" sz="2200" i="1" dirty="0"/>
                          <m:t>)</m:t>
                        </m:r>
                        <m:r>
                          <m:rPr>
                            <m:nor/>
                          </m:rPr>
                          <a:rPr lang="es-CO" sz="2200" i="1" dirty="0"/>
                          <m:t> </m:t>
                        </m:r>
                      </m:den>
                    </m:f>
                  </m:oMath>
                </a14:m>
                <a:endParaRPr lang="es-CO" sz="2200" i="1" dirty="0"/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501" y="3463498"/>
                <a:ext cx="3030142" cy="699102"/>
              </a:xfrm>
              <a:prstGeom prst="rect">
                <a:avLst/>
              </a:prstGeom>
              <a:blipFill rotWithShape="0">
                <a:blip r:embed="rId2"/>
                <a:stretch>
                  <a:fillRect l="-2616" b="-87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ángulo 9"/>
          <p:cNvSpPr/>
          <p:nvPr/>
        </p:nvSpPr>
        <p:spPr>
          <a:xfrm>
            <a:off x="923974" y="4469752"/>
            <a:ext cx="21849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Posterior probability</a:t>
            </a:r>
            <a:endParaRPr lang="es-CO" sz="1400" dirty="0"/>
          </a:p>
        </p:txBody>
      </p:sp>
      <p:sp>
        <p:nvSpPr>
          <p:cNvPr id="11" name="Rectángulo 10"/>
          <p:cNvSpPr/>
          <p:nvPr/>
        </p:nvSpPr>
        <p:spPr>
          <a:xfrm>
            <a:off x="4684310" y="2861451"/>
            <a:ext cx="21849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Class prior probability</a:t>
            </a:r>
            <a:endParaRPr lang="es-CO" sz="1400" dirty="0"/>
          </a:p>
        </p:txBody>
      </p:sp>
      <p:sp>
        <p:nvSpPr>
          <p:cNvPr id="12" name="Rectángulo 11"/>
          <p:cNvSpPr/>
          <p:nvPr/>
        </p:nvSpPr>
        <p:spPr>
          <a:xfrm>
            <a:off x="5032678" y="4357494"/>
            <a:ext cx="21849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Predictor prior probability</a:t>
            </a:r>
            <a:endParaRPr lang="es-CO" sz="1400" dirty="0"/>
          </a:p>
        </p:txBody>
      </p:sp>
      <p:sp>
        <p:nvSpPr>
          <p:cNvPr id="13" name="Rectángulo 12"/>
          <p:cNvSpPr/>
          <p:nvPr/>
        </p:nvSpPr>
        <p:spPr>
          <a:xfrm>
            <a:off x="3035079" y="2860760"/>
            <a:ext cx="21849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Likelihood</a:t>
            </a:r>
            <a:endParaRPr lang="es-CO" sz="1400" dirty="0"/>
          </a:p>
        </p:txBody>
      </p:sp>
      <p:cxnSp>
        <p:nvCxnSpPr>
          <p:cNvPr id="15" name="Conector recto de flecha 14"/>
          <p:cNvCxnSpPr/>
          <p:nvPr/>
        </p:nvCxnSpPr>
        <p:spPr>
          <a:xfrm flipH="1">
            <a:off x="4814324" y="3180882"/>
            <a:ext cx="436707" cy="43719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/>
          <p:cNvCxnSpPr/>
          <p:nvPr/>
        </p:nvCxnSpPr>
        <p:spPr>
          <a:xfrm flipH="1" flipV="1">
            <a:off x="4503858" y="4029707"/>
            <a:ext cx="528819" cy="32709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/>
          <p:cNvCxnSpPr/>
          <p:nvPr/>
        </p:nvCxnSpPr>
        <p:spPr>
          <a:xfrm>
            <a:off x="3621238" y="3127951"/>
            <a:ext cx="246674" cy="32320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/>
          <p:cNvCxnSpPr/>
          <p:nvPr/>
        </p:nvCxnSpPr>
        <p:spPr>
          <a:xfrm flipV="1">
            <a:off x="2237446" y="4029707"/>
            <a:ext cx="533186" cy="32832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Imagen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190" y="2317953"/>
            <a:ext cx="1422450" cy="1422450"/>
          </a:xfrm>
          <a:prstGeom prst="rect">
            <a:avLst/>
          </a:prstGeom>
        </p:spPr>
      </p:pic>
      <p:sp>
        <p:nvSpPr>
          <p:cNvPr id="24" name="Rectángulo 23"/>
          <p:cNvSpPr/>
          <p:nvPr/>
        </p:nvSpPr>
        <p:spPr>
          <a:xfrm>
            <a:off x="9321336" y="2212252"/>
            <a:ext cx="220454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example, a fruit may be considered to be an apple if it is red, round, and about 3 inches in diameter.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96980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825" y="2988921"/>
            <a:ext cx="8320796" cy="3031657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1975104" y="6204150"/>
            <a:ext cx="8113776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/>
              <a:t>https://www.analyticsvidhya.com/blog/2017/09/naive-bayes-explained/</a:t>
            </a:r>
          </a:p>
        </p:txBody>
      </p:sp>
      <p:sp>
        <p:nvSpPr>
          <p:cNvPr id="8" name="Rectángulo 6">
            <a:extLst>
              <a:ext uri="{FF2B5EF4-FFF2-40B4-BE49-F238E27FC236}">
                <a16:creationId xmlns:a16="http://schemas.microsoft.com/office/drawing/2014/main" id="{B6C59DB0-57FD-4DCF-B6F9-4BC52B1EE51E}"/>
              </a:ext>
            </a:extLst>
          </p:cNvPr>
          <p:cNvSpPr/>
          <p:nvPr/>
        </p:nvSpPr>
        <p:spPr>
          <a:xfrm>
            <a:off x="-930530" y="1933653"/>
            <a:ext cx="74023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Naive Bayes algorithm</a:t>
            </a:r>
          </a:p>
        </p:txBody>
      </p:sp>
    </p:spTree>
    <p:extLst>
      <p:ext uri="{BB962C8B-B14F-4D97-AF65-F5344CB8AC3E}">
        <p14:creationId xmlns:p14="http://schemas.microsoft.com/office/powerpoint/2010/main" val="2544191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-944221" y="2095612"/>
            <a:ext cx="74023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Naive Bayes algorithm (Example)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243584" y="3195774"/>
            <a:ext cx="8113776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/>
              <a:t>Problem: </a:t>
            </a:r>
            <a:r>
              <a:rPr lang="en-US" sz="1600" dirty="0"/>
              <a:t>Players will play if weather is sunny. Is this statement is correct?</a:t>
            </a:r>
          </a:p>
          <a:p>
            <a:endParaRPr lang="en-US" sz="1600" dirty="0"/>
          </a:p>
          <a:p>
            <a:r>
              <a:rPr lang="en-US" sz="1600" dirty="0"/>
              <a:t>We can solve it using above discussed method of posterior probability.</a:t>
            </a:r>
          </a:p>
          <a:p>
            <a:endParaRPr lang="en-US" sz="1600" dirty="0"/>
          </a:p>
          <a:p>
            <a:r>
              <a:rPr lang="en-US" sz="1600" dirty="0"/>
              <a:t>P(Yes | Sunny) = P( Sunny | Yes) * P(Yes) / P (Sunny)</a:t>
            </a:r>
          </a:p>
          <a:p>
            <a:endParaRPr lang="en-US" sz="1600" dirty="0"/>
          </a:p>
          <a:p>
            <a:r>
              <a:rPr lang="en-US" sz="1600" dirty="0"/>
              <a:t>Here we have P (Sunny |Yes) = 3/9 = 0.33, P(Sunny) = 5/14 = 0.36, P( Yes)= 9/14 = 0.64</a:t>
            </a:r>
          </a:p>
          <a:p>
            <a:endParaRPr lang="en-US" sz="1600" dirty="0"/>
          </a:p>
          <a:p>
            <a:r>
              <a:rPr lang="en-US" sz="1600" dirty="0"/>
              <a:t>Now, P (Yes | Sunny) = 0.33 * 0.64 / 0.36 = 0.60, which has higher probability.</a:t>
            </a:r>
            <a:endParaRPr lang="es-CO" sz="1600" dirty="0"/>
          </a:p>
        </p:txBody>
      </p:sp>
      <p:sp>
        <p:nvSpPr>
          <p:cNvPr id="8" name="Rectángulo 7"/>
          <p:cNvSpPr/>
          <p:nvPr/>
        </p:nvSpPr>
        <p:spPr>
          <a:xfrm>
            <a:off x="1975104" y="6204150"/>
            <a:ext cx="8113776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/>
              <a:t>https://www.analyticsvidhya.com/blog/2017/09/naive-bayes-explained/</a:t>
            </a:r>
          </a:p>
        </p:txBody>
      </p:sp>
    </p:spTree>
    <p:extLst>
      <p:ext uri="{BB962C8B-B14F-4D97-AF65-F5344CB8AC3E}">
        <p14:creationId xmlns:p14="http://schemas.microsoft.com/office/powerpoint/2010/main" val="2056417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-1232302" y="1799479"/>
            <a:ext cx="74023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Decision tree algorithm</a:t>
            </a:r>
          </a:p>
        </p:txBody>
      </p:sp>
      <p:sp>
        <p:nvSpPr>
          <p:cNvPr id="8" name="Rectángulo 7"/>
          <p:cNvSpPr/>
          <p:nvPr/>
        </p:nvSpPr>
        <p:spPr>
          <a:xfrm>
            <a:off x="1975104" y="6204150"/>
            <a:ext cx="8113776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/>
              <a:t>https://www.analyticsvidhya.com/blog/2016/04/complete-tutorial-tree-based-modeling-scratch-in-python/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412" y="3032049"/>
            <a:ext cx="4735651" cy="2993608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7123176" y="3354526"/>
            <a:ext cx="31363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In this technique, we split the population or sample into two or more homogeneous sets (or sub-populations) based on most significant splitter / differentiator in input variables.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0072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408" y="2477930"/>
            <a:ext cx="6880736" cy="3361062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5901533" y="5838992"/>
            <a:ext cx="2843829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 err="1">
                <a:latin typeface="+mj-lt"/>
              </a:rPr>
              <a:t>Rob</a:t>
            </a:r>
            <a:r>
              <a:rPr lang="es-CO" sz="1200" dirty="0">
                <a:latin typeface="+mj-lt"/>
              </a:rPr>
              <a:t> </a:t>
            </a:r>
            <a:r>
              <a:rPr lang="es-CO" sz="1200" dirty="0" err="1">
                <a:latin typeface="+mj-lt"/>
              </a:rPr>
              <a:t>Schapire</a:t>
            </a:r>
            <a:r>
              <a:rPr lang="es-CO" sz="1200" dirty="0">
                <a:latin typeface="+mj-lt"/>
              </a:rPr>
              <a:t>, Princeton </a:t>
            </a:r>
            <a:r>
              <a:rPr lang="es-CO" sz="1200" dirty="0" err="1">
                <a:latin typeface="+mj-lt"/>
              </a:rPr>
              <a:t>University</a:t>
            </a:r>
            <a:r>
              <a:rPr lang="es-CO" sz="1200" dirty="0">
                <a:latin typeface="+mj-lt"/>
              </a:rPr>
              <a:t> .</a:t>
            </a:r>
            <a:br>
              <a:rPr lang="es-CO" sz="1200" dirty="0">
                <a:latin typeface="+mj-lt"/>
              </a:rPr>
            </a:br>
            <a:endParaRPr lang="es-CO" sz="1200" dirty="0">
              <a:latin typeface="+mj-lt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474657" y="1486311"/>
            <a:ext cx="76770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err="1"/>
              <a:t>Problema</a:t>
            </a:r>
            <a:r>
              <a:rPr lang="en-US" b="1" dirty="0"/>
              <a:t>: </a:t>
            </a:r>
            <a:r>
              <a:rPr lang="en-US" dirty="0" err="1"/>
              <a:t>Identificar</a:t>
            </a:r>
            <a:r>
              <a:rPr lang="en-US" dirty="0"/>
              <a:t> los </a:t>
            </a:r>
            <a:r>
              <a:rPr lang="en-US" dirty="0" err="1"/>
              <a:t>personajes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buenos</a:t>
            </a:r>
            <a:r>
              <a:rPr lang="en-US" dirty="0"/>
              <a:t> o </a:t>
            </a:r>
            <a:r>
              <a:rPr lang="en-US" dirty="0" err="1"/>
              <a:t>malos</a:t>
            </a:r>
            <a:r>
              <a:rPr lang="en-US" dirty="0"/>
              <a:t> </a:t>
            </a:r>
            <a:r>
              <a:rPr lang="en-US" dirty="0" err="1"/>
              <a:t>según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apariencia</a:t>
            </a:r>
            <a:r>
              <a:rPr lang="en-US" dirty="0"/>
              <a:t>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69343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271" y="2853822"/>
            <a:ext cx="3279290" cy="2630542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1021" y="2586859"/>
            <a:ext cx="2849590" cy="3805194"/>
          </a:xfrm>
          <a:prstGeom prst="rect">
            <a:avLst/>
          </a:prstGeom>
        </p:spPr>
      </p:pic>
      <p:sp>
        <p:nvSpPr>
          <p:cNvPr id="4" name="Flecha derecha 3"/>
          <p:cNvSpPr/>
          <p:nvPr/>
        </p:nvSpPr>
        <p:spPr>
          <a:xfrm>
            <a:off x="5038165" y="3917576"/>
            <a:ext cx="914400" cy="340659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7"/>
          <p:cNvSpPr/>
          <p:nvPr/>
        </p:nvSpPr>
        <p:spPr>
          <a:xfrm>
            <a:off x="331222" y="1819132"/>
            <a:ext cx="76770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Escoja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b="1" i="1" dirty="0" err="1"/>
              <a:t>regla</a:t>
            </a:r>
            <a:r>
              <a:rPr lang="en-US" dirty="0"/>
              <a:t> para </a:t>
            </a:r>
            <a:r>
              <a:rPr lang="en-US" dirty="0" err="1"/>
              <a:t>dividir</a:t>
            </a:r>
            <a:r>
              <a:rPr lang="en-US" dirty="0"/>
              <a:t> los </a:t>
            </a:r>
            <a:r>
              <a:rPr lang="en-US" dirty="0" err="1"/>
              <a:t>datos</a:t>
            </a:r>
            <a:r>
              <a:rPr lang="en-US" dirty="0"/>
              <a:t> en </a:t>
            </a:r>
            <a:r>
              <a:rPr lang="en-US" dirty="0" err="1"/>
              <a:t>subconjuntos</a:t>
            </a:r>
            <a:r>
              <a:rPr lang="en-US" dirty="0"/>
              <a:t> </a:t>
            </a:r>
            <a:r>
              <a:rPr lang="en-US" dirty="0" err="1"/>
              <a:t>separados</a:t>
            </a:r>
            <a:endParaRPr lang="es-CO" dirty="0"/>
          </a:p>
        </p:txBody>
      </p:sp>
      <p:sp>
        <p:nvSpPr>
          <p:cNvPr id="9" name="Rectángulo 8"/>
          <p:cNvSpPr/>
          <p:nvPr/>
        </p:nvSpPr>
        <p:spPr>
          <a:xfrm>
            <a:off x="8631399" y="2853822"/>
            <a:ext cx="271791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La idea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obtener</a:t>
            </a:r>
            <a:r>
              <a:rPr lang="en-US" dirty="0"/>
              <a:t> </a:t>
            </a:r>
            <a:r>
              <a:rPr lang="en-US" dirty="0" err="1"/>
              <a:t>subconjuntos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sean</a:t>
            </a:r>
            <a:r>
              <a:rPr lang="en-US" dirty="0"/>
              <a:t> </a:t>
            </a:r>
            <a:r>
              <a:rPr lang="en-US" b="1" i="1" dirty="0" err="1"/>
              <a:t>puros</a:t>
            </a:r>
            <a:r>
              <a:rPr lang="en-US" b="1" i="1" dirty="0"/>
              <a:t>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24398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715" y="2392696"/>
            <a:ext cx="5517486" cy="3327667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299184" y="1693627"/>
            <a:ext cx="92213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El </a:t>
            </a:r>
            <a:r>
              <a:rPr lang="en-US" dirty="0" err="1"/>
              <a:t>problema</a:t>
            </a:r>
            <a:r>
              <a:rPr lang="en-US" dirty="0"/>
              <a:t> clave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escoger</a:t>
            </a:r>
            <a:r>
              <a:rPr lang="en-US" dirty="0"/>
              <a:t> </a:t>
            </a:r>
            <a:r>
              <a:rPr lang="en-US" b="1" i="1" dirty="0" err="1"/>
              <a:t>adecuadamente</a:t>
            </a:r>
            <a:r>
              <a:rPr lang="en-US" dirty="0"/>
              <a:t> la </a:t>
            </a:r>
            <a:r>
              <a:rPr lang="en-US" dirty="0" err="1"/>
              <a:t>regla</a:t>
            </a:r>
            <a:r>
              <a:rPr lang="en-US" dirty="0"/>
              <a:t> de division… </a:t>
            </a:r>
            <a:r>
              <a:rPr lang="en-US" dirty="0" err="1"/>
              <a:t>difícil</a:t>
            </a:r>
            <a:r>
              <a:rPr lang="en-US" dirty="0"/>
              <a:t> en la </a:t>
            </a:r>
            <a:r>
              <a:rPr lang="en-US" dirty="0" err="1"/>
              <a:t>realidad</a:t>
            </a:r>
            <a:r>
              <a:rPr lang="en-US" dirty="0"/>
              <a:t>!</a:t>
            </a:r>
            <a:endParaRPr lang="es-CO" dirty="0"/>
          </a:p>
          <a:p>
            <a:pPr algn="ctr"/>
            <a:endParaRPr lang="es-CO" dirty="0"/>
          </a:p>
        </p:txBody>
      </p:sp>
      <p:sp>
        <p:nvSpPr>
          <p:cNvPr id="4" name="Rectángulo 3"/>
          <p:cNvSpPr/>
          <p:nvPr/>
        </p:nvSpPr>
        <p:spPr>
          <a:xfrm>
            <a:off x="8864481" y="3490317"/>
            <a:ext cx="271791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regla</a:t>
            </a:r>
            <a:r>
              <a:rPr lang="en-US" dirty="0"/>
              <a:t>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escoger</a:t>
            </a:r>
            <a:r>
              <a:rPr lang="en-US" dirty="0"/>
              <a:t> </a:t>
            </a:r>
            <a:r>
              <a:rPr lang="en-US" dirty="0" err="1"/>
              <a:t>considerando</a:t>
            </a:r>
            <a:r>
              <a:rPr lang="en-US" dirty="0"/>
              <a:t> la </a:t>
            </a:r>
            <a:r>
              <a:rPr lang="en-US" b="1" i="1" dirty="0" err="1"/>
              <a:t>pureza</a:t>
            </a:r>
            <a:r>
              <a:rPr lang="en-US" dirty="0"/>
              <a:t> de los </a:t>
            </a:r>
            <a:r>
              <a:rPr lang="en-US" dirty="0" err="1"/>
              <a:t>subconjuntos</a:t>
            </a:r>
            <a:r>
              <a:rPr lang="en-US" dirty="0"/>
              <a:t>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79387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606791" y="1746365"/>
            <a:ext cx="92213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Un posible clasificador podría ser uno de los siguientes:</a:t>
            </a:r>
          </a:p>
          <a:p>
            <a:endParaRPr lang="es-CO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040" y="2214003"/>
            <a:ext cx="5091545" cy="393122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399" y="3109715"/>
            <a:ext cx="2044003" cy="1619851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1043255" y="3010388"/>
            <a:ext cx="24709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Clasificador </a:t>
            </a:r>
            <a:r>
              <a:rPr lang="es-CO" b="1" i="1" dirty="0"/>
              <a:t>complejo</a:t>
            </a:r>
          </a:p>
          <a:p>
            <a:endParaRPr lang="es-CO" dirty="0"/>
          </a:p>
        </p:txBody>
      </p:sp>
      <p:sp>
        <p:nvSpPr>
          <p:cNvPr id="8" name="Rectángulo 7"/>
          <p:cNvSpPr/>
          <p:nvPr/>
        </p:nvSpPr>
        <p:spPr>
          <a:xfrm>
            <a:off x="7038944" y="3333553"/>
            <a:ext cx="24709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Clasificador </a:t>
            </a:r>
            <a:r>
              <a:rPr lang="es-CO" b="1" i="1" dirty="0"/>
              <a:t>simple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265014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299" y="2328260"/>
            <a:ext cx="5345292" cy="3176070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606791" y="1746365"/>
            <a:ext cx="92213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dirty="0"/>
              <a:t>Tamaño del árbol vs error de clasificación</a:t>
            </a:r>
          </a:p>
          <a:p>
            <a:endParaRPr lang="es-CO" dirty="0"/>
          </a:p>
        </p:txBody>
      </p:sp>
      <p:sp>
        <p:nvSpPr>
          <p:cNvPr id="4" name="Rectángulo 3"/>
          <p:cNvSpPr/>
          <p:nvPr/>
        </p:nvSpPr>
        <p:spPr>
          <a:xfrm>
            <a:off x="6944838" y="3302617"/>
            <a:ext cx="371760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El tamaño del árbol debe ser suficientemente grande para que se ajuste a los datos, pero no tan grande como para que sobreestimen (</a:t>
            </a:r>
            <a:r>
              <a:rPr lang="es-CO" b="1" i="1" dirty="0" err="1"/>
              <a:t>overfit</a:t>
            </a:r>
            <a:r>
              <a:rPr lang="es-CO" dirty="0"/>
              <a:t>).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62092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008007" y="1765026"/>
            <a:ext cx="922133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err="1"/>
              <a:t>Random</a:t>
            </a:r>
            <a:r>
              <a:rPr lang="es-CO" sz="2200" b="1" dirty="0"/>
              <a:t> </a:t>
            </a:r>
            <a:r>
              <a:rPr lang="es-CO" sz="2200" b="1" dirty="0" err="1"/>
              <a:t>forest</a:t>
            </a:r>
            <a:endParaRPr lang="es-CO" sz="2200" b="1" dirty="0"/>
          </a:p>
          <a:p>
            <a:endParaRPr lang="es-CO" sz="2200" dirty="0"/>
          </a:p>
        </p:txBody>
      </p:sp>
      <p:sp>
        <p:nvSpPr>
          <p:cNvPr id="4" name="Rectángulo 3"/>
          <p:cNvSpPr/>
          <p:nvPr/>
        </p:nvSpPr>
        <p:spPr>
          <a:xfrm>
            <a:off x="1456420" y="2634273"/>
            <a:ext cx="89595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Se puede entender como un gran compendio de árboles de decisión que no están correlacionados.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801E3C-95AA-46F1-99C3-0C4D31617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268" y="3280604"/>
            <a:ext cx="5279835" cy="325285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AAD9E8F-B58D-4E10-BD50-9941DB8E5469}"/>
              </a:ext>
            </a:extLst>
          </p:cNvPr>
          <p:cNvSpPr/>
          <p:nvPr/>
        </p:nvSpPr>
        <p:spPr>
          <a:xfrm>
            <a:off x="3296268" y="6394955"/>
            <a:ext cx="15744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Roboto"/>
              </a:rPr>
              <a:t>Thales </a:t>
            </a:r>
            <a:r>
              <a:rPr lang="en-US" sz="1200" dirty="0" err="1">
                <a:latin typeface="Roboto"/>
              </a:rPr>
              <a:t>Sehn</a:t>
            </a:r>
            <a:r>
              <a:rPr lang="en-US" sz="1200" dirty="0">
                <a:latin typeface="Roboto"/>
              </a:rPr>
              <a:t> </a:t>
            </a:r>
            <a:r>
              <a:rPr lang="en-US" sz="1200" dirty="0" err="1">
                <a:latin typeface="Roboto"/>
              </a:rPr>
              <a:t>Körting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58889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2FD859-4DBD-4A8B-983E-763393788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533" y="3103411"/>
            <a:ext cx="5923677" cy="3335602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A8A98FDD-54D7-4688-B01A-59489DCC623A}"/>
              </a:ext>
            </a:extLst>
          </p:cNvPr>
          <p:cNvSpPr/>
          <p:nvPr/>
        </p:nvSpPr>
        <p:spPr>
          <a:xfrm>
            <a:off x="1008007" y="1765026"/>
            <a:ext cx="922133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err="1"/>
              <a:t>Random</a:t>
            </a:r>
            <a:r>
              <a:rPr lang="es-CO" sz="2200" b="1" dirty="0"/>
              <a:t> </a:t>
            </a:r>
            <a:r>
              <a:rPr lang="es-CO" sz="2200" b="1" dirty="0" err="1"/>
              <a:t>forest</a:t>
            </a:r>
            <a:endParaRPr lang="es-CO" sz="2200" b="1" dirty="0"/>
          </a:p>
          <a:p>
            <a:endParaRPr lang="es-CO" sz="22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36FD5DE-A69F-4E22-AC67-860154A5653C}"/>
              </a:ext>
            </a:extLst>
          </p:cNvPr>
          <p:cNvSpPr/>
          <p:nvPr/>
        </p:nvSpPr>
        <p:spPr>
          <a:xfrm>
            <a:off x="1456420" y="2634273"/>
            <a:ext cx="98802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Se crean subconjuntos con muestras distintas de forma aleatoria (para crear muchos árboles: “Forest”).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C92ECB-828E-4426-B091-CFDEACFD102F}"/>
              </a:ext>
            </a:extLst>
          </p:cNvPr>
          <p:cNvSpPr/>
          <p:nvPr/>
        </p:nvSpPr>
        <p:spPr>
          <a:xfrm>
            <a:off x="4831438" y="6368746"/>
            <a:ext cx="15744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Roboto"/>
              </a:rPr>
              <a:t>Thales </a:t>
            </a:r>
            <a:r>
              <a:rPr lang="en-US" sz="1200" dirty="0" err="1">
                <a:latin typeface="Roboto"/>
              </a:rPr>
              <a:t>Sehn</a:t>
            </a:r>
            <a:r>
              <a:rPr lang="en-US" sz="1200" dirty="0">
                <a:latin typeface="Roboto"/>
              </a:rPr>
              <a:t> </a:t>
            </a:r>
            <a:r>
              <a:rPr lang="en-US" sz="1200" dirty="0" err="1">
                <a:latin typeface="Roboto"/>
              </a:rPr>
              <a:t>Körting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135137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785717-7CE8-45CB-BC6B-89F232E59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393" y="1945312"/>
            <a:ext cx="7835633" cy="4558125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479283BB-FD72-4797-8ED6-158306EED3A5}"/>
              </a:ext>
            </a:extLst>
          </p:cNvPr>
          <p:cNvSpPr/>
          <p:nvPr/>
        </p:nvSpPr>
        <p:spPr>
          <a:xfrm>
            <a:off x="1008007" y="1765026"/>
            <a:ext cx="922133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err="1"/>
              <a:t>Random</a:t>
            </a:r>
            <a:r>
              <a:rPr lang="es-CO" sz="2200" b="1" dirty="0"/>
              <a:t> </a:t>
            </a:r>
            <a:r>
              <a:rPr lang="es-CO" sz="2200" b="1" dirty="0" err="1"/>
              <a:t>forest</a:t>
            </a:r>
            <a:endParaRPr lang="es-CO" sz="2200" b="1" dirty="0"/>
          </a:p>
          <a:p>
            <a:endParaRPr lang="es-CO" sz="2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68F35A-1CD2-4D4A-9D7B-295AD3E486C6}"/>
              </a:ext>
            </a:extLst>
          </p:cNvPr>
          <p:cNvSpPr/>
          <p:nvPr/>
        </p:nvSpPr>
        <p:spPr>
          <a:xfrm>
            <a:off x="2263974" y="6503437"/>
            <a:ext cx="9817669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err="1">
                <a:solidFill>
                  <a:srgbClr val="333333"/>
                </a:solidFill>
                <a:latin typeface="Source Sans Pro" panose="020B0604020202020204" pitchFamily="34" charset="0"/>
              </a:rPr>
              <a:t>Breiman</a:t>
            </a:r>
            <a:r>
              <a:rPr lang="en-US" sz="1200" dirty="0">
                <a:solidFill>
                  <a:srgbClr val="333333"/>
                </a:solidFill>
                <a:latin typeface="Source Sans Pro" panose="020B0604020202020204" pitchFamily="34" charset="0"/>
              </a:rPr>
              <a:t>, L. Machine Learning (2001) 45: 5. https://doi.org/10.1023/A:1010933404324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75139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998677" y="1765026"/>
            <a:ext cx="922133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Regresión logística</a:t>
            </a:r>
          </a:p>
          <a:p>
            <a:endParaRPr lang="es-CO" sz="2200" dirty="0"/>
          </a:p>
        </p:txBody>
      </p:sp>
      <p:sp>
        <p:nvSpPr>
          <p:cNvPr id="4" name="Rectángulo 3"/>
          <p:cNvSpPr/>
          <p:nvPr/>
        </p:nvSpPr>
        <p:spPr>
          <a:xfrm>
            <a:off x="6698350" y="2505670"/>
            <a:ext cx="371760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El corazón del método es la función sigmoide (función </a:t>
            </a:r>
            <a:r>
              <a:rPr lang="es-CO" b="1" i="1" dirty="0"/>
              <a:t>logística</a:t>
            </a:r>
            <a:r>
              <a:rPr lang="es-CO" dirty="0"/>
              <a:t>).</a:t>
            </a:r>
          </a:p>
          <a:p>
            <a:endParaRPr lang="es-CO" dirty="0"/>
          </a:p>
        </p:txBody>
      </p:sp>
      <p:pic>
        <p:nvPicPr>
          <p:cNvPr id="1026" name="Picture 2" descr="Resultado de imagen para sigmoid function">
            <a:extLst>
              <a:ext uri="{FF2B5EF4-FFF2-40B4-BE49-F238E27FC236}">
                <a16:creationId xmlns:a16="http://schemas.microsoft.com/office/drawing/2014/main" id="{0CC900E9-853F-497F-91B4-3BD1440D9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047" y="2534467"/>
            <a:ext cx="3715654" cy="2298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76F3E5-00DF-45D8-BA5E-4A95183247C3}"/>
                  </a:ext>
                </a:extLst>
              </p:cNvPr>
              <p:cNvSpPr txBox="1"/>
              <p:nvPr/>
            </p:nvSpPr>
            <p:spPr>
              <a:xfrm>
                <a:off x="7690910" y="3335760"/>
                <a:ext cx="1134541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200" dirty="0"/>
                  <a:t>1/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200" dirty="0"/>
                          <m:t>(1+</m:t>
                        </m:r>
                        <m:r>
                          <m:rPr>
                            <m:nor/>
                          </m:rPr>
                          <a:rPr lang="en-US" sz="2200" dirty="0"/>
                          <m:t>e</m:t>
                        </m:r>
                        <m:r>
                          <m:rPr>
                            <m:nor/>
                          </m:rPr>
                          <a:rPr lang="en-US" sz="2200" dirty="0"/>
                          <m:t>)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76F3E5-00DF-45D8-BA5E-4A9518324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0910" y="3335760"/>
                <a:ext cx="1134541" cy="338554"/>
              </a:xfrm>
              <a:prstGeom prst="rect">
                <a:avLst/>
              </a:prstGeom>
              <a:blipFill>
                <a:blip r:embed="rId3"/>
                <a:stretch>
                  <a:fillRect l="-15054" t="-25000" r="-3226" b="-48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ángulo 3">
            <a:extLst>
              <a:ext uri="{FF2B5EF4-FFF2-40B4-BE49-F238E27FC236}">
                <a16:creationId xmlns:a16="http://schemas.microsoft.com/office/drawing/2014/main" id="{74BB4F02-25CD-402C-B0A8-4CFF42A5665F}"/>
              </a:ext>
            </a:extLst>
          </p:cNvPr>
          <p:cNvSpPr/>
          <p:nvPr/>
        </p:nvSpPr>
        <p:spPr>
          <a:xfrm>
            <a:off x="6698349" y="3869331"/>
            <a:ext cx="37176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Ejemplo típico:</a:t>
            </a:r>
          </a:p>
          <a:p>
            <a:endParaRPr lang="es-CO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FD3845-A57D-402E-8930-5BE5B6FAAB4D}"/>
              </a:ext>
            </a:extLst>
          </p:cNvPr>
          <p:cNvSpPr txBox="1"/>
          <p:nvPr/>
        </p:nvSpPr>
        <p:spPr>
          <a:xfrm>
            <a:off x="7317686" y="4422223"/>
            <a:ext cx="3193182" cy="3385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200" dirty="0"/>
              <a:t>y = e</a:t>
            </a:r>
            <a:r>
              <a:rPr lang="en-US" sz="2200" baseline="30000" dirty="0"/>
              <a:t>(b0 + b1*x) </a:t>
            </a:r>
            <a:r>
              <a:rPr lang="en-US" sz="2200" dirty="0"/>
              <a:t>/ (1 + e</a:t>
            </a:r>
            <a:r>
              <a:rPr lang="en-US" sz="2200" baseline="30000" dirty="0"/>
              <a:t>(b0 + b1*x)</a:t>
            </a:r>
            <a:r>
              <a:rPr lang="en-US" sz="2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61746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008007" y="1765026"/>
            <a:ext cx="922133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Regresión logística para predecir probabilidades</a:t>
            </a:r>
          </a:p>
          <a:p>
            <a:endParaRPr lang="es-CO" sz="2200" dirty="0"/>
          </a:p>
        </p:txBody>
      </p:sp>
      <p:sp>
        <p:nvSpPr>
          <p:cNvPr id="4" name="Rectángulo 3"/>
          <p:cNvSpPr/>
          <p:nvPr/>
        </p:nvSpPr>
        <p:spPr>
          <a:xfrm>
            <a:off x="1456420" y="2634273"/>
            <a:ext cx="89595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La regresión logística mide la probabilidad de la clase por defecto. </a:t>
            </a:r>
          </a:p>
          <a:p>
            <a:endParaRPr lang="es-CO" dirty="0"/>
          </a:p>
          <a:p>
            <a:r>
              <a:rPr lang="es-CO" b="1" i="1" dirty="0"/>
              <a:t>Ejemplo: </a:t>
            </a:r>
            <a:r>
              <a:rPr lang="es-CO" dirty="0"/>
              <a:t>El sexo de una persona a partir de su estatura. </a:t>
            </a:r>
          </a:p>
          <a:p>
            <a:endParaRPr lang="es-CO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76F3E5-00DF-45D8-BA5E-4A95183247C3}"/>
              </a:ext>
            </a:extLst>
          </p:cNvPr>
          <p:cNvSpPr txBox="1"/>
          <p:nvPr/>
        </p:nvSpPr>
        <p:spPr>
          <a:xfrm>
            <a:off x="3150271" y="3763160"/>
            <a:ext cx="262142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P(</a:t>
            </a:r>
            <a:r>
              <a:rPr lang="en-US" dirty="0" err="1"/>
              <a:t>sexo</a:t>
            </a:r>
            <a:r>
              <a:rPr lang="en-US" dirty="0"/>
              <a:t>=</a:t>
            </a:r>
            <a:r>
              <a:rPr lang="en-US" dirty="0" err="1"/>
              <a:t>masculino|estatura</a:t>
            </a:r>
            <a:r>
              <a:rPr lang="en-US" dirty="0"/>
              <a:t>)</a:t>
            </a:r>
          </a:p>
        </p:txBody>
      </p:sp>
      <p:sp>
        <p:nvSpPr>
          <p:cNvPr id="7" name="Rectángulo 3">
            <a:extLst>
              <a:ext uri="{FF2B5EF4-FFF2-40B4-BE49-F238E27FC236}">
                <a16:creationId xmlns:a16="http://schemas.microsoft.com/office/drawing/2014/main" id="{74BB4F02-25CD-402C-B0A8-4CFF42A5665F}"/>
              </a:ext>
            </a:extLst>
          </p:cNvPr>
          <p:cNvSpPr/>
          <p:nvPr/>
        </p:nvSpPr>
        <p:spPr>
          <a:xfrm>
            <a:off x="1504128" y="4327952"/>
            <a:ext cx="37176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En general,</a:t>
            </a:r>
          </a:p>
          <a:p>
            <a:endParaRPr lang="es-CO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BADB59-0C60-42DD-A5CA-C0E3488B37E3}"/>
              </a:ext>
            </a:extLst>
          </p:cNvPr>
          <p:cNvSpPr txBox="1"/>
          <p:nvPr/>
        </p:nvSpPr>
        <p:spPr>
          <a:xfrm>
            <a:off x="3150271" y="5030546"/>
            <a:ext cx="137858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P(</a:t>
            </a:r>
            <a:r>
              <a:rPr lang="en-US" b="1" dirty="0"/>
              <a:t>X</a:t>
            </a:r>
            <a:r>
              <a:rPr lang="en-US" dirty="0"/>
              <a:t>)=P(Y=1 |</a:t>
            </a:r>
            <a:r>
              <a:rPr lang="en-US" i="1" dirty="0"/>
              <a:t>X</a:t>
            </a:r>
            <a:r>
              <a:rPr lang="en-US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D65E66-A284-47AE-864B-4B2BAE08D10C}"/>
              </a:ext>
            </a:extLst>
          </p:cNvPr>
          <p:cNvSpPr txBox="1"/>
          <p:nvPr/>
        </p:nvSpPr>
        <p:spPr>
          <a:xfrm>
            <a:off x="5406708" y="4651117"/>
            <a:ext cx="141936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i="1" dirty="0"/>
              <a:t>X</a:t>
            </a:r>
            <a:r>
              <a:rPr lang="en-US" dirty="0"/>
              <a:t> es la </a:t>
            </a:r>
            <a:r>
              <a:rPr lang="en-US" dirty="0" err="1"/>
              <a:t>muestra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281E97-58BA-4FCC-8FB3-4430B29CB002}"/>
              </a:ext>
            </a:extLst>
          </p:cNvPr>
          <p:cNvSpPr txBox="1"/>
          <p:nvPr/>
        </p:nvSpPr>
        <p:spPr>
          <a:xfrm>
            <a:off x="5406708" y="5224914"/>
            <a:ext cx="224535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i="1" dirty="0"/>
              <a:t>Y</a:t>
            </a:r>
            <a:r>
              <a:rPr lang="en-US" dirty="0"/>
              <a:t> es la </a:t>
            </a:r>
            <a:r>
              <a:rPr lang="en-US" dirty="0" err="1"/>
              <a:t>clase</a:t>
            </a:r>
            <a:r>
              <a:rPr lang="en-US" dirty="0"/>
              <a:t> por </a:t>
            </a:r>
            <a:r>
              <a:rPr lang="en-US" dirty="0" err="1"/>
              <a:t>defecto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479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008007" y="1765026"/>
            <a:ext cx="922133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Regresión logística para predecir probabilidades (continuación)</a:t>
            </a:r>
          </a:p>
          <a:p>
            <a:endParaRPr lang="es-CO" sz="2200" dirty="0"/>
          </a:p>
        </p:txBody>
      </p:sp>
      <p:sp>
        <p:nvSpPr>
          <p:cNvPr id="4" name="Rectángulo 3"/>
          <p:cNvSpPr/>
          <p:nvPr/>
        </p:nvSpPr>
        <p:spPr>
          <a:xfrm>
            <a:off x="1456420" y="2634273"/>
            <a:ext cx="895953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Siguiendo con el ejemplo:</a:t>
            </a:r>
          </a:p>
          <a:p>
            <a:endParaRPr lang="es-CO" dirty="0"/>
          </a:p>
          <a:p>
            <a:endParaRPr lang="es-CO" dirty="0"/>
          </a:p>
          <a:p>
            <a:endParaRPr lang="es-CO" dirty="0"/>
          </a:p>
          <a:p>
            <a:r>
              <a:rPr lang="es-CO" dirty="0"/>
              <a:t>Se puede demostrar</a:t>
            </a:r>
          </a:p>
        </p:txBody>
      </p:sp>
      <p:sp>
        <p:nvSpPr>
          <p:cNvPr id="7" name="Rectángulo 3">
            <a:extLst>
              <a:ext uri="{FF2B5EF4-FFF2-40B4-BE49-F238E27FC236}">
                <a16:creationId xmlns:a16="http://schemas.microsoft.com/office/drawing/2014/main" id="{74BB4F02-25CD-402C-B0A8-4CFF42A5665F}"/>
              </a:ext>
            </a:extLst>
          </p:cNvPr>
          <p:cNvSpPr/>
          <p:nvPr/>
        </p:nvSpPr>
        <p:spPr>
          <a:xfrm>
            <a:off x="1456420" y="4911821"/>
            <a:ext cx="100855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Definiendo la </a:t>
            </a:r>
            <a:r>
              <a:rPr lang="es-CO" b="1" i="1" dirty="0"/>
              <a:t>posibilidad</a:t>
            </a:r>
            <a:r>
              <a:rPr lang="es-CO" dirty="0"/>
              <a:t> de un evento como el </a:t>
            </a:r>
            <a:r>
              <a:rPr lang="es-CO" b="1" i="1" dirty="0"/>
              <a:t>radio</a:t>
            </a:r>
            <a:r>
              <a:rPr lang="es-CO" dirty="0"/>
              <a:t> entre las </a:t>
            </a:r>
            <a:r>
              <a:rPr lang="es-CO" b="1" i="1" dirty="0"/>
              <a:t>probabilidades</a:t>
            </a:r>
            <a:r>
              <a:rPr lang="es-CO" dirty="0"/>
              <a:t> de que el evento ocurra dividido entre las </a:t>
            </a:r>
            <a:r>
              <a:rPr lang="es-CO" b="1" i="1" dirty="0"/>
              <a:t>probabilidades</a:t>
            </a:r>
            <a:r>
              <a:rPr lang="es-CO" dirty="0"/>
              <a:t> de que el evento no ocurra, tenemos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88BFA6-DCC1-4085-8C0A-DB5C648A1062}"/>
              </a:ext>
            </a:extLst>
          </p:cNvPr>
          <p:cNvSpPr txBox="1"/>
          <p:nvPr/>
        </p:nvSpPr>
        <p:spPr>
          <a:xfrm>
            <a:off x="2743004" y="3203660"/>
            <a:ext cx="3193182" cy="3385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200" dirty="0"/>
              <a:t>y = e</a:t>
            </a:r>
            <a:r>
              <a:rPr lang="en-US" sz="2200" baseline="30000" dirty="0"/>
              <a:t>(b0 + b1*x) </a:t>
            </a:r>
            <a:r>
              <a:rPr lang="en-US" sz="2200" dirty="0"/>
              <a:t>/ (1 + e</a:t>
            </a:r>
            <a:r>
              <a:rPr lang="en-US" sz="2200" baseline="30000" dirty="0"/>
              <a:t>(b0 + b1*x)</a:t>
            </a:r>
            <a:r>
              <a:rPr lang="en-US" sz="2200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25B602-2411-4F01-B07D-96F72A1AAA7E}"/>
              </a:ext>
            </a:extLst>
          </p:cNvPr>
          <p:cNvSpPr txBox="1"/>
          <p:nvPr/>
        </p:nvSpPr>
        <p:spPr>
          <a:xfrm>
            <a:off x="2743004" y="4342434"/>
            <a:ext cx="3491340" cy="3385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200" dirty="0"/>
              <a:t>ln(p(X) / 1 – p(X)) = b</a:t>
            </a:r>
            <a:r>
              <a:rPr lang="en-US" sz="2200" baseline="-25000" dirty="0"/>
              <a:t>0</a:t>
            </a:r>
            <a:r>
              <a:rPr lang="en-US" sz="2200" dirty="0"/>
              <a:t> + b</a:t>
            </a:r>
            <a:r>
              <a:rPr lang="en-US" sz="2200" baseline="-25000" dirty="0"/>
              <a:t>1</a:t>
            </a:r>
            <a:r>
              <a:rPr lang="en-US" sz="2200" dirty="0"/>
              <a:t> * 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12E9DD-EFCE-4B99-B6EA-E8E109FCA648}"/>
              </a:ext>
            </a:extLst>
          </p:cNvPr>
          <p:cNvSpPr txBox="1"/>
          <p:nvPr/>
        </p:nvSpPr>
        <p:spPr>
          <a:xfrm>
            <a:off x="2743004" y="5885095"/>
            <a:ext cx="3060133" cy="3385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200" dirty="0"/>
              <a:t>ln(</a:t>
            </a:r>
            <a:r>
              <a:rPr lang="en-US" sz="2200" dirty="0" err="1"/>
              <a:t>posibilidad</a:t>
            </a:r>
            <a:r>
              <a:rPr lang="en-US" sz="2200" dirty="0"/>
              <a:t>) = b</a:t>
            </a:r>
            <a:r>
              <a:rPr lang="en-US" sz="2200" baseline="-25000" dirty="0"/>
              <a:t>0</a:t>
            </a:r>
            <a:r>
              <a:rPr lang="en-US" sz="2200" dirty="0"/>
              <a:t> + b</a:t>
            </a:r>
            <a:r>
              <a:rPr lang="en-US" sz="2200" baseline="-25000" dirty="0"/>
              <a:t>1</a:t>
            </a:r>
            <a:r>
              <a:rPr lang="en-US" sz="2200" dirty="0"/>
              <a:t> * 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37C315-BDBB-4617-8DED-9C665A7EACC5}"/>
              </a:ext>
            </a:extLst>
          </p:cNvPr>
          <p:cNvSpPr txBox="1"/>
          <p:nvPr/>
        </p:nvSpPr>
        <p:spPr>
          <a:xfrm>
            <a:off x="6388863" y="5885095"/>
            <a:ext cx="2675412" cy="3385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200" dirty="0"/>
              <a:t> </a:t>
            </a:r>
            <a:r>
              <a:rPr lang="en-US" sz="2200" dirty="0" err="1"/>
              <a:t>posibilidad</a:t>
            </a:r>
            <a:r>
              <a:rPr lang="en-US" sz="2200" dirty="0"/>
              <a:t> = e</a:t>
            </a:r>
            <a:r>
              <a:rPr lang="en-US" sz="2200" baseline="30000" dirty="0"/>
              <a:t>(b0 + b1 * X)</a:t>
            </a:r>
          </a:p>
        </p:txBody>
      </p:sp>
    </p:spTree>
    <p:extLst>
      <p:ext uri="{BB962C8B-B14F-4D97-AF65-F5344CB8AC3E}">
        <p14:creationId xmlns:p14="http://schemas.microsoft.com/office/powerpoint/2010/main" val="23698901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008007" y="1765026"/>
            <a:ext cx="922133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err="1"/>
              <a:t>Support</a:t>
            </a:r>
            <a:r>
              <a:rPr lang="es-CO" sz="2200" b="1" dirty="0"/>
              <a:t>-vector Machines (SVM)</a:t>
            </a:r>
          </a:p>
          <a:p>
            <a:endParaRPr lang="es-CO" sz="2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D04345-15B8-4900-A6D9-F42DF2B64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281" y="2385016"/>
            <a:ext cx="4063768" cy="3495989"/>
          </a:xfrm>
          <a:prstGeom prst="rect">
            <a:avLst/>
          </a:prstGeom>
        </p:spPr>
      </p:pic>
      <p:sp>
        <p:nvSpPr>
          <p:cNvPr id="11" name="Rectángulo 3">
            <a:extLst>
              <a:ext uri="{FF2B5EF4-FFF2-40B4-BE49-F238E27FC236}">
                <a16:creationId xmlns:a16="http://schemas.microsoft.com/office/drawing/2014/main" id="{A0C96777-DBA4-47C8-922F-018B751AD16E}"/>
              </a:ext>
            </a:extLst>
          </p:cNvPr>
          <p:cNvSpPr/>
          <p:nvPr/>
        </p:nvSpPr>
        <p:spPr>
          <a:xfrm>
            <a:off x="6196371" y="4133010"/>
            <a:ext cx="35261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Problema de clasificación binario con dos conjunto linealmente separables (ideal).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13290F-60BD-4CA7-9F1E-C5D4EBD9EADA}"/>
              </a:ext>
            </a:extLst>
          </p:cNvPr>
          <p:cNvSpPr/>
          <p:nvPr/>
        </p:nvSpPr>
        <p:spPr>
          <a:xfrm>
            <a:off x="4831438" y="6368746"/>
            <a:ext cx="15744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Roboto"/>
              </a:rPr>
              <a:t>Thales </a:t>
            </a:r>
            <a:r>
              <a:rPr lang="en-US" sz="1200" dirty="0" err="1">
                <a:latin typeface="Roboto"/>
              </a:rPr>
              <a:t>Sehn</a:t>
            </a:r>
            <a:r>
              <a:rPr lang="en-US" sz="1200" dirty="0">
                <a:latin typeface="Roboto"/>
              </a:rPr>
              <a:t> </a:t>
            </a:r>
            <a:r>
              <a:rPr lang="en-US" sz="1200" dirty="0" err="1">
                <a:latin typeface="Roboto"/>
              </a:rPr>
              <a:t>Körting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311362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008007" y="1765026"/>
            <a:ext cx="922133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err="1"/>
              <a:t>Support</a:t>
            </a:r>
            <a:r>
              <a:rPr lang="es-CO" sz="2200" b="1" dirty="0"/>
              <a:t>-vector Machines (SVM)</a:t>
            </a:r>
          </a:p>
          <a:p>
            <a:endParaRPr lang="es-CO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86A508-5828-4746-B853-64C5DCC75F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455" b="95455" l="812" r="99351">
                        <a14:foregroundMark x1="37013" y1="23455" x2="10227" y2="11636"/>
                        <a14:foregroundMark x1="10227" y1="11636" x2="21916" y2="7273"/>
                        <a14:foregroundMark x1="21916" y1="7273" x2="62825" y2="18364"/>
                        <a14:foregroundMark x1="62825" y1="18364" x2="72403" y2="29455"/>
                        <a14:foregroundMark x1="72403" y1="29455" x2="78896" y2="73273"/>
                        <a14:foregroundMark x1="78896" y1="73273" x2="61688" y2="67636"/>
                        <a14:foregroundMark x1="61688" y1="67636" x2="88312" y2="77636"/>
                        <a14:foregroundMark x1="88312" y1="77636" x2="88474" y2="92182"/>
                        <a14:foregroundMark x1="88474" y1="92182" x2="35552" y2="90727"/>
                        <a14:foregroundMark x1="35552" y1="90727" x2="20292" y2="83273"/>
                        <a14:foregroundMark x1="20292" y1="83273" x2="8929" y2="91636"/>
                        <a14:foregroundMark x1="8929" y1="91636" x2="43182" y2="93091"/>
                        <a14:foregroundMark x1="43182" y1="93091" x2="29870" y2="93455"/>
                        <a14:foregroundMark x1="29870" y1="93455" x2="16558" y2="83455"/>
                        <a14:foregroundMark x1="16558" y1="83455" x2="12825" y2="62364"/>
                        <a14:foregroundMark x1="12825" y1="62364" x2="3571" y2="79273"/>
                        <a14:foregroundMark x1="3571" y1="79273" x2="4545" y2="94182"/>
                        <a14:foregroundMark x1="4545" y1="94182" x2="17208" y2="88000"/>
                        <a14:foregroundMark x1="17208" y1="88000" x2="13149" y2="41455"/>
                        <a14:foregroundMark x1="13149" y1="41455" x2="5195" y2="14182"/>
                        <a14:foregroundMark x1="5195" y1="14182" x2="12338" y2="3273"/>
                        <a14:foregroundMark x1="12338" y1="3273" x2="24838" y2="9091"/>
                        <a14:foregroundMark x1="24838" y1="9091" x2="35390" y2="20545"/>
                        <a14:foregroundMark x1="35390" y1="20545" x2="51299" y2="26909"/>
                        <a14:foregroundMark x1="51299" y1="26909" x2="37500" y2="46364"/>
                        <a14:foregroundMark x1="37500" y1="46364" x2="22403" y2="40545"/>
                        <a14:foregroundMark x1="22403" y1="40545" x2="43019" y2="36364"/>
                        <a14:foregroundMark x1="43019" y1="36364" x2="22403" y2="46364"/>
                        <a14:foregroundMark x1="22403" y1="46364" x2="35065" y2="35273"/>
                        <a14:foregroundMark x1="35065" y1="35273" x2="39286" y2="20545"/>
                        <a14:foregroundMark x1="39286" y1="20545" x2="17857" y2="23455"/>
                        <a14:foregroundMark x1="17857" y1="23455" x2="30844" y2="30364"/>
                        <a14:foregroundMark x1="30844" y1="30364" x2="44318" y2="26000"/>
                        <a14:foregroundMark x1="44318" y1="26000" x2="24026" y2="30727"/>
                        <a14:foregroundMark x1="24026" y1="30727" x2="38474" y2="24364"/>
                        <a14:foregroundMark x1="38474" y1="24364" x2="16396" y2="32909"/>
                        <a14:foregroundMark x1="16396" y1="32909" x2="35227" y2="32364"/>
                        <a14:foregroundMark x1="35227" y1="32364" x2="46591" y2="44909"/>
                        <a14:foregroundMark x1="46591" y1="44909" x2="41234" y2="62909"/>
                        <a14:foregroundMark x1="41234" y1="62909" x2="49838" y2="52909"/>
                        <a14:foregroundMark x1="49838" y1="52909" x2="59091" y2="62727"/>
                        <a14:foregroundMark x1="59091" y1="62727" x2="71753" y2="54545"/>
                        <a14:foregroundMark x1="71753" y1="54545" x2="43506" y2="66364"/>
                        <a14:foregroundMark x1="43506" y1="66364" x2="56981" y2="63455"/>
                        <a14:foregroundMark x1="56981" y1="63455" x2="70617" y2="65818"/>
                        <a14:foregroundMark x1="70617" y1="65818" x2="60227" y2="72545"/>
                        <a14:foregroundMark x1="60227" y1="72545" x2="73377" y2="68182"/>
                        <a14:foregroundMark x1="73377" y1="68182" x2="55844" y2="76545"/>
                        <a14:foregroundMark x1="55844" y1="76545" x2="68019" y2="71091"/>
                        <a14:foregroundMark x1="68019" y1="71091" x2="83442" y2="75455"/>
                        <a14:foregroundMark x1="83442" y1="75455" x2="66396" y2="84000"/>
                        <a14:foregroundMark x1="66396" y1="84000" x2="78896" y2="81818"/>
                        <a14:foregroundMark x1="78896" y1="81818" x2="61201" y2="84364"/>
                        <a14:foregroundMark x1="61201" y1="84364" x2="61201" y2="78727"/>
                        <a14:foregroundMark x1="6494" y1="6545" x2="7955" y2="4727"/>
                        <a14:foregroundMark x1="4870" y1="5273" x2="6981" y2="8727"/>
                        <a14:foregroundMark x1="4545" y1="6909" x2="974" y2="10727"/>
                        <a14:foregroundMark x1="7792" y1="6000" x2="3734" y2="3636"/>
                        <a14:foregroundMark x1="95779" y1="92909" x2="82792" y2="92000"/>
                        <a14:foregroundMark x1="82792" y1="92000" x2="95779" y2="91455"/>
                        <a14:foregroundMark x1="95779" y1="91455" x2="93019" y2="90364"/>
                        <a14:foregroundMark x1="44968" y1="62909" x2="44968" y2="66000"/>
                        <a14:foregroundMark x1="44968" y1="66000" x2="44968" y2="66000"/>
                        <a14:foregroundMark x1="32630" y1="48000" x2="22565" y2="55818"/>
                        <a14:foregroundMark x1="22565" y1="55818" x2="33604" y2="47273"/>
                        <a14:foregroundMark x1="33604" y1="47273" x2="22078" y2="51455"/>
                        <a14:foregroundMark x1="22078" y1="51455" x2="34091" y2="47091"/>
                        <a14:foregroundMark x1="34091" y1="47091" x2="19481" y2="50364"/>
                        <a14:foregroundMark x1="19481" y1="50364" x2="33604" y2="45818"/>
                        <a14:foregroundMark x1="33604" y1="45818" x2="22078" y2="49273"/>
                        <a14:foregroundMark x1="22078" y1="49273" x2="38312" y2="48364"/>
                        <a14:foregroundMark x1="38312" y1="48364" x2="22078" y2="51818"/>
                        <a14:foregroundMark x1="22078" y1="51818" x2="36201" y2="46727"/>
                        <a14:foregroundMark x1="36201" y1="46727" x2="24351" y2="49455"/>
                        <a14:foregroundMark x1="24351" y1="49455" x2="37662" y2="43636"/>
                        <a14:foregroundMark x1="37662" y1="43636" x2="24675" y2="47273"/>
                        <a14:foregroundMark x1="24675" y1="47273" x2="39610" y2="47273"/>
                        <a14:foregroundMark x1="39610" y1="47273" x2="33117" y2="63636"/>
                        <a14:foregroundMark x1="33117" y1="63636" x2="47565" y2="63455"/>
                        <a14:foregroundMark x1="47565" y1="63455" x2="36364" y2="68545"/>
                        <a14:foregroundMark x1="36364" y1="68545" x2="48701" y2="61818"/>
                        <a14:foregroundMark x1="48701" y1="61818" x2="36688" y2="66364"/>
                        <a14:foregroundMark x1="36688" y1="66364" x2="20455" y2="66909"/>
                        <a14:foregroundMark x1="20455" y1="66909" x2="13799" y2="84364"/>
                        <a14:foregroundMark x1="13799" y1="84364" x2="28734" y2="95091"/>
                        <a14:foregroundMark x1="28734" y1="95091" x2="42532" y2="93636"/>
                        <a14:foregroundMark x1="42532" y1="93636" x2="56006" y2="95636"/>
                        <a14:foregroundMark x1="56006" y1="95636" x2="74513" y2="94545"/>
                        <a14:foregroundMark x1="74513" y1="94545" x2="99351" y2="95455"/>
                        <a14:foregroundMark x1="99351" y1="95455" x2="94968" y2="92909"/>
                        <a14:backgroundMark x1="82630" y1="5091" x2="94481" y2="8727"/>
                        <a14:backgroundMark x1="94481" y1="8727" x2="87662" y2="22364"/>
                        <a14:backgroundMark x1="87662" y1="22364" x2="94968" y2="25091"/>
                        <a14:backgroundMark x1="84578" y1="27636" x2="80195" y2="28545"/>
                        <a14:backgroundMark x1="92695" y1="28182" x2="88312" y2="27636"/>
                        <a14:backgroundMark x1="91558" y1="27636" x2="99675" y2="258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39279" y="2534467"/>
            <a:ext cx="4007514" cy="3578136"/>
          </a:xfrm>
          <a:prstGeom prst="rect">
            <a:avLst/>
          </a:prstGeom>
        </p:spPr>
      </p:pic>
      <p:sp>
        <p:nvSpPr>
          <p:cNvPr id="6" name="Rectángulo 3">
            <a:extLst>
              <a:ext uri="{FF2B5EF4-FFF2-40B4-BE49-F238E27FC236}">
                <a16:creationId xmlns:a16="http://schemas.microsoft.com/office/drawing/2014/main" id="{65FEC29A-66E4-4147-B857-6813C47577FA}"/>
              </a:ext>
            </a:extLst>
          </p:cNvPr>
          <p:cNvSpPr/>
          <p:nvPr/>
        </p:nvSpPr>
        <p:spPr>
          <a:xfrm>
            <a:off x="6196371" y="4133010"/>
            <a:ext cx="35261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El objetivo es obtener el hiperplano que mejor nos permita clasificar las muestras entre las dos clases.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FC188F-679B-4A8C-B575-F047716D1ADA}"/>
              </a:ext>
            </a:extLst>
          </p:cNvPr>
          <p:cNvSpPr/>
          <p:nvPr/>
        </p:nvSpPr>
        <p:spPr>
          <a:xfrm>
            <a:off x="4831438" y="6368746"/>
            <a:ext cx="15744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Roboto"/>
              </a:rPr>
              <a:t>Thales </a:t>
            </a:r>
            <a:r>
              <a:rPr lang="en-US" sz="1200" dirty="0" err="1">
                <a:latin typeface="Roboto"/>
              </a:rPr>
              <a:t>Sehn</a:t>
            </a:r>
            <a:r>
              <a:rPr lang="en-US" sz="1200" dirty="0">
                <a:latin typeface="Roboto"/>
              </a:rPr>
              <a:t> </a:t>
            </a:r>
            <a:r>
              <a:rPr lang="en-US" sz="1200" dirty="0" err="1">
                <a:latin typeface="Roboto"/>
              </a:rPr>
              <a:t>Körting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513978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E3A0F8A-8845-4A4F-AAF1-B6925D498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275" y="2534467"/>
            <a:ext cx="4613703" cy="3642398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71D6B183-48F6-47D4-9EDF-F212C33E26D7}"/>
              </a:ext>
            </a:extLst>
          </p:cNvPr>
          <p:cNvSpPr/>
          <p:nvPr/>
        </p:nvSpPr>
        <p:spPr>
          <a:xfrm>
            <a:off x="1008007" y="1765026"/>
            <a:ext cx="922133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err="1"/>
              <a:t>Support</a:t>
            </a:r>
            <a:r>
              <a:rPr lang="es-CO" sz="2200" b="1" dirty="0"/>
              <a:t>-vector Machines (SVM)</a:t>
            </a:r>
          </a:p>
          <a:p>
            <a:endParaRPr lang="es-CO" sz="22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71ADA7A-F2AF-4E12-AB00-4FA9F848CC80}"/>
              </a:ext>
            </a:extLst>
          </p:cNvPr>
          <p:cNvSpPr/>
          <p:nvPr/>
        </p:nvSpPr>
        <p:spPr>
          <a:xfrm>
            <a:off x="6703214" y="4170332"/>
            <a:ext cx="35261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El objetivo es obtener el hiperplano que mejor nos permita clasificar las muestras entre las dos clases.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168C58-2701-4460-A340-B9DE2F357D86}"/>
              </a:ext>
            </a:extLst>
          </p:cNvPr>
          <p:cNvSpPr/>
          <p:nvPr/>
        </p:nvSpPr>
        <p:spPr>
          <a:xfrm>
            <a:off x="4831438" y="6368746"/>
            <a:ext cx="15744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Roboto"/>
              </a:rPr>
              <a:t>Thales </a:t>
            </a:r>
            <a:r>
              <a:rPr lang="en-US" sz="1200" dirty="0" err="1">
                <a:latin typeface="Roboto"/>
              </a:rPr>
              <a:t>Sehn</a:t>
            </a:r>
            <a:r>
              <a:rPr lang="en-US" sz="1200" dirty="0">
                <a:latin typeface="Roboto"/>
              </a:rPr>
              <a:t> </a:t>
            </a:r>
            <a:r>
              <a:rPr lang="en-US" sz="1200" dirty="0" err="1">
                <a:latin typeface="Roboto"/>
              </a:rPr>
              <a:t>Körting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529612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71D6B183-48F6-47D4-9EDF-F212C33E26D7}"/>
              </a:ext>
            </a:extLst>
          </p:cNvPr>
          <p:cNvSpPr/>
          <p:nvPr/>
        </p:nvSpPr>
        <p:spPr>
          <a:xfrm>
            <a:off x="1008007" y="1765026"/>
            <a:ext cx="922133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err="1"/>
              <a:t>Support</a:t>
            </a:r>
            <a:r>
              <a:rPr lang="es-CO" sz="2200" b="1" dirty="0"/>
              <a:t>-vector Machines (SVM)</a:t>
            </a:r>
          </a:p>
          <a:p>
            <a:endParaRPr lang="es-CO" sz="22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71ADA7A-F2AF-4E12-AB00-4FA9F848CC80}"/>
              </a:ext>
            </a:extLst>
          </p:cNvPr>
          <p:cNvSpPr/>
          <p:nvPr/>
        </p:nvSpPr>
        <p:spPr>
          <a:xfrm>
            <a:off x="6577092" y="4170332"/>
            <a:ext cx="35261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Es decir, el hiperplano que provee el mayor </a:t>
            </a:r>
            <a:r>
              <a:rPr lang="es-CO" b="1" i="1" dirty="0"/>
              <a:t>margen</a:t>
            </a:r>
            <a:r>
              <a:rPr lang="es-CO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1537A0-E5C3-4129-8D2F-8690572C6B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943" b="94953" l="464" r="97680">
                        <a14:foregroundMark x1="10325" y1="31230" x2="9281" y2="43533"/>
                        <a14:foregroundMark x1="9281" y1="43533" x2="10673" y2="56625"/>
                        <a14:foregroundMark x1="10673" y1="56625" x2="12297" y2="42902"/>
                        <a14:foregroundMark x1="12297" y1="42902" x2="14037" y2="74763"/>
                        <a14:foregroundMark x1="14037" y1="74763" x2="13921" y2="36120"/>
                        <a14:foregroundMark x1="13921" y1="36120" x2="12529" y2="80757"/>
                        <a14:foregroundMark x1="12529" y1="80757" x2="12993" y2="67192"/>
                        <a14:foregroundMark x1="12993" y1="67192" x2="13225" y2="93691"/>
                        <a14:foregroundMark x1="13225" y1="93691" x2="5800" y2="87382"/>
                        <a14:foregroundMark x1="5800" y1="87382" x2="19374" y2="88328"/>
                        <a14:foregroundMark x1="19374" y1="88328" x2="31671" y2="87066"/>
                        <a14:foregroundMark x1="31671" y1="87066" x2="65197" y2="88801"/>
                        <a14:foregroundMark x1="65197" y1="88801" x2="54292" y2="88486"/>
                        <a14:foregroundMark x1="54292" y1="88486" x2="63109" y2="92114"/>
                        <a14:foregroundMark x1="63109" y1="92114" x2="22738" y2="96530"/>
                        <a14:foregroundMark x1="22738" y1="96530" x2="31090" y2="93060"/>
                        <a14:foregroundMark x1="31090" y1="93060" x2="22506" y2="96530"/>
                        <a14:foregroundMark x1="22506" y1="96530" x2="41647" y2="82650"/>
                        <a14:foregroundMark x1="41647" y1="82650" x2="22390" y2="85647"/>
                        <a14:foregroundMark x1="22390" y1="85647" x2="43387" y2="79653"/>
                        <a14:foregroundMark x1="43387" y1="79653" x2="31671" y2="79022"/>
                        <a14:foregroundMark x1="31671" y1="79022" x2="46868" y2="79022"/>
                        <a14:foregroundMark x1="46868" y1="79022" x2="36079" y2="75079"/>
                        <a14:foregroundMark x1="36079" y1="75079" x2="44896" y2="80442"/>
                        <a14:foregroundMark x1="44896" y1="80442" x2="39211" y2="70189"/>
                        <a14:foregroundMark x1="39211" y1="70189" x2="51044" y2="65300"/>
                        <a14:foregroundMark x1="51044" y1="65300" x2="38167" y2="71924"/>
                        <a14:foregroundMark x1="38167" y1="71924" x2="50232" y2="62934"/>
                        <a14:foregroundMark x1="50232" y1="62934" x2="41531" y2="69243"/>
                        <a14:foregroundMark x1="41531" y1="69243" x2="67749" y2="47634"/>
                        <a14:foregroundMark x1="67749" y1="47634" x2="38167" y2="55836"/>
                        <a14:foregroundMark x1="38167" y1="55836" x2="33759" y2="68612"/>
                        <a14:foregroundMark x1="33759" y1="68612" x2="14849" y2="75868"/>
                        <a14:foregroundMark x1="14849" y1="75868" x2="23086" y2="70662"/>
                        <a14:foregroundMark x1="23086" y1="70662" x2="11137" y2="73659"/>
                        <a14:foregroundMark x1="11137" y1="73659" x2="28538" y2="55521"/>
                        <a14:foregroundMark x1="28538" y1="55521" x2="19490" y2="52839"/>
                        <a14:foregroundMark x1="19490" y1="52839" x2="25754" y2="42587"/>
                        <a14:foregroundMark x1="25754" y1="42587" x2="18213" y2="50789"/>
                        <a14:foregroundMark x1="18213" y1="50789" x2="27726" y2="50000"/>
                        <a14:foregroundMark x1="27726" y1="50000" x2="32715" y2="39905"/>
                        <a14:foregroundMark x1="32715" y1="39905" x2="41647" y2="38801"/>
                        <a14:foregroundMark x1="41647" y1="38801" x2="45940" y2="26972"/>
                        <a14:foregroundMark x1="45940" y1="26972" x2="45128" y2="12934"/>
                        <a14:foregroundMark x1="45128" y1="12934" x2="42575" y2="24448"/>
                        <a14:foregroundMark x1="42575" y1="24448" x2="58005" y2="21451"/>
                        <a14:foregroundMark x1="58005" y1="21451" x2="67633" y2="12776"/>
                        <a14:foregroundMark x1="67633" y1="12776" x2="78422" y2="8833"/>
                        <a14:foregroundMark x1="78422" y1="8833" x2="69838" y2="18297"/>
                        <a14:foregroundMark x1="69838" y1="18297" x2="93271" y2="7571"/>
                        <a14:foregroundMark x1="93271" y1="7571" x2="82367" y2="17823"/>
                        <a14:foregroundMark x1="82367" y1="17823" x2="73318" y2="13565"/>
                        <a14:foregroundMark x1="73318" y1="13565" x2="71114" y2="9779"/>
                        <a14:foregroundMark x1="71346" y1="6625" x2="62413" y2="6625"/>
                        <a14:foregroundMark x1="62413" y1="6625" x2="78654" y2="4101"/>
                        <a14:foregroundMark x1="78654" y1="4101" x2="66125" y2="6625"/>
                        <a14:foregroundMark x1="66125" y1="6625" x2="77726" y2="13249"/>
                        <a14:foregroundMark x1="77726" y1="13249" x2="86427" y2="9464"/>
                        <a14:foregroundMark x1="86427" y1="9464" x2="75290" y2="5994"/>
                        <a14:foregroundMark x1="75290" y1="5994" x2="88515" y2="10568"/>
                        <a14:foregroundMark x1="88515" y1="10568" x2="79234" y2="10883"/>
                        <a14:foregroundMark x1="79234" y1="10883" x2="93271" y2="12618"/>
                        <a14:foregroundMark x1="93271" y1="12618" x2="83527" y2="5205"/>
                        <a14:foregroundMark x1="83527" y1="5205" x2="88283" y2="18297"/>
                        <a14:foregroundMark x1="88283" y1="18297" x2="99768" y2="15773"/>
                        <a14:foregroundMark x1="99768" y1="15773" x2="88399" y2="13565"/>
                        <a14:foregroundMark x1="88399" y1="13565" x2="95940" y2="20662"/>
                        <a14:foregroundMark x1="95940" y1="20662" x2="95476" y2="13091"/>
                        <a14:foregroundMark x1="94780" y1="6151" x2="64037" y2="4574"/>
                        <a14:foregroundMark x1="64037" y1="4574" x2="75522" y2="1577"/>
                        <a14:foregroundMark x1="75522" y1="1577" x2="83643" y2="11199"/>
                        <a14:foregroundMark x1="83643" y1="11199" x2="94084" y2="6625"/>
                        <a14:foregroundMark x1="94084" y1="6625" x2="91879" y2="18139"/>
                        <a14:foregroundMark x1="91879" y1="18139" x2="94780" y2="20820"/>
                        <a14:foregroundMark x1="89327" y1="24763" x2="75406" y2="46215"/>
                        <a14:foregroundMark x1="75406" y1="46215" x2="73318" y2="45899"/>
                        <a14:foregroundMark x1="74942" y1="44953" x2="71926" y2="57413"/>
                        <a14:foregroundMark x1="71926" y1="57413" x2="73550" y2="54574"/>
                        <a14:foregroundMark x1="73550" y1="54574" x2="73550" y2="54574"/>
                        <a14:foregroundMark x1="74246" y1="44164" x2="74246" y2="48107"/>
                        <a14:foregroundMark x1="75406" y1="48107" x2="73666" y2="42744"/>
                        <a14:foregroundMark x1="74710" y1="41956" x2="70998" y2="44479"/>
                        <a14:foregroundMark x1="72390" y1="44479" x2="73898" y2="44795"/>
                        <a14:foregroundMark x1="8701" y1="32019" x2="24246" y2="27287"/>
                        <a14:foregroundMark x1="24246" y1="27287" x2="4640" y2="30126"/>
                        <a14:foregroundMark x1="4640" y1="30126" x2="18561" y2="25237"/>
                        <a14:foregroundMark x1="18561" y1="25237" x2="928" y2="32808"/>
                        <a14:foregroundMark x1="928" y1="32808" x2="10673" y2="32965"/>
                        <a14:foregroundMark x1="10673" y1="32965" x2="10441" y2="34227"/>
                        <a14:foregroundMark x1="63225" y1="92114" x2="27030" y2="97634"/>
                        <a14:foregroundMark x1="27030" y1="97634" x2="36775" y2="97792"/>
                        <a14:foregroundMark x1="36775" y1="97792" x2="24826" y2="95584"/>
                        <a14:foregroundMark x1="24826" y1="95584" x2="37355" y2="94953"/>
                        <a14:foregroundMark x1="37355" y1="94953" x2="18677" y2="93375"/>
                        <a14:foregroundMark x1="18677" y1="93375" x2="27610" y2="93375"/>
                        <a14:foregroundMark x1="27610" y1="93375" x2="14617" y2="91325"/>
                        <a14:foregroundMark x1="14617" y1="91325" x2="26102" y2="91009"/>
                        <a14:foregroundMark x1="26102" y1="91009" x2="15197" y2="92429"/>
                        <a14:foregroundMark x1="15197" y1="92429" x2="23666" y2="94953"/>
                        <a14:foregroundMark x1="70766" y1="91167" x2="59165" y2="95268"/>
                        <a14:foregroundMark x1="59165" y1="95268" x2="67401" y2="90379"/>
                        <a14:foregroundMark x1="67401" y1="90379" x2="55104" y2="94953"/>
                        <a14:foregroundMark x1="55104" y1="94953" x2="66937" y2="92114"/>
                        <a14:foregroundMark x1="66937" y1="92114" x2="81206" y2="36278"/>
                        <a14:foregroundMark x1="81206" y1="36278" x2="76914" y2="46845"/>
                        <a14:foregroundMark x1="76914" y1="46845" x2="54524" y2="27287"/>
                        <a14:foregroundMark x1="54524" y1="27287" x2="38863" y2="23659"/>
                        <a14:foregroundMark x1="38863" y1="23659" x2="45012" y2="14511"/>
                        <a14:foregroundMark x1="45012" y1="14511" x2="55684" y2="8833"/>
                        <a14:foregroundMark x1="55684" y1="8833" x2="41531" y2="15142"/>
                        <a14:foregroundMark x1="50348" y1="11987" x2="38863" y2="13249"/>
                        <a14:foregroundMark x1="38863" y1="13249" x2="47448" y2="11987"/>
                        <a14:foregroundMark x1="48028" y1="9779" x2="46636" y2="11041"/>
                        <a14:foregroundMark x1="81555" y1="3943" x2="93503" y2="4416"/>
                        <a14:foregroundMark x1="93503" y1="4416" x2="97216" y2="15773"/>
                        <a14:foregroundMark x1="97216" y1="15773" x2="96288" y2="16404"/>
                        <a14:foregroundMark x1="96288" y1="3943" x2="97680" y2="4259"/>
                        <a14:foregroundMark x1="97680" y1="4259" x2="97680" y2="4259"/>
                        <a14:foregroundMark x1="63225" y1="94479" x2="64269" y2="94006"/>
                        <a14:foregroundMark x1="12877" y1="94953" x2="14733" y2="94953"/>
                        <a14:backgroundMark x1="10441" y1="19085" x2="19374" y2="15142"/>
                        <a14:backgroundMark x1="19374" y1="15142" x2="29234" y2="15142"/>
                        <a14:backgroundMark x1="29234" y1="15142" x2="10905" y2="14038"/>
                        <a14:backgroundMark x1="10905" y1="14038" x2="19374" y2="9779"/>
                        <a14:backgroundMark x1="19374" y1="9779" x2="29930" y2="9779"/>
                        <a14:backgroundMark x1="29930" y1="9779" x2="7773" y2="8833"/>
                        <a14:backgroundMark x1="7773" y1="8833" x2="36427" y2="4416"/>
                        <a14:backgroundMark x1="36427" y1="4416" x2="8817" y2="3785"/>
                        <a14:backgroundMark x1="8817" y1="3785" x2="3132" y2="13722"/>
                        <a14:backgroundMark x1="3132" y1="13722" x2="11253" y2="19874"/>
                        <a14:backgroundMark x1="11253" y1="19874" x2="13573" y2="20032"/>
                        <a14:backgroundMark x1="35847" y1="15457" x2="35499" y2="126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8007" y="2321887"/>
            <a:ext cx="5442964" cy="400329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648A40A-7A22-46A7-B684-70025603B4A4}"/>
              </a:ext>
            </a:extLst>
          </p:cNvPr>
          <p:cNvSpPr/>
          <p:nvPr/>
        </p:nvSpPr>
        <p:spPr>
          <a:xfrm>
            <a:off x="4831438" y="6368746"/>
            <a:ext cx="15744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Roboto"/>
              </a:rPr>
              <a:t>Thales </a:t>
            </a:r>
            <a:r>
              <a:rPr lang="en-US" sz="1200" dirty="0" err="1">
                <a:latin typeface="Roboto"/>
              </a:rPr>
              <a:t>Sehn</a:t>
            </a:r>
            <a:r>
              <a:rPr lang="en-US" sz="1200" dirty="0">
                <a:latin typeface="Roboto"/>
              </a:rPr>
              <a:t> </a:t>
            </a:r>
            <a:r>
              <a:rPr lang="en-US" sz="1200" dirty="0" err="1">
                <a:latin typeface="Roboto"/>
              </a:rPr>
              <a:t>Körting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79322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71D6B183-48F6-47D4-9EDF-F212C33E26D7}"/>
              </a:ext>
            </a:extLst>
          </p:cNvPr>
          <p:cNvSpPr/>
          <p:nvPr/>
        </p:nvSpPr>
        <p:spPr>
          <a:xfrm>
            <a:off x="1073321" y="1701340"/>
            <a:ext cx="922133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err="1"/>
              <a:t>Support</a:t>
            </a:r>
            <a:r>
              <a:rPr lang="es-CO" sz="2200" b="1" dirty="0"/>
              <a:t>-vector Machines (SVM)</a:t>
            </a:r>
          </a:p>
          <a:p>
            <a:endParaRPr lang="es-CO" sz="22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71ADA7A-F2AF-4E12-AB00-4FA9F848CC80}"/>
              </a:ext>
            </a:extLst>
          </p:cNvPr>
          <p:cNvSpPr/>
          <p:nvPr/>
        </p:nvSpPr>
        <p:spPr>
          <a:xfrm>
            <a:off x="7236456" y="3696640"/>
            <a:ext cx="35261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Si el margen total es</a:t>
            </a:r>
          </a:p>
          <a:p>
            <a:endParaRPr lang="es-CO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6D4611-9884-4F51-B49C-56BDCD3E08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958" b="93801" l="2009" r="96809">
                        <a14:foregroundMark x1="88180" y1="8809" x2="58392" y2="15498"/>
                        <a14:foregroundMark x1="58392" y1="15498" x2="72459" y2="22023"/>
                        <a14:foregroundMark x1="72459" y1="22023" x2="65721" y2="12887"/>
                        <a14:foregroundMark x1="65721" y1="12887" x2="77305" y2="20065"/>
                        <a14:foregroundMark x1="77305" y1="20065" x2="88771" y2="10114"/>
                        <a14:foregroundMark x1="88771" y1="10114" x2="92908" y2="21370"/>
                        <a14:foregroundMark x1="92908" y1="21370" x2="76950" y2="17618"/>
                        <a14:foregroundMark x1="76950" y1="17618" x2="91608" y2="10440"/>
                        <a14:foregroundMark x1="91608" y1="10440" x2="82270" y2="8972"/>
                        <a14:foregroundMark x1="82270" y1="8972" x2="72931" y2="19739"/>
                        <a14:foregroundMark x1="72931" y1="19739" x2="85934" y2="19739"/>
                        <a14:foregroundMark x1="85934" y1="19739" x2="99527" y2="14845"/>
                        <a14:foregroundMark x1="99527" y1="14845" x2="82388" y2="15498"/>
                        <a14:foregroundMark x1="82388" y1="15498" x2="94090" y2="16476"/>
                        <a14:foregroundMark x1="94090" y1="16476" x2="82861" y2="8157"/>
                        <a14:foregroundMark x1="82861" y1="8157" x2="72104" y2="17129"/>
                        <a14:foregroundMark x1="72104" y1="17129" x2="86761" y2="10767"/>
                        <a14:foregroundMark x1="86761" y1="10767" x2="72695" y2="11419"/>
                        <a14:foregroundMark x1="72695" y1="11419" x2="65603" y2="23817"/>
                        <a14:foregroundMark x1="65603" y1="23817" x2="80024" y2="17292"/>
                        <a14:foregroundMark x1="80024" y1="17292" x2="89598" y2="3263"/>
                        <a14:foregroundMark x1="89598" y1="3263" x2="60284" y2="12235"/>
                        <a14:foregroundMark x1="60284" y1="12235" x2="81560" y2="11909"/>
                        <a14:foregroundMark x1="81560" y1="11909" x2="63712" y2="6525"/>
                        <a14:foregroundMark x1="63712" y1="6525" x2="48700" y2="17781"/>
                        <a14:foregroundMark x1="48700" y1="17781" x2="57801" y2="17781"/>
                        <a14:foregroundMark x1="57801" y1="17781" x2="51537" y2="8157"/>
                        <a14:foregroundMark x1="51537" y1="8157" x2="33688" y2="17945"/>
                        <a14:foregroundMark x1="33688" y1="17945" x2="49882" y2="12887"/>
                        <a14:foregroundMark x1="49882" y1="12887" x2="34043" y2="12561"/>
                        <a14:foregroundMark x1="34043" y1="12561" x2="50236" y2="15008"/>
                        <a14:foregroundMark x1="50236" y1="15008" x2="37589" y2="15498"/>
                        <a14:foregroundMark x1="37589" y1="15498" x2="52955" y2="13866"/>
                        <a14:foregroundMark x1="52955" y1="13866" x2="30142" y2="13377"/>
                        <a14:foregroundMark x1="30142" y1="13377" x2="16785" y2="31158"/>
                        <a14:foregroundMark x1="16785" y1="31158" x2="25768" y2="36052"/>
                        <a14:foregroundMark x1="25768" y1="36052" x2="38298" y2="28874"/>
                        <a14:foregroundMark x1="38298" y1="28874" x2="8274" y2="29364"/>
                        <a14:foregroundMark x1="8274" y1="29364" x2="1773" y2="40457"/>
                        <a14:foregroundMark x1="1773" y1="40457" x2="15248" y2="34910"/>
                        <a14:foregroundMark x1="15248" y1="34910" x2="4492" y2="43230"/>
                        <a14:foregroundMark x1="4492" y1="43230" x2="27896" y2="34747"/>
                        <a14:foregroundMark x1="27896" y1="34747" x2="9220" y2="50408"/>
                        <a14:foregroundMark x1="9220" y1="50408" x2="30024" y2="40783"/>
                        <a14:foregroundMark x1="30024" y1="40783" x2="14775" y2="55465"/>
                        <a14:foregroundMark x1="14775" y1="55465" x2="24113" y2="48940"/>
                        <a14:foregroundMark x1="24113" y1="48940" x2="33688" y2="36542"/>
                        <a14:foregroundMark x1="33688" y1="36542" x2="29787" y2="49755"/>
                        <a14:foregroundMark x1="29787" y1="49755" x2="38416" y2="32953"/>
                        <a14:foregroundMark x1="38416" y1="32953" x2="34161" y2="45514"/>
                        <a14:foregroundMark x1="34161" y1="45514" x2="39362" y2="30179"/>
                        <a14:foregroundMark x1="39362" y1="30179" x2="27069" y2="60522"/>
                        <a14:foregroundMark x1="27069" y1="60522" x2="29196" y2="45024"/>
                        <a14:foregroundMark x1="29196" y1="45024" x2="16667" y2="66558"/>
                        <a14:foregroundMark x1="16667" y1="66558" x2="28014" y2="48124"/>
                        <a14:foregroundMark x1="28014" y1="48124" x2="21040" y2="57259"/>
                        <a14:foregroundMark x1="21040" y1="57259" x2="32151" y2="44372"/>
                        <a14:foregroundMark x1="32151" y1="44372" x2="16785" y2="57586"/>
                        <a14:foregroundMark x1="16785" y1="57586" x2="32624" y2="36542"/>
                        <a14:foregroundMark x1="32624" y1="36542" x2="15957" y2="50245"/>
                        <a14:foregroundMark x1="15957" y1="50245" x2="28487" y2="37194"/>
                        <a14:foregroundMark x1="28487" y1="37194" x2="2246" y2="58238"/>
                        <a14:foregroundMark x1="2246" y1="58238" x2="827" y2="70310"/>
                        <a14:foregroundMark x1="827" y1="70310" x2="6265" y2="46493"/>
                        <a14:foregroundMark x1="6265" y1="46493" x2="4255" y2="76509"/>
                        <a14:foregroundMark x1="4255" y1="76509" x2="8274" y2="42577"/>
                        <a14:foregroundMark x1="8274" y1="42577" x2="5674" y2="78303"/>
                        <a14:foregroundMark x1="5674" y1="78303" x2="7092" y2="37847"/>
                        <a14:foregroundMark x1="7092" y1="37847" x2="6619" y2="75367"/>
                        <a14:foregroundMark x1="6619" y1="75367" x2="6974" y2="40294"/>
                        <a14:foregroundMark x1="6974" y1="40294" x2="8274" y2="92496"/>
                        <a14:foregroundMark x1="8274" y1="92496" x2="5674" y2="76183"/>
                        <a14:foregroundMark x1="5674" y1="76183" x2="6383" y2="95106"/>
                        <a14:foregroundMark x1="6383" y1="95106" x2="16076" y2="87765"/>
                        <a14:foregroundMark x1="16076" y1="87765" x2="6619" y2="87439"/>
                        <a14:foregroundMark x1="6619" y1="87439" x2="25532" y2="89233"/>
                        <a14:foregroundMark x1="25532" y1="89233" x2="16430" y2="92659"/>
                        <a14:foregroundMark x1="16430" y1="92659" x2="33570" y2="92170"/>
                        <a14:foregroundMark x1="33570" y1="92170" x2="18322" y2="92985"/>
                        <a14:foregroundMark x1="18322" y1="92985" x2="46809" y2="88581"/>
                        <a14:foregroundMark x1="46809" y1="88581" x2="33570" y2="89396"/>
                        <a14:foregroundMark x1="33570" y1="89396" x2="50591" y2="86134"/>
                        <a14:foregroundMark x1="50591" y1="86134" x2="29433" y2="87928"/>
                        <a14:foregroundMark x1="29433" y1="87928" x2="47281" y2="83197"/>
                        <a14:foregroundMark x1="47281" y1="83197" x2="17021" y2="84666"/>
                        <a14:foregroundMark x1="17021" y1="84666" x2="48582" y2="75856"/>
                        <a14:foregroundMark x1="48582" y1="75856" x2="32506" y2="77977"/>
                        <a14:foregroundMark x1="32506" y1="77977" x2="65485" y2="69168"/>
                        <a14:foregroundMark x1="65485" y1="69168" x2="40307" y2="76183"/>
                        <a14:foregroundMark x1="40307" y1="76183" x2="56028" y2="70636"/>
                        <a14:foregroundMark x1="56028" y1="70636" x2="41017" y2="72757"/>
                        <a14:foregroundMark x1="41017" y1="72757" x2="30733" y2="70473"/>
                        <a14:foregroundMark x1="30733" y1="70473" x2="39598" y2="65579"/>
                        <a14:foregroundMark x1="39598" y1="65579" x2="28842" y2="67210"/>
                        <a14:foregroundMark x1="28842" y1="67210" x2="42317" y2="62316"/>
                        <a14:foregroundMark x1="42317" y1="62316" x2="24704" y2="64600"/>
                        <a14:foregroundMark x1="24704" y1="64600" x2="33570" y2="62153"/>
                        <a14:foregroundMark x1="33570" y1="62153" x2="24586" y2="61827"/>
                        <a14:foregroundMark x1="24586" y1="61827" x2="38652" y2="61990"/>
                        <a14:foregroundMark x1="38652" y1="61990" x2="44681" y2="76672"/>
                        <a14:foregroundMark x1="44681" y1="76672" x2="55437" y2="83687"/>
                        <a14:foregroundMark x1="55437" y1="83687" x2="49764" y2="93148"/>
                        <a14:foregroundMark x1="49764" y1="93148" x2="60875" y2="90049"/>
                        <a14:foregroundMark x1="60875" y1="90049" x2="52482" y2="92985"/>
                        <a14:foregroundMark x1="52482" y1="92985" x2="62175" y2="93964"/>
                        <a14:foregroundMark x1="62175" y1="93964" x2="7801" y2="98369"/>
                        <a14:foregroundMark x1="7801" y1="98369" x2="23995" y2="98695"/>
                        <a14:foregroundMark x1="23995" y1="98695" x2="4492" y2="97390"/>
                        <a14:foregroundMark x1="4492" y1="97390" x2="13593" y2="93801"/>
                        <a14:foregroundMark x1="13593" y1="93801" x2="11939" y2="92496"/>
                        <a14:foregroundMark x1="9338" y1="86297" x2="473" y2="84502"/>
                        <a14:foregroundMark x1="473" y1="84502" x2="12766" y2="77977"/>
                        <a14:foregroundMark x1="12766" y1="77977" x2="4137" y2="74062"/>
                        <a14:foregroundMark x1="4137" y1="74062" x2="19385" y2="66395"/>
                        <a14:foregroundMark x1="19385" y1="66395" x2="43381" y2="64111"/>
                        <a14:foregroundMark x1="43381" y1="64111" x2="33688" y2="68352"/>
                        <a14:foregroundMark x1="33688" y1="68352" x2="49527" y2="65579"/>
                        <a14:foregroundMark x1="49527" y1="65579" x2="39835" y2="69331"/>
                        <a14:foregroundMark x1="39835" y1="69331" x2="54610" y2="65579"/>
                        <a14:foregroundMark x1="54610" y1="65579" x2="39598" y2="66721"/>
                        <a14:foregroundMark x1="39598" y1="66721" x2="52246" y2="61827"/>
                        <a14:foregroundMark x1="52246" y1="61827" x2="39480" y2="67537"/>
                        <a14:foregroundMark x1="39480" y1="67537" x2="48936" y2="64600"/>
                        <a14:foregroundMark x1="48936" y1="64600" x2="36643" y2="67210"/>
                        <a14:foregroundMark x1="36643" y1="67210" x2="36407" y2="53181"/>
                        <a14:foregroundMark x1="36407" y1="53181" x2="41253" y2="39804"/>
                        <a14:foregroundMark x1="41253" y1="39804" x2="41844" y2="27080"/>
                        <a14:foregroundMark x1="41844" y1="27080" x2="45626" y2="13214"/>
                        <a14:foregroundMark x1="45626" y1="13214" x2="58392" y2="13377"/>
                        <a14:foregroundMark x1="58392" y1="13377" x2="45390" y2="19250"/>
                        <a14:foregroundMark x1="45390" y1="19250" x2="61820" y2="14192"/>
                        <a14:foregroundMark x1="61820" y1="14192" x2="37470" y2="19086"/>
                        <a14:foregroundMark x1="37470" y1="19086" x2="58038" y2="15008"/>
                        <a14:foregroundMark x1="58038" y1="15008" x2="27069" y2="25449"/>
                        <a14:foregroundMark x1="27069" y1="25449" x2="64894" y2="18434"/>
                        <a14:foregroundMark x1="64894" y1="18434" x2="75532" y2="20065"/>
                        <a14:foregroundMark x1="75532" y1="20065" x2="87943" y2="17618"/>
                        <a14:foregroundMark x1="87943" y1="17618" x2="58629" y2="21207"/>
                        <a14:foregroundMark x1="58629" y1="21207" x2="92199" y2="15661"/>
                        <a14:foregroundMark x1="92199" y1="15661" x2="96572" y2="4568"/>
                        <a14:foregroundMark x1="96572" y1="4568" x2="77423" y2="9951"/>
                        <a14:foregroundMark x1="77423" y1="9951" x2="69031" y2="6199"/>
                        <a14:foregroundMark x1="69031" y1="6199" x2="45154" y2="7667"/>
                        <a14:foregroundMark x1="45154" y1="7667" x2="42317" y2="6036"/>
                        <a14:foregroundMark x1="5792" y1="25612" x2="5792" y2="27569"/>
                        <a14:foregroundMark x1="5792" y1="27406" x2="6147" y2="25612"/>
                        <a14:foregroundMark x1="6147" y1="23002" x2="6147" y2="28059"/>
                        <a14:foregroundMark x1="7210" y1="26591" x2="4374" y2="24307"/>
                        <a14:foregroundMark x1="4846" y1="24959" x2="4965" y2="28711"/>
                        <a14:foregroundMark x1="2719" y1="28548" x2="2364" y2="45514"/>
                        <a14:foregroundMark x1="2364" y1="45514" x2="4610" y2="36378"/>
                        <a14:foregroundMark x1="61111" y1="86134" x2="62648" y2="89070"/>
                        <a14:foregroundMark x1="89835" y1="9299" x2="95272" y2="18923"/>
                        <a14:foregroundMark x1="95272" y1="18923" x2="95863" y2="5383"/>
                        <a14:foregroundMark x1="95863" y1="5383" x2="75414" y2="7667"/>
                        <a14:foregroundMark x1="75414" y1="7667" x2="56974" y2="3915"/>
                        <a14:foregroundMark x1="56974" y1="3915" x2="47754" y2="6036"/>
                        <a14:foregroundMark x1="47754" y1="6036" x2="46454" y2="1958"/>
                        <a14:foregroundMark x1="96454" y1="12887" x2="89243" y2="5710"/>
                        <a14:foregroundMark x1="89243" y1="5710" x2="93972" y2="3426"/>
                        <a14:foregroundMark x1="98700" y1="10440" x2="94917" y2="21207"/>
                        <a14:foregroundMark x1="94917" y1="21207" x2="97991" y2="8646"/>
                        <a14:foregroundMark x1="97991" y1="8646" x2="96572" y2="21370"/>
                        <a14:foregroundMark x1="96572" y1="21370" x2="96690" y2="17455"/>
                        <a14:foregroundMark x1="96809" y1="9135" x2="95981" y2="4405"/>
                        <a14:foregroundMark x1="4019" y1="24959" x2="3664" y2="23817"/>
                        <a14:foregroundMark x1="2009" y1="27569" x2="3546" y2="28059"/>
                        <a14:backgroundMark x1="52246" y1="38336" x2="50473" y2="37520"/>
                        <a14:backgroundMark x1="49764" y1="37684" x2="49409" y2="39152"/>
                        <a14:backgroundMark x1="49527" y1="37031" x2="51773" y2="40131"/>
                        <a14:backgroundMark x1="48109" y1="35563" x2="50591" y2="39152"/>
                        <a14:backgroundMark x1="50000" y1="35889" x2="50000" y2="358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08463" y="2363060"/>
            <a:ext cx="5528239" cy="400568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5E489A-3ABE-49C3-99DE-6325AEE983B9}"/>
              </a:ext>
            </a:extLst>
          </p:cNvPr>
          <p:cNvSpPr/>
          <p:nvPr/>
        </p:nvSpPr>
        <p:spPr>
          <a:xfrm>
            <a:off x="4831438" y="6368746"/>
            <a:ext cx="15744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Roboto"/>
              </a:rPr>
              <a:t>Thales </a:t>
            </a:r>
            <a:r>
              <a:rPr lang="en-US" sz="1200" dirty="0" err="1">
                <a:latin typeface="Roboto"/>
              </a:rPr>
              <a:t>Sehn</a:t>
            </a:r>
            <a:r>
              <a:rPr lang="en-US" sz="1200" dirty="0">
                <a:latin typeface="Roboto"/>
              </a:rPr>
              <a:t> </a:t>
            </a:r>
            <a:r>
              <a:rPr lang="en-US" sz="1200" dirty="0" err="1">
                <a:latin typeface="Roboto"/>
              </a:rPr>
              <a:t>Körting</a:t>
            </a:r>
            <a:endParaRPr lang="en-US" sz="12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4FA9431-2CD3-4C66-A924-A1C4C91BF843}"/>
              </a:ext>
            </a:extLst>
          </p:cNvPr>
          <p:cNvCxnSpPr>
            <a:cxnSpLocks/>
          </p:cNvCxnSpPr>
          <p:nvPr/>
        </p:nvCxnSpPr>
        <p:spPr>
          <a:xfrm>
            <a:off x="2628900" y="4684395"/>
            <a:ext cx="321945" cy="148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F7B148-478A-4EC5-B3E9-B13F6305808D}"/>
              </a:ext>
            </a:extLst>
          </p:cNvPr>
          <p:cNvCxnSpPr>
            <a:cxnSpLocks/>
          </p:cNvCxnSpPr>
          <p:nvPr/>
        </p:nvCxnSpPr>
        <p:spPr>
          <a:xfrm flipH="1" flipV="1">
            <a:off x="2992755" y="4804410"/>
            <a:ext cx="325756" cy="110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3">
            <a:extLst>
              <a:ext uri="{FF2B5EF4-FFF2-40B4-BE49-F238E27FC236}">
                <a16:creationId xmlns:a16="http://schemas.microsoft.com/office/drawing/2014/main" id="{E03E5170-5EAE-4CD1-8379-7E8F7B15788C}"/>
              </a:ext>
            </a:extLst>
          </p:cNvPr>
          <p:cNvSpPr/>
          <p:nvPr/>
        </p:nvSpPr>
        <p:spPr>
          <a:xfrm>
            <a:off x="2662039" y="4669559"/>
            <a:ext cx="3579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>
                <a:solidFill>
                  <a:schemeClr val="accent1">
                    <a:lumMod val="75000"/>
                  </a:schemeClr>
                </a:solidFill>
              </a:rPr>
              <a:t>z</a:t>
            </a:r>
          </a:p>
        </p:txBody>
      </p:sp>
      <p:sp>
        <p:nvSpPr>
          <p:cNvPr id="17" name="Rectángulo 3">
            <a:extLst>
              <a:ext uri="{FF2B5EF4-FFF2-40B4-BE49-F238E27FC236}">
                <a16:creationId xmlns:a16="http://schemas.microsoft.com/office/drawing/2014/main" id="{1CC08066-C75A-419F-B38B-EA27D2494D46}"/>
              </a:ext>
            </a:extLst>
          </p:cNvPr>
          <p:cNvSpPr/>
          <p:nvPr/>
        </p:nvSpPr>
        <p:spPr>
          <a:xfrm>
            <a:off x="3027799" y="4768619"/>
            <a:ext cx="3579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>
                <a:solidFill>
                  <a:schemeClr val="accent1">
                    <a:lumMod val="75000"/>
                  </a:schemeClr>
                </a:solidFill>
              </a:rPr>
              <a:t>z</a:t>
            </a:r>
          </a:p>
        </p:txBody>
      </p: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B6079F18-D2C4-4433-B848-3C6769E5F6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7744290"/>
              </p:ext>
            </p:extLst>
          </p:nvPr>
        </p:nvGraphicFramePr>
        <p:xfrm>
          <a:off x="4404421" y="3765637"/>
          <a:ext cx="2087287" cy="1002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Equation" r:id="rId5" imgW="977760" imgH="469800" progId="Equation.DSMT4">
                  <p:embed/>
                </p:oleObj>
              </mc:Choice>
              <mc:Fallback>
                <p:oleObj name="Equation" r:id="rId5" imgW="9777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04421" y="3765637"/>
                        <a:ext cx="2087287" cy="10029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A2C0098B-8423-4B81-A1B3-BD74245F9D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796410"/>
              </p:ext>
            </p:extLst>
          </p:nvPr>
        </p:nvGraphicFramePr>
        <p:xfrm>
          <a:off x="7643794" y="4127158"/>
          <a:ext cx="1355725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Equation" r:id="rId7" imgW="634680" imgH="444240" progId="Equation.DSMT4">
                  <p:embed/>
                </p:oleObj>
              </mc:Choice>
              <mc:Fallback>
                <p:oleObj name="Equation" r:id="rId7" imgW="634680" imgH="44424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B6079F18-D2C4-4433-B848-3C6769E5F6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43794" y="4127158"/>
                        <a:ext cx="1355725" cy="947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ángulo 3">
            <a:extLst>
              <a:ext uri="{FF2B5EF4-FFF2-40B4-BE49-F238E27FC236}">
                <a16:creationId xmlns:a16="http://schemas.microsoft.com/office/drawing/2014/main" id="{C2E3F939-4560-4239-9499-5DD97B46CA1B}"/>
              </a:ext>
            </a:extLst>
          </p:cNvPr>
          <p:cNvSpPr/>
          <p:nvPr/>
        </p:nvSpPr>
        <p:spPr>
          <a:xfrm>
            <a:off x="7643794" y="5245664"/>
            <a:ext cx="35261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El objetivo entonces es minimizar </a:t>
            </a:r>
          </a:p>
          <a:p>
            <a:endParaRPr lang="es-CO" dirty="0"/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A4089F47-782D-4E25-B639-849EADF01B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8780075"/>
              </p:ext>
            </p:extLst>
          </p:nvPr>
        </p:nvGraphicFramePr>
        <p:xfrm>
          <a:off x="8865519" y="5621326"/>
          <a:ext cx="541338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Equation" r:id="rId9" imgW="253800" imgH="253800" progId="Equation.DSMT4">
                  <p:embed/>
                </p:oleObj>
              </mc:Choice>
              <mc:Fallback>
                <p:oleObj name="Equation" r:id="rId9" imgW="253800" imgH="25380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A2C0098B-8423-4B81-A1B3-BD74245F9D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865519" y="5621326"/>
                        <a:ext cx="541338" cy="541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35422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71D6B183-48F6-47D4-9EDF-F212C33E26D7}"/>
              </a:ext>
            </a:extLst>
          </p:cNvPr>
          <p:cNvSpPr/>
          <p:nvPr/>
        </p:nvSpPr>
        <p:spPr>
          <a:xfrm>
            <a:off x="1073321" y="1701340"/>
            <a:ext cx="922133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 err="1"/>
              <a:t>Support</a:t>
            </a:r>
            <a:r>
              <a:rPr lang="es-CO" sz="2200" b="1" dirty="0"/>
              <a:t>-vector Machines (SVM)</a:t>
            </a:r>
          </a:p>
          <a:p>
            <a:endParaRPr lang="es-CO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6D4611-9884-4F51-B49C-56BDCD3E08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958" b="93801" l="2009" r="96809">
                        <a14:foregroundMark x1="88180" y1="8809" x2="58392" y2="15498"/>
                        <a14:foregroundMark x1="58392" y1="15498" x2="72459" y2="22023"/>
                        <a14:foregroundMark x1="72459" y1="22023" x2="65721" y2="12887"/>
                        <a14:foregroundMark x1="65721" y1="12887" x2="77305" y2="20065"/>
                        <a14:foregroundMark x1="77305" y1="20065" x2="88771" y2="10114"/>
                        <a14:foregroundMark x1="88771" y1="10114" x2="92908" y2="21370"/>
                        <a14:foregroundMark x1="92908" y1="21370" x2="76950" y2="17618"/>
                        <a14:foregroundMark x1="76950" y1="17618" x2="91608" y2="10440"/>
                        <a14:foregroundMark x1="91608" y1="10440" x2="82270" y2="8972"/>
                        <a14:foregroundMark x1="82270" y1="8972" x2="72931" y2="19739"/>
                        <a14:foregroundMark x1="72931" y1="19739" x2="85934" y2="19739"/>
                        <a14:foregroundMark x1="85934" y1="19739" x2="99527" y2="14845"/>
                        <a14:foregroundMark x1="99527" y1="14845" x2="82388" y2="15498"/>
                        <a14:foregroundMark x1="82388" y1="15498" x2="94090" y2="16476"/>
                        <a14:foregroundMark x1="94090" y1="16476" x2="82861" y2="8157"/>
                        <a14:foregroundMark x1="82861" y1="8157" x2="72104" y2="17129"/>
                        <a14:foregroundMark x1="72104" y1="17129" x2="86761" y2="10767"/>
                        <a14:foregroundMark x1="86761" y1="10767" x2="72695" y2="11419"/>
                        <a14:foregroundMark x1="72695" y1="11419" x2="65603" y2="23817"/>
                        <a14:foregroundMark x1="65603" y1="23817" x2="80024" y2="17292"/>
                        <a14:foregroundMark x1="80024" y1="17292" x2="89598" y2="3263"/>
                        <a14:foregroundMark x1="89598" y1="3263" x2="60284" y2="12235"/>
                        <a14:foregroundMark x1="60284" y1="12235" x2="81560" y2="11909"/>
                        <a14:foregroundMark x1="81560" y1="11909" x2="63712" y2="6525"/>
                        <a14:foregroundMark x1="63712" y1="6525" x2="48700" y2="17781"/>
                        <a14:foregroundMark x1="48700" y1="17781" x2="57801" y2="17781"/>
                        <a14:foregroundMark x1="57801" y1="17781" x2="51537" y2="8157"/>
                        <a14:foregroundMark x1="51537" y1="8157" x2="33688" y2="17945"/>
                        <a14:foregroundMark x1="33688" y1="17945" x2="49882" y2="12887"/>
                        <a14:foregroundMark x1="49882" y1="12887" x2="34043" y2="12561"/>
                        <a14:foregroundMark x1="34043" y1="12561" x2="50236" y2="15008"/>
                        <a14:foregroundMark x1="50236" y1="15008" x2="37589" y2="15498"/>
                        <a14:foregroundMark x1="37589" y1="15498" x2="52955" y2="13866"/>
                        <a14:foregroundMark x1="52955" y1="13866" x2="30142" y2="13377"/>
                        <a14:foregroundMark x1="30142" y1="13377" x2="16785" y2="31158"/>
                        <a14:foregroundMark x1="16785" y1="31158" x2="25768" y2="36052"/>
                        <a14:foregroundMark x1="25768" y1="36052" x2="38298" y2="28874"/>
                        <a14:foregroundMark x1="38298" y1="28874" x2="8274" y2="29364"/>
                        <a14:foregroundMark x1="8274" y1="29364" x2="1773" y2="40457"/>
                        <a14:foregroundMark x1="1773" y1="40457" x2="15248" y2="34910"/>
                        <a14:foregroundMark x1="15248" y1="34910" x2="4492" y2="43230"/>
                        <a14:foregroundMark x1="4492" y1="43230" x2="27896" y2="34747"/>
                        <a14:foregroundMark x1="27896" y1="34747" x2="9220" y2="50408"/>
                        <a14:foregroundMark x1="9220" y1="50408" x2="30024" y2="40783"/>
                        <a14:foregroundMark x1="30024" y1="40783" x2="14775" y2="55465"/>
                        <a14:foregroundMark x1="14775" y1="55465" x2="24113" y2="48940"/>
                        <a14:foregroundMark x1="24113" y1="48940" x2="33688" y2="36542"/>
                        <a14:foregroundMark x1="33688" y1="36542" x2="29787" y2="49755"/>
                        <a14:foregroundMark x1="29787" y1="49755" x2="38416" y2="32953"/>
                        <a14:foregroundMark x1="38416" y1="32953" x2="34161" y2="45514"/>
                        <a14:foregroundMark x1="34161" y1="45514" x2="39362" y2="30179"/>
                        <a14:foregroundMark x1="39362" y1="30179" x2="27069" y2="60522"/>
                        <a14:foregroundMark x1="27069" y1="60522" x2="29196" y2="45024"/>
                        <a14:foregroundMark x1="29196" y1="45024" x2="16667" y2="66558"/>
                        <a14:foregroundMark x1="16667" y1="66558" x2="28014" y2="48124"/>
                        <a14:foregroundMark x1="28014" y1="48124" x2="21040" y2="57259"/>
                        <a14:foregroundMark x1="21040" y1="57259" x2="32151" y2="44372"/>
                        <a14:foregroundMark x1="32151" y1="44372" x2="16785" y2="57586"/>
                        <a14:foregroundMark x1="16785" y1="57586" x2="32624" y2="36542"/>
                        <a14:foregroundMark x1="32624" y1="36542" x2="15957" y2="50245"/>
                        <a14:foregroundMark x1="15957" y1="50245" x2="28487" y2="37194"/>
                        <a14:foregroundMark x1="28487" y1="37194" x2="2246" y2="58238"/>
                        <a14:foregroundMark x1="2246" y1="58238" x2="827" y2="70310"/>
                        <a14:foregroundMark x1="827" y1="70310" x2="6265" y2="46493"/>
                        <a14:foregroundMark x1="6265" y1="46493" x2="4255" y2="76509"/>
                        <a14:foregroundMark x1="4255" y1="76509" x2="8274" y2="42577"/>
                        <a14:foregroundMark x1="8274" y1="42577" x2="5674" y2="78303"/>
                        <a14:foregroundMark x1="5674" y1="78303" x2="7092" y2="37847"/>
                        <a14:foregroundMark x1="7092" y1="37847" x2="6619" y2="75367"/>
                        <a14:foregroundMark x1="6619" y1="75367" x2="6974" y2="40294"/>
                        <a14:foregroundMark x1="6974" y1="40294" x2="8274" y2="92496"/>
                        <a14:foregroundMark x1="8274" y1="92496" x2="5674" y2="76183"/>
                        <a14:foregroundMark x1="5674" y1="76183" x2="6383" y2="95106"/>
                        <a14:foregroundMark x1="6383" y1="95106" x2="16076" y2="87765"/>
                        <a14:foregroundMark x1="16076" y1="87765" x2="6619" y2="87439"/>
                        <a14:foregroundMark x1="6619" y1="87439" x2="25532" y2="89233"/>
                        <a14:foregroundMark x1="25532" y1="89233" x2="16430" y2="92659"/>
                        <a14:foregroundMark x1="16430" y1="92659" x2="33570" y2="92170"/>
                        <a14:foregroundMark x1="33570" y1="92170" x2="18322" y2="92985"/>
                        <a14:foregroundMark x1="18322" y1="92985" x2="46809" y2="88581"/>
                        <a14:foregroundMark x1="46809" y1="88581" x2="33570" y2="89396"/>
                        <a14:foregroundMark x1="33570" y1="89396" x2="50591" y2="86134"/>
                        <a14:foregroundMark x1="50591" y1="86134" x2="29433" y2="87928"/>
                        <a14:foregroundMark x1="29433" y1="87928" x2="47281" y2="83197"/>
                        <a14:foregroundMark x1="47281" y1="83197" x2="17021" y2="84666"/>
                        <a14:foregroundMark x1="17021" y1="84666" x2="48582" y2="75856"/>
                        <a14:foregroundMark x1="48582" y1="75856" x2="32506" y2="77977"/>
                        <a14:foregroundMark x1="32506" y1="77977" x2="65485" y2="69168"/>
                        <a14:foregroundMark x1="65485" y1="69168" x2="40307" y2="76183"/>
                        <a14:foregroundMark x1="40307" y1="76183" x2="56028" y2="70636"/>
                        <a14:foregroundMark x1="56028" y1="70636" x2="41017" y2="72757"/>
                        <a14:foregroundMark x1="41017" y1="72757" x2="30733" y2="70473"/>
                        <a14:foregroundMark x1="30733" y1="70473" x2="39598" y2="65579"/>
                        <a14:foregroundMark x1="39598" y1="65579" x2="28842" y2="67210"/>
                        <a14:foregroundMark x1="28842" y1="67210" x2="42317" y2="62316"/>
                        <a14:foregroundMark x1="42317" y1="62316" x2="24704" y2="64600"/>
                        <a14:foregroundMark x1="24704" y1="64600" x2="33570" y2="62153"/>
                        <a14:foregroundMark x1="33570" y1="62153" x2="24586" y2="61827"/>
                        <a14:foregroundMark x1="24586" y1="61827" x2="38652" y2="61990"/>
                        <a14:foregroundMark x1="38652" y1="61990" x2="44681" y2="76672"/>
                        <a14:foregroundMark x1="44681" y1="76672" x2="55437" y2="83687"/>
                        <a14:foregroundMark x1="55437" y1="83687" x2="49764" y2="93148"/>
                        <a14:foregroundMark x1="49764" y1="93148" x2="60875" y2="90049"/>
                        <a14:foregroundMark x1="60875" y1="90049" x2="52482" y2="92985"/>
                        <a14:foregroundMark x1="52482" y1="92985" x2="62175" y2="93964"/>
                        <a14:foregroundMark x1="62175" y1="93964" x2="7801" y2="98369"/>
                        <a14:foregroundMark x1="7801" y1="98369" x2="23995" y2="98695"/>
                        <a14:foregroundMark x1="23995" y1="98695" x2="4492" y2="97390"/>
                        <a14:foregroundMark x1="4492" y1="97390" x2="13593" y2="93801"/>
                        <a14:foregroundMark x1="13593" y1="93801" x2="11939" y2="92496"/>
                        <a14:foregroundMark x1="9338" y1="86297" x2="473" y2="84502"/>
                        <a14:foregroundMark x1="473" y1="84502" x2="12766" y2="77977"/>
                        <a14:foregroundMark x1="12766" y1="77977" x2="4137" y2="74062"/>
                        <a14:foregroundMark x1="4137" y1="74062" x2="19385" y2="66395"/>
                        <a14:foregroundMark x1="19385" y1="66395" x2="43381" y2="64111"/>
                        <a14:foregroundMark x1="43381" y1="64111" x2="33688" y2="68352"/>
                        <a14:foregroundMark x1="33688" y1="68352" x2="49527" y2="65579"/>
                        <a14:foregroundMark x1="49527" y1="65579" x2="39835" y2="69331"/>
                        <a14:foregroundMark x1="39835" y1="69331" x2="54610" y2="65579"/>
                        <a14:foregroundMark x1="54610" y1="65579" x2="39598" y2="66721"/>
                        <a14:foregroundMark x1="39598" y1="66721" x2="52246" y2="61827"/>
                        <a14:foregroundMark x1="52246" y1="61827" x2="39480" y2="67537"/>
                        <a14:foregroundMark x1="39480" y1="67537" x2="48936" y2="64600"/>
                        <a14:foregroundMark x1="48936" y1="64600" x2="36643" y2="67210"/>
                        <a14:foregroundMark x1="36643" y1="67210" x2="36407" y2="53181"/>
                        <a14:foregroundMark x1="36407" y1="53181" x2="41253" y2="39804"/>
                        <a14:foregroundMark x1="41253" y1="39804" x2="41844" y2="27080"/>
                        <a14:foregroundMark x1="41844" y1="27080" x2="45626" y2="13214"/>
                        <a14:foregroundMark x1="45626" y1="13214" x2="58392" y2="13377"/>
                        <a14:foregroundMark x1="58392" y1="13377" x2="45390" y2="19250"/>
                        <a14:foregroundMark x1="45390" y1="19250" x2="61820" y2="14192"/>
                        <a14:foregroundMark x1="61820" y1="14192" x2="37470" y2="19086"/>
                        <a14:foregroundMark x1="37470" y1="19086" x2="58038" y2="15008"/>
                        <a14:foregroundMark x1="58038" y1="15008" x2="27069" y2="25449"/>
                        <a14:foregroundMark x1="27069" y1="25449" x2="64894" y2="18434"/>
                        <a14:foregroundMark x1="64894" y1="18434" x2="75532" y2="20065"/>
                        <a14:foregroundMark x1="75532" y1="20065" x2="87943" y2="17618"/>
                        <a14:foregroundMark x1="87943" y1="17618" x2="58629" y2="21207"/>
                        <a14:foregroundMark x1="58629" y1="21207" x2="92199" y2="15661"/>
                        <a14:foregroundMark x1="92199" y1="15661" x2="96572" y2="4568"/>
                        <a14:foregroundMark x1="96572" y1="4568" x2="77423" y2="9951"/>
                        <a14:foregroundMark x1="77423" y1="9951" x2="69031" y2="6199"/>
                        <a14:foregroundMark x1="69031" y1="6199" x2="45154" y2="7667"/>
                        <a14:foregroundMark x1="45154" y1="7667" x2="42317" y2="6036"/>
                        <a14:foregroundMark x1="5792" y1="25612" x2="5792" y2="27569"/>
                        <a14:foregroundMark x1="5792" y1="27406" x2="6147" y2="25612"/>
                        <a14:foregroundMark x1="6147" y1="23002" x2="6147" y2="28059"/>
                        <a14:foregroundMark x1="7210" y1="26591" x2="4374" y2="24307"/>
                        <a14:foregroundMark x1="4846" y1="24959" x2="4965" y2="28711"/>
                        <a14:foregroundMark x1="2719" y1="28548" x2="2364" y2="45514"/>
                        <a14:foregroundMark x1="2364" y1="45514" x2="4610" y2="36378"/>
                        <a14:foregroundMark x1="61111" y1="86134" x2="62648" y2="89070"/>
                        <a14:foregroundMark x1="89835" y1="9299" x2="95272" y2="18923"/>
                        <a14:foregroundMark x1="95272" y1="18923" x2="95863" y2="5383"/>
                        <a14:foregroundMark x1="95863" y1="5383" x2="75414" y2="7667"/>
                        <a14:foregroundMark x1="75414" y1="7667" x2="56974" y2="3915"/>
                        <a14:foregroundMark x1="56974" y1="3915" x2="47754" y2="6036"/>
                        <a14:foregroundMark x1="47754" y1="6036" x2="46454" y2="1958"/>
                        <a14:foregroundMark x1="96454" y1="12887" x2="89243" y2="5710"/>
                        <a14:foregroundMark x1="89243" y1="5710" x2="93972" y2="3426"/>
                        <a14:foregroundMark x1="98700" y1="10440" x2="94917" y2="21207"/>
                        <a14:foregroundMark x1="94917" y1="21207" x2="97991" y2="8646"/>
                        <a14:foregroundMark x1="97991" y1="8646" x2="96572" y2="21370"/>
                        <a14:foregroundMark x1="96572" y1="21370" x2="96690" y2="17455"/>
                        <a14:foregroundMark x1="96809" y1="9135" x2="95981" y2="4405"/>
                        <a14:foregroundMark x1="4019" y1="24959" x2="3664" y2="23817"/>
                        <a14:foregroundMark x1="2009" y1="27569" x2="3546" y2="28059"/>
                        <a14:backgroundMark x1="52246" y1="38336" x2="50473" y2="37520"/>
                        <a14:backgroundMark x1="49764" y1="37684" x2="49409" y2="39152"/>
                        <a14:backgroundMark x1="49527" y1="37031" x2="51773" y2="40131"/>
                        <a14:backgroundMark x1="48109" y1="35563" x2="50591" y2="39152"/>
                        <a14:backgroundMark x1="50000" y1="35889" x2="50000" y2="358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08463" y="2363060"/>
            <a:ext cx="5528239" cy="400568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5E489A-3ABE-49C3-99DE-6325AEE983B9}"/>
              </a:ext>
            </a:extLst>
          </p:cNvPr>
          <p:cNvSpPr/>
          <p:nvPr/>
        </p:nvSpPr>
        <p:spPr>
          <a:xfrm>
            <a:off x="4831438" y="6368746"/>
            <a:ext cx="15744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Roboto"/>
              </a:rPr>
              <a:t>Thales </a:t>
            </a:r>
            <a:r>
              <a:rPr lang="en-US" sz="1200" dirty="0" err="1">
                <a:latin typeface="Roboto"/>
              </a:rPr>
              <a:t>Sehn</a:t>
            </a:r>
            <a:r>
              <a:rPr lang="en-US" sz="1200" dirty="0">
                <a:latin typeface="Roboto"/>
              </a:rPr>
              <a:t> </a:t>
            </a:r>
            <a:r>
              <a:rPr lang="en-US" sz="1200" dirty="0" err="1">
                <a:latin typeface="Roboto"/>
              </a:rPr>
              <a:t>Körting</a:t>
            </a:r>
            <a:endParaRPr lang="en-US" sz="12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4FA9431-2CD3-4C66-A924-A1C4C91BF843}"/>
              </a:ext>
            </a:extLst>
          </p:cNvPr>
          <p:cNvCxnSpPr>
            <a:cxnSpLocks/>
          </p:cNvCxnSpPr>
          <p:nvPr/>
        </p:nvCxnSpPr>
        <p:spPr>
          <a:xfrm>
            <a:off x="2628900" y="4684395"/>
            <a:ext cx="321945" cy="148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F7B148-478A-4EC5-B3E9-B13F6305808D}"/>
              </a:ext>
            </a:extLst>
          </p:cNvPr>
          <p:cNvCxnSpPr>
            <a:cxnSpLocks/>
          </p:cNvCxnSpPr>
          <p:nvPr/>
        </p:nvCxnSpPr>
        <p:spPr>
          <a:xfrm flipH="1" flipV="1">
            <a:off x="2992755" y="4804410"/>
            <a:ext cx="325756" cy="110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3">
            <a:extLst>
              <a:ext uri="{FF2B5EF4-FFF2-40B4-BE49-F238E27FC236}">
                <a16:creationId xmlns:a16="http://schemas.microsoft.com/office/drawing/2014/main" id="{E03E5170-5EAE-4CD1-8379-7E8F7B15788C}"/>
              </a:ext>
            </a:extLst>
          </p:cNvPr>
          <p:cNvSpPr/>
          <p:nvPr/>
        </p:nvSpPr>
        <p:spPr>
          <a:xfrm>
            <a:off x="2662039" y="4669559"/>
            <a:ext cx="3579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>
                <a:solidFill>
                  <a:schemeClr val="accent1">
                    <a:lumMod val="75000"/>
                  </a:schemeClr>
                </a:solidFill>
              </a:rPr>
              <a:t>z</a:t>
            </a:r>
          </a:p>
        </p:txBody>
      </p:sp>
      <p:sp>
        <p:nvSpPr>
          <p:cNvPr id="17" name="Rectángulo 3">
            <a:extLst>
              <a:ext uri="{FF2B5EF4-FFF2-40B4-BE49-F238E27FC236}">
                <a16:creationId xmlns:a16="http://schemas.microsoft.com/office/drawing/2014/main" id="{1CC08066-C75A-419F-B38B-EA27D2494D46}"/>
              </a:ext>
            </a:extLst>
          </p:cNvPr>
          <p:cNvSpPr/>
          <p:nvPr/>
        </p:nvSpPr>
        <p:spPr>
          <a:xfrm>
            <a:off x="3027799" y="4768619"/>
            <a:ext cx="3579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>
                <a:solidFill>
                  <a:schemeClr val="accent1">
                    <a:lumMod val="75000"/>
                  </a:schemeClr>
                </a:solidFill>
              </a:rPr>
              <a:t>z</a:t>
            </a:r>
          </a:p>
        </p:txBody>
      </p:sp>
      <p:sp>
        <p:nvSpPr>
          <p:cNvPr id="21" name="Rectángulo 3">
            <a:extLst>
              <a:ext uri="{FF2B5EF4-FFF2-40B4-BE49-F238E27FC236}">
                <a16:creationId xmlns:a16="http://schemas.microsoft.com/office/drawing/2014/main" id="{C2E3F939-4560-4239-9499-5DD97B46CA1B}"/>
              </a:ext>
            </a:extLst>
          </p:cNvPr>
          <p:cNvSpPr/>
          <p:nvPr/>
        </p:nvSpPr>
        <p:spPr>
          <a:xfrm>
            <a:off x="5807374" y="3531164"/>
            <a:ext cx="35261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El objetivo entonces es minimizar </a:t>
            </a:r>
          </a:p>
          <a:p>
            <a:endParaRPr lang="es-CO" dirty="0"/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A4089F47-782D-4E25-B639-849EADF01B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3897025"/>
              </p:ext>
            </p:extLst>
          </p:nvPr>
        </p:nvGraphicFramePr>
        <p:xfrm>
          <a:off x="7029099" y="3906826"/>
          <a:ext cx="541338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5" imgW="253800" imgH="253800" progId="Equation.DSMT4">
                  <p:embed/>
                </p:oleObj>
              </mc:Choice>
              <mc:Fallback>
                <p:oleObj name="Equation" r:id="rId5" imgW="253800" imgH="253800" progId="Equation.DSMT4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A4089F47-782D-4E25-B639-849EADF01B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29099" y="3906826"/>
                        <a:ext cx="541338" cy="541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33349A1-39D5-4605-B94C-9597AC5E85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7291" y="4519453"/>
            <a:ext cx="1512987" cy="1516659"/>
          </a:xfrm>
          <a:prstGeom prst="rect">
            <a:avLst/>
          </a:prstGeom>
        </p:spPr>
      </p:pic>
      <p:sp>
        <p:nvSpPr>
          <p:cNvPr id="15" name="Rectángulo 3">
            <a:extLst>
              <a:ext uri="{FF2B5EF4-FFF2-40B4-BE49-F238E27FC236}">
                <a16:creationId xmlns:a16="http://schemas.microsoft.com/office/drawing/2014/main" id="{DA76E9C9-8C2F-478D-8A79-B870EBA3E5FB}"/>
              </a:ext>
            </a:extLst>
          </p:cNvPr>
          <p:cNvSpPr/>
          <p:nvPr/>
        </p:nvSpPr>
        <p:spPr>
          <a:xfrm>
            <a:off x="8213603" y="4939236"/>
            <a:ext cx="397839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Esta es una tarea de optimización no lineal que se lleva a cabo empleando los </a:t>
            </a:r>
            <a:r>
              <a:rPr lang="es-CO" b="1" i="1" dirty="0"/>
              <a:t>multiplicadores de Lagrange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833327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/>
              <a:t>Referencias</a:t>
            </a:r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1106488" y="2359705"/>
            <a:ext cx="90897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i="1" dirty="0"/>
              <a:t>“Artificial </a:t>
            </a:r>
            <a:r>
              <a:rPr lang="es-CO" sz="2000" i="1" dirty="0" err="1"/>
              <a:t>Intelligence</a:t>
            </a:r>
            <a:r>
              <a:rPr lang="es-CO" sz="2000" i="1" dirty="0"/>
              <a:t>: A </a:t>
            </a:r>
            <a:r>
              <a:rPr lang="es-CO" sz="2000" i="1" dirty="0" err="1"/>
              <a:t>modern</a:t>
            </a:r>
            <a:r>
              <a:rPr lang="es-CO" sz="2000" i="1" dirty="0"/>
              <a:t> </a:t>
            </a:r>
            <a:r>
              <a:rPr lang="es-CO" sz="2000" i="1" dirty="0" err="1"/>
              <a:t>approach</a:t>
            </a:r>
            <a:r>
              <a:rPr lang="es-CO" sz="2000" i="1" dirty="0"/>
              <a:t>”, </a:t>
            </a:r>
            <a:r>
              <a:rPr lang="es-CO" sz="2000" dirty="0"/>
              <a:t>S.J. Russell and P. </a:t>
            </a:r>
            <a:r>
              <a:rPr lang="es-CO" sz="2000" dirty="0" err="1"/>
              <a:t>Norvig</a:t>
            </a:r>
            <a:r>
              <a:rPr lang="es-CO" sz="2000" dirty="0"/>
              <a:t>. Capítulos 3 y 4.</a:t>
            </a:r>
          </a:p>
          <a:p>
            <a:endParaRPr lang="es-CO" sz="2000" dirty="0"/>
          </a:p>
        </p:txBody>
      </p:sp>
      <p:sp>
        <p:nvSpPr>
          <p:cNvPr id="6" name="Rectángulo 23">
            <a:extLst>
              <a:ext uri="{FF2B5EF4-FFF2-40B4-BE49-F238E27FC236}">
                <a16:creationId xmlns:a16="http://schemas.microsoft.com/office/drawing/2014/main" id="{95295EE0-F9F3-4149-A8CB-FA5E3A8F8C29}"/>
              </a:ext>
            </a:extLst>
          </p:cNvPr>
          <p:cNvSpPr/>
          <p:nvPr/>
        </p:nvSpPr>
        <p:spPr>
          <a:xfrm>
            <a:off x="1106488" y="2884471"/>
            <a:ext cx="49396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dirty="0"/>
              <a:t>https://classroom.udacity.com/courses/cs271</a:t>
            </a:r>
          </a:p>
        </p:txBody>
      </p:sp>
    </p:spTree>
    <p:extLst>
      <p:ext uri="{BB962C8B-B14F-4D97-AF65-F5344CB8AC3E}">
        <p14:creationId xmlns:p14="http://schemas.microsoft.com/office/powerpoint/2010/main" val="25575667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</TotalTime>
  <Words>1176</Words>
  <Application>Microsoft Office PowerPoint</Application>
  <PresentationFormat>Widescreen</PresentationFormat>
  <Paragraphs>154</Paragraphs>
  <Slides>35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Helvetica Neue</vt:lpstr>
      <vt:lpstr>Roboto</vt:lpstr>
      <vt:lpstr>Source Sans Pro</vt:lpstr>
      <vt:lpstr>Tema de Office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Andres Rodriguez Andrade</dc:creator>
  <cp:lastModifiedBy>Calelo</cp:lastModifiedBy>
  <cp:revision>171</cp:revision>
  <dcterms:created xsi:type="dcterms:W3CDTF">2017-07-31T19:21:32Z</dcterms:created>
  <dcterms:modified xsi:type="dcterms:W3CDTF">2019-02-22T19:03:40Z</dcterms:modified>
</cp:coreProperties>
</file>
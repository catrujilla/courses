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8"/>
  </p:handoutMasterIdLst>
  <p:sldIdLst>
    <p:sldId id="258" r:id="rId2"/>
    <p:sldId id="259" r:id="rId3"/>
    <p:sldId id="288" r:id="rId4"/>
    <p:sldId id="289" r:id="rId5"/>
    <p:sldId id="290" r:id="rId6"/>
    <p:sldId id="291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1" autoAdjust="0"/>
    <p:restoredTop sz="94610" autoAdjust="0"/>
  </p:normalViewPr>
  <p:slideViewPr>
    <p:cSldViewPr snapToGrid="0">
      <p:cViewPr varScale="1">
        <p:scale>
          <a:sx n="106" d="100"/>
          <a:sy n="106" d="100"/>
        </p:scale>
        <p:origin x="2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60536" y="1928733"/>
            <a:ext cx="73413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600" dirty="0" smtClean="0"/>
              <a:t>Introducción a la inteligencia Artificial</a:t>
            </a:r>
          </a:p>
          <a:p>
            <a:r>
              <a:rPr lang="es-CO" sz="2400" dirty="0" smtClean="0"/>
              <a:t>Febrero 8 de 2019</a:t>
            </a:r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1409700" y="3140822"/>
            <a:ext cx="10287000" cy="193899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400" dirty="0" smtClean="0"/>
              <a:t>Carlos </a:t>
            </a:r>
            <a:r>
              <a:rPr lang="es-CO" sz="2400" dirty="0"/>
              <a:t>Alejandro Trujillo Anaya – </a:t>
            </a:r>
            <a:r>
              <a:rPr lang="es-CO" sz="2400" b="1" dirty="0"/>
              <a:t>carlostrujillo@itm.edu.co</a:t>
            </a:r>
            <a:endParaRPr lang="es-CO" sz="2400" b="1" dirty="0">
              <a:solidFill>
                <a:schemeClr val="bg1"/>
              </a:solidFill>
            </a:endParaRPr>
          </a:p>
          <a:p>
            <a:r>
              <a:rPr lang="es-CO" sz="2400" dirty="0" smtClean="0"/>
              <a:t>Departamento </a:t>
            </a:r>
            <a:r>
              <a:rPr lang="es-CO" sz="2400" dirty="0"/>
              <a:t>de </a:t>
            </a:r>
            <a:r>
              <a:rPr lang="es-CO" sz="2400" dirty="0" smtClean="0"/>
              <a:t>electrónica y telecomunicaciones</a:t>
            </a:r>
            <a:endParaRPr lang="es-CO" sz="2400" dirty="0"/>
          </a:p>
          <a:p>
            <a:r>
              <a:rPr lang="es-CO" sz="2400" dirty="0" smtClean="0"/>
              <a:t>Asignatura perteneciente a Ingeniería electrónica</a:t>
            </a:r>
          </a:p>
          <a:p>
            <a:r>
              <a:rPr lang="es-CO" sz="2400" dirty="0" smtClean="0"/>
              <a:t>Viernes 16-18</a:t>
            </a:r>
          </a:p>
          <a:p>
            <a:r>
              <a:rPr lang="es-CO" sz="2400" dirty="0" smtClean="0"/>
              <a:t>O2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14055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/>
          <p:cNvSpPr/>
          <p:nvPr/>
        </p:nvSpPr>
        <p:spPr>
          <a:xfrm>
            <a:off x="823722" y="1648974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dirty="0" smtClean="0"/>
              <a:t>Nos vamos a dedicar a construir agentes inteligentes…</a:t>
            </a:r>
            <a:endParaRPr lang="es-CO" sz="2000" dirty="0"/>
          </a:p>
        </p:txBody>
      </p:sp>
      <p:sp>
        <p:nvSpPr>
          <p:cNvPr id="20" name="Rectángulo 19"/>
          <p:cNvSpPr/>
          <p:nvPr/>
        </p:nvSpPr>
        <p:spPr>
          <a:xfrm>
            <a:off x="1278636" y="5896737"/>
            <a:ext cx="81122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b="1" dirty="0" smtClean="0"/>
              <a:t>Agente inteligente: Todo sistema que emplee inteligencia artificial.</a:t>
            </a:r>
            <a:endParaRPr lang="es-CO" sz="2000" b="1" dirty="0"/>
          </a:p>
        </p:txBody>
      </p:sp>
      <p:sp>
        <p:nvSpPr>
          <p:cNvPr id="3" name="Forma libre 2"/>
          <p:cNvSpPr/>
          <p:nvPr/>
        </p:nvSpPr>
        <p:spPr>
          <a:xfrm>
            <a:off x="5696712" y="2669018"/>
            <a:ext cx="1725590" cy="2215742"/>
          </a:xfrm>
          <a:custGeom>
            <a:avLst/>
            <a:gdLst>
              <a:gd name="connsiteX0" fmla="*/ 612648 w 1725590"/>
              <a:gd name="connsiteY0" fmla="*/ 341222 h 2215742"/>
              <a:gd name="connsiteX1" fmla="*/ 612648 w 1725590"/>
              <a:gd name="connsiteY1" fmla="*/ 341222 h 2215742"/>
              <a:gd name="connsiteX2" fmla="*/ 521208 w 1725590"/>
              <a:gd name="connsiteY2" fmla="*/ 386942 h 2215742"/>
              <a:gd name="connsiteX3" fmla="*/ 402336 w 1725590"/>
              <a:gd name="connsiteY3" fmla="*/ 478382 h 2215742"/>
              <a:gd name="connsiteX4" fmla="*/ 356616 w 1725590"/>
              <a:gd name="connsiteY4" fmla="*/ 514958 h 2215742"/>
              <a:gd name="connsiteX5" fmla="*/ 301752 w 1725590"/>
              <a:gd name="connsiteY5" fmla="*/ 560678 h 2215742"/>
              <a:gd name="connsiteX6" fmla="*/ 292608 w 1725590"/>
              <a:gd name="connsiteY6" fmla="*/ 990446 h 2215742"/>
              <a:gd name="connsiteX7" fmla="*/ 283464 w 1725590"/>
              <a:gd name="connsiteY7" fmla="*/ 1072742 h 2215742"/>
              <a:gd name="connsiteX8" fmla="*/ 265176 w 1725590"/>
              <a:gd name="connsiteY8" fmla="*/ 1118462 h 2215742"/>
              <a:gd name="connsiteX9" fmla="*/ 192024 w 1725590"/>
              <a:gd name="connsiteY9" fmla="*/ 1246478 h 2215742"/>
              <a:gd name="connsiteX10" fmla="*/ 155448 w 1725590"/>
              <a:gd name="connsiteY10" fmla="*/ 1283054 h 2215742"/>
              <a:gd name="connsiteX11" fmla="*/ 100584 w 1725590"/>
              <a:gd name="connsiteY11" fmla="*/ 1328774 h 2215742"/>
              <a:gd name="connsiteX12" fmla="*/ 82296 w 1725590"/>
              <a:gd name="connsiteY12" fmla="*/ 1356206 h 2215742"/>
              <a:gd name="connsiteX13" fmla="*/ 45720 w 1725590"/>
              <a:gd name="connsiteY13" fmla="*/ 1374494 h 2215742"/>
              <a:gd name="connsiteX14" fmla="*/ 18288 w 1725590"/>
              <a:gd name="connsiteY14" fmla="*/ 1401926 h 2215742"/>
              <a:gd name="connsiteX15" fmla="*/ 0 w 1725590"/>
              <a:gd name="connsiteY15" fmla="*/ 1447646 h 2215742"/>
              <a:gd name="connsiteX16" fmla="*/ 18288 w 1725590"/>
              <a:gd name="connsiteY16" fmla="*/ 1694534 h 2215742"/>
              <a:gd name="connsiteX17" fmla="*/ 45720 w 1725590"/>
              <a:gd name="connsiteY17" fmla="*/ 1749398 h 2215742"/>
              <a:gd name="connsiteX18" fmla="*/ 137160 w 1725590"/>
              <a:gd name="connsiteY18" fmla="*/ 1849982 h 2215742"/>
              <a:gd name="connsiteX19" fmla="*/ 182880 w 1725590"/>
              <a:gd name="connsiteY19" fmla="*/ 1886558 h 2215742"/>
              <a:gd name="connsiteX20" fmla="*/ 228600 w 1725590"/>
              <a:gd name="connsiteY20" fmla="*/ 1932278 h 2215742"/>
              <a:gd name="connsiteX21" fmla="*/ 292608 w 1725590"/>
              <a:gd name="connsiteY21" fmla="*/ 1959710 h 2215742"/>
              <a:gd name="connsiteX22" fmla="*/ 365760 w 1725590"/>
              <a:gd name="connsiteY22" fmla="*/ 1996286 h 2215742"/>
              <a:gd name="connsiteX23" fmla="*/ 484632 w 1725590"/>
              <a:gd name="connsiteY23" fmla="*/ 2069438 h 2215742"/>
              <a:gd name="connsiteX24" fmla="*/ 530352 w 1725590"/>
              <a:gd name="connsiteY24" fmla="*/ 2078582 h 2215742"/>
              <a:gd name="connsiteX25" fmla="*/ 621792 w 1725590"/>
              <a:gd name="connsiteY25" fmla="*/ 2106014 h 2215742"/>
              <a:gd name="connsiteX26" fmla="*/ 722376 w 1725590"/>
              <a:gd name="connsiteY26" fmla="*/ 2133446 h 2215742"/>
              <a:gd name="connsiteX27" fmla="*/ 777240 w 1725590"/>
              <a:gd name="connsiteY27" fmla="*/ 2160878 h 2215742"/>
              <a:gd name="connsiteX28" fmla="*/ 832104 w 1725590"/>
              <a:gd name="connsiteY28" fmla="*/ 2179166 h 2215742"/>
              <a:gd name="connsiteX29" fmla="*/ 960120 w 1725590"/>
              <a:gd name="connsiteY29" fmla="*/ 2215742 h 2215742"/>
              <a:gd name="connsiteX30" fmla="*/ 1508760 w 1725590"/>
              <a:gd name="connsiteY30" fmla="*/ 2170022 h 2215742"/>
              <a:gd name="connsiteX31" fmla="*/ 1691640 w 1725590"/>
              <a:gd name="connsiteY31" fmla="*/ 2069438 h 2215742"/>
              <a:gd name="connsiteX32" fmla="*/ 1682496 w 1725590"/>
              <a:gd name="connsiteY32" fmla="*/ 1822550 h 2215742"/>
              <a:gd name="connsiteX33" fmla="*/ 1655064 w 1725590"/>
              <a:gd name="connsiteY33" fmla="*/ 1776830 h 2215742"/>
              <a:gd name="connsiteX34" fmla="*/ 1581912 w 1725590"/>
              <a:gd name="connsiteY34" fmla="*/ 1676246 h 2215742"/>
              <a:gd name="connsiteX35" fmla="*/ 1554480 w 1725590"/>
              <a:gd name="connsiteY35" fmla="*/ 1630526 h 2215742"/>
              <a:gd name="connsiteX36" fmla="*/ 1499616 w 1725590"/>
              <a:gd name="connsiteY36" fmla="*/ 1575662 h 2215742"/>
              <a:gd name="connsiteX37" fmla="*/ 1463040 w 1725590"/>
              <a:gd name="connsiteY37" fmla="*/ 1529942 h 2215742"/>
              <a:gd name="connsiteX38" fmla="*/ 1453896 w 1725590"/>
              <a:gd name="connsiteY38" fmla="*/ 1502510 h 2215742"/>
              <a:gd name="connsiteX39" fmla="*/ 1444752 w 1725590"/>
              <a:gd name="connsiteY39" fmla="*/ 1456790 h 2215742"/>
              <a:gd name="connsiteX40" fmla="*/ 1426464 w 1725590"/>
              <a:gd name="connsiteY40" fmla="*/ 1429358 h 2215742"/>
              <a:gd name="connsiteX41" fmla="*/ 1435608 w 1725590"/>
              <a:gd name="connsiteY41" fmla="*/ 1209902 h 2215742"/>
              <a:gd name="connsiteX42" fmla="*/ 1463040 w 1725590"/>
              <a:gd name="connsiteY42" fmla="*/ 1155038 h 2215742"/>
              <a:gd name="connsiteX43" fmla="*/ 1481328 w 1725590"/>
              <a:gd name="connsiteY43" fmla="*/ 1072742 h 2215742"/>
              <a:gd name="connsiteX44" fmla="*/ 1490472 w 1725590"/>
              <a:gd name="connsiteY44" fmla="*/ 1036166 h 2215742"/>
              <a:gd name="connsiteX45" fmla="*/ 1508760 w 1725590"/>
              <a:gd name="connsiteY45" fmla="*/ 953870 h 2215742"/>
              <a:gd name="connsiteX46" fmla="*/ 1472184 w 1725590"/>
              <a:gd name="connsiteY46" fmla="*/ 615542 h 2215742"/>
              <a:gd name="connsiteX47" fmla="*/ 1426464 w 1725590"/>
              <a:gd name="connsiteY47" fmla="*/ 560678 h 2215742"/>
              <a:gd name="connsiteX48" fmla="*/ 1371600 w 1725590"/>
              <a:gd name="connsiteY48" fmla="*/ 505814 h 2215742"/>
              <a:gd name="connsiteX49" fmla="*/ 1344168 w 1725590"/>
              <a:gd name="connsiteY49" fmla="*/ 478382 h 2215742"/>
              <a:gd name="connsiteX50" fmla="*/ 1280160 w 1725590"/>
              <a:gd name="connsiteY50" fmla="*/ 441806 h 2215742"/>
              <a:gd name="connsiteX51" fmla="*/ 1243584 w 1725590"/>
              <a:gd name="connsiteY51" fmla="*/ 423518 h 2215742"/>
              <a:gd name="connsiteX52" fmla="*/ 1133856 w 1725590"/>
              <a:gd name="connsiteY52" fmla="*/ 359510 h 2215742"/>
              <a:gd name="connsiteX53" fmla="*/ 1051560 w 1725590"/>
              <a:gd name="connsiteY53" fmla="*/ 341222 h 2215742"/>
              <a:gd name="connsiteX54" fmla="*/ 1033272 w 1725590"/>
              <a:gd name="connsiteY54" fmla="*/ 313790 h 2215742"/>
              <a:gd name="connsiteX55" fmla="*/ 1005840 w 1725590"/>
              <a:gd name="connsiteY55" fmla="*/ 295502 h 2215742"/>
              <a:gd name="connsiteX56" fmla="*/ 978408 w 1725590"/>
              <a:gd name="connsiteY56" fmla="*/ 204062 h 2215742"/>
              <a:gd name="connsiteX57" fmla="*/ 969264 w 1725590"/>
              <a:gd name="connsiteY57" fmla="*/ 21182 h 2215742"/>
              <a:gd name="connsiteX58" fmla="*/ 859536 w 1725590"/>
              <a:gd name="connsiteY58" fmla="*/ 2894 h 2215742"/>
              <a:gd name="connsiteX59" fmla="*/ 630936 w 1725590"/>
              <a:gd name="connsiteY59" fmla="*/ 12038 h 2215742"/>
              <a:gd name="connsiteX60" fmla="*/ 594360 w 1725590"/>
              <a:gd name="connsiteY60" fmla="*/ 21182 h 2215742"/>
              <a:gd name="connsiteX61" fmla="*/ 557784 w 1725590"/>
              <a:gd name="connsiteY61" fmla="*/ 76046 h 2215742"/>
              <a:gd name="connsiteX62" fmla="*/ 548640 w 1725590"/>
              <a:gd name="connsiteY62" fmla="*/ 112622 h 2215742"/>
              <a:gd name="connsiteX63" fmla="*/ 530352 w 1725590"/>
              <a:gd name="connsiteY63" fmla="*/ 149198 h 2215742"/>
              <a:gd name="connsiteX64" fmla="*/ 530352 w 1725590"/>
              <a:gd name="connsiteY64" fmla="*/ 368654 h 2215742"/>
              <a:gd name="connsiteX65" fmla="*/ 612648 w 1725590"/>
              <a:gd name="connsiteY65" fmla="*/ 341222 h 2215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725590" h="2215742">
                <a:moveTo>
                  <a:pt x="612648" y="341222"/>
                </a:moveTo>
                <a:lnTo>
                  <a:pt x="612648" y="341222"/>
                </a:lnTo>
                <a:cubicBezTo>
                  <a:pt x="582168" y="356462"/>
                  <a:pt x="549126" y="367400"/>
                  <a:pt x="521208" y="386942"/>
                </a:cubicBezTo>
                <a:cubicBezTo>
                  <a:pt x="368819" y="493614"/>
                  <a:pt x="481312" y="452057"/>
                  <a:pt x="402336" y="478382"/>
                </a:cubicBezTo>
                <a:cubicBezTo>
                  <a:pt x="387096" y="490574"/>
                  <a:pt x="371304" y="502106"/>
                  <a:pt x="356616" y="514958"/>
                </a:cubicBezTo>
                <a:cubicBezTo>
                  <a:pt x="300291" y="564242"/>
                  <a:pt x="357894" y="523250"/>
                  <a:pt x="301752" y="560678"/>
                </a:cubicBezTo>
                <a:cubicBezTo>
                  <a:pt x="298704" y="703934"/>
                  <a:pt x="297722" y="847249"/>
                  <a:pt x="292608" y="990446"/>
                </a:cubicBezTo>
                <a:cubicBezTo>
                  <a:pt x="291623" y="1018029"/>
                  <a:pt x="289247" y="1045754"/>
                  <a:pt x="283464" y="1072742"/>
                </a:cubicBezTo>
                <a:cubicBezTo>
                  <a:pt x="280025" y="1088792"/>
                  <a:pt x="272054" y="1103559"/>
                  <a:pt x="265176" y="1118462"/>
                </a:cubicBezTo>
                <a:cubicBezTo>
                  <a:pt x="252882" y="1145100"/>
                  <a:pt x="216221" y="1222281"/>
                  <a:pt x="192024" y="1246478"/>
                </a:cubicBezTo>
                <a:cubicBezTo>
                  <a:pt x="179832" y="1258670"/>
                  <a:pt x="166669" y="1269963"/>
                  <a:pt x="155448" y="1283054"/>
                </a:cubicBezTo>
                <a:cubicBezTo>
                  <a:pt x="116674" y="1328290"/>
                  <a:pt x="163020" y="1297556"/>
                  <a:pt x="100584" y="1328774"/>
                </a:cubicBezTo>
                <a:cubicBezTo>
                  <a:pt x="94488" y="1337918"/>
                  <a:pt x="90739" y="1349171"/>
                  <a:pt x="82296" y="1356206"/>
                </a:cubicBezTo>
                <a:cubicBezTo>
                  <a:pt x="71824" y="1364932"/>
                  <a:pt x="56812" y="1366571"/>
                  <a:pt x="45720" y="1374494"/>
                </a:cubicBezTo>
                <a:cubicBezTo>
                  <a:pt x="35197" y="1382010"/>
                  <a:pt x="27432" y="1392782"/>
                  <a:pt x="18288" y="1401926"/>
                </a:cubicBezTo>
                <a:cubicBezTo>
                  <a:pt x="12192" y="1417166"/>
                  <a:pt x="0" y="1431232"/>
                  <a:pt x="0" y="1447646"/>
                </a:cubicBezTo>
                <a:cubicBezTo>
                  <a:pt x="0" y="1530167"/>
                  <a:pt x="5926" y="1612944"/>
                  <a:pt x="18288" y="1694534"/>
                </a:cubicBezTo>
                <a:cubicBezTo>
                  <a:pt x="21351" y="1714750"/>
                  <a:pt x="34743" y="1732148"/>
                  <a:pt x="45720" y="1749398"/>
                </a:cubicBezTo>
                <a:cubicBezTo>
                  <a:pt x="65750" y="1780874"/>
                  <a:pt x="111833" y="1826957"/>
                  <a:pt x="137160" y="1849982"/>
                </a:cubicBezTo>
                <a:cubicBezTo>
                  <a:pt x="151601" y="1863110"/>
                  <a:pt x="168373" y="1873502"/>
                  <a:pt x="182880" y="1886558"/>
                </a:cubicBezTo>
                <a:cubicBezTo>
                  <a:pt x="198900" y="1900976"/>
                  <a:pt x="210667" y="1920323"/>
                  <a:pt x="228600" y="1932278"/>
                </a:cubicBezTo>
                <a:cubicBezTo>
                  <a:pt x="247914" y="1945154"/>
                  <a:pt x="271573" y="1949894"/>
                  <a:pt x="292608" y="1959710"/>
                </a:cubicBezTo>
                <a:cubicBezTo>
                  <a:pt x="317312" y="1971239"/>
                  <a:pt x="342090" y="1982760"/>
                  <a:pt x="365760" y="1996286"/>
                </a:cubicBezTo>
                <a:cubicBezTo>
                  <a:pt x="413096" y="2023335"/>
                  <a:pt x="432817" y="2047848"/>
                  <a:pt x="484632" y="2069438"/>
                </a:cubicBezTo>
                <a:cubicBezTo>
                  <a:pt x="498978" y="2075416"/>
                  <a:pt x="515180" y="2075211"/>
                  <a:pt x="530352" y="2078582"/>
                </a:cubicBezTo>
                <a:cubicBezTo>
                  <a:pt x="607474" y="2095720"/>
                  <a:pt x="521498" y="2078661"/>
                  <a:pt x="621792" y="2106014"/>
                </a:cubicBezTo>
                <a:cubicBezTo>
                  <a:pt x="686576" y="2123682"/>
                  <a:pt x="652568" y="2104359"/>
                  <a:pt x="722376" y="2133446"/>
                </a:cubicBezTo>
                <a:cubicBezTo>
                  <a:pt x="741250" y="2141310"/>
                  <a:pt x="758366" y="2153014"/>
                  <a:pt x="777240" y="2160878"/>
                </a:cubicBezTo>
                <a:cubicBezTo>
                  <a:pt x="795034" y="2168292"/>
                  <a:pt x="813950" y="2172682"/>
                  <a:pt x="832104" y="2179166"/>
                </a:cubicBezTo>
                <a:cubicBezTo>
                  <a:pt x="931101" y="2214522"/>
                  <a:pt x="873527" y="2201310"/>
                  <a:pt x="960120" y="2215742"/>
                </a:cubicBezTo>
                <a:cubicBezTo>
                  <a:pt x="1052843" y="2211879"/>
                  <a:pt x="1355805" y="2228851"/>
                  <a:pt x="1508760" y="2170022"/>
                </a:cubicBezTo>
                <a:cubicBezTo>
                  <a:pt x="1596023" y="2136459"/>
                  <a:pt x="1624912" y="2113923"/>
                  <a:pt x="1691640" y="2069438"/>
                </a:cubicBezTo>
                <a:cubicBezTo>
                  <a:pt x="1748675" y="1983886"/>
                  <a:pt x="1725689" y="2031315"/>
                  <a:pt x="1682496" y="1822550"/>
                </a:cubicBezTo>
                <a:cubicBezTo>
                  <a:pt x="1678895" y="1805146"/>
                  <a:pt x="1665133" y="1791475"/>
                  <a:pt x="1655064" y="1776830"/>
                </a:cubicBezTo>
                <a:cubicBezTo>
                  <a:pt x="1631577" y="1742667"/>
                  <a:pt x="1603242" y="1711795"/>
                  <a:pt x="1581912" y="1676246"/>
                </a:cubicBezTo>
                <a:cubicBezTo>
                  <a:pt x="1572768" y="1661006"/>
                  <a:pt x="1565734" y="1644281"/>
                  <a:pt x="1554480" y="1630526"/>
                </a:cubicBezTo>
                <a:cubicBezTo>
                  <a:pt x="1538102" y="1610509"/>
                  <a:pt x="1515773" y="1595858"/>
                  <a:pt x="1499616" y="1575662"/>
                </a:cubicBezTo>
                <a:lnTo>
                  <a:pt x="1463040" y="1529942"/>
                </a:lnTo>
                <a:cubicBezTo>
                  <a:pt x="1459992" y="1520798"/>
                  <a:pt x="1456234" y="1511861"/>
                  <a:pt x="1453896" y="1502510"/>
                </a:cubicBezTo>
                <a:cubicBezTo>
                  <a:pt x="1450127" y="1487432"/>
                  <a:pt x="1450209" y="1471342"/>
                  <a:pt x="1444752" y="1456790"/>
                </a:cubicBezTo>
                <a:cubicBezTo>
                  <a:pt x="1440893" y="1446500"/>
                  <a:pt x="1432560" y="1438502"/>
                  <a:pt x="1426464" y="1429358"/>
                </a:cubicBezTo>
                <a:cubicBezTo>
                  <a:pt x="1429512" y="1356206"/>
                  <a:pt x="1425932" y="1282475"/>
                  <a:pt x="1435608" y="1209902"/>
                </a:cubicBezTo>
                <a:cubicBezTo>
                  <a:pt x="1438310" y="1189635"/>
                  <a:pt x="1455446" y="1174022"/>
                  <a:pt x="1463040" y="1155038"/>
                </a:cubicBezTo>
                <a:cubicBezTo>
                  <a:pt x="1468615" y="1141100"/>
                  <a:pt x="1478795" y="1084142"/>
                  <a:pt x="1481328" y="1072742"/>
                </a:cubicBezTo>
                <a:cubicBezTo>
                  <a:pt x="1484054" y="1060474"/>
                  <a:pt x="1487746" y="1048434"/>
                  <a:pt x="1490472" y="1036166"/>
                </a:cubicBezTo>
                <a:cubicBezTo>
                  <a:pt x="1513689" y="931688"/>
                  <a:pt x="1486460" y="1043071"/>
                  <a:pt x="1508760" y="953870"/>
                </a:cubicBezTo>
                <a:cubicBezTo>
                  <a:pt x="1496568" y="841094"/>
                  <a:pt x="1488609" y="727780"/>
                  <a:pt x="1472184" y="615542"/>
                </a:cubicBezTo>
                <a:cubicBezTo>
                  <a:pt x="1466049" y="573621"/>
                  <a:pt x="1451477" y="582912"/>
                  <a:pt x="1426464" y="560678"/>
                </a:cubicBezTo>
                <a:cubicBezTo>
                  <a:pt x="1407134" y="543495"/>
                  <a:pt x="1389888" y="524102"/>
                  <a:pt x="1371600" y="505814"/>
                </a:cubicBezTo>
                <a:cubicBezTo>
                  <a:pt x="1362456" y="496670"/>
                  <a:pt x="1355396" y="484798"/>
                  <a:pt x="1344168" y="478382"/>
                </a:cubicBezTo>
                <a:cubicBezTo>
                  <a:pt x="1322832" y="466190"/>
                  <a:pt x="1301733" y="453573"/>
                  <a:pt x="1280160" y="441806"/>
                </a:cubicBezTo>
                <a:cubicBezTo>
                  <a:pt x="1268193" y="435279"/>
                  <a:pt x="1255143" y="430742"/>
                  <a:pt x="1243584" y="423518"/>
                </a:cubicBezTo>
                <a:cubicBezTo>
                  <a:pt x="1204557" y="399126"/>
                  <a:pt x="1186009" y="368202"/>
                  <a:pt x="1133856" y="359510"/>
                </a:cubicBezTo>
                <a:cubicBezTo>
                  <a:pt x="1069485" y="348781"/>
                  <a:pt x="1096581" y="356229"/>
                  <a:pt x="1051560" y="341222"/>
                </a:cubicBezTo>
                <a:cubicBezTo>
                  <a:pt x="1045464" y="332078"/>
                  <a:pt x="1041043" y="321561"/>
                  <a:pt x="1033272" y="313790"/>
                </a:cubicBezTo>
                <a:cubicBezTo>
                  <a:pt x="1025501" y="306019"/>
                  <a:pt x="1011665" y="304821"/>
                  <a:pt x="1005840" y="295502"/>
                </a:cubicBezTo>
                <a:cubicBezTo>
                  <a:pt x="996564" y="280661"/>
                  <a:pt x="983761" y="225476"/>
                  <a:pt x="978408" y="204062"/>
                </a:cubicBezTo>
                <a:cubicBezTo>
                  <a:pt x="975360" y="143102"/>
                  <a:pt x="1000315" y="73730"/>
                  <a:pt x="969264" y="21182"/>
                </a:cubicBezTo>
                <a:cubicBezTo>
                  <a:pt x="950400" y="-10742"/>
                  <a:pt x="859536" y="2894"/>
                  <a:pt x="859536" y="2894"/>
                </a:cubicBezTo>
                <a:cubicBezTo>
                  <a:pt x="783336" y="5942"/>
                  <a:pt x="707016" y="6791"/>
                  <a:pt x="630936" y="12038"/>
                </a:cubicBezTo>
                <a:cubicBezTo>
                  <a:pt x="618399" y="12903"/>
                  <a:pt x="603818" y="12906"/>
                  <a:pt x="594360" y="21182"/>
                </a:cubicBezTo>
                <a:cubicBezTo>
                  <a:pt x="577819" y="35656"/>
                  <a:pt x="557784" y="76046"/>
                  <a:pt x="557784" y="76046"/>
                </a:cubicBezTo>
                <a:cubicBezTo>
                  <a:pt x="554736" y="88238"/>
                  <a:pt x="553053" y="100855"/>
                  <a:pt x="548640" y="112622"/>
                </a:cubicBezTo>
                <a:cubicBezTo>
                  <a:pt x="543854" y="125385"/>
                  <a:pt x="531323" y="135602"/>
                  <a:pt x="530352" y="149198"/>
                </a:cubicBezTo>
                <a:cubicBezTo>
                  <a:pt x="525140" y="222164"/>
                  <a:pt x="530352" y="295502"/>
                  <a:pt x="530352" y="368654"/>
                </a:cubicBezTo>
                <a:lnTo>
                  <a:pt x="612648" y="341222"/>
                </a:lnTo>
                <a:close/>
              </a:path>
            </a:pathLst>
          </a:cu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 rot="19410033">
            <a:off x="5779770" y="3683585"/>
            <a:ext cx="13159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Ambiente</a:t>
            </a:r>
            <a:endParaRPr lang="es-CO" sz="2000" dirty="0"/>
          </a:p>
        </p:txBody>
      </p:sp>
      <p:sp>
        <p:nvSpPr>
          <p:cNvPr id="4" name="Rectángulo 3"/>
          <p:cNvSpPr/>
          <p:nvPr/>
        </p:nvSpPr>
        <p:spPr>
          <a:xfrm>
            <a:off x="1929384" y="3072384"/>
            <a:ext cx="1399032" cy="14356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 21"/>
          <p:cNvSpPr/>
          <p:nvPr/>
        </p:nvSpPr>
        <p:spPr>
          <a:xfrm>
            <a:off x="1970913" y="2672274"/>
            <a:ext cx="13159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 smtClean="0"/>
              <a:t>Agente</a:t>
            </a:r>
            <a:endParaRPr lang="es-CO" sz="2000" dirty="0"/>
          </a:p>
        </p:txBody>
      </p:sp>
      <p:sp>
        <p:nvSpPr>
          <p:cNvPr id="23" name="Flecha doblada 22"/>
          <p:cNvSpPr/>
          <p:nvPr/>
        </p:nvSpPr>
        <p:spPr>
          <a:xfrm rot="12131240">
            <a:off x="3644304" y="4266260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6" name="Flecha doblada 25"/>
          <p:cNvSpPr/>
          <p:nvPr/>
        </p:nvSpPr>
        <p:spPr>
          <a:xfrm rot="1668952">
            <a:off x="3771905" y="2253829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1970913" y="3331442"/>
            <a:ext cx="131597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Toma decisiones basándose en AI</a:t>
            </a:r>
            <a:endParaRPr lang="es-CO" sz="1400" dirty="0"/>
          </a:p>
        </p:txBody>
      </p:sp>
      <p:sp>
        <p:nvSpPr>
          <p:cNvPr id="28" name="Rectángulo 27"/>
          <p:cNvSpPr/>
          <p:nvPr/>
        </p:nvSpPr>
        <p:spPr>
          <a:xfrm>
            <a:off x="3871722" y="4698566"/>
            <a:ext cx="13159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Sensores</a:t>
            </a:r>
            <a:endParaRPr lang="es-CO" sz="1400" b="1" dirty="0"/>
          </a:p>
        </p:txBody>
      </p:sp>
      <p:sp>
        <p:nvSpPr>
          <p:cNvPr id="29" name="Rectángulo 28"/>
          <p:cNvSpPr/>
          <p:nvPr/>
        </p:nvSpPr>
        <p:spPr>
          <a:xfrm>
            <a:off x="3854577" y="2782914"/>
            <a:ext cx="13159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Actuadores</a:t>
            </a:r>
            <a:endParaRPr lang="es-CO" sz="1400" b="1" dirty="0"/>
          </a:p>
        </p:txBody>
      </p:sp>
      <p:sp>
        <p:nvSpPr>
          <p:cNvPr id="24" name="Rectángulo 23"/>
          <p:cNvSpPr/>
          <p:nvPr/>
        </p:nvSpPr>
        <p:spPr>
          <a:xfrm>
            <a:off x="6364047" y="6411044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31" name="Rectángulo 30"/>
          <p:cNvSpPr/>
          <p:nvPr/>
        </p:nvSpPr>
        <p:spPr>
          <a:xfrm>
            <a:off x="3137241" y="3510883"/>
            <a:ext cx="3008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 smtClean="0">
                <a:solidFill>
                  <a:schemeClr val="accent6">
                    <a:lumMod val="75000"/>
                  </a:schemeClr>
                </a:solidFill>
              </a:rPr>
              <a:t>Ciclo de percepción-acción</a:t>
            </a:r>
            <a:endParaRPr lang="es-CO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9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Resultado de imagen para fin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850" y="2104874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7336536" y="5279143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/>
              <a:t>http://www.poolegroup.com.au/needing-finance-plan-ahead/</a:t>
            </a:r>
            <a:endParaRPr lang="es-CO" sz="1200" dirty="0"/>
          </a:p>
        </p:txBody>
      </p:sp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Aplicaciones de la AI</a:t>
            </a:r>
            <a:endParaRPr lang="es-CO" sz="2400" b="1" dirty="0"/>
          </a:p>
        </p:txBody>
      </p:sp>
      <p:sp>
        <p:nvSpPr>
          <p:cNvPr id="3" name="Forma libre 2"/>
          <p:cNvSpPr/>
          <p:nvPr/>
        </p:nvSpPr>
        <p:spPr>
          <a:xfrm>
            <a:off x="5696712" y="2669018"/>
            <a:ext cx="1725590" cy="2215742"/>
          </a:xfrm>
          <a:custGeom>
            <a:avLst/>
            <a:gdLst>
              <a:gd name="connsiteX0" fmla="*/ 612648 w 1725590"/>
              <a:gd name="connsiteY0" fmla="*/ 341222 h 2215742"/>
              <a:gd name="connsiteX1" fmla="*/ 612648 w 1725590"/>
              <a:gd name="connsiteY1" fmla="*/ 341222 h 2215742"/>
              <a:gd name="connsiteX2" fmla="*/ 521208 w 1725590"/>
              <a:gd name="connsiteY2" fmla="*/ 386942 h 2215742"/>
              <a:gd name="connsiteX3" fmla="*/ 402336 w 1725590"/>
              <a:gd name="connsiteY3" fmla="*/ 478382 h 2215742"/>
              <a:gd name="connsiteX4" fmla="*/ 356616 w 1725590"/>
              <a:gd name="connsiteY4" fmla="*/ 514958 h 2215742"/>
              <a:gd name="connsiteX5" fmla="*/ 301752 w 1725590"/>
              <a:gd name="connsiteY5" fmla="*/ 560678 h 2215742"/>
              <a:gd name="connsiteX6" fmla="*/ 292608 w 1725590"/>
              <a:gd name="connsiteY6" fmla="*/ 990446 h 2215742"/>
              <a:gd name="connsiteX7" fmla="*/ 283464 w 1725590"/>
              <a:gd name="connsiteY7" fmla="*/ 1072742 h 2215742"/>
              <a:gd name="connsiteX8" fmla="*/ 265176 w 1725590"/>
              <a:gd name="connsiteY8" fmla="*/ 1118462 h 2215742"/>
              <a:gd name="connsiteX9" fmla="*/ 192024 w 1725590"/>
              <a:gd name="connsiteY9" fmla="*/ 1246478 h 2215742"/>
              <a:gd name="connsiteX10" fmla="*/ 155448 w 1725590"/>
              <a:gd name="connsiteY10" fmla="*/ 1283054 h 2215742"/>
              <a:gd name="connsiteX11" fmla="*/ 100584 w 1725590"/>
              <a:gd name="connsiteY11" fmla="*/ 1328774 h 2215742"/>
              <a:gd name="connsiteX12" fmla="*/ 82296 w 1725590"/>
              <a:gd name="connsiteY12" fmla="*/ 1356206 h 2215742"/>
              <a:gd name="connsiteX13" fmla="*/ 45720 w 1725590"/>
              <a:gd name="connsiteY13" fmla="*/ 1374494 h 2215742"/>
              <a:gd name="connsiteX14" fmla="*/ 18288 w 1725590"/>
              <a:gd name="connsiteY14" fmla="*/ 1401926 h 2215742"/>
              <a:gd name="connsiteX15" fmla="*/ 0 w 1725590"/>
              <a:gd name="connsiteY15" fmla="*/ 1447646 h 2215742"/>
              <a:gd name="connsiteX16" fmla="*/ 18288 w 1725590"/>
              <a:gd name="connsiteY16" fmla="*/ 1694534 h 2215742"/>
              <a:gd name="connsiteX17" fmla="*/ 45720 w 1725590"/>
              <a:gd name="connsiteY17" fmla="*/ 1749398 h 2215742"/>
              <a:gd name="connsiteX18" fmla="*/ 137160 w 1725590"/>
              <a:gd name="connsiteY18" fmla="*/ 1849982 h 2215742"/>
              <a:gd name="connsiteX19" fmla="*/ 182880 w 1725590"/>
              <a:gd name="connsiteY19" fmla="*/ 1886558 h 2215742"/>
              <a:gd name="connsiteX20" fmla="*/ 228600 w 1725590"/>
              <a:gd name="connsiteY20" fmla="*/ 1932278 h 2215742"/>
              <a:gd name="connsiteX21" fmla="*/ 292608 w 1725590"/>
              <a:gd name="connsiteY21" fmla="*/ 1959710 h 2215742"/>
              <a:gd name="connsiteX22" fmla="*/ 365760 w 1725590"/>
              <a:gd name="connsiteY22" fmla="*/ 1996286 h 2215742"/>
              <a:gd name="connsiteX23" fmla="*/ 484632 w 1725590"/>
              <a:gd name="connsiteY23" fmla="*/ 2069438 h 2215742"/>
              <a:gd name="connsiteX24" fmla="*/ 530352 w 1725590"/>
              <a:gd name="connsiteY24" fmla="*/ 2078582 h 2215742"/>
              <a:gd name="connsiteX25" fmla="*/ 621792 w 1725590"/>
              <a:gd name="connsiteY25" fmla="*/ 2106014 h 2215742"/>
              <a:gd name="connsiteX26" fmla="*/ 722376 w 1725590"/>
              <a:gd name="connsiteY26" fmla="*/ 2133446 h 2215742"/>
              <a:gd name="connsiteX27" fmla="*/ 777240 w 1725590"/>
              <a:gd name="connsiteY27" fmla="*/ 2160878 h 2215742"/>
              <a:gd name="connsiteX28" fmla="*/ 832104 w 1725590"/>
              <a:gd name="connsiteY28" fmla="*/ 2179166 h 2215742"/>
              <a:gd name="connsiteX29" fmla="*/ 960120 w 1725590"/>
              <a:gd name="connsiteY29" fmla="*/ 2215742 h 2215742"/>
              <a:gd name="connsiteX30" fmla="*/ 1508760 w 1725590"/>
              <a:gd name="connsiteY30" fmla="*/ 2170022 h 2215742"/>
              <a:gd name="connsiteX31" fmla="*/ 1691640 w 1725590"/>
              <a:gd name="connsiteY31" fmla="*/ 2069438 h 2215742"/>
              <a:gd name="connsiteX32" fmla="*/ 1682496 w 1725590"/>
              <a:gd name="connsiteY32" fmla="*/ 1822550 h 2215742"/>
              <a:gd name="connsiteX33" fmla="*/ 1655064 w 1725590"/>
              <a:gd name="connsiteY33" fmla="*/ 1776830 h 2215742"/>
              <a:gd name="connsiteX34" fmla="*/ 1581912 w 1725590"/>
              <a:gd name="connsiteY34" fmla="*/ 1676246 h 2215742"/>
              <a:gd name="connsiteX35" fmla="*/ 1554480 w 1725590"/>
              <a:gd name="connsiteY35" fmla="*/ 1630526 h 2215742"/>
              <a:gd name="connsiteX36" fmla="*/ 1499616 w 1725590"/>
              <a:gd name="connsiteY36" fmla="*/ 1575662 h 2215742"/>
              <a:gd name="connsiteX37" fmla="*/ 1463040 w 1725590"/>
              <a:gd name="connsiteY37" fmla="*/ 1529942 h 2215742"/>
              <a:gd name="connsiteX38" fmla="*/ 1453896 w 1725590"/>
              <a:gd name="connsiteY38" fmla="*/ 1502510 h 2215742"/>
              <a:gd name="connsiteX39" fmla="*/ 1444752 w 1725590"/>
              <a:gd name="connsiteY39" fmla="*/ 1456790 h 2215742"/>
              <a:gd name="connsiteX40" fmla="*/ 1426464 w 1725590"/>
              <a:gd name="connsiteY40" fmla="*/ 1429358 h 2215742"/>
              <a:gd name="connsiteX41" fmla="*/ 1435608 w 1725590"/>
              <a:gd name="connsiteY41" fmla="*/ 1209902 h 2215742"/>
              <a:gd name="connsiteX42" fmla="*/ 1463040 w 1725590"/>
              <a:gd name="connsiteY42" fmla="*/ 1155038 h 2215742"/>
              <a:gd name="connsiteX43" fmla="*/ 1481328 w 1725590"/>
              <a:gd name="connsiteY43" fmla="*/ 1072742 h 2215742"/>
              <a:gd name="connsiteX44" fmla="*/ 1490472 w 1725590"/>
              <a:gd name="connsiteY44" fmla="*/ 1036166 h 2215742"/>
              <a:gd name="connsiteX45" fmla="*/ 1508760 w 1725590"/>
              <a:gd name="connsiteY45" fmla="*/ 953870 h 2215742"/>
              <a:gd name="connsiteX46" fmla="*/ 1472184 w 1725590"/>
              <a:gd name="connsiteY46" fmla="*/ 615542 h 2215742"/>
              <a:gd name="connsiteX47" fmla="*/ 1426464 w 1725590"/>
              <a:gd name="connsiteY47" fmla="*/ 560678 h 2215742"/>
              <a:gd name="connsiteX48" fmla="*/ 1371600 w 1725590"/>
              <a:gd name="connsiteY48" fmla="*/ 505814 h 2215742"/>
              <a:gd name="connsiteX49" fmla="*/ 1344168 w 1725590"/>
              <a:gd name="connsiteY49" fmla="*/ 478382 h 2215742"/>
              <a:gd name="connsiteX50" fmla="*/ 1280160 w 1725590"/>
              <a:gd name="connsiteY50" fmla="*/ 441806 h 2215742"/>
              <a:gd name="connsiteX51" fmla="*/ 1243584 w 1725590"/>
              <a:gd name="connsiteY51" fmla="*/ 423518 h 2215742"/>
              <a:gd name="connsiteX52" fmla="*/ 1133856 w 1725590"/>
              <a:gd name="connsiteY52" fmla="*/ 359510 h 2215742"/>
              <a:gd name="connsiteX53" fmla="*/ 1051560 w 1725590"/>
              <a:gd name="connsiteY53" fmla="*/ 341222 h 2215742"/>
              <a:gd name="connsiteX54" fmla="*/ 1033272 w 1725590"/>
              <a:gd name="connsiteY54" fmla="*/ 313790 h 2215742"/>
              <a:gd name="connsiteX55" fmla="*/ 1005840 w 1725590"/>
              <a:gd name="connsiteY55" fmla="*/ 295502 h 2215742"/>
              <a:gd name="connsiteX56" fmla="*/ 978408 w 1725590"/>
              <a:gd name="connsiteY56" fmla="*/ 204062 h 2215742"/>
              <a:gd name="connsiteX57" fmla="*/ 969264 w 1725590"/>
              <a:gd name="connsiteY57" fmla="*/ 21182 h 2215742"/>
              <a:gd name="connsiteX58" fmla="*/ 859536 w 1725590"/>
              <a:gd name="connsiteY58" fmla="*/ 2894 h 2215742"/>
              <a:gd name="connsiteX59" fmla="*/ 630936 w 1725590"/>
              <a:gd name="connsiteY59" fmla="*/ 12038 h 2215742"/>
              <a:gd name="connsiteX60" fmla="*/ 594360 w 1725590"/>
              <a:gd name="connsiteY60" fmla="*/ 21182 h 2215742"/>
              <a:gd name="connsiteX61" fmla="*/ 557784 w 1725590"/>
              <a:gd name="connsiteY61" fmla="*/ 76046 h 2215742"/>
              <a:gd name="connsiteX62" fmla="*/ 548640 w 1725590"/>
              <a:gd name="connsiteY62" fmla="*/ 112622 h 2215742"/>
              <a:gd name="connsiteX63" fmla="*/ 530352 w 1725590"/>
              <a:gd name="connsiteY63" fmla="*/ 149198 h 2215742"/>
              <a:gd name="connsiteX64" fmla="*/ 530352 w 1725590"/>
              <a:gd name="connsiteY64" fmla="*/ 368654 h 2215742"/>
              <a:gd name="connsiteX65" fmla="*/ 612648 w 1725590"/>
              <a:gd name="connsiteY65" fmla="*/ 341222 h 2215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725590" h="2215742">
                <a:moveTo>
                  <a:pt x="612648" y="341222"/>
                </a:moveTo>
                <a:lnTo>
                  <a:pt x="612648" y="341222"/>
                </a:lnTo>
                <a:cubicBezTo>
                  <a:pt x="582168" y="356462"/>
                  <a:pt x="549126" y="367400"/>
                  <a:pt x="521208" y="386942"/>
                </a:cubicBezTo>
                <a:cubicBezTo>
                  <a:pt x="368819" y="493614"/>
                  <a:pt x="481312" y="452057"/>
                  <a:pt x="402336" y="478382"/>
                </a:cubicBezTo>
                <a:cubicBezTo>
                  <a:pt x="387096" y="490574"/>
                  <a:pt x="371304" y="502106"/>
                  <a:pt x="356616" y="514958"/>
                </a:cubicBezTo>
                <a:cubicBezTo>
                  <a:pt x="300291" y="564242"/>
                  <a:pt x="357894" y="523250"/>
                  <a:pt x="301752" y="560678"/>
                </a:cubicBezTo>
                <a:cubicBezTo>
                  <a:pt x="298704" y="703934"/>
                  <a:pt x="297722" y="847249"/>
                  <a:pt x="292608" y="990446"/>
                </a:cubicBezTo>
                <a:cubicBezTo>
                  <a:pt x="291623" y="1018029"/>
                  <a:pt x="289247" y="1045754"/>
                  <a:pt x="283464" y="1072742"/>
                </a:cubicBezTo>
                <a:cubicBezTo>
                  <a:pt x="280025" y="1088792"/>
                  <a:pt x="272054" y="1103559"/>
                  <a:pt x="265176" y="1118462"/>
                </a:cubicBezTo>
                <a:cubicBezTo>
                  <a:pt x="252882" y="1145100"/>
                  <a:pt x="216221" y="1222281"/>
                  <a:pt x="192024" y="1246478"/>
                </a:cubicBezTo>
                <a:cubicBezTo>
                  <a:pt x="179832" y="1258670"/>
                  <a:pt x="166669" y="1269963"/>
                  <a:pt x="155448" y="1283054"/>
                </a:cubicBezTo>
                <a:cubicBezTo>
                  <a:pt x="116674" y="1328290"/>
                  <a:pt x="163020" y="1297556"/>
                  <a:pt x="100584" y="1328774"/>
                </a:cubicBezTo>
                <a:cubicBezTo>
                  <a:pt x="94488" y="1337918"/>
                  <a:pt x="90739" y="1349171"/>
                  <a:pt x="82296" y="1356206"/>
                </a:cubicBezTo>
                <a:cubicBezTo>
                  <a:pt x="71824" y="1364932"/>
                  <a:pt x="56812" y="1366571"/>
                  <a:pt x="45720" y="1374494"/>
                </a:cubicBezTo>
                <a:cubicBezTo>
                  <a:pt x="35197" y="1382010"/>
                  <a:pt x="27432" y="1392782"/>
                  <a:pt x="18288" y="1401926"/>
                </a:cubicBezTo>
                <a:cubicBezTo>
                  <a:pt x="12192" y="1417166"/>
                  <a:pt x="0" y="1431232"/>
                  <a:pt x="0" y="1447646"/>
                </a:cubicBezTo>
                <a:cubicBezTo>
                  <a:pt x="0" y="1530167"/>
                  <a:pt x="5926" y="1612944"/>
                  <a:pt x="18288" y="1694534"/>
                </a:cubicBezTo>
                <a:cubicBezTo>
                  <a:pt x="21351" y="1714750"/>
                  <a:pt x="34743" y="1732148"/>
                  <a:pt x="45720" y="1749398"/>
                </a:cubicBezTo>
                <a:cubicBezTo>
                  <a:pt x="65750" y="1780874"/>
                  <a:pt x="111833" y="1826957"/>
                  <a:pt x="137160" y="1849982"/>
                </a:cubicBezTo>
                <a:cubicBezTo>
                  <a:pt x="151601" y="1863110"/>
                  <a:pt x="168373" y="1873502"/>
                  <a:pt x="182880" y="1886558"/>
                </a:cubicBezTo>
                <a:cubicBezTo>
                  <a:pt x="198900" y="1900976"/>
                  <a:pt x="210667" y="1920323"/>
                  <a:pt x="228600" y="1932278"/>
                </a:cubicBezTo>
                <a:cubicBezTo>
                  <a:pt x="247914" y="1945154"/>
                  <a:pt x="271573" y="1949894"/>
                  <a:pt x="292608" y="1959710"/>
                </a:cubicBezTo>
                <a:cubicBezTo>
                  <a:pt x="317312" y="1971239"/>
                  <a:pt x="342090" y="1982760"/>
                  <a:pt x="365760" y="1996286"/>
                </a:cubicBezTo>
                <a:cubicBezTo>
                  <a:pt x="413096" y="2023335"/>
                  <a:pt x="432817" y="2047848"/>
                  <a:pt x="484632" y="2069438"/>
                </a:cubicBezTo>
                <a:cubicBezTo>
                  <a:pt x="498978" y="2075416"/>
                  <a:pt x="515180" y="2075211"/>
                  <a:pt x="530352" y="2078582"/>
                </a:cubicBezTo>
                <a:cubicBezTo>
                  <a:pt x="607474" y="2095720"/>
                  <a:pt x="521498" y="2078661"/>
                  <a:pt x="621792" y="2106014"/>
                </a:cubicBezTo>
                <a:cubicBezTo>
                  <a:pt x="686576" y="2123682"/>
                  <a:pt x="652568" y="2104359"/>
                  <a:pt x="722376" y="2133446"/>
                </a:cubicBezTo>
                <a:cubicBezTo>
                  <a:pt x="741250" y="2141310"/>
                  <a:pt x="758366" y="2153014"/>
                  <a:pt x="777240" y="2160878"/>
                </a:cubicBezTo>
                <a:cubicBezTo>
                  <a:pt x="795034" y="2168292"/>
                  <a:pt x="813950" y="2172682"/>
                  <a:pt x="832104" y="2179166"/>
                </a:cubicBezTo>
                <a:cubicBezTo>
                  <a:pt x="931101" y="2214522"/>
                  <a:pt x="873527" y="2201310"/>
                  <a:pt x="960120" y="2215742"/>
                </a:cubicBezTo>
                <a:cubicBezTo>
                  <a:pt x="1052843" y="2211879"/>
                  <a:pt x="1355805" y="2228851"/>
                  <a:pt x="1508760" y="2170022"/>
                </a:cubicBezTo>
                <a:cubicBezTo>
                  <a:pt x="1596023" y="2136459"/>
                  <a:pt x="1624912" y="2113923"/>
                  <a:pt x="1691640" y="2069438"/>
                </a:cubicBezTo>
                <a:cubicBezTo>
                  <a:pt x="1748675" y="1983886"/>
                  <a:pt x="1725689" y="2031315"/>
                  <a:pt x="1682496" y="1822550"/>
                </a:cubicBezTo>
                <a:cubicBezTo>
                  <a:pt x="1678895" y="1805146"/>
                  <a:pt x="1665133" y="1791475"/>
                  <a:pt x="1655064" y="1776830"/>
                </a:cubicBezTo>
                <a:cubicBezTo>
                  <a:pt x="1631577" y="1742667"/>
                  <a:pt x="1603242" y="1711795"/>
                  <a:pt x="1581912" y="1676246"/>
                </a:cubicBezTo>
                <a:cubicBezTo>
                  <a:pt x="1572768" y="1661006"/>
                  <a:pt x="1565734" y="1644281"/>
                  <a:pt x="1554480" y="1630526"/>
                </a:cubicBezTo>
                <a:cubicBezTo>
                  <a:pt x="1538102" y="1610509"/>
                  <a:pt x="1515773" y="1595858"/>
                  <a:pt x="1499616" y="1575662"/>
                </a:cubicBezTo>
                <a:lnTo>
                  <a:pt x="1463040" y="1529942"/>
                </a:lnTo>
                <a:cubicBezTo>
                  <a:pt x="1459992" y="1520798"/>
                  <a:pt x="1456234" y="1511861"/>
                  <a:pt x="1453896" y="1502510"/>
                </a:cubicBezTo>
                <a:cubicBezTo>
                  <a:pt x="1450127" y="1487432"/>
                  <a:pt x="1450209" y="1471342"/>
                  <a:pt x="1444752" y="1456790"/>
                </a:cubicBezTo>
                <a:cubicBezTo>
                  <a:pt x="1440893" y="1446500"/>
                  <a:pt x="1432560" y="1438502"/>
                  <a:pt x="1426464" y="1429358"/>
                </a:cubicBezTo>
                <a:cubicBezTo>
                  <a:pt x="1429512" y="1356206"/>
                  <a:pt x="1425932" y="1282475"/>
                  <a:pt x="1435608" y="1209902"/>
                </a:cubicBezTo>
                <a:cubicBezTo>
                  <a:pt x="1438310" y="1189635"/>
                  <a:pt x="1455446" y="1174022"/>
                  <a:pt x="1463040" y="1155038"/>
                </a:cubicBezTo>
                <a:cubicBezTo>
                  <a:pt x="1468615" y="1141100"/>
                  <a:pt x="1478795" y="1084142"/>
                  <a:pt x="1481328" y="1072742"/>
                </a:cubicBezTo>
                <a:cubicBezTo>
                  <a:pt x="1484054" y="1060474"/>
                  <a:pt x="1487746" y="1048434"/>
                  <a:pt x="1490472" y="1036166"/>
                </a:cubicBezTo>
                <a:cubicBezTo>
                  <a:pt x="1513689" y="931688"/>
                  <a:pt x="1486460" y="1043071"/>
                  <a:pt x="1508760" y="953870"/>
                </a:cubicBezTo>
                <a:cubicBezTo>
                  <a:pt x="1496568" y="841094"/>
                  <a:pt x="1488609" y="727780"/>
                  <a:pt x="1472184" y="615542"/>
                </a:cubicBezTo>
                <a:cubicBezTo>
                  <a:pt x="1466049" y="573621"/>
                  <a:pt x="1451477" y="582912"/>
                  <a:pt x="1426464" y="560678"/>
                </a:cubicBezTo>
                <a:cubicBezTo>
                  <a:pt x="1407134" y="543495"/>
                  <a:pt x="1389888" y="524102"/>
                  <a:pt x="1371600" y="505814"/>
                </a:cubicBezTo>
                <a:cubicBezTo>
                  <a:pt x="1362456" y="496670"/>
                  <a:pt x="1355396" y="484798"/>
                  <a:pt x="1344168" y="478382"/>
                </a:cubicBezTo>
                <a:cubicBezTo>
                  <a:pt x="1322832" y="466190"/>
                  <a:pt x="1301733" y="453573"/>
                  <a:pt x="1280160" y="441806"/>
                </a:cubicBezTo>
                <a:cubicBezTo>
                  <a:pt x="1268193" y="435279"/>
                  <a:pt x="1255143" y="430742"/>
                  <a:pt x="1243584" y="423518"/>
                </a:cubicBezTo>
                <a:cubicBezTo>
                  <a:pt x="1204557" y="399126"/>
                  <a:pt x="1186009" y="368202"/>
                  <a:pt x="1133856" y="359510"/>
                </a:cubicBezTo>
                <a:cubicBezTo>
                  <a:pt x="1069485" y="348781"/>
                  <a:pt x="1096581" y="356229"/>
                  <a:pt x="1051560" y="341222"/>
                </a:cubicBezTo>
                <a:cubicBezTo>
                  <a:pt x="1045464" y="332078"/>
                  <a:pt x="1041043" y="321561"/>
                  <a:pt x="1033272" y="313790"/>
                </a:cubicBezTo>
                <a:cubicBezTo>
                  <a:pt x="1025501" y="306019"/>
                  <a:pt x="1011665" y="304821"/>
                  <a:pt x="1005840" y="295502"/>
                </a:cubicBezTo>
                <a:cubicBezTo>
                  <a:pt x="996564" y="280661"/>
                  <a:pt x="983761" y="225476"/>
                  <a:pt x="978408" y="204062"/>
                </a:cubicBezTo>
                <a:cubicBezTo>
                  <a:pt x="975360" y="143102"/>
                  <a:pt x="1000315" y="73730"/>
                  <a:pt x="969264" y="21182"/>
                </a:cubicBezTo>
                <a:cubicBezTo>
                  <a:pt x="950400" y="-10742"/>
                  <a:pt x="859536" y="2894"/>
                  <a:pt x="859536" y="2894"/>
                </a:cubicBezTo>
                <a:cubicBezTo>
                  <a:pt x="783336" y="5942"/>
                  <a:pt x="707016" y="6791"/>
                  <a:pt x="630936" y="12038"/>
                </a:cubicBezTo>
                <a:cubicBezTo>
                  <a:pt x="618399" y="12903"/>
                  <a:pt x="603818" y="12906"/>
                  <a:pt x="594360" y="21182"/>
                </a:cubicBezTo>
                <a:cubicBezTo>
                  <a:pt x="577819" y="35656"/>
                  <a:pt x="557784" y="76046"/>
                  <a:pt x="557784" y="76046"/>
                </a:cubicBezTo>
                <a:cubicBezTo>
                  <a:pt x="554736" y="88238"/>
                  <a:pt x="553053" y="100855"/>
                  <a:pt x="548640" y="112622"/>
                </a:cubicBezTo>
                <a:cubicBezTo>
                  <a:pt x="543854" y="125385"/>
                  <a:pt x="531323" y="135602"/>
                  <a:pt x="530352" y="149198"/>
                </a:cubicBezTo>
                <a:cubicBezTo>
                  <a:pt x="525140" y="222164"/>
                  <a:pt x="530352" y="295502"/>
                  <a:pt x="530352" y="368654"/>
                </a:cubicBezTo>
                <a:lnTo>
                  <a:pt x="612648" y="341222"/>
                </a:lnTo>
                <a:close/>
              </a:path>
            </a:pathLst>
          </a:cu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5843322" y="3464102"/>
            <a:ext cx="13159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 smtClean="0"/>
              <a:t>Bolsa,</a:t>
            </a:r>
          </a:p>
          <a:p>
            <a:pPr algn="ctr"/>
            <a:r>
              <a:rPr lang="es-CO" sz="1600" dirty="0" smtClean="0"/>
              <a:t>Productos Básicos, etc.</a:t>
            </a:r>
            <a:endParaRPr lang="es-CO" sz="1600" dirty="0"/>
          </a:p>
        </p:txBody>
      </p:sp>
      <p:sp>
        <p:nvSpPr>
          <p:cNvPr id="4" name="Rectángulo 3"/>
          <p:cNvSpPr/>
          <p:nvPr/>
        </p:nvSpPr>
        <p:spPr>
          <a:xfrm>
            <a:off x="1749437" y="3072384"/>
            <a:ext cx="1578979" cy="14356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 21"/>
          <p:cNvSpPr/>
          <p:nvPr/>
        </p:nvSpPr>
        <p:spPr>
          <a:xfrm>
            <a:off x="1373262" y="2673468"/>
            <a:ext cx="2331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i="1" dirty="0" smtClean="0"/>
              <a:t>Agente comercial</a:t>
            </a:r>
            <a:endParaRPr lang="es-CO" sz="2000" i="1" dirty="0"/>
          </a:p>
        </p:txBody>
      </p:sp>
      <p:sp>
        <p:nvSpPr>
          <p:cNvPr id="23" name="Flecha doblada 22"/>
          <p:cNvSpPr/>
          <p:nvPr/>
        </p:nvSpPr>
        <p:spPr>
          <a:xfrm rot="12131240">
            <a:off x="3644304" y="4266260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6" name="Flecha doblada 25"/>
          <p:cNvSpPr/>
          <p:nvPr/>
        </p:nvSpPr>
        <p:spPr>
          <a:xfrm rot="1668952">
            <a:off x="3771905" y="2253829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1749437" y="3331442"/>
            <a:ext cx="15374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Toma decisiones basándose en AI</a:t>
            </a:r>
            <a:endParaRPr lang="es-CO" sz="1400" dirty="0"/>
          </a:p>
        </p:txBody>
      </p:sp>
      <p:sp>
        <p:nvSpPr>
          <p:cNvPr id="28" name="Rectángulo 27"/>
          <p:cNvSpPr/>
          <p:nvPr/>
        </p:nvSpPr>
        <p:spPr>
          <a:xfrm>
            <a:off x="4640165" y="4942982"/>
            <a:ext cx="1315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Tarifas y/o noticias</a:t>
            </a:r>
            <a:endParaRPr lang="es-CO" sz="1400" b="1" dirty="0"/>
          </a:p>
        </p:txBody>
      </p:sp>
      <p:sp>
        <p:nvSpPr>
          <p:cNvPr id="29" name="Rectángulo 28"/>
          <p:cNvSpPr/>
          <p:nvPr/>
        </p:nvSpPr>
        <p:spPr>
          <a:xfrm>
            <a:off x="3854577" y="2782914"/>
            <a:ext cx="13159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Negocios</a:t>
            </a:r>
            <a:endParaRPr lang="es-CO" sz="1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2406518" y="5403464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Finanzas</a:t>
            </a:r>
            <a:endParaRPr lang="es-CO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390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robo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366" y="2394775"/>
            <a:ext cx="4960867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7193131" y="5153178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https://www.juguetronica.com/robot-maze-breaker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Aplicaciones de la AI</a:t>
            </a:r>
            <a:endParaRPr lang="es-CO" sz="2400" b="1" dirty="0"/>
          </a:p>
        </p:txBody>
      </p:sp>
      <p:sp>
        <p:nvSpPr>
          <p:cNvPr id="3" name="Forma libre 2"/>
          <p:cNvSpPr/>
          <p:nvPr/>
        </p:nvSpPr>
        <p:spPr>
          <a:xfrm>
            <a:off x="5696712" y="2669018"/>
            <a:ext cx="1725590" cy="2215742"/>
          </a:xfrm>
          <a:custGeom>
            <a:avLst/>
            <a:gdLst>
              <a:gd name="connsiteX0" fmla="*/ 612648 w 1725590"/>
              <a:gd name="connsiteY0" fmla="*/ 341222 h 2215742"/>
              <a:gd name="connsiteX1" fmla="*/ 612648 w 1725590"/>
              <a:gd name="connsiteY1" fmla="*/ 341222 h 2215742"/>
              <a:gd name="connsiteX2" fmla="*/ 521208 w 1725590"/>
              <a:gd name="connsiteY2" fmla="*/ 386942 h 2215742"/>
              <a:gd name="connsiteX3" fmla="*/ 402336 w 1725590"/>
              <a:gd name="connsiteY3" fmla="*/ 478382 h 2215742"/>
              <a:gd name="connsiteX4" fmla="*/ 356616 w 1725590"/>
              <a:gd name="connsiteY4" fmla="*/ 514958 h 2215742"/>
              <a:gd name="connsiteX5" fmla="*/ 301752 w 1725590"/>
              <a:gd name="connsiteY5" fmla="*/ 560678 h 2215742"/>
              <a:gd name="connsiteX6" fmla="*/ 292608 w 1725590"/>
              <a:gd name="connsiteY6" fmla="*/ 990446 h 2215742"/>
              <a:gd name="connsiteX7" fmla="*/ 283464 w 1725590"/>
              <a:gd name="connsiteY7" fmla="*/ 1072742 h 2215742"/>
              <a:gd name="connsiteX8" fmla="*/ 265176 w 1725590"/>
              <a:gd name="connsiteY8" fmla="*/ 1118462 h 2215742"/>
              <a:gd name="connsiteX9" fmla="*/ 192024 w 1725590"/>
              <a:gd name="connsiteY9" fmla="*/ 1246478 h 2215742"/>
              <a:gd name="connsiteX10" fmla="*/ 155448 w 1725590"/>
              <a:gd name="connsiteY10" fmla="*/ 1283054 h 2215742"/>
              <a:gd name="connsiteX11" fmla="*/ 100584 w 1725590"/>
              <a:gd name="connsiteY11" fmla="*/ 1328774 h 2215742"/>
              <a:gd name="connsiteX12" fmla="*/ 82296 w 1725590"/>
              <a:gd name="connsiteY12" fmla="*/ 1356206 h 2215742"/>
              <a:gd name="connsiteX13" fmla="*/ 45720 w 1725590"/>
              <a:gd name="connsiteY13" fmla="*/ 1374494 h 2215742"/>
              <a:gd name="connsiteX14" fmla="*/ 18288 w 1725590"/>
              <a:gd name="connsiteY14" fmla="*/ 1401926 h 2215742"/>
              <a:gd name="connsiteX15" fmla="*/ 0 w 1725590"/>
              <a:gd name="connsiteY15" fmla="*/ 1447646 h 2215742"/>
              <a:gd name="connsiteX16" fmla="*/ 18288 w 1725590"/>
              <a:gd name="connsiteY16" fmla="*/ 1694534 h 2215742"/>
              <a:gd name="connsiteX17" fmla="*/ 45720 w 1725590"/>
              <a:gd name="connsiteY17" fmla="*/ 1749398 h 2215742"/>
              <a:gd name="connsiteX18" fmla="*/ 137160 w 1725590"/>
              <a:gd name="connsiteY18" fmla="*/ 1849982 h 2215742"/>
              <a:gd name="connsiteX19" fmla="*/ 182880 w 1725590"/>
              <a:gd name="connsiteY19" fmla="*/ 1886558 h 2215742"/>
              <a:gd name="connsiteX20" fmla="*/ 228600 w 1725590"/>
              <a:gd name="connsiteY20" fmla="*/ 1932278 h 2215742"/>
              <a:gd name="connsiteX21" fmla="*/ 292608 w 1725590"/>
              <a:gd name="connsiteY21" fmla="*/ 1959710 h 2215742"/>
              <a:gd name="connsiteX22" fmla="*/ 365760 w 1725590"/>
              <a:gd name="connsiteY22" fmla="*/ 1996286 h 2215742"/>
              <a:gd name="connsiteX23" fmla="*/ 484632 w 1725590"/>
              <a:gd name="connsiteY23" fmla="*/ 2069438 h 2215742"/>
              <a:gd name="connsiteX24" fmla="*/ 530352 w 1725590"/>
              <a:gd name="connsiteY24" fmla="*/ 2078582 h 2215742"/>
              <a:gd name="connsiteX25" fmla="*/ 621792 w 1725590"/>
              <a:gd name="connsiteY25" fmla="*/ 2106014 h 2215742"/>
              <a:gd name="connsiteX26" fmla="*/ 722376 w 1725590"/>
              <a:gd name="connsiteY26" fmla="*/ 2133446 h 2215742"/>
              <a:gd name="connsiteX27" fmla="*/ 777240 w 1725590"/>
              <a:gd name="connsiteY27" fmla="*/ 2160878 h 2215742"/>
              <a:gd name="connsiteX28" fmla="*/ 832104 w 1725590"/>
              <a:gd name="connsiteY28" fmla="*/ 2179166 h 2215742"/>
              <a:gd name="connsiteX29" fmla="*/ 960120 w 1725590"/>
              <a:gd name="connsiteY29" fmla="*/ 2215742 h 2215742"/>
              <a:gd name="connsiteX30" fmla="*/ 1508760 w 1725590"/>
              <a:gd name="connsiteY30" fmla="*/ 2170022 h 2215742"/>
              <a:gd name="connsiteX31" fmla="*/ 1691640 w 1725590"/>
              <a:gd name="connsiteY31" fmla="*/ 2069438 h 2215742"/>
              <a:gd name="connsiteX32" fmla="*/ 1682496 w 1725590"/>
              <a:gd name="connsiteY32" fmla="*/ 1822550 h 2215742"/>
              <a:gd name="connsiteX33" fmla="*/ 1655064 w 1725590"/>
              <a:gd name="connsiteY33" fmla="*/ 1776830 h 2215742"/>
              <a:gd name="connsiteX34" fmla="*/ 1581912 w 1725590"/>
              <a:gd name="connsiteY34" fmla="*/ 1676246 h 2215742"/>
              <a:gd name="connsiteX35" fmla="*/ 1554480 w 1725590"/>
              <a:gd name="connsiteY35" fmla="*/ 1630526 h 2215742"/>
              <a:gd name="connsiteX36" fmla="*/ 1499616 w 1725590"/>
              <a:gd name="connsiteY36" fmla="*/ 1575662 h 2215742"/>
              <a:gd name="connsiteX37" fmla="*/ 1463040 w 1725590"/>
              <a:gd name="connsiteY37" fmla="*/ 1529942 h 2215742"/>
              <a:gd name="connsiteX38" fmla="*/ 1453896 w 1725590"/>
              <a:gd name="connsiteY38" fmla="*/ 1502510 h 2215742"/>
              <a:gd name="connsiteX39" fmla="*/ 1444752 w 1725590"/>
              <a:gd name="connsiteY39" fmla="*/ 1456790 h 2215742"/>
              <a:gd name="connsiteX40" fmla="*/ 1426464 w 1725590"/>
              <a:gd name="connsiteY40" fmla="*/ 1429358 h 2215742"/>
              <a:gd name="connsiteX41" fmla="*/ 1435608 w 1725590"/>
              <a:gd name="connsiteY41" fmla="*/ 1209902 h 2215742"/>
              <a:gd name="connsiteX42" fmla="*/ 1463040 w 1725590"/>
              <a:gd name="connsiteY42" fmla="*/ 1155038 h 2215742"/>
              <a:gd name="connsiteX43" fmla="*/ 1481328 w 1725590"/>
              <a:gd name="connsiteY43" fmla="*/ 1072742 h 2215742"/>
              <a:gd name="connsiteX44" fmla="*/ 1490472 w 1725590"/>
              <a:gd name="connsiteY44" fmla="*/ 1036166 h 2215742"/>
              <a:gd name="connsiteX45" fmla="*/ 1508760 w 1725590"/>
              <a:gd name="connsiteY45" fmla="*/ 953870 h 2215742"/>
              <a:gd name="connsiteX46" fmla="*/ 1472184 w 1725590"/>
              <a:gd name="connsiteY46" fmla="*/ 615542 h 2215742"/>
              <a:gd name="connsiteX47" fmla="*/ 1426464 w 1725590"/>
              <a:gd name="connsiteY47" fmla="*/ 560678 h 2215742"/>
              <a:gd name="connsiteX48" fmla="*/ 1371600 w 1725590"/>
              <a:gd name="connsiteY48" fmla="*/ 505814 h 2215742"/>
              <a:gd name="connsiteX49" fmla="*/ 1344168 w 1725590"/>
              <a:gd name="connsiteY49" fmla="*/ 478382 h 2215742"/>
              <a:gd name="connsiteX50" fmla="*/ 1280160 w 1725590"/>
              <a:gd name="connsiteY50" fmla="*/ 441806 h 2215742"/>
              <a:gd name="connsiteX51" fmla="*/ 1243584 w 1725590"/>
              <a:gd name="connsiteY51" fmla="*/ 423518 h 2215742"/>
              <a:gd name="connsiteX52" fmla="*/ 1133856 w 1725590"/>
              <a:gd name="connsiteY52" fmla="*/ 359510 h 2215742"/>
              <a:gd name="connsiteX53" fmla="*/ 1051560 w 1725590"/>
              <a:gd name="connsiteY53" fmla="*/ 341222 h 2215742"/>
              <a:gd name="connsiteX54" fmla="*/ 1033272 w 1725590"/>
              <a:gd name="connsiteY54" fmla="*/ 313790 h 2215742"/>
              <a:gd name="connsiteX55" fmla="*/ 1005840 w 1725590"/>
              <a:gd name="connsiteY55" fmla="*/ 295502 h 2215742"/>
              <a:gd name="connsiteX56" fmla="*/ 978408 w 1725590"/>
              <a:gd name="connsiteY56" fmla="*/ 204062 h 2215742"/>
              <a:gd name="connsiteX57" fmla="*/ 969264 w 1725590"/>
              <a:gd name="connsiteY57" fmla="*/ 21182 h 2215742"/>
              <a:gd name="connsiteX58" fmla="*/ 859536 w 1725590"/>
              <a:gd name="connsiteY58" fmla="*/ 2894 h 2215742"/>
              <a:gd name="connsiteX59" fmla="*/ 630936 w 1725590"/>
              <a:gd name="connsiteY59" fmla="*/ 12038 h 2215742"/>
              <a:gd name="connsiteX60" fmla="*/ 594360 w 1725590"/>
              <a:gd name="connsiteY60" fmla="*/ 21182 h 2215742"/>
              <a:gd name="connsiteX61" fmla="*/ 557784 w 1725590"/>
              <a:gd name="connsiteY61" fmla="*/ 76046 h 2215742"/>
              <a:gd name="connsiteX62" fmla="*/ 548640 w 1725590"/>
              <a:gd name="connsiteY62" fmla="*/ 112622 h 2215742"/>
              <a:gd name="connsiteX63" fmla="*/ 530352 w 1725590"/>
              <a:gd name="connsiteY63" fmla="*/ 149198 h 2215742"/>
              <a:gd name="connsiteX64" fmla="*/ 530352 w 1725590"/>
              <a:gd name="connsiteY64" fmla="*/ 368654 h 2215742"/>
              <a:gd name="connsiteX65" fmla="*/ 612648 w 1725590"/>
              <a:gd name="connsiteY65" fmla="*/ 341222 h 2215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725590" h="2215742">
                <a:moveTo>
                  <a:pt x="612648" y="341222"/>
                </a:moveTo>
                <a:lnTo>
                  <a:pt x="612648" y="341222"/>
                </a:lnTo>
                <a:cubicBezTo>
                  <a:pt x="582168" y="356462"/>
                  <a:pt x="549126" y="367400"/>
                  <a:pt x="521208" y="386942"/>
                </a:cubicBezTo>
                <a:cubicBezTo>
                  <a:pt x="368819" y="493614"/>
                  <a:pt x="481312" y="452057"/>
                  <a:pt x="402336" y="478382"/>
                </a:cubicBezTo>
                <a:cubicBezTo>
                  <a:pt x="387096" y="490574"/>
                  <a:pt x="371304" y="502106"/>
                  <a:pt x="356616" y="514958"/>
                </a:cubicBezTo>
                <a:cubicBezTo>
                  <a:pt x="300291" y="564242"/>
                  <a:pt x="357894" y="523250"/>
                  <a:pt x="301752" y="560678"/>
                </a:cubicBezTo>
                <a:cubicBezTo>
                  <a:pt x="298704" y="703934"/>
                  <a:pt x="297722" y="847249"/>
                  <a:pt x="292608" y="990446"/>
                </a:cubicBezTo>
                <a:cubicBezTo>
                  <a:pt x="291623" y="1018029"/>
                  <a:pt x="289247" y="1045754"/>
                  <a:pt x="283464" y="1072742"/>
                </a:cubicBezTo>
                <a:cubicBezTo>
                  <a:pt x="280025" y="1088792"/>
                  <a:pt x="272054" y="1103559"/>
                  <a:pt x="265176" y="1118462"/>
                </a:cubicBezTo>
                <a:cubicBezTo>
                  <a:pt x="252882" y="1145100"/>
                  <a:pt x="216221" y="1222281"/>
                  <a:pt x="192024" y="1246478"/>
                </a:cubicBezTo>
                <a:cubicBezTo>
                  <a:pt x="179832" y="1258670"/>
                  <a:pt x="166669" y="1269963"/>
                  <a:pt x="155448" y="1283054"/>
                </a:cubicBezTo>
                <a:cubicBezTo>
                  <a:pt x="116674" y="1328290"/>
                  <a:pt x="163020" y="1297556"/>
                  <a:pt x="100584" y="1328774"/>
                </a:cubicBezTo>
                <a:cubicBezTo>
                  <a:pt x="94488" y="1337918"/>
                  <a:pt x="90739" y="1349171"/>
                  <a:pt x="82296" y="1356206"/>
                </a:cubicBezTo>
                <a:cubicBezTo>
                  <a:pt x="71824" y="1364932"/>
                  <a:pt x="56812" y="1366571"/>
                  <a:pt x="45720" y="1374494"/>
                </a:cubicBezTo>
                <a:cubicBezTo>
                  <a:pt x="35197" y="1382010"/>
                  <a:pt x="27432" y="1392782"/>
                  <a:pt x="18288" y="1401926"/>
                </a:cubicBezTo>
                <a:cubicBezTo>
                  <a:pt x="12192" y="1417166"/>
                  <a:pt x="0" y="1431232"/>
                  <a:pt x="0" y="1447646"/>
                </a:cubicBezTo>
                <a:cubicBezTo>
                  <a:pt x="0" y="1530167"/>
                  <a:pt x="5926" y="1612944"/>
                  <a:pt x="18288" y="1694534"/>
                </a:cubicBezTo>
                <a:cubicBezTo>
                  <a:pt x="21351" y="1714750"/>
                  <a:pt x="34743" y="1732148"/>
                  <a:pt x="45720" y="1749398"/>
                </a:cubicBezTo>
                <a:cubicBezTo>
                  <a:pt x="65750" y="1780874"/>
                  <a:pt x="111833" y="1826957"/>
                  <a:pt x="137160" y="1849982"/>
                </a:cubicBezTo>
                <a:cubicBezTo>
                  <a:pt x="151601" y="1863110"/>
                  <a:pt x="168373" y="1873502"/>
                  <a:pt x="182880" y="1886558"/>
                </a:cubicBezTo>
                <a:cubicBezTo>
                  <a:pt x="198900" y="1900976"/>
                  <a:pt x="210667" y="1920323"/>
                  <a:pt x="228600" y="1932278"/>
                </a:cubicBezTo>
                <a:cubicBezTo>
                  <a:pt x="247914" y="1945154"/>
                  <a:pt x="271573" y="1949894"/>
                  <a:pt x="292608" y="1959710"/>
                </a:cubicBezTo>
                <a:cubicBezTo>
                  <a:pt x="317312" y="1971239"/>
                  <a:pt x="342090" y="1982760"/>
                  <a:pt x="365760" y="1996286"/>
                </a:cubicBezTo>
                <a:cubicBezTo>
                  <a:pt x="413096" y="2023335"/>
                  <a:pt x="432817" y="2047848"/>
                  <a:pt x="484632" y="2069438"/>
                </a:cubicBezTo>
                <a:cubicBezTo>
                  <a:pt x="498978" y="2075416"/>
                  <a:pt x="515180" y="2075211"/>
                  <a:pt x="530352" y="2078582"/>
                </a:cubicBezTo>
                <a:cubicBezTo>
                  <a:pt x="607474" y="2095720"/>
                  <a:pt x="521498" y="2078661"/>
                  <a:pt x="621792" y="2106014"/>
                </a:cubicBezTo>
                <a:cubicBezTo>
                  <a:pt x="686576" y="2123682"/>
                  <a:pt x="652568" y="2104359"/>
                  <a:pt x="722376" y="2133446"/>
                </a:cubicBezTo>
                <a:cubicBezTo>
                  <a:pt x="741250" y="2141310"/>
                  <a:pt x="758366" y="2153014"/>
                  <a:pt x="777240" y="2160878"/>
                </a:cubicBezTo>
                <a:cubicBezTo>
                  <a:pt x="795034" y="2168292"/>
                  <a:pt x="813950" y="2172682"/>
                  <a:pt x="832104" y="2179166"/>
                </a:cubicBezTo>
                <a:cubicBezTo>
                  <a:pt x="931101" y="2214522"/>
                  <a:pt x="873527" y="2201310"/>
                  <a:pt x="960120" y="2215742"/>
                </a:cubicBezTo>
                <a:cubicBezTo>
                  <a:pt x="1052843" y="2211879"/>
                  <a:pt x="1355805" y="2228851"/>
                  <a:pt x="1508760" y="2170022"/>
                </a:cubicBezTo>
                <a:cubicBezTo>
                  <a:pt x="1596023" y="2136459"/>
                  <a:pt x="1624912" y="2113923"/>
                  <a:pt x="1691640" y="2069438"/>
                </a:cubicBezTo>
                <a:cubicBezTo>
                  <a:pt x="1748675" y="1983886"/>
                  <a:pt x="1725689" y="2031315"/>
                  <a:pt x="1682496" y="1822550"/>
                </a:cubicBezTo>
                <a:cubicBezTo>
                  <a:pt x="1678895" y="1805146"/>
                  <a:pt x="1665133" y="1791475"/>
                  <a:pt x="1655064" y="1776830"/>
                </a:cubicBezTo>
                <a:cubicBezTo>
                  <a:pt x="1631577" y="1742667"/>
                  <a:pt x="1603242" y="1711795"/>
                  <a:pt x="1581912" y="1676246"/>
                </a:cubicBezTo>
                <a:cubicBezTo>
                  <a:pt x="1572768" y="1661006"/>
                  <a:pt x="1565734" y="1644281"/>
                  <a:pt x="1554480" y="1630526"/>
                </a:cubicBezTo>
                <a:cubicBezTo>
                  <a:pt x="1538102" y="1610509"/>
                  <a:pt x="1515773" y="1595858"/>
                  <a:pt x="1499616" y="1575662"/>
                </a:cubicBezTo>
                <a:lnTo>
                  <a:pt x="1463040" y="1529942"/>
                </a:lnTo>
                <a:cubicBezTo>
                  <a:pt x="1459992" y="1520798"/>
                  <a:pt x="1456234" y="1511861"/>
                  <a:pt x="1453896" y="1502510"/>
                </a:cubicBezTo>
                <a:cubicBezTo>
                  <a:pt x="1450127" y="1487432"/>
                  <a:pt x="1450209" y="1471342"/>
                  <a:pt x="1444752" y="1456790"/>
                </a:cubicBezTo>
                <a:cubicBezTo>
                  <a:pt x="1440893" y="1446500"/>
                  <a:pt x="1432560" y="1438502"/>
                  <a:pt x="1426464" y="1429358"/>
                </a:cubicBezTo>
                <a:cubicBezTo>
                  <a:pt x="1429512" y="1356206"/>
                  <a:pt x="1425932" y="1282475"/>
                  <a:pt x="1435608" y="1209902"/>
                </a:cubicBezTo>
                <a:cubicBezTo>
                  <a:pt x="1438310" y="1189635"/>
                  <a:pt x="1455446" y="1174022"/>
                  <a:pt x="1463040" y="1155038"/>
                </a:cubicBezTo>
                <a:cubicBezTo>
                  <a:pt x="1468615" y="1141100"/>
                  <a:pt x="1478795" y="1084142"/>
                  <a:pt x="1481328" y="1072742"/>
                </a:cubicBezTo>
                <a:cubicBezTo>
                  <a:pt x="1484054" y="1060474"/>
                  <a:pt x="1487746" y="1048434"/>
                  <a:pt x="1490472" y="1036166"/>
                </a:cubicBezTo>
                <a:cubicBezTo>
                  <a:pt x="1513689" y="931688"/>
                  <a:pt x="1486460" y="1043071"/>
                  <a:pt x="1508760" y="953870"/>
                </a:cubicBezTo>
                <a:cubicBezTo>
                  <a:pt x="1496568" y="841094"/>
                  <a:pt x="1488609" y="727780"/>
                  <a:pt x="1472184" y="615542"/>
                </a:cubicBezTo>
                <a:cubicBezTo>
                  <a:pt x="1466049" y="573621"/>
                  <a:pt x="1451477" y="582912"/>
                  <a:pt x="1426464" y="560678"/>
                </a:cubicBezTo>
                <a:cubicBezTo>
                  <a:pt x="1407134" y="543495"/>
                  <a:pt x="1389888" y="524102"/>
                  <a:pt x="1371600" y="505814"/>
                </a:cubicBezTo>
                <a:cubicBezTo>
                  <a:pt x="1362456" y="496670"/>
                  <a:pt x="1355396" y="484798"/>
                  <a:pt x="1344168" y="478382"/>
                </a:cubicBezTo>
                <a:cubicBezTo>
                  <a:pt x="1322832" y="466190"/>
                  <a:pt x="1301733" y="453573"/>
                  <a:pt x="1280160" y="441806"/>
                </a:cubicBezTo>
                <a:cubicBezTo>
                  <a:pt x="1268193" y="435279"/>
                  <a:pt x="1255143" y="430742"/>
                  <a:pt x="1243584" y="423518"/>
                </a:cubicBezTo>
                <a:cubicBezTo>
                  <a:pt x="1204557" y="399126"/>
                  <a:pt x="1186009" y="368202"/>
                  <a:pt x="1133856" y="359510"/>
                </a:cubicBezTo>
                <a:cubicBezTo>
                  <a:pt x="1069485" y="348781"/>
                  <a:pt x="1096581" y="356229"/>
                  <a:pt x="1051560" y="341222"/>
                </a:cubicBezTo>
                <a:cubicBezTo>
                  <a:pt x="1045464" y="332078"/>
                  <a:pt x="1041043" y="321561"/>
                  <a:pt x="1033272" y="313790"/>
                </a:cubicBezTo>
                <a:cubicBezTo>
                  <a:pt x="1025501" y="306019"/>
                  <a:pt x="1011665" y="304821"/>
                  <a:pt x="1005840" y="295502"/>
                </a:cubicBezTo>
                <a:cubicBezTo>
                  <a:pt x="996564" y="280661"/>
                  <a:pt x="983761" y="225476"/>
                  <a:pt x="978408" y="204062"/>
                </a:cubicBezTo>
                <a:cubicBezTo>
                  <a:pt x="975360" y="143102"/>
                  <a:pt x="1000315" y="73730"/>
                  <a:pt x="969264" y="21182"/>
                </a:cubicBezTo>
                <a:cubicBezTo>
                  <a:pt x="950400" y="-10742"/>
                  <a:pt x="859536" y="2894"/>
                  <a:pt x="859536" y="2894"/>
                </a:cubicBezTo>
                <a:cubicBezTo>
                  <a:pt x="783336" y="5942"/>
                  <a:pt x="707016" y="6791"/>
                  <a:pt x="630936" y="12038"/>
                </a:cubicBezTo>
                <a:cubicBezTo>
                  <a:pt x="618399" y="12903"/>
                  <a:pt x="603818" y="12906"/>
                  <a:pt x="594360" y="21182"/>
                </a:cubicBezTo>
                <a:cubicBezTo>
                  <a:pt x="577819" y="35656"/>
                  <a:pt x="557784" y="76046"/>
                  <a:pt x="557784" y="76046"/>
                </a:cubicBezTo>
                <a:cubicBezTo>
                  <a:pt x="554736" y="88238"/>
                  <a:pt x="553053" y="100855"/>
                  <a:pt x="548640" y="112622"/>
                </a:cubicBezTo>
                <a:cubicBezTo>
                  <a:pt x="543854" y="125385"/>
                  <a:pt x="531323" y="135602"/>
                  <a:pt x="530352" y="149198"/>
                </a:cubicBezTo>
                <a:cubicBezTo>
                  <a:pt x="525140" y="222164"/>
                  <a:pt x="530352" y="295502"/>
                  <a:pt x="530352" y="368654"/>
                </a:cubicBezTo>
                <a:lnTo>
                  <a:pt x="612648" y="341222"/>
                </a:lnTo>
                <a:close/>
              </a:path>
            </a:pathLst>
          </a:cu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5843322" y="3464102"/>
            <a:ext cx="13159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 smtClean="0"/>
              <a:t>Ambiente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749437" y="3072384"/>
            <a:ext cx="1578979" cy="14356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 21"/>
          <p:cNvSpPr/>
          <p:nvPr/>
        </p:nvSpPr>
        <p:spPr>
          <a:xfrm>
            <a:off x="1373262" y="2673468"/>
            <a:ext cx="2331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i="1" dirty="0" smtClean="0"/>
              <a:t>Robot</a:t>
            </a:r>
            <a:endParaRPr lang="es-CO" sz="2000" i="1" dirty="0"/>
          </a:p>
        </p:txBody>
      </p:sp>
      <p:sp>
        <p:nvSpPr>
          <p:cNvPr id="23" name="Flecha doblada 22"/>
          <p:cNvSpPr/>
          <p:nvPr/>
        </p:nvSpPr>
        <p:spPr>
          <a:xfrm rot="12131240">
            <a:off x="3644304" y="4266260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6" name="Flecha doblada 25"/>
          <p:cNvSpPr/>
          <p:nvPr/>
        </p:nvSpPr>
        <p:spPr>
          <a:xfrm rot="1668952">
            <a:off x="3771905" y="2253829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1749437" y="3331442"/>
            <a:ext cx="15374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Toma decisiones basándose en AI</a:t>
            </a:r>
            <a:endParaRPr lang="es-CO" sz="1400" dirty="0"/>
          </a:p>
        </p:txBody>
      </p:sp>
      <p:sp>
        <p:nvSpPr>
          <p:cNvPr id="28" name="Rectángulo 27"/>
          <p:cNvSpPr/>
          <p:nvPr/>
        </p:nvSpPr>
        <p:spPr>
          <a:xfrm>
            <a:off x="4640165" y="4942982"/>
            <a:ext cx="1315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Cámaras y micrófonos</a:t>
            </a:r>
            <a:endParaRPr lang="es-CO" sz="1400" b="1" dirty="0"/>
          </a:p>
        </p:txBody>
      </p:sp>
      <p:sp>
        <p:nvSpPr>
          <p:cNvPr id="29" name="Rectángulo 28"/>
          <p:cNvSpPr/>
          <p:nvPr/>
        </p:nvSpPr>
        <p:spPr>
          <a:xfrm>
            <a:off x="3835567" y="2650291"/>
            <a:ext cx="1315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Motores </a:t>
            </a:r>
          </a:p>
          <a:p>
            <a:pPr algn="ctr"/>
            <a:r>
              <a:rPr lang="es-CO" sz="1400" b="1" dirty="0" smtClean="0"/>
              <a:t>Voz</a:t>
            </a:r>
            <a:endParaRPr lang="es-CO" sz="1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2406518" y="5403464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Robótica</a:t>
            </a:r>
          </a:p>
        </p:txBody>
      </p:sp>
    </p:spTree>
    <p:extLst>
      <p:ext uri="{BB962C8B-B14F-4D97-AF65-F5344CB8AC3E}">
        <p14:creationId xmlns:p14="http://schemas.microsoft.com/office/powerpoint/2010/main" val="2711042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alekhines gun screensho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069" y="2128347"/>
            <a:ext cx="4716339" cy="2651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6882806" y="4910961"/>
            <a:ext cx="43826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/>
              <a:t>https://techraptor.net/content/cold-war-spy-stealth-game-alekhines-gun-delayed-to-2016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Aplicaciones de la AI</a:t>
            </a:r>
            <a:endParaRPr lang="es-CO" sz="2400" b="1" dirty="0"/>
          </a:p>
        </p:txBody>
      </p:sp>
      <p:sp>
        <p:nvSpPr>
          <p:cNvPr id="3" name="Forma libre 2"/>
          <p:cNvSpPr/>
          <p:nvPr/>
        </p:nvSpPr>
        <p:spPr>
          <a:xfrm>
            <a:off x="5696712" y="2669018"/>
            <a:ext cx="1725590" cy="2215742"/>
          </a:xfrm>
          <a:custGeom>
            <a:avLst/>
            <a:gdLst>
              <a:gd name="connsiteX0" fmla="*/ 612648 w 1725590"/>
              <a:gd name="connsiteY0" fmla="*/ 341222 h 2215742"/>
              <a:gd name="connsiteX1" fmla="*/ 612648 w 1725590"/>
              <a:gd name="connsiteY1" fmla="*/ 341222 h 2215742"/>
              <a:gd name="connsiteX2" fmla="*/ 521208 w 1725590"/>
              <a:gd name="connsiteY2" fmla="*/ 386942 h 2215742"/>
              <a:gd name="connsiteX3" fmla="*/ 402336 w 1725590"/>
              <a:gd name="connsiteY3" fmla="*/ 478382 h 2215742"/>
              <a:gd name="connsiteX4" fmla="*/ 356616 w 1725590"/>
              <a:gd name="connsiteY4" fmla="*/ 514958 h 2215742"/>
              <a:gd name="connsiteX5" fmla="*/ 301752 w 1725590"/>
              <a:gd name="connsiteY5" fmla="*/ 560678 h 2215742"/>
              <a:gd name="connsiteX6" fmla="*/ 292608 w 1725590"/>
              <a:gd name="connsiteY6" fmla="*/ 990446 h 2215742"/>
              <a:gd name="connsiteX7" fmla="*/ 283464 w 1725590"/>
              <a:gd name="connsiteY7" fmla="*/ 1072742 h 2215742"/>
              <a:gd name="connsiteX8" fmla="*/ 265176 w 1725590"/>
              <a:gd name="connsiteY8" fmla="*/ 1118462 h 2215742"/>
              <a:gd name="connsiteX9" fmla="*/ 192024 w 1725590"/>
              <a:gd name="connsiteY9" fmla="*/ 1246478 h 2215742"/>
              <a:gd name="connsiteX10" fmla="*/ 155448 w 1725590"/>
              <a:gd name="connsiteY10" fmla="*/ 1283054 h 2215742"/>
              <a:gd name="connsiteX11" fmla="*/ 100584 w 1725590"/>
              <a:gd name="connsiteY11" fmla="*/ 1328774 h 2215742"/>
              <a:gd name="connsiteX12" fmla="*/ 82296 w 1725590"/>
              <a:gd name="connsiteY12" fmla="*/ 1356206 h 2215742"/>
              <a:gd name="connsiteX13" fmla="*/ 45720 w 1725590"/>
              <a:gd name="connsiteY13" fmla="*/ 1374494 h 2215742"/>
              <a:gd name="connsiteX14" fmla="*/ 18288 w 1725590"/>
              <a:gd name="connsiteY14" fmla="*/ 1401926 h 2215742"/>
              <a:gd name="connsiteX15" fmla="*/ 0 w 1725590"/>
              <a:gd name="connsiteY15" fmla="*/ 1447646 h 2215742"/>
              <a:gd name="connsiteX16" fmla="*/ 18288 w 1725590"/>
              <a:gd name="connsiteY16" fmla="*/ 1694534 h 2215742"/>
              <a:gd name="connsiteX17" fmla="*/ 45720 w 1725590"/>
              <a:gd name="connsiteY17" fmla="*/ 1749398 h 2215742"/>
              <a:gd name="connsiteX18" fmla="*/ 137160 w 1725590"/>
              <a:gd name="connsiteY18" fmla="*/ 1849982 h 2215742"/>
              <a:gd name="connsiteX19" fmla="*/ 182880 w 1725590"/>
              <a:gd name="connsiteY19" fmla="*/ 1886558 h 2215742"/>
              <a:gd name="connsiteX20" fmla="*/ 228600 w 1725590"/>
              <a:gd name="connsiteY20" fmla="*/ 1932278 h 2215742"/>
              <a:gd name="connsiteX21" fmla="*/ 292608 w 1725590"/>
              <a:gd name="connsiteY21" fmla="*/ 1959710 h 2215742"/>
              <a:gd name="connsiteX22" fmla="*/ 365760 w 1725590"/>
              <a:gd name="connsiteY22" fmla="*/ 1996286 h 2215742"/>
              <a:gd name="connsiteX23" fmla="*/ 484632 w 1725590"/>
              <a:gd name="connsiteY23" fmla="*/ 2069438 h 2215742"/>
              <a:gd name="connsiteX24" fmla="*/ 530352 w 1725590"/>
              <a:gd name="connsiteY24" fmla="*/ 2078582 h 2215742"/>
              <a:gd name="connsiteX25" fmla="*/ 621792 w 1725590"/>
              <a:gd name="connsiteY25" fmla="*/ 2106014 h 2215742"/>
              <a:gd name="connsiteX26" fmla="*/ 722376 w 1725590"/>
              <a:gd name="connsiteY26" fmla="*/ 2133446 h 2215742"/>
              <a:gd name="connsiteX27" fmla="*/ 777240 w 1725590"/>
              <a:gd name="connsiteY27" fmla="*/ 2160878 h 2215742"/>
              <a:gd name="connsiteX28" fmla="*/ 832104 w 1725590"/>
              <a:gd name="connsiteY28" fmla="*/ 2179166 h 2215742"/>
              <a:gd name="connsiteX29" fmla="*/ 960120 w 1725590"/>
              <a:gd name="connsiteY29" fmla="*/ 2215742 h 2215742"/>
              <a:gd name="connsiteX30" fmla="*/ 1508760 w 1725590"/>
              <a:gd name="connsiteY30" fmla="*/ 2170022 h 2215742"/>
              <a:gd name="connsiteX31" fmla="*/ 1691640 w 1725590"/>
              <a:gd name="connsiteY31" fmla="*/ 2069438 h 2215742"/>
              <a:gd name="connsiteX32" fmla="*/ 1682496 w 1725590"/>
              <a:gd name="connsiteY32" fmla="*/ 1822550 h 2215742"/>
              <a:gd name="connsiteX33" fmla="*/ 1655064 w 1725590"/>
              <a:gd name="connsiteY33" fmla="*/ 1776830 h 2215742"/>
              <a:gd name="connsiteX34" fmla="*/ 1581912 w 1725590"/>
              <a:gd name="connsiteY34" fmla="*/ 1676246 h 2215742"/>
              <a:gd name="connsiteX35" fmla="*/ 1554480 w 1725590"/>
              <a:gd name="connsiteY35" fmla="*/ 1630526 h 2215742"/>
              <a:gd name="connsiteX36" fmla="*/ 1499616 w 1725590"/>
              <a:gd name="connsiteY36" fmla="*/ 1575662 h 2215742"/>
              <a:gd name="connsiteX37" fmla="*/ 1463040 w 1725590"/>
              <a:gd name="connsiteY37" fmla="*/ 1529942 h 2215742"/>
              <a:gd name="connsiteX38" fmla="*/ 1453896 w 1725590"/>
              <a:gd name="connsiteY38" fmla="*/ 1502510 h 2215742"/>
              <a:gd name="connsiteX39" fmla="*/ 1444752 w 1725590"/>
              <a:gd name="connsiteY39" fmla="*/ 1456790 h 2215742"/>
              <a:gd name="connsiteX40" fmla="*/ 1426464 w 1725590"/>
              <a:gd name="connsiteY40" fmla="*/ 1429358 h 2215742"/>
              <a:gd name="connsiteX41" fmla="*/ 1435608 w 1725590"/>
              <a:gd name="connsiteY41" fmla="*/ 1209902 h 2215742"/>
              <a:gd name="connsiteX42" fmla="*/ 1463040 w 1725590"/>
              <a:gd name="connsiteY42" fmla="*/ 1155038 h 2215742"/>
              <a:gd name="connsiteX43" fmla="*/ 1481328 w 1725590"/>
              <a:gd name="connsiteY43" fmla="*/ 1072742 h 2215742"/>
              <a:gd name="connsiteX44" fmla="*/ 1490472 w 1725590"/>
              <a:gd name="connsiteY44" fmla="*/ 1036166 h 2215742"/>
              <a:gd name="connsiteX45" fmla="*/ 1508760 w 1725590"/>
              <a:gd name="connsiteY45" fmla="*/ 953870 h 2215742"/>
              <a:gd name="connsiteX46" fmla="*/ 1472184 w 1725590"/>
              <a:gd name="connsiteY46" fmla="*/ 615542 h 2215742"/>
              <a:gd name="connsiteX47" fmla="*/ 1426464 w 1725590"/>
              <a:gd name="connsiteY47" fmla="*/ 560678 h 2215742"/>
              <a:gd name="connsiteX48" fmla="*/ 1371600 w 1725590"/>
              <a:gd name="connsiteY48" fmla="*/ 505814 h 2215742"/>
              <a:gd name="connsiteX49" fmla="*/ 1344168 w 1725590"/>
              <a:gd name="connsiteY49" fmla="*/ 478382 h 2215742"/>
              <a:gd name="connsiteX50" fmla="*/ 1280160 w 1725590"/>
              <a:gd name="connsiteY50" fmla="*/ 441806 h 2215742"/>
              <a:gd name="connsiteX51" fmla="*/ 1243584 w 1725590"/>
              <a:gd name="connsiteY51" fmla="*/ 423518 h 2215742"/>
              <a:gd name="connsiteX52" fmla="*/ 1133856 w 1725590"/>
              <a:gd name="connsiteY52" fmla="*/ 359510 h 2215742"/>
              <a:gd name="connsiteX53" fmla="*/ 1051560 w 1725590"/>
              <a:gd name="connsiteY53" fmla="*/ 341222 h 2215742"/>
              <a:gd name="connsiteX54" fmla="*/ 1033272 w 1725590"/>
              <a:gd name="connsiteY54" fmla="*/ 313790 h 2215742"/>
              <a:gd name="connsiteX55" fmla="*/ 1005840 w 1725590"/>
              <a:gd name="connsiteY55" fmla="*/ 295502 h 2215742"/>
              <a:gd name="connsiteX56" fmla="*/ 978408 w 1725590"/>
              <a:gd name="connsiteY56" fmla="*/ 204062 h 2215742"/>
              <a:gd name="connsiteX57" fmla="*/ 969264 w 1725590"/>
              <a:gd name="connsiteY57" fmla="*/ 21182 h 2215742"/>
              <a:gd name="connsiteX58" fmla="*/ 859536 w 1725590"/>
              <a:gd name="connsiteY58" fmla="*/ 2894 h 2215742"/>
              <a:gd name="connsiteX59" fmla="*/ 630936 w 1725590"/>
              <a:gd name="connsiteY59" fmla="*/ 12038 h 2215742"/>
              <a:gd name="connsiteX60" fmla="*/ 594360 w 1725590"/>
              <a:gd name="connsiteY60" fmla="*/ 21182 h 2215742"/>
              <a:gd name="connsiteX61" fmla="*/ 557784 w 1725590"/>
              <a:gd name="connsiteY61" fmla="*/ 76046 h 2215742"/>
              <a:gd name="connsiteX62" fmla="*/ 548640 w 1725590"/>
              <a:gd name="connsiteY62" fmla="*/ 112622 h 2215742"/>
              <a:gd name="connsiteX63" fmla="*/ 530352 w 1725590"/>
              <a:gd name="connsiteY63" fmla="*/ 149198 h 2215742"/>
              <a:gd name="connsiteX64" fmla="*/ 530352 w 1725590"/>
              <a:gd name="connsiteY64" fmla="*/ 368654 h 2215742"/>
              <a:gd name="connsiteX65" fmla="*/ 612648 w 1725590"/>
              <a:gd name="connsiteY65" fmla="*/ 341222 h 2215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725590" h="2215742">
                <a:moveTo>
                  <a:pt x="612648" y="341222"/>
                </a:moveTo>
                <a:lnTo>
                  <a:pt x="612648" y="341222"/>
                </a:lnTo>
                <a:cubicBezTo>
                  <a:pt x="582168" y="356462"/>
                  <a:pt x="549126" y="367400"/>
                  <a:pt x="521208" y="386942"/>
                </a:cubicBezTo>
                <a:cubicBezTo>
                  <a:pt x="368819" y="493614"/>
                  <a:pt x="481312" y="452057"/>
                  <a:pt x="402336" y="478382"/>
                </a:cubicBezTo>
                <a:cubicBezTo>
                  <a:pt x="387096" y="490574"/>
                  <a:pt x="371304" y="502106"/>
                  <a:pt x="356616" y="514958"/>
                </a:cubicBezTo>
                <a:cubicBezTo>
                  <a:pt x="300291" y="564242"/>
                  <a:pt x="357894" y="523250"/>
                  <a:pt x="301752" y="560678"/>
                </a:cubicBezTo>
                <a:cubicBezTo>
                  <a:pt x="298704" y="703934"/>
                  <a:pt x="297722" y="847249"/>
                  <a:pt x="292608" y="990446"/>
                </a:cubicBezTo>
                <a:cubicBezTo>
                  <a:pt x="291623" y="1018029"/>
                  <a:pt x="289247" y="1045754"/>
                  <a:pt x="283464" y="1072742"/>
                </a:cubicBezTo>
                <a:cubicBezTo>
                  <a:pt x="280025" y="1088792"/>
                  <a:pt x="272054" y="1103559"/>
                  <a:pt x="265176" y="1118462"/>
                </a:cubicBezTo>
                <a:cubicBezTo>
                  <a:pt x="252882" y="1145100"/>
                  <a:pt x="216221" y="1222281"/>
                  <a:pt x="192024" y="1246478"/>
                </a:cubicBezTo>
                <a:cubicBezTo>
                  <a:pt x="179832" y="1258670"/>
                  <a:pt x="166669" y="1269963"/>
                  <a:pt x="155448" y="1283054"/>
                </a:cubicBezTo>
                <a:cubicBezTo>
                  <a:pt x="116674" y="1328290"/>
                  <a:pt x="163020" y="1297556"/>
                  <a:pt x="100584" y="1328774"/>
                </a:cubicBezTo>
                <a:cubicBezTo>
                  <a:pt x="94488" y="1337918"/>
                  <a:pt x="90739" y="1349171"/>
                  <a:pt x="82296" y="1356206"/>
                </a:cubicBezTo>
                <a:cubicBezTo>
                  <a:pt x="71824" y="1364932"/>
                  <a:pt x="56812" y="1366571"/>
                  <a:pt x="45720" y="1374494"/>
                </a:cubicBezTo>
                <a:cubicBezTo>
                  <a:pt x="35197" y="1382010"/>
                  <a:pt x="27432" y="1392782"/>
                  <a:pt x="18288" y="1401926"/>
                </a:cubicBezTo>
                <a:cubicBezTo>
                  <a:pt x="12192" y="1417166"/>
                  <a:pt x="0" y="1431232"/>
                  <a:pt x="0" y="1447646"/>
                </a:cubicBezTo>
                <a:cubicBezTo>
                  <a:pt x="0" y="1530167"/>
                  <a:pt x="5926" y="1612944"/>
                  <a:pt x="18288" y="1694534"/>
                </a:cubicBezTo>
                <a:cubicBezTo>
                  <a:pt x="21351" y="1714750"/>
                  <a:pt x="34743" y="1732148"/>
                  <a:pt x="45720" y="1749398"/>
                </a:cubicBezTo>
                <a:cubicBezTo>
                  <a:pt x="65750" y="1780874"/>
                  <a:pt x="111833" y="1826957"/>
                  <a:pt x="137160" y="1849982"/>
                </a:cubicBezTo>
                <a:cubicBezTo>
                  <a:pt x="151601" y="1863110"/>
                  <a:pt x="168373" y="1873502"/>
                  <a:pt x="182880" y="1886558"/>
                </a:cubicBezTo>
                <a:cubicBezTo>
                  <a:pt x="198900" y="1900976"/>
                  <a:pt x="210667" y="1920323"/>
                  <a:pt x="228600" y="1932278"/>
                </a:cubicBezTo>
                <a:cubicBezTo>
                  <a:pt x="247914" y="1945154"/>
                  <a:pt x="271573" y="1949894"/>
                  <a:pt x="292608" y="1959710"/>
                </a:cubicBezTo>
                <a:cubicBezTo>
                  <a:pt x="317312" y="1971239"/>
                  <a:pt x="342090" y="1982760"/>
                  <a:pt x="365760" y="1996286"/>
                </a:cubicBezTo>
                <a:cubicBezTo>
                  <a:pt x="413096" y="2023335"/>
                  <a:pt x="432817" y="2047848"/>
                  <a:pt x="484632" y="2069438"/>
                </a:cubicBezTo>
                <a:cubicBezTo>
                  <a:pt x="498978" y="2075416"/>
                  <a:pt x="515180" y="2075211"/>
                  <a:pt x="530352" y="2078582"/>
                </a:cubicBezTo>
                <a:cubicBezTo>
                  <a:pt x="607474" y="2095720"/>
                  <a:pt x="521498" y="2078661"/>
                  <a:pt x="621792" y="2106014"/>
                </a:cubicBezTo>
                <a:cubicBezTo>
                  <a:pt x="686576" y="2123682"/>
                  <a:pt x="652568" y="2104359"/>
                  <a:pt x="722376" y="2133446"/>
                </a:cubicBezTo>
                <a:cubicBezTo>
                  <a:pt x="741250" y="2141310"/>
                  <a:pt x="758366" y="2153014"/>
                  <a:pt x="777240" y="2160878"/>
                </a:cubicBezTo>
                <a:cubicBezTo>
                  <a:pt x="795034" y="2168292"/>
                  <a:pt x="813950" y="2172682"/>
                  <a:pt x="832104" y="2179166"/>
                </a:cubicBezTo>
                <a:cubicBezTo>
                  <a:pt x="931101" y="2214522"/>
                  <a:pt x="873527" y="2201310"/>
                  <a:pt x="960120" y="2215742"/>
                </a:cubicBezTo>
                <a:cubicBezTo>
                  <a:pt x="1052843" y="2211879"/>
                  <a:pt x="1355805" y="2228851"/>
                  <a:pt x="1508760" y="2170022"/>
                </a:cubicBezTo>
                <a:cubicBezTo>
                  <a:pt x="1596023" y="2136459"/>
                  <a:pt x="1624912" y="2113923"/>
                  <a:pt x="1691640" y="2069438"/>
                </a:cubicBezTo>
                <a:cubicBezTo>
                  <a:pt x="1748675" y="1983886"/>
                  <a:pt x="1725689" y="2031315"/>
                  <a:pt x="1682496" y="1822550"/>
                </a:cubicBezTo>
                <a:cubicBezTo>
                  <a:pt x="1678895" y="1805146"/>
                  <a:pt x="1665133" y="1791475"/>
                  <a:pt x="1655064" y="1776830"/>
                </a:cubicBezTo>
                <a:cubicBezTo>
                  <a:pt x="1631577" y="1742667"/>
                  <a:pt x="1603242" y="1711795"/>
                  <a:pt x="1581912" y="1676246"/>
                </a:cubicBezTo>
                <a:cubicBezTo>
                  <a:pt x="1572768" y="1661006"/>
                  <a:pt x="1565734" y="1644281"/>
                  <a:pt x="1554480" y="1630526"/>
                </a:cubicBezTo>
                <a:cubicBezTo>
                  <a:pt x="1538102" y="1610509"/>
                  <a:pt x="1515773" y="1595858"/>
                  <a:pt x="1499616" y="1575662"/>
                </a:cubicBezTo>
                <a:lnTo>
                  <a:pt x="1463040" y="1529942"/>
                </a:lnTo>
                <a:cubicBezTo>
                  <a:pt x="1459992" y="1520798"/>
                  <a:pt x="1456234" y="1511861"/>
                  <a:pt x="1453896" y="1502510"/>
                </a:cubicBezTo>
                <a:cubicBezTo>
                  <a:pt x="1450127" y="1487432"/>
                  <a:pt x="1450209" y="1471342"/>
                  <a:pt x="1444752" y="1456790"/>
                </a:cubicBezTo>
                <a:cubicBezTo>
                  <a:pt x="1440893" y="1446500"/>
                  <a:pt x="1432560" y="1438502"/>
                  <a:pt x="1426464" y="1429358"/>
                </a:cubicBezTo>
                <a:cubicBezTo>
                  <a:pt x="1429512" y="1356206"/>
                  <a:pt x="1425932" y="1282475"/>
                  <a:pt x="1435608" y="1209902"/>
                </a:cubicBezTo>
                <a:cubicBezTo>
                  <a:pt x="1438310" y="1189635"/>
                  <a:pt x="1455446" y="1174022"/>
                  <a:pt x="1463040" y="1155038"/>
                </a:cubicBezTo>
                <a:cubicBezTo>
                  <a:pt x="1468615" y="1141100"/>
                  <a:pt x="1478795" y="1084142"/>
                  <a:pt x="1481328" y="1072742"/>
                </a:cubicBezTo>
                <a:cubicBezTo>
                  <a:pt x="1484054" y="1060474"/>
                  <a:pt x="1487746" y="1048434"/>
                  <a:pt x="1490472" y="1036166"/>
                </a:cubicBezTo>
                <a:cubicBezTo>
                  <a:pt x="1513689" y="931688"/>
                  <a:pt x="1486460" y="1043071"/>
                  <a:pt x="1508760" y="953870"/>
                </a:cubicBezTo>
                <a:cubicBezTo>
                  <a:pt x="1496568" y="841094"/>
                  <a:pt x="1488609" y="727780"/>
                  <a:pt x="1472184" y="615542"/>
                </a:cubicBezTo>
                <a:cubicBezTo>
                  <a:pt x="1466049" y="573621"/>
                  <a:pt x="1451477" y="582912"/>
                  <a:pt x="1426464" y="560678"/>
                </a:cubicBezTo>
                <a:cubicBezTo>
                  <a:pt x="1407134" y="543495"/>
                  <a:pt x="1389888" y="524102"/>
                  <a:pt x="1371600" y="505814"/>
                </a:cubicBezTo>
                <a:cubicBezTo>
                  <a:pt x="1362456" y="496670"/>
                  <a:pt x="1355396" y="484798"/>
                  <a:pt x="1344168" y="478382"/>
                </a:cubicBezTo>
                <a:cubicBezTo>
                  <a:pt x="1322832" y="466190"/>
                  <a:pt x="1301733" y="453573"/>
                  <a:pt x="1280160" y="441806"/>
                </a:cubicBezTo>
                <a:cubicBezTo>
                  <a:pt x="1268193" y="435279"/>
                  <a:pt x="1255143" y="430742"/>
                  <a:pt x="1243584" y="423518"/>
                </a:cubicBezTo>
                <a:cubicBezTo>
                  <a:pt x="1204557" y="399126"/>
                  <a:pt x="1186009" y="368202"/>
                  <a:pt x="1133856" y="359510"/>
                </a:cubicBezTo>
                <a:cubicBezTo>
                  <a:pt x="1069485" y="348781"/>
                  <a:pt x="1096581" y="356229"/>
                  <a:pt x="1051560" y="341222"/>
                </a:cubicBezTo>
                <a:cubicBezTo>
                  <a:pt x="1045464" y="332078"/>
                  <a:pt x="1041043" y="321561"/>
                  <a:pt x="1033272" y="313790"/>
                </a:cubicBezTo>
                <a:cubicBezTo>
                  <a:pt x="1025501" y="306019"/>
                  <a:pt x="1011665" y="304821"/>
                  <a:pt x="1005840" y="295502"/>
                </a:cubicBezTo>
                <a:cubicBezTo>
                  <a:pt x="996564" y="280661"/>
                  <a:pt x="983761" y="225476"/>
                  <a:pt x="978408" y="204062"/>
                </a:cubicBezTo>
                <a:cubicBezTo>
                  <a:pt x="975360" y="143102"/>
                  <a:pt x="1000315" y="73730"/>
                  <a:pt x="969264" y="21182"/>
                </a:cubicBezTo>
                <a:cubicBezTo>
                  <a:pt x="950400" y="-10742"/>
                  <a:pt x="859536" y="2894"/>
                  <a:pt x="859536" y="2894"/>
                </a:cubicBezTo>
                <a:cubicBezTo>
                  <a:pt x="783336" y="5942"/>
                  <a:pt x="707016" y="6791"/>
                  <a:pt x="630936" y="12038"/>
                </a:cubicBezTo>
                <a:cubicBezTo>
                  <a:pt x="618399" y="12903"/>
                  <a:pt x="603818" y="12906"/>
                  <a:pt x="594360" y="21182"/>
                </a:cubicBezTo>
                <a:cubicBezTo>
                  <a:pt x="577819" y="35656"/>
                  <a:pt x="557784" y="76046"/>
                  <a:pt x="557784" y="76046"/>
                </a:cubicBezTo>
                <a:cubicBezTo>
                  <a:pt x="554736" y="88238"/>
                  <a:pt x="553053" y="100855"/>
                  <a:pt x="548640" y="112622"/>
                </a:cubicBezTo>
                <a:cubicBezTo>
                  <a:pt x="543854" y="125385"/>
                  <a:pt x="531323" y="135602"/>
                  <a:pt x="530352" y="149198"/>
                </a:cubicBezTo>
                <a:cubicBezTo>
                  <a:pt x="525140" y="222164"/>
                  <a:pt x="530352" y="295502"/>
                  <a:pt x="530352" y="368654"/>
                </a:cubicBezTo>
                <a:lnTo>
                  <a:pt x="612648" y="341222"/>
                </a:lnTo>
                <a:close/>
              </a:path>
            </a:pathLst>
          </a:cu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/>
          <p:cNvSpPr/>
          <p:nvPr/>
        </p:nvSpPr>
        <p:spPr>
          <a:xfrm>
            <a:off x="5843322" y="3464102"/>
            <a:ext cx="13159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 smtClean="0"/>
              <a:t>Nosotros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749437" y="3072384"/>
            <a:ext cx="1578979" cy="14356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 21"/>
          <p:cNvSpPr/>
          <p:nvPr/>
        </p:nvSpPr>
        <p:spPr>
          <a:xfrm>
            <a:off x="1373262" y="2673468"/>
            <a:ext cx="2331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i="1" dirty="0" smtClean="0"/>
              <a:t>Agente de juego</a:t>
            </a:r>
            <a:endParaRPr lang="es-CO" sz="2000" i="1" dirty="0"/>
          </a:p>
        </p:txBody>
      </p:sp>
      <p:sp>
        <p:nvSpPr>
          <p:cNvPr id="23" name="Flecha doblada 22"/>
          <p:cNvSpPr/>
          <p:nvPr/>
        </p:nvSpPr>
        <p:spPr>
          <a:xfrm rot="12131240">
            <a:off x="3644304" y="4266260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6" name="Flecha doblada 25"/>
          <p:cNvSpPr/>
          <p:nvPr/>
        </p:nvSpPr>
        <p:spPr>
          <a:xfrm rot="1668952">
            <a:off x="3771905" y="2253829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1749437" y="3331442"/>
            <a:ext cx="15374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Toma decisiones basándose en AI</a:t>
            </a:r>
            <a:endParaRPr lang="es-CO" sz="1400" dirty="0"/>
          </a:p>
        </p:txBody>
      </p:sp>
      <p:sp>
        <p:nvSpPr>
          <p:cNvPr id="28" name="Rectángulo 27"/>
          <p:cNvSpPr/>
          <p:nvPr/>
        </p:nvSpPr>
        <p:spPr>
          <a:xfrm>
            <a:off x="4640165" y="4942982"/>
            <a:ext cx="1315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Nuestros movimientos</a:t>
            </a:r>
            <a:endParaRPr lang="es-CO" sz="1400" b="1" dirty="0"/>
          </a:p>
        </p:txBody>
      </p:sp>
      <p:sp>
        <p:nvSpPr>
          <p:cNvPr id="29" name="Rectángulo 28"/>
          <p:cNvSpPr/>
          <p:nvPr/>
        </p:nvSpPr>
        <p:spPr>
          <a:xfrm>
            <a:off x="3835567" y="2650291"/>
            <a:ext cx="13159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Movimientos del robot</a:t>
            </a:r>
            <a:endParaRPr lang="es-CO" sz="1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2406518" y="5403464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Juegos</a:t>
            </a:r>
          </a:p>
        </p:txBody>
      </p:sp>
    </p:spTree>
    <p:extLst>
      <p:ext uri="{BB962C8B-B14F-4D97-AF65-F5344CB8AC3E}">
        <p14:creationId xmlns:p14="http://schemas.microsoft.com/office/powerpoint/2010/main" val="163730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712" y="2014547"/>
            <a:ext cx="1153133" cy="1277358"/>
          </a:xfrm>
          <a:prstGeom prst="rect">
            <a:avLst/>
          </a:prstGeom>
        </p:spPr>
      </p:pic>
      <p:pic>
        <p:nvPicPr>
          <p:cNvPr id="6146" name="Picture 2" descr="Resultado de imagen para human simple draf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102" y="3824296"/>
            <a:ext cx="1302752" cy="1959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Aplicaciones de la AI</a:t>
            </a:r>
            <a:endParaRPr lang="es-CO" sz="2400" b="1" dirty="0"/>
          </a:p>
        </p:txBody>
      </p:sp>
      <p:sp>
        <p:nvSpPr>
          <p:cNvPr id="4" name="Rectángulo 3"/>
          <p:cNvSpPr/>
          <p:nvPr/>
        </p:nvSpPr>
        <p:spPr>
          <a:xfrm>
            <a:off x="1749437" y="3072384"/>
            <a:ext cx="1578979" cy="14356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 21"/>
          <p:cNvSpPr/>
          <p:nvPr/>
        </p:nvSpPr>
        <p:spPr>
          <a:xfrm>
            <a:off x="1084970" y="2692100"/>
            <a:ext cx="25644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i="1" dirty="0" smtClean="0"/>
              <a:t>Agente de diagnóstico</a:t>
            </a:r>
            <a:endParaRPr lang="es-CO" sz="2000" i="1" dirty="0"/>
          </a:p>
        </p:txBody>
      </p:sp>
      <p:sp>
        <p:nvSpPr>
          <p:cNvPr id="23" name="Flecha doblada 22"/>
          <p:cNvSpPr/>
          <p:nvPr/>
        </p:nvSpPr>
        <p:spPr>
          <a:xfrm rot="12131240">
            <a:off x="3644304" y="4266260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6" name="Flecha doblada 25"/>
          <p:cNvSpPr/>
          <p:nvPr/>
        </p:nvSpPr>
        <p:spPr>
          <a:xfrm rot="1668952">
            <a:off x="3771905" y="2253829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1749437" y="3331442"/>
            <a:ext cx="15374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Toma decisiones basándose en AI</a:t>
            </a:r>
            <a:endParaRPr lang="es-CO" sz="1400" dirty="0"/>
          </a:p>
        </p:txBody>
      </p:sp>
      <p:sp>
        <p:nvSpPr>
          <p:cNvPr id="28" name="Rectángulo 27"/>
          <p:cNvSpPr/>
          <p:nvPr/>
        </p:nvSpPr>
        <p:spPr>
          <a:xfrm>
            <a:off x="4264999" y="5127955"/>
            <a:ext cx="13159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Signos vitales</a:t>
            </a:r>
            <a:endParaRPr lang="es-CO" sz="1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2406518" y="5403464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Medicina</a:t>
            </a:r>
          </a:p>
        </p:txBody>
      </p:sp>
      <p:sp>
        <p:nvSpPr>
          <p:cNvPr id="18" name="Flecha doblada 17"/>
          <p:cNvSpPr/>
          <p:nvPr/>
        </p:nvSpPr>
        <p:spPr>
          <a:xfrm rot="7188387">
            <a:off x="6126518" y="3577860"/>
            <a:ext cx="673393" cy="518925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3890577" y="2758485"/>
            <a:ext cx="13159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Diagnóstico</a:t>
            </a:r>
            <a:endParaRPr lang="es-CO" sz="1400" b="1" dirty="0"/>
          </a:p>
        </p:txBody>
      </p:sp>
    </p:spTree>
    <p:extLst>
      <p:ext uri="{BB962C8B-B14F-4D97-AF65-F5344CB8AC3E}">
        <p14:creationId xmlns:p14="http://schemas.microsoft.com/office/powerpoint/2010/main" val="1820508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1. Completamente vs parcialmente observable</a:t>
            </a:r>
          </a:p>
        </p:txBody>
      </p:sp>
      <p:sp>
        <p:nvSpPr>
          <p:cNvPr id="16" name="Forma libre 15"/>
          <p:cNvSpPr/>
          <p:nvPr/>
        </p:nvSpPr>
        <p:spPr>
          <a:xfrm>
            <a:off x="5744338" y="3135743"/>
            <a:ext cx="1725590" cy="2215742"/>
          </a:xfrm>
          <a:custGeom>
            <a:avLst/>
            <a:gdLst>
              <a:gd name="connsiteX0" fmla="*/ 612648 w 1725590"/>
              <a:gd name="connsiteY0" fmla="*/ 341222 h 2215742"/>
              <a:gd name="connsiteX1" fmla="*/ 612648 w 1725590"/>
              <a:gd name="connsiteY1" fmla="*/ 341222 h 2215742"/>
              <a:gd name="connsiteX2" fmla="*/ 521208 w 1725590"/>
              <a:gd name="connsiteY2" fmla="*/ 386942 h 2215742"/>
              <a:gd name="connsiteX3" fmla="*/ 402336 w 1725590"/>
              <a:gd name="connsiteY3" fmla="*/ 478382 h 2215742"/>
              <a:gd name="connsiteX4" fmla="*/ 356616 w 1725590"/>
              <a:gd name="connsiteY4" fmla="*/ 514958 h 2215742"/>
              <a:gd name="connsiteX5" fmla="*/ 301752 w 1725590"/>
              <a:gd name="connsiteY5" fmla="*/ 560678 h 2215742"/>
              <a:gd name="connsiteX6" fmla="*/ 292608 w 1725590"/>
              <a:gd name="connsiteY6" fmla="*/ 990446 h 2215742"/>
              <a:gd name="connsiteX7" fmla="*/ 283464 w 1725590"/>
              <a:gd name="connsiteY7" fmla="*/ 1072742 h 2215742"/>
              <a:gd name="connsiteX8" fmla="*/ 265176 w 1725590"/>
              <a:gd name="connsiteY8" fmla="*/ 1118462 h 2215742"/>
              <a:gd name="connsiteX9" fmla="*/ 192024 w 1725590"/>
              <a:gd name="connsiteY9" fmla="*/ 1246478 h 2215742"/>
              <a:gd name="connsiteX10" fmla="*/ 155448 w 1725590"/>
              <a:gd name="connsiteY10" fmla="*/ 1283054 h 2215742"/>
              <a:gd name="connsiteX11" fmla="*/ 100584 w 1725590"/>
              <a:gd name="connsiteY11" fmla="*/ 1328774 h 2215742"/>
              <a:gd name="connsiteX12" fmla="*/ 82296 w 1725590"/>
              <a:gd name="connsiteY12" fmla="*/ 1356206 h 2215742"/>
              <a:gd name="connsiteX13" fmla="*/ 45720 w 1725590"/>
              <a:gd name="connsiteY13" fmla="*/ 1374494 h 2215742"/>
              <a:gd name="connsiteX14" fmla="*/ 18288 w 1725590"/>
              <a:gd name="connsiteY14" fmla="*/ 1401926 h 2215742"/>
              <a:gd name="connsiteX15" fmla="*/ 0 w 1725590"/>
              <a:gd name="connsiteY15" fmla="*/ 1447646 h 2215742"/>
              <a:gd name="connsiteX16" fmla="*/ 18288 w 1725590"/>
              <a:gd name="connsiteY16" fmla="*/ 1694534 h 2215742"/>
              <a:gd name="connsiteX17" fmla="*/ 45720 w 1725590"/>
              <a:gd name="connsiteY17" fmla="*/ 1749398 h 2215742"/>
              <a:gd name="connsiteX18" fmla="*/ 137160 w 1725590"/>
              <a:gd name="connsiteY18" fmla="*/ 1849982 h 2215742"/>
              <a:gd name="connsiteX19" fmla="*/ 182880 w 1725590"/>
              <a:gd name="connsiteY19" fmla="*/ 1886558 h 2215742"/>
              <a:gd name="connsiteX20" fmla="*/ 228600 w 1725590"/>
              <a:gd name="connsiteY20" fmla="*/ 1932278 h 2215742"/>
              <a:gd name="connsiteX21" fmla="*/ 292608 w 1725590"/>
              <a:gd name="connsiteY21" fmla="*/ 1959710 h 2215742"/>
              <a:gd name="connsiteX22" fmla="*/ 365760 w 1725590"/>
              <a:gd name="connsiteY22" fmla="*/ 1996286 h 2215742"/>
              <a:gd name="connsiteX23" fmla="*/ 484632 w 1725590"/>
              <a:gd name="connsiteY23" fmla="*/ 2069438 h 2215742"/>
              <a:gd name="connsiteX24" fmla="*/ 530352 w 1725590"/>
              <a:gd name="connsiteY24" fmla="*/ 2078582 h 2215742"/>
              <a:gd name="connsiteX25" fmla="*/ 621792 w 1725590"/>
              <a:gd name="connsiteY25" fmla="*/ 2106014 h 2215742"/>
              <a:gd name="connsiteX26" fmla="*/ 722376 w 1725590"/>
              <a:gd name="connsiteY26" fmla="*/ 2133446 h 2215742"/>
              <a:gd name="connsiteX27" fmla="*/ 777240 w 1725590"/>
              <a:gd name="connsiteY27" fmla="*/ 2160878 h 2215742"/>
              <a:gd name="connsiteX28" fmla="*/ 832104 w 1725590"/>
              <a:gd name="connsiteY28" fmla="*/ 2179166 h 2215742"/>
              <a:gd name="connsiteX29" fmla="*/ 960120 w 1725590"/>
              <a:gd name="connsiteY29" fmla="*/ 2215742 h 2215742"/>
              <a:gd name="connsiteX30" fmla="*/ 1508760 w 1725590"/>
              <a:gd name="connsiteY30" fmla="*/ 2170022 h 2215742"/>
              <a:gd name="connsiteX31" fmla="*/ 1691640 w 1725590"/>
              <a:gd name="connsiteY31" fmla="*/ 2069438 h 2215742"/>
              <a:gd name="connsiteX32" fmla="*/ 1682496 w 1725590"/>
              <a:gd name="connsiteY32" fmla="*/ 1822550 h 2215742"/>
              <a:gd name="connsiteX33" fmla="*/ 1655064 w 1725590"/>
              <a:gd name="connsiteY33" fmla="*/ 1776830 h 2215742"/>
              <a:gd name="connsiteX34" fmla="*/ 1581912 w 1725590"/>
              <a:gd name="connsiteY34" fmla="*/ 1676246 h 2215742"/>
              <a:gd name="connsiteX35" fmla="*/ 1554480 w 1725590"/>
              <a:gd name="connsiteY35" fmla="*/ 1630526 h 2215742"/>
              <a:gd name="connsiteX36" fmla="*/ 1499616 w 1725590"/>
              <a:gd name="connsiteY36" fmla="*/ 1575662 h 2215742"/>
              <a:gd name="connsiteX37" fmla="*/ 1463040 w 1725590"/>
              <a:gd name="connsiteY37" fmla="*/ 1529942 h 2215742"/>
              <a:gd name="connsiteX38" fmla="*/ 1453896 w 1725590"/>
              <a:gd name="connsiteY38" fmla="*/ 1502510 h 2215742"/>
              <a:gd name="connsiteX39" fmla="*/ 1444752 w 1725590"/>
              <a:gd name="connsiteY39" fmla="*/ 1456790 h 2215742"/>
              <a:gd name="connsiteX40" fmla="*/ 1426464 w 1725590"/>
              <a:gd name="connsiteY40" fmla="*/ 1429358 h 2215742"/>
              <a:gd name="connsiteX41" fmla="*/ 1435608 w 1725590"/>
              <a:gd name="connsiteY41" fmla="*/ 1209902 h 2215742"/>
              <a:gd name="connsiteX42" fmla="*/ 1463040 w 1725590"/>
              <a:gd name="connsiteY42" fmla="*/ 1155038 h 2215742"/>
              <a:gd name="connsiteX43" fmla="*/ 1481328 w 1725590"/>
              <a:gd name="connsiteY43" fmla="*/ 1072742 h 2215742"/>
              <a:gd name="connsiteX44" fmla="*/ 1490472 w 1725590"/>
              <a:gd name="connsiteY44" fmla="*/ 1036166 h 2215742"/>
              <a:gd name="connsiteX45" fmla="*/ 1508760 w 1725590"/>
              <a:gd name="connsiteY45" fmla="*/ 953870 h 2215742"/>
              <a:gd name="connsiteX46" fmla="*/ 1472184 w 1725590"/>
              <a:gd name="connsiteY46" fmla="*/ 615542 h 2215742"/>
              <a:gd name="connsiteX47" fmla="*/ 1426464 w 1725590"/>
              <a:gd name="connsiteY47" fmla="*/ 560678 h 2215742"/>
              <a:gd name="connsiteX48" fmla="*/ 1371600 w 1725590"/>
              <a:gd name="connsiteY48" fmla="*/ 505814 h 2215742"/>
              <a:gd name="connsiteX49" fmla="*/ 1344168 w 1725590"/>
              <a:gd name="connsiteY49" fmla="*/ 478382 h 2215742"/>
              <a:gd name="connsiteX50" fmla="*/ 1280160 w 1725590"/>
              <a:gd name="connsiteY50" fmla="*/ 441806 h 2215742"/>
              <a:gd name="connsiteX51" fmla="*/ 1243584 w 1725590"/>
              <a:gd name="connsiteY51" fmla="*/ 423518 h 2215742"/>
              <a:gd name="connsiteX52" fmla="*/ 1133856 w 1725590"/>
              <a:gd name="connsiteY52" fmla="*/ 359510 h 2215742"/>
              <a:gd name="connsiteX53" fmla="*/ 1051560 w 1725590"/>
              <a:gd name="connsiteY53" fmla="*/ 341222 h 2215742"/>
              <a:gd name="connsiteX54" fmla="*/ 1033272 w 1725590"/>
              <a:gd name="connsiteY54" fmla="*/ 313790 h 2215742"/>
              <a:gd name="connsiteX55" fmla="*/ 1005840 w 1725590"/>
              <a:gd name="connsiteY55" fmla="*/ 295502 h 2215742"/>
              <a:gd name="connsiteX56" fmla="*/ 978408 w 1725590"/>
              <a:gd name="connsiteY56" fmla="*/ 204062 h 2215742"/>
              <a:gd name="connsiteX57" fmla="*/ 969264 w 1725590"/>
              <a:gd name="connsiteY57" fmla="*/ 21182 h 2215742"/>
              <a:gd name="connsiteX58" fmla="*/ 859536 w 1725590"/>
              <a:gd name="connsiteY58" fmla="*/ 2894 h 2215742"/>
              <a:gd name="connsiteX59" fmla="*/ 630936 w 1725590"/>
              <a:gd name="connsiteY59" fmla="*/ 12038 h 2215742"/>
              <a:gd name="connsiteX60" fmla="*/ 594360 w 1725590"/>
              <a:gd name="connsiteY60" fmla="*/ 21182 h 2215742"/>
              <a:gd name="connsiteX61" fmla="*/ 557784 w 1725590"/>
              <a:gd name="connsiteY61" fmla="*/ 76046 h 2215742"/>
              <a:gd name="connsiteX62" fmla="*/ 548640 w 1725590"/>
              <a:gd name="connsiteY62" fmla="*/ 112622 h 2215742"/>
              <a:gd name="connsiteX63" fmla="*/ 530352 w 1725590"/>
              <a:gd name="connsiteY63" fmla="*/ 149198 h 2215742"/>
              <a:gd name="connsiteX64" fmla="*/ 530352 w 1725590"/>
              <a:gd name="connsiteY64" fmla="*/ 368654 h 2215742"/>
              <a:gd name="connsiteX65" fmla="*/ 612648 w 1725590"/>
              <a:gd name="connsiteY65" fmla="*/ 341222 h 2215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725590" h="2215742">
                <a:moveTo>
                  <a:pt x="612648" y="341222"/>
                </a:moveTo>
                <a:lnTo>
                  <a:pt x="612648" y="341222"/>
                </a:lnTo>
                <a:cubicBezTo>
                  <a:pt x="582168" y="356462"/>
                  <a:pt x="549126" y="367400"/>
                  <a:pt x="521208" y="386942"/>
                </a:cubicBezTo>
                <a:cubicBezTo>
                  <a:pt x="368819" y="493614"/>
                  <a:pt x="481312" y="452057"/>
                  <a:pt x="402336" y="478382"/>
                </a:cubicBezTo>
                <a:cubicBezTo>
                  <a:pt x="387096" y="490574"/>
                  <a:pt x="371304" y="502106"/>
                  <a:pt x="356616" y="514958"/>
                </a:cubicBezTo>
                <a:cubicBezTo>
                  <a:pt x="300291" y="564242"/>
                  <a:pt x="357894" y="523250"/>
                  <a:pt x="301752" y="560678"/>
                </a:cubicBezTo>
                <a:cubicBezTo>
                  <a:pt x="298704" y="703934"/>
                  <a:pt x="297722" y="847249"/>
                  <a:pt x="292608" y="990446"/>
                </a:cubicBezTo>
                <a:cubicBezTo>
                  <a:pt x="291623" y="1018029"/>
                  <a:pt x="289247" y="1045754"/>
                  <a:pt x="283464" y="1072742"/>
                </a:cubicBezTo>
                <a:cubicBezTo>
                  <a:pt x="280025" y="1088792"/>
                  <a:pt x="272054" y="1103559"/>
                  <a:pt x="265176" y="1118462"/>
                </a:cubicBezTo>
                <a:cubicBezTo>
                  <a:pt x="252882" y="1145100"/>
                  <a:pt x="216221" y="1222281"/>
                  <a:pt x="192024" y="1246478"/>
                </a:cubicBezTo>
                <a:cubicBezTo>
                  <a:pt x="179832" y="1258670"/>
                  <a:pt x="166669" y="1269963"/>
                  <a:pt x="155448" y="1283054"/>
                </a:cubicBezTo>
                <a:cubicBezTo>
                  <a:pt x="116674" y="1328290"/>
                  <a:pt x="163020" y="1297556"/>
                  <a:pt x="100584" y="1328774"/>
                </a:cubicBezTo>
                <a:cubicBezTo>
                  <a:pt x="94488" y="1337918"/>
                  <a:pt x="90739" y="1349171"/>
                  <a:pt x="82296" y="1356206"/>
                </a:cubicBezTo>
                <a:cubicBezTo>
                  <a:pt x="71824" y="1364932"/>
                  <a:pt x="56812" y="1366571"/>
                  <a:pt x="45720" y="1374494"/>
                </a:cubicBezTo>
                <a:cubicBezTo>
                  <a:pt x="35197" y="1382010"/>
                  <a:pt x="27432" y="1392782"/>
                  <a:pt x="18288" y="1401926"/>
                </a:cubicBezTo>
                <a:cubicBezTo>
                  <a:pt x="12192" y="1417166"/>
                  <a:pt x="0" y="1431232"/>
                  <a:pt x="0" y="1447646"/>
                </a:cubicBezTo>
                <a:cubicBezTo>
                  <a:pt x="0" y="1530167"/>
                  <a:pt x="5926" y="1612944"/>
                  <a:pt x="18288" y="1694534"/>
                </a:cubicBezTo>
                <a:cubicBezTo>
                  <a:pt x="21351" y="1714750"/>
                  <a:pt x="34743" y="1732148"/>
                  <a:pt x="45720" y="1749398"/>
                </a:cubicBezTo>
                <a:cubicBezTo>
                  <a:pt x="65750" y="1780874"/>
                  <a:pt x="111833" y="1826957"/>
                  <a:pt x="137160" y="1849982"/>
                </a:cubicBezTo>
                <a:cubicBezTo>
                  <a:pt x="151601" y="1863110"/>
                  <a:pt x="168373" y="1873502"/>
                  <a:pt x="182880" y="1886558"/>
                </a:cubicBezTo>
                <a:cubicBezTo>
                  <a:pt x="198900" y="1900976"/>
                  <a:pt x="210667" y="1920323"/>
                  <a:pt x="228600" y="1932278"/>
                </a:cubicBezTo>
                <a:cubicBezTo>
                  <a:pt x="247914" y="1945154"/>
                  <a:pt x="271573" y="1949894"/>
                  <a:pt x="292608" y="1959710"/>
                </a:cubicBezTo>
                <a:cubicBezTo>
                  <a:pt x="317312" y="1971239"/>
                  <a:pt x="342090" y="1982760"/>
                  <a:pt x="365760" y="1996286"/>
                </a:cubicBezTo>
                <a:cubicBezTo>
                  <a:pt x="413096" y="2023335"/>
                  <a:pt x="432817" y="2047848"/>
                  <a:pt x="484632" y="2069438"/>
                </a:cubicBezTo>
                <a:cubicBezTo>
                  <a:pt x="498978" y="2075416"/>
                  <a:pt x="515180" y="2075211"/>
                  <a:pt x="530352" y="2078582"/>
                </a:cubicBezTo>
                <a:cubicBezTo>
                  <a:pt x="607474" y="2095720"/>
                  <a:pt x="521498" y="2078661"/>
                  <a:pt x="621792" y="2106014"/>
                </a:cubicBezTo>
                <a:cubicBezTo>
                  <a:pt x="686576" y="2123682"/>
                  <a:pt x="652568" y="2104359"/>
                  <a:pt x="722376" y="2133446"/>
                </a:cubicBezTo>
                <a:cubicBezTo>
                  <a:pt x="741250" y="2141310"/>
                  <a:pt x="758366" y="2153014"/>
                  <a:pt x="777240" y="2160878"/>
                </a:cubicBezTo>
                <a:cubicBezTo>
                  <a:pt x="795034" y="2168292"/>
                  <a:pt x="813950" y="2172682"/>
                  <a:pt x="832104" y="2179166"/>
                </a:cubicBezTo>
                <a:cubicBezTo>
                  <a:pt x="931101" y="2214522"/>
                  <a:pt x="873527" y="2201310"/>
                  <a:pt x="960120" y="2215742"/>
                </a:cubicBezTo>
                <a:cubicBezTo>
                  <a:pt x="1052843" y="2211879"/>
                  <a:pt x="1355805" y="2228851"/>
                  <a:pt x="1508760" y="2170022"/>
                </a:cubicBezTo>
                <a:cubicBezTo>
                  <a:pt x="1596023" y="2136459"/>
                  <a:pt x="1624912" y="2113923"/>
                  <a:pt x="1691640" y="2069438"/>
                </a:cubicBezTo>
                <a:cubicBezTo>
                  <a:pt x="1748675" y="1983886"/>
                  <a:pt x="1725689" y="2031315"/>
                  <a:pt x="1682496" y="1822550"/>
                </a:cubicBezTo>
                <a:cubicBezTo>
                  <a:pt x="1678895" y="1805146"/>
                  <a:pt x="1665133" y="1791475"/>
                  <a:pt x="1655064" y="1776830"/>
                </a:cubicBezTo>
                <a:cubicBezTo>
                  <a:pt x="1631577" y="1742667"/>
                  <a:pt x="1603242" y="1711795"/>
                  <a:pt x="1581912" y="1676246"/>
                </a:cubicBezTo>
                <a:cubicBezTo>
                  <a:pt x="1572768" y="1661006"/>
                  <a:pt x="1565734" y="1644281"/>
                  <a:pt x="1554480" y="1630526"/>
                </a:cubicBezTo>
                <a:cubicBezTo>
                  <a:pt x="1538102" y="1610509"/>
                  <a:pt x="1515773" y="1595858"/>
                  <a:pt x="1499616" y="1575662"/>
                </a:cubicBezTo>
                <a:lnTo>
                  <a:pt x="1463040" y="1529942"/>
                </a:lnTo>
                <a:cubicBezTo>
                  <a:pt x="1459992" y="1520798"/>
                  <a:pt x="1456234" y="1511861"/>
                  <a:pt x="1453896" y="1502510"/>
                </a:cubicBezTo>
                <a:cubicBezTo>
                  <a:pt x="1450127" y="1487432"/>
                  <a:pt x="1450209" y="1471342"/>
                  <a:pt x="1444752" y="1456790"/>
                </a:cubicBezTo>
                <a:cubicBezTo>
                  <a:pt x="1440893" y="1446500"/>
                  <a:pt x="1432560" y="1438502"/>
                  <a:pt x="1426464" y="1429358"/>
                </a:cubicBezTo>
                <a:cubicBezTo>
                  <a:pt x="1429512" y="1356206"/>
                  <a:pt x="1425932" y="1282475"/>
                  <a:pt x="1435608" y="1209902"/>
                </a:cubicBezTo>
                <a:cubicBezTo>
                  <a:pt x="1438310" y="1189635"/>
                  <a:pt x="1455446" y="1174022"/>
                  <a:pt x="1463040" y="1155038"/>
                </a:cubicBezTo>
                <a:cubicBezTo>
                  <a:pt x="1468615" y="1141100"/>
                  <a:pt x="1478795" y="1084142"/>
                  <a:pt x="1481328" y="1072742"/>
                </a:cubicBezTo>
                <a:cubicBezTo>
                  <a:pt x="1484054" y="1060474"/>
                  <a:pt x="1487746" y="1048434"/>
                  <a:pt x="1490472" y="1036166"/>
                </a:cubicBezTo>
                <a:cubicBezTo>
                  <a:pt x="1513689" y="931688"/>
                  <a:pt x="1486460" y="1043071"/>
                  <a:pt x="1508760" y="953870"/>
                </a:cubicBezTo>
                <a:cubicBezTo>
                  <a:pt x="1496568" y="841094"/>
                  <a:pt x="1488609" y="727780"/>
                  <a:pt x="1472184" y="615542"/>
                </a:cubicBezTo>
                <a:cubicBezTo>
                  <a:pt x="1466049" y="573621"/>
                  <a:pt x="1451477" y="582912"/>
                  <a:pt x="1426464" y="560678"/>
                </a:cubicBezTo>
                <a:cubicBezTo>
                  <a:pt x="1407134" y="543495"/>
                  <a:pt x="1389888" y="524102"/>
                  <a:pt x="1371600" y="505814"/>
                </a:cubicBezTo>
                <a:cubicBezTo>
                  <a:pt x="1362456" y="496670"/>
                  <a:pt x="1355396" y="484798"/>
                  <a:pt x="1344168" y="478382"/>
                </a:cubicBezTo>
                <a:cubicBezTo>
                  <a:pt x="1322832" y="466190"/>
                  <a:pt x="1301733" y="453573"/>
                  <a:pt x="1280160" y="441806"/>
                </a:cubicBezTo>
                <a:cubicBezTo>
                  <a:pt x="1268193" y="435279"/>
                  <a:pt x="1255143" y="430742"/>
                  <a:pt x="1243584" y="423518"/>
                </a:cubicBezTo>
                <a:cubicBezTo>
                  <a:pt x="1204557" y="399126"/>
                  <a:pt x="1186009" y="368202"/>
                  <a:pt x="1133856" y="359510"/>
                </a:cubicBezTo>
                <a:cubicBezTo>
                  <a:pt x="1069485" y="348781"/>
                  <a:pt x="1096581" y="356229"/>
                  <a:pt x="1051560" y="341222"/>
                </a:cubicBezTo>
                <a:cubicBezTo>
                  <a:pt x="1045464" y="332078"/>
                  <a:pt x="1041043" y="321561"/>
                  <a:pt x="1033272" y="313790"/>
                </a:cubicBezTo>
                <a:cubicBezTo>
                  <a:pt x="1025501" y="306019"/>
                  <a:pt x="1011665" y="304821"/>
                  <a:pt x="1005840" y="295502"/>
                </a:cubicBezTo>
                <a:cubicBezTo>
                  <a:pt x="996564" y="280661"/>
                  <a:pt x="983761" y="225476"/>
                  <a:pt x="978408" y="204062"/>
                </a:cubicBezTo>
                <a:cubicBezTo>
                  <a:pt x="975360" y="143102"/>
                  <a:pt x="1000315" y="73730"/>
                  <a:pt x="969264" y="21182"/>
                </a:cubicBezTo>
                <a:cubicBezTo>
                  <a:pt x="950400" y="-10742"/>
                  <a:pt x="859536" y="2894"/>
                  <a:pt x="859536" y="2894"/>
                </a:cubicBezTo>
                <a:cubicBezTo>
                  <a:pt x="783336" y="5942"/>
                  <a:pt x="707016" y="6791"/>
                  <a:pt x="630936" y="12038"/>
                </a:cubicBezTo>
                <a:cubicBezTo>
                  <a:pt x="618399" y="12903"/>
                  <a:pt x="603818" y="12906"/>
                  <a:pt x="594360" y="21182"/>
                </a:cubicBezTo>
                <a:cubicBezTo>
                  <a:pt x="577819" y="35656"/>
                  <a:pt x="557784" y="76046"/>
                  <a:pt x="557784" y="76046"/>
                </a:cubicBezTo>
                <a:cubicBezTo>
                  <a:pt x="554736" y="88238"/>
                  <a:pt x="553053" y="100855"/>
                  <a:pt x="548640" y="112622"/>
                </a:cubicBezTo>
                <a:cubicBezTo>
                  <a:pt x="543854" y="125385"/>
                  <a:pt x="531323" y="135602"/>
                  <a:pt x="530352" y="149198"/>
                </a:cubicBezTo>
                <a:cubicBezTo>
                  <a:pt x="525140" y="222164"/>
                  <a:pt x="530352" y="295502"/>
                  <a:pt x="530352" y="368654"/>
                </a:cubicBezTo>
                <a:lnTo>
                  <a:pt x="612648" y="341222"/>
                </a:lnTo>
                <a:close/>
              </a:path>
            </a:pathLst>
          </a:cu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/>
          <p:cNvSpPr/>
          <p:nvPr/>
        </p:nvSpPr>
        <p:spPr>
          <a:xfrm rot="19410033">
            <a:off x="5827396" y="4150310"/>
            <a:ext cx="13159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Ambiente</a:t>
            </a:r>
            <a:endParaRPr lang="es-CO" sz="2000" dirty="0"/>
          </a:p>
        </p:txBody>
      </p:sp>
      <p:sp>
        <p:nvSpPr>
          <p:cNvPr id="19" name="Rectángulo 18"/>
          <p:cNvSpPr/>
          <p:nvPr/>
        </p:nvSpPr>
        <p:spPr>
          <a:xfrm>
            <a:off x="1977010" y="3539109"/>
            <a:ext cx="1399032" cy="143560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Rectángulo 24"/>
          <p:cNvSpPr/>
          <p:nvPr/>
        </p:nvSpPr>
        <p:spPr>
          <a:xfrm>
            <a:off x="2018539" y="3138999"/>
            <a:ext cx="13159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dirty="0" smtClean="0"/>
              <a:t>Agente</a:t>
            </a:r>
            <a:endParaRPr lang="es-CO" sz="2000" dirty="0"/>
          </a:p>
        </p:txBody>
      </p:sp>
      <p:sp>
        <p:nvSpPr>
          <p:cNvPr id="30" name="Flecha doblada 29"/>
          <p:cNvSpPr/>
          <p:nvPr/>
        </p:nvSpPr>
        <p:spPr>
          <a:xfrm rot="12131240">
            <a:off x="3691930" y="4732985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1" name="Rectángulo 30"/>
          <p:cNvSpPr/>
          <p:nvPr/>
        </p:nvSpPr>
        <p:spPr>
          <a:xfrm>
            <a:off x="2018539" y="3798167"/>
            <a:ext cx="131597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dirty="0" smtClean="0"/>
              <a:t>Toma decisiones basándose en AI</a:t>
            </a:r>
            <a:endParaRPr lang="es-CO" sz="1400" dirty="0"/>
          </a:p>
        </p:txBody>
      </p:sp>
      <p:sp>
        <p:nvSpPr>
          <p:cNvPr id="32" name="Rectángulo 31"/>
          <p:cNvSpPr/>
          <p:nvPr/>
        </p:nvSpPr>
        <p:spPr>
          <a:xfrm>
            <a:off x="3919348" y="5165291"/>
            <a:ext cx="13159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Sensores</a:t>
            </a:r>
            <a:endParaRPr lang="es-CO" sz="1400" b="1" dirty="0"/>
          </a:p>
        </p:txBody>
      </p:sp>
      <p:sp>
        <p:nvSpPr>
          <p:cNvPr id="33" name="Rectángulo 32"/>
          <p:cNvSpPr/>
          <p:nvPr/>
        </p:nvSpPr>
        <p:spPr>
          <a:xfrm>
            <a:off x="3902203" y="3249639"/>
            <a:ext cx="13159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400" b="1" dirty="0" smtClean="0"/>
              <a:t>Actuadores</a:t>
            </a:r>
            <a:endParaRPr lang="es-CO" sz="1400" b="1" dirty="0"/>
          </a:p>
        </p:txBody>
      </p:sp>
      <p:sp>
        <p:nvSpPr>
          <p:cNvPr id="34" name="Rectángulo 33"/>
          <p:cNvSpPr/>
          <p:nvPr/>
        </p:nvSpPr>
        <p:spPr>
          <a:xfrm>
            <a:off x="3184867" y="3977608"/>
            <a:ext cx="3008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b="1" dirty="0" smtClean="0">
                <a:solidFill>
                  <a:schemeClr val="accent6">
                    <a:lumMod val="75000"/>
                  </a:schemeClr>
                </a:solidFill>
              </a:rPr>
              <a:t>Ciclo de percepción-acción</a:t>
            </a:r>
            <a:endParaRPr lang="es-CO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Flecha doblada 34"/>
          <p:cNvSpPr/>
          <p:nvPr/>
        </p:nvSpPr>
        <p:spPr>
          <a:xfrm rot="1668952">
            <a:off x="3819531" y="2720554"/>
            <a:ext cx="1736521" cy="1237000"/>
          </a:xfrm>
          <a:prstGeom prst="bentArrow">
            <a:avLst>
              <a:gd name="adj1" fmla="val 22043"/>
              <a:gd name="adj2" fmla="val 25000"/>
              <a:gd name="adj3" fmla="val 25000"/>
              <a:gd name="adj4" fmla="val 87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" name="Flecha curvada hacia arriba 1"/>
          <p:cNvSpPr/>
          <p:nvPr/>
        </p:nvSpPr>
        <p:spPr>
          <a:xfrm rot="13093468">
            <a:off x="7002658" y="3076417"/>
            <a:ext cx="657225" cy="654220"/>
          </a:xfrm>
          <a:prstGeom prst="curved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7" name="Rectángulo 36"/>
          <p:cNvSpPr/>
          <p:nvPr/>
        </p:nvSpPr>
        <p:spPr>
          <a:xfrm rot="1898356">
            <a:off x="7215231" y="3021964"/>
            <a:ext cx="13159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Estado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77205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3018166"/>
            <a:ext cx="3848100" cy="2012399"/>
          </a:xfrm>
          <a:prstGeom prst="rect">
            <a:avLst/>
          </a:prstGeom>
        </p:spPr>
      </p:pic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1. Completamente vs parcialmente observable</a:t>
            </a:r>
          </a:p>
        </p:txBody>
      </p:sp>
      <p:sp>
        <p:nvSpPr>
          <p:cNvPr id="21" name="Rectángulo 20"/>
          <p:cNvSpPr/>
          <p:nvPr/>
        </p:nvSpPr>
        <p:spPr>
          <a:xfrm>
            <a:off x="1487628" y="5079555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Completamente observable cuando el agente puede observar totalmente el estado del ambiente</a:t>
            </a:r>
          </a:p>
        </p:txBody>
      </p:sp>
    </p:spTree>
    <p:extLst>
      <p:ext uri="{BB962C8B-B14F-4D97-AF65-F5344CB8AC3E}">
        <p14:creationId xmlns:p14="http://schemas.microsoft.com/office/powerpoint/2010/main" val="158851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1. Completamente vs parcialmente observable</a:t>
            </a:r>
          </a:p>
        </p:txBody>
      </p:sp>
      <p:sp>
        <p:nvSpPr>
          <p:cNvPr id="21" name="Rectángulo 20"/>
          <p:cNvSpPr/>
          <p:nvPr/>
        </p:nvSpPr>
        <p:spPr>
          <a:xfrm>
            <a:off x="1487628" y="5079555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Parcialmente observable cuando el agente </a:t>
            </a:r>
            <a:r>
              <a:rPr lang="es-CO" sz="2000" b="1" dirty="0" smtClean="0"/>
              <a:t>NO</a:t>
            </a:r>
            <a:r>
              <a:rPr lang="es-CO" sz="2000" dirty="0" smtClean="0"/>
              <a:t> puede observar totalmente el estado del ambiente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262" y="2866968"/>
            <a:ext cx="3557588" cy="199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60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2. Determinístico vs estocástico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3018166"/>
            <a:ext cx="3848100" cy="2012399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487628" y="5079555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Determinístico cuando las acciones del agente determinan únicamente la salida</a:t>
            </a:r>
          </a:p>
        </p:txBody>
      </p:sp>
    </p:spTree>
    <p:extLst>
      <p:ext uri="{BB962C8B-B14F-4D97-AF65-F5344CB8AC3E}">
        <p14:creationId xmlns:p14="http://schemas.microsoft.com/office/powerpoint/2010/main" val="399303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2. Determinístico vs estocástico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487628" y="5079555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Estocástico cuando las acciones del agente </a:t>
            </a:r>
            <a:r>
              <a:rPr lang="es-CO" sz="2000" b="1" dirty="0" smtClean="0"/>
              <a:t>NO</a:t>
            </a:r>
            <a:r>
              <a:rPr lang="es-CO" sz="2000" dirty="0" smtClean="0"/>
              <a:t> determinan únicamente la salida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25" y="3022481"/>
            <a:ext cx="2886075" cy="192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9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>
                <a:solidFill>
                  <a:srgbClr val="FF0000"/>
                </a:solidFill>
              </a:rPr>
              <a:t>3</a:t>
            </a:r>
            <a:r>
              <a:rPr lang="es-CO" sz="2000" b="1" dirty="0" smtClean="0">
                <a:solidFill>
                  <a:srgbClr val="FF0000"/>
                </a:solidFill>
              </a:rPr>
              <a:t>. Discreto vs continuo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2920775"/>
            <a:ext cx="3848100" cy="2012399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487628" y="5079555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Discreto si el número de acciones que se pueden llevar a cabo es finito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387" y="2827459"/>
            <a:ext cx="3557588" cy="199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>
                <a:solidFill>
                  <a:srgbClr val="FF0000"/>
                </a:solidFill>
              </a:rPr>
              <a:t>3</a:t>
            </a:r>
            <a:r>
              <a:rPr lang="es-CO" sz="2000" b="1" dirty="0" smtClean="0">
                <a:solidFill>
                  <a:srgbClr val="FF0000"/>
                </a:solidFill>
              </a:rPr>
              <a:t>. Discreto vs continuo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487628" y="5079555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Continuo si el número de acciones que se pueden llevar a cabo es infinito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11" y="2712063"/>
            <a:ext cx="4223514" cy="230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7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4. Benigno vs adversario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254633" y="5604400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Benigno si el objetivo del ambiente no va en contraposición al del agente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2835141"/>
            <a:ext cx="3862388" cy="276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5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Terminología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1136047" y="22517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000" b="1" dirty="0" smtClean="0">
                <a:solidFill>
                  <a:srgbClr val="FF0000"/>
                </a:solidFill>
              </a:rPr>
              <a:t>4. Benigno vs adversario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487628" y="5079555"/>
            <a:ext cx="105209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Adversario si el objetivo del ambiente está en contra del objetivo del agente</a:t>
            </a:r>
          </a:p>
        </p:txBody>
      </p:sp>
      <p:pic>
        <p:nvPicPr>
          <p:cNvPr id="14338" name="Picture 2" descr="Resultado de imagen para check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300" y="2905972"/>
            <a:ext cx="28575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02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739140" y="1535977"/>
            <a:ext cx="81122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b="1" dirty="0" smtClean="0"/>
              <a:t>En resumen…</a:t>
            </a:r>
            <a:endParaRPr lang="es-CO" sz="2400" b="1" dirty="0"/>
          </a:p>
        </p:txBody>
      </p:sp>
      <p:sp>
        <p:nvSpPr>
          <p:cNvPr id="24" name="Rectángulo 23"/>
          <p:cNvSpPr/>
          <p:nvPr/>
        </p:nvSpPr>
        <p:spPr>
          <a:xfrm>
            <a:off x="4993672" y="6348991"/>
            <a:ext cx="3508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https://classroom.udacity.com/courses/cs271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078053" y="2269680"/>
            <a:ext cx="10520934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s-CO" sz="2000" dirty="0" smtClean="0"/>
              <a:t>La inteligencia artificial se puede entender como el manejo de la incertidumbre.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La inteligencia artificial es lo que hacemos que las máquinas hagan cuándo no sabemos qué hacer.</a:t>
            </a:r>
          </a:p>
          <a:p>
            <a:pPr>
              <a:spcAft>
                <a:spcPts val="600"/>
              </a:spcAft>
            </a:pPr>
            <a:r>
              <a:rPr lang="es-CO" sz="2000" dirty="0"/>
              <a:t> </a:t>
            </a:r>
            <a:r>
              <a:rPr lang="es-CO" sz="2000" dirty="0" smtClean="0"/>
              <a:t/>
            </a:r>
            <a:br>
              <a:rPr lang="es-CO" sz="2000" dirty="0" smtClean="0"/>
            </a:br>
            <a:r>
              <a:rPr lang="es-CO" sz="2000" dirty="0" smtClean="0"/>
              <a:t>      </a:t>
            </a:r>
            <a:r>
              <a:rPr lang="es-CO" sz="2000" b="1" dirty="0" smtClean="0"/>
              <a:t>Causas de la incertidumbre (de los datos):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Límites de los sensores.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Adversarios.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Pereza.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Ambientes estocásticos.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Ignorancia.</a:t>
            </a:r>
          </a:p>
          <a:p>
            <a:pPr marL="342900" indent="-342900">
              <a:buFontTx/>
              <a:buChar char="-"/>
            </a:pPr>
            <a:endParaRPr lang="es-CO" sz="2000" dirty="0" smtClean="0"/>
          </a:p>
          <a:p>
            <a:endParaRPr lang="es-CO" sz="2000" dirty="0" smtClean="0"/>
          </a:p>
        </p:txBody>
      </p:sp>
    </p:spTree>
    <p:extLst>
      <p:ext uri="{BB962C8B-B14F-4D97-AF65-F5344CB8AC3E}">
        <p14:creationId xmlns:p14="http://schemas.microsoft.com/office/powerpoint/2010/main" val="2557566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393</Words>
  <Application>Microsoft Office PowerPoint</Application>
  <PresentationFormat>Panorámica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Carlos Alejandro Trujillo Anaya</cp:lastModifiedBy>
  <cp:revision>99</cp:revision>
  <dcterms:created xsi:type="dcterms:W3CDTF">2017-07-31T19:21:32Z</dcterms:created>
  <dcterms:modified xsi:type="dcterms:W3CDTF">2019-02-08T20:45:43Z</dcterms:modified>
</cp:coreProperties>
</file>
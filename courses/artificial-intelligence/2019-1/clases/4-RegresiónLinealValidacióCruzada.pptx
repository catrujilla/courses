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8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1" autoAdjust="0"/>
    <p:restoredTop sz="94610" autoAdjust="0"/>
  </p:normalViewPr>
  <p:slideViewPr>
    <p:cSldViewPr snapToGrid="0">
      <p:cViewPr varScale="1">
        <p:scale>
          <a:sx n="106" d="100"/>
          <a:sy n="106" d="100"/>
        </p:scale>
        <p:origin x="2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CD579-DF9B-412F-8E3D-C91BFC395CAE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9A9AB-28CE-45AB-A29C-4FBE97946A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17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9A9AB-28CE-45AB-A29C-4FBE97946AF8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711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lostrujillo@itm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70072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 smtClean="0"/>
              <a:t>Regresión lineal y validación cruzada</a:t>
            </a:r>
            <a:endParaRPr lang="es-CO" sz="3600" dirty="0"/>
          </a:p>
          <a:p>
            <a:r>
              <a:rPr lang="es-CO" sz="2400" dirty="0" smtClean="0"/>
              <a:t>Marzo 22 </a:t>
            </a:r>
            <a:r>
              <a:rPr lang="es-CO" sz="2400" dirty="0"/>
              <a:t>de 2019 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409700" y="3140822"/>
            <a:ext cx="10287000" cy="261610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400" dirty="0"/>
              <a:t>Carlos Alejandro Trujillo Anaya – </a:t>
            </a:r>
            <a:r>
              <a:rPr lang="es-CO" sz="2400" b="1" dirty="0">
                <a:hlinkClick r:id="rId2"/>
              </a:rPr>
              <a:t>carlostrujillo@itm.edu.co</a:t>
            </a:r>
            <a:endParaRPr lang="es-CO" sz="2400" b="1" dirty="0"/>
          </a:p>
          <a:p>
            <a:r>
              <a:rPr lang="es-CO" sz="2000" dirty="0"/>
              <a:t>M212</a:t>
            </a:r>
          </a:p>
          <a:p>
            <a:r>
              <a:rPr lang="es-CO" sz="2400" dirty="0"/>
              <a:t>Departamento de electrónica y telecomunicaciones</a:t>
            </a:r>
          </a:p>
          <a:p>
            <a:r>
              <a:rPr lang="es-CO" sz="2400" dirty="0"/>
              <a:t>Inteligencia Artificial I</a:t>
            </a:r>
          </a:p>
          <a:p>
            <a:r>
              <a:rPr lang="es-CO" sz="2400" dirty="0"/>
              <a:t>Asignatura perteneciente a Ingeniería electrónica</a:t>
            </a:r>
          </a:p>
          <a:p>
            <a:r>
              <a:rPr lang="es-CO" sz="2400" dirty="0"/>
              <a:t>Viernes 16-18</a:t>
            </a:r>
          </a:p>
          <a:p>
            <a:r>
              <a:rPr lang="es-CO" sz="2400" dirty="0"/>
              <a:t>O2</a:t>
            </a:r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964971" y="2089575"/>
            <a:ext cx="37844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La regresión lineal es quizás uno de los algoritmos más conocidos y entendidos en estadística y </a:t>
            </a:r>
            <a:r>
              <a:rPr lang="es-CO" i="1" dirty="0" smtClean="0"/>
              <a:t>machine </a:t>
            </a:r>
            <a:r>
              <a:rPr lang="es-CO" i="1" dirty="0" err="1" smtClean="0"/>
              <a:t>learning</a:t>
            </a:r>
            <a:r>
              <a:rPr lang="es-CO" dirty="0" smtClean="0"/>
              <a:t>.</a:t>
            </a:r>
            <a:endParaRPr lang="es-CO" dirty="0"/>
          </a:p>
        </p:txBody>
      </p:sp>
      <p:pic>
        <p:nvPicPr>
          <p:cNvPr id="7170" name="Picture 2" descr="Resultado de imagen para linear regres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298" y="2349080"/>
            <a:ext cx="5153025" cy="38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7072192" y="3601617"/>
            <a:ext cx="3785136" cy="13430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dirty="0"/>
              <a:t>La regresión lineal es un modelo </a:t>
            </a:r>
            <a:r>
              <a:rPr lang="es-CO" dirty="0" smtClean="0"/>
              <a:t>que </a:t>
            </a:r>
            <a:r>
              <a:rPr lang="es-CO" dirty="0"/>
              <a:t>asume una relación lineal entre las variables de entrada </a:t>
            </a:r>
            <a:r>
              <a:rPr lang="es-CO" b="1" i="1" dirty="0" smtClean="0"/>
              <a:t>x</a:t>
            </a:r>
            <a:r>
              <a:rPr lang="es-CO" dirty="0" smtClean="0"/>
              <a:t> </a:t>
            </a:r>
            <a:r>
              <a:rPr lang="es-CO" dirty="0"/>
              <a:t>y la variable de salida única </a:t>
            </a:r>
            <a:r>
              <a:rPr lang="es-CO" b="1" i="1" dirty="0" smtClean="0"/>
              <a:t>y</a:t>
            </a:r>
            <a:r>
              <a:rPr lang="es-CO" dirty="0" smtClean="0"/>
              <a:t>. </a:t>
            </a:r>
          </a:p>
          <a:p>
            <a:pPr algn="ctr"/>
            <a:endParaRPr lang="es-CO" dirty="0"/>
          </a:p>
          <a:p>
            <a:pPr algn="ctr"/>
            <a:r>
              <a:rPr lang="es-CO" dirty="0" smtClean="0"/>
              <a:t>Más </a:t>
            </a:r>
            <a:r>
              <a:rPr lang="es-CO" dirty="0"/>
              <a:t>específicamente, </a:t>
            </a:r>
            <a:r>
              <a:rPr lang="es-CO" b="1" i="1" dirty="0" smtClean="0"/>
              <a:t>y</a:t>
            </a:r>
            <a:r>
              <a:rPr lang="es-CO" dirty="0" smtClean="0"/>
              <a:t> </a:t>
            </a:r>
            <a:r>
              <a:rPr lang="es-CO" dirty="0"/>
              <a:t>puede calcularse a partir de una combinación lineal de las variables de entrada </a:t>
            </a:r>
            <a:r>
              <a:rPr lang="es-CO" b="1" i="1" dirty="0" smtClean="0"/>
              <a:t>x</a:t>
            </a:r>
            <a:r>
              <a:rPr lang="es-CO" dirty="0" smtClean="0"/>
              <a:t>.</a:t>
            </a:r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2124634" y="6398595"/>
            <a:ext cx="8211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https://medium.com/coinmonks/linear-regression-with-tensorflow-canned-estimators-6cc4ffddd14f</a:t>
            </a:r>
          </a:p>
        </p:txBody>
      </p:sp>
    </p:spTree>
    <p:extLst>
      <p:ext uri="{BB962C8B-B14F-4D97-AF65-F5344CB8AC3E}">
        <p14:creationId xmlns:p14="http://schemas.microsoft.com/office/powerpoint/2010/main" val="320654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76237" y="2179603"/>
            <a:ext cx="70647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Representación del modelo de una regresión lineal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2383530" y="2861534"/>
                <a:ext cx="40359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530" y="2861534"/>
                <a:ext cx="4035977" cy="276999"/>
              </a:xfrm>
              <a:prstGeom prst="rect">
                <a:avLst/>
              </a:prstGeom>
              <a:blipFill rotWithShape="0">
                <a:blip r:embed="rId2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/>
          <p:cNvSpPr/>
          <p:nvPr/>
        </p:nvSpPr>
        <p:spPr>
          <a:xfrm>
            <a:off x="4908634" y="3369681"/>
            <a:ext cx="6978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Tanto los valores para </a:t>
            </a:r>
            <a:r>
              <a:rPr lang="es-CO" b="1" i="1" dirty="0" smtClean="0"/>
              <a:t>y</a:t>
            </a:r>
            <a:r>
              <a:rPr lang="es-CO" dirty="0" smtClean="0"/>
              <a:t> </a:t>
            </a:r>
            <a:r>
              <a:rPr lang="es-CO" dirty="0" err="1" smtClean="0"/>
              <a:t>y</a:t>
            </a:r>
            <a:r>
              <a:rPr lang="es-CO" dirty="0" smtClean="0"/>
              <a:t> para </a:t>
            </a:r>
            <a:r>
              <a:rPr lang="es-CO" b="1" i="1" dirty="0" smtClean="0"/>
              <a:t>x</a:t>
            </a:r>
            <a:r>
              <a:rPr lang="es-CO" dirty="0" smtClean="0"/>
              <a:t> son valores numéricos!</a:t>
            </a:r>
            <a:endParaRPr lang="es-CO" dirty="0"/>
          </a:p>
        </p:txBody>
      </p:sp>
      <p:sp>
        <p:nvSpPr>
          <p:cNvPr id="10" name="Rectángulo 9"/>
          <p:cNvSpPr/>
          <p:nvPr/>
        </p:nvSpPr>
        <p:spPr>
          <a:xfrm>
            <a:off x="1376237" y="4109505"/>
            <a:ext cx="104213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Si existe solo una variable independiente entonces tenemos una regresión lineal simple.</a:t>
            </a:r>
          </a:p>
          <a:p>
            <a:endParaRPr lang="es-CO" dirty="0"/>
          </a:p>
          <a:p>
            <a:r>
              <a:rPr lang="es-CO" dirty="0" smtClean="0"/>
              <a:t>Si existe más de una variables independiente entonces tenemos una regresión lineal múltiple</a:t>
            </a:r>
          </a:p>
          <a:p>
            <a:endParaRPr lang="es-CO" dirty="0"/>
          </a:p>
          <a:p>
            <a:r>
              <a:rPr lang="es-CO" dirty="0" smtClean="0"/>
              <a:t>La regresión lineal modela una recta, un plano o un </a:t>
            </a:r>
            <a:r>
              <a:rPr lang="es-CO" dirty="0" err="1" smtClean="0"/>
              <a:t>hiperplano</a:t>
            </a:r>
            <a:r>
              <a:rPr lang="es-CO" dirty="0"/>
              <a:t> </a:t>
            </a:r>
            <a:r>
              <a:rPr lang="es-CO" dirty="0" smtClean="0"/>
              <a:t>dependiente del número de variables independientes.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7530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Ajustar un </a:t>
            </a:r>
            <a:r>
              <a:rPr lang="es-CO" dirty="0"/>
              <a:t>modelo de regresión lineal </a:t>
            </a:r>
            <a:r>
              <a:rPr lang="es-CO" dirty="0" smtClean="0"/>
              <a:t>involucra </a:t>
            </a:r>
            <a:r>
              <a:rPr lang="es-CO" b="1" i="1" dirty="0" smtClean="0"/>
              <a:t>estimar</a:t>
            </a:r>
            <a:r>
              <a:rPr lang="es-CO" dirty="0" smtClean="0"/>
              <a:t> </a:t>
            </a:r>
            <a:r>
              <a:rPr lang="es-CO" dirty="0"/>
              <a:t>los valores de los coeficientes utilizados en la representación con los datos que tenemos disponibles.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285" y="3235760"/>
            <a:ext cx="4687359" cy="2755165"/>
          </a:xfrm>
          <a:prstGeom prst="rect">
            <a:avLst/>
          </a:prstGeom>
        </p:spPr>
      </p:pic>
      <p:sp>
        <p:nvSpPr>
          <p:cNvPr id="5" name="Flecha derecha 4"/>
          <p:cNvSpPr/>
          <p:nvPr/>
        </p:nvSpPr>
        <p:spPr>
          <a:xfrm>
            <a:off x="7109012" y="4446494"/>
            <a:ext cx="510988" cy="34962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7804368" y="4474842"/>
                <a:ext cx="20963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368" y="4474842"/>
                <a:ext cx="2096343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326" t="-2174" r="-872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/>
          <p:cNvSpPr/>
          <p:nvPr/>
        </p:nvSpPr>
        <p:spPr>
          <a:xfrm>
            <a:off x="1846728" y="6403290"/>
            <a:ext cx="73420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https://www.macinchem.org/reviews/statplus_review/statplus.php</a:t>
            </a:r>
          </a:p>
        </p:txBody>
      </p:sp>
    </p:spTree>
    <p:extLst>
      <p:ext uri="{BB962C8B-B14F-4D97-AF65-F5344CB8AC3E}">
        <p14:creationId xmlns:p14="http://schemas.microsoft.com/office/powerpoint/2010/main" val="153504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8" y="2291603"/>
            <a:ext cx="28656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Regresión lineal simple.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2291074" y="2820261"/>
                <a:ext cx="20963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74" y="2820261"/>
                <a:ext cx="2096343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326" t="-4444" r="-872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3382092"/>
            <a:ext cx="27201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Estimemos </a:t>
            </a:r>
            <a:r>
              <a:rPr lang="es-CO" b="1" i="1" dirty="0" smtClean="0"/>
              <a:t>c</a:t>
            </a:r>
            <a:r>
              <a:rPr lang="es-CO" b="1" i="1" baseline="-25000" dirty="0" smtClean="0"/>
              <a:t>1</a:t>
            </a:r>
            <a:r>
              <a:rPr lang="es-CO" dirty="0" smtClean="0"/>
              <a:t> y </a:t>
            </a:r>
            <a:r>
              <a:rPr lang="es-CO" b="1" i="1" dirty="0" smtClean="0"/>
              <a:t>w</a:t>
            </a:r>
            <a:endParaRPr lang="es-CO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2291074" y="4036256"/>
                <a:ext cx="2583400" cy="607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s-CO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74" y="4036256"/>
                <a:ext cx="2583400" cy="6076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3"/>
          <p:cNvCxnSpPr/>
          <p:nvPr/>
        </p:nvCxnSpPr>
        <p:spPr>
          <a:xfrm>
            <a:off x="3843229" y="4109898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>
            <a:off x="4617137" y="4109759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4163906" y="4439165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 flipH="1">
            <a:off x="4908634" y="3857088"/>
            <a:ext cx="701040" cy="2526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 flipH="1" flipV="1">
            <a:off x="4544228" y="4592000"/>
            <a:ext cx="684446" cy="3178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596209" y="3629205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Covarianza de </a:t>
            </a:r>
            <a:r>
              <a:rPr lang="es-CO" b="1" i="1" dirty="0" smtClean="0"/>
              <a:t>(</a:t>
            </a:r>
            <a:r>
              <a:rPr lang="es-CO" b="1" i="1" dirty="0" err="1" smtClean="0"/>
              <a:t>x,y</a:t>
            </a:r>
            <a:r>
              <a:rPr lang="es-CO" b="1" i="1" dirty="0" smtClean="0"/>
              <a:t>)</a:t>
            </a:r>
            <a:endParaRPr lang="es-CO" b="1" i="1" dirty="0"/>
          </a:p>
        </p:txBody>
      </p:sp>
      <p:sp>
        <p:nvSpPr>
          <p:cNvPr id="2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228674" y="4725154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Varianza de </a:t>
            </a:r>
            <a:r>
              <a:rPr lang="es-CO" b="1" i="1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/>
              <p:cNvSpPr txBox="1"/>
              <p:nvPr/>
            </p:nvSpPr>
            <p:spPr>
              <a:xfrm>
                <a:off x="2291074" y="5477736"/>
                <a:ext cx="13049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5" name="CuadroTexto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74" y="5477736"/>
                <a:ext cx="1304909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467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recto 25"/>
          <p:cNvCxnSpPr/>
          <p:nvPr/>
        </p:nvCxnSpPr>
        <p:spPr>
          <a:xfrm>
            <a:off x="2836854" y="5546791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/>
          <p:nvPr/>
        </p:nvCxnSpPr>
        <p:spPr>
          <a:xfrm>
            <a:off x="3432399" y="5546652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/>
              <p:cNvSpPr txBox="1"/>
              <p:nvPr/>
            </p:nvSpPr>
            <p:spPr>
              <a:xfrm>
                <a:off x="4268199" y="5970794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8" name="Cuadro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99" y="5970794"/>
                <a:ext cx="186718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32258" r="-25806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/>
          <p:cNvCxnSpPr/>
          <p:nvPr/>
        </p:nvCxnSpPr>
        <p:spPr>
          <a:xfrm>
            <a:off x="4309411" y="6039571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/>
              <p:cNvSpPr txBox="1"/>
              <p:nvPr/>
            </p:nvSpPr>
            <p:spPr>
              <a:xfrm>
                <a:off x="4268199" y="6316570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0" name="CuadroTexto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99" y="6316570"/>
                <a:ext cx="183320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ctor recto 30"/>
          <p:cNvCxnSpPr/>
          <p:nvPr/>
        </p:nvCxnSpPr>
        <p:spPr>
          <a:xfrm>
            <a:off x="4309411" y="6385347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4451519" y="6270403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</a:t>
            </a:r>
            <a:r>
              <a:rPr lang="es-CO" dirty="0" smtClean="0"/>
              <a:t>edia de </a:t>
            </a:r>
            <a:r>
              <a:rPr lang="es-CO" b="1" i="1" dirty="0"/>
              <a:t>x</a:t>
            </a:r>
          </a:p>
        </p:txBody>
      </p:sp>
      <p:sp>
        <p:nvSpPr>
          <p:cNvPr id="3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4451518" y="5947238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</a:t>
            </a:r>
            <a:r>
              <a:rPr lang="es-CO" dirty="0" smtClean="0"/>
              <a:t>edia de </a:t>
            </a:r>
            <a:r>
              <a:rPr lang="es-CO" b="1" i="1" dirty="0" smtClean="0"/>
              <a:t>y</a:t>
            </a:r>
            <a:endParaRPr lang="es-CO" b="1" i="1" dirty="0"/>
          </a:p>
        </p:txBody>
      </p:sp>
      <p:sp>
        <p:nvSpPr>
          <p:cNvPr id="3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269316" y="4542466"/>
            <a:ext cx="44894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Raíz del error cuadrático medio </a:t>
            </a:r>
            <a:r>
              <a:rPr lang="es-CO" b="1" i="1" dirty="0" smtClean="0"/>
              <a:t>RMSE</a:t>
            </a:r>
            <a:endParaRPr lang="es-CO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/>
              <p:cNvSpPr txBox="1"/>
              <p:nvPr/>
            </p:nvSpPr>
            <p:spPr>
              <a:xfrm>
                <a:off x="7691943" y="5041653"/>
                <a:ext cx="2545633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CO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𝑦𝑖</m:t>
                                      </m:r>
                                    </m:e>
                                  </m:d>
                                  <m:r>
                                    <a:rPr lang="es-CO" i="1" baseline="30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5" name="CuadroTexto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943" y="5041653"/>
                <a:ext cx="2545633" cy="8183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278281" y="5952240"/>
            <a:ext cx="4489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 p</a:t>
            </a:r>
            <a:r>
              <a:rPr lang="es-CO" b="1" i="1" baseline="-25000" dirty="0" smtClean="0"/>
              <a:t>i</a:t>
            </a:r>
            <a:r>
              <a:rPr lang="es-CO" b="1" i="1" dirty="0" smtClean="0"/>
              <a:t> </a:t>
            </a:r>
            <a:r>
              <a:rPr lang="es-CO" dirty="0" smtClean="0"/>
              <a:t>valor predicho</a:t>
            </a:r>
          </a:p>
          <a:p>
            <a:r>
              <a:rPr lang="es-CO" b="1" i="1" dirty="0"/>
              <a:t> </a:t>
            </a:r>
            <a:r>
              <a:rPr lang="es-CO" b="1" i="1" dirty="0" err="1" smtClean="0"/>
              <a:t>y</a:t>
            </a:r>
            <a:r>
              <a:rPr lang="es-CO" b="1" i="1" baseline="-25000" dirty="0" err="1" smtClean="0"/>
              <a:t>i</a:t>
            </a:r>
            <a:r>
              <a:rPr lang="es-CO" b="1" i="1" dirty="0" smtClean="0"/>
              <a:t> </a:t>
            </a:r>
            <a:r>
              <a:rPr lang="es-CO" dirty="0" smtClean="0"/>
              <a:t>valor real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1115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Regresión lineal simple. Ejemplo numérico.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2291074" y="2820261"/>
                <a:ext cx="20963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74" y="2820261"/>
                <a:ext cx="2096343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326" t="-4444" r="-872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/>
          <p:cNvSpPr/>
          <p:nvPr/>
        </p:nvSpPr>
        <p:spPr>
          <a:xfrm>
            <a:off x="1443757" y="3351910"/>
            <a:ext cx="4410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i-FI" dirty="0">
                <a:solidFill>
                  <a:srgbClr val="002D7A"/>
                </a:solidFill>
                <a:latin typeface="Monaco"/>
              </a:rPr>
              <a:t>dataset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=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1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1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2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3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4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3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3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2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5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5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]]</a:t>
            </a:r>
            <a:endParaRPr lang="es-CO" dirty="0"/>
          </a:p>
        </p:txBody>
      </p:sp>
      <p:sp>
        <p:nvSpPr>
          <p:cNvPr id="3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3975892"/>
            <a:ext cx="9623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Trabajemos</a:t>
            </a:r>
            <a:endParaRPr lang="es-CO" b="1" i="1" dirty="0"/>
          </a:p>
        </p:txBody>
      </p:sp>
    </p:spTree>
    <p:extLst>
      <p:ext uri="{BB962C8B-B14F-4D97-AF65-F5344CB8AC3E}">
        <p14:creationId xmlns:p14="http://schemas.microsoft.com/office/powerpoint/2010/main" val="210711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Mínimos cuadrados </a:t>
            </a:r>
            <a:r>
              <a:rPr lang="es-CO" dirty="0" smtClean="0"/>
              <a:t>ordinarios </a:t>
            </a:r>
            <a:r>
              <a:rPr lang="es-CO" b="1" i="1" dirty="0" smtClean="0"/>
              <a:t>(</a:t>
            </a:r>
            <a:r>
              <a:rPr lang="es-CO" b="1" i="1" dirty="0" err="1" smtClean="0"/>
              <a:t>Ordinary</a:t>
            </a:r>
            <a:r>
              <a:rPr lang="es-CO" b="1" i="1" dirty="0" smtClean="0"/>
              <a:t> </a:t>
            </a:r>
            <a:r>
              <a:rPr lang="es-CO" b="1" i="1" dirty="0" err="1" smtClean="0"/>
              <a:t>least</a:t>
            </a:r>
            <a:r>
              <a:rPr lang="es-CO" b="1" i="1" dirty="0" smtClean="0"/>
              <a:t> </a:t>
            </a:r>
            <a:r>
              <a:rPr lang="es-CO" b="1" i="1" dirty="0" err="1" smtClean="0"/>
              <a:t>squares</a:t>
            </a:r>
            <a:r>
              <a:rPr lang="es-CO" b="1" i="1" dirty="0" smtClean="0"/>
              <a:t>)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1936403" y="6390088"/>
            <a:ext cx="4124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https://en.wikipedia.org/wiki/Ordinary_least_squares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864" y="2891731"/>
            <a:ext cx="4251614" cy="372341"/>
          </a:xfrm>
          <a:prstGeom prst="rect">
            <a:avLst/>
          </a:prstGeom>
        </p:spPr>
      </p:pic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3439981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En forma vectorial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728" y="3940061"/>
            <a:ext cx="1350818" cy="346364"/>
          </a:xfrm>
          <a:prstGeom prst="rect">
            <a:avLst/>
          </a:prstGeom>
        </p:spPr>
      </p:pic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290491" y="5561186"/>
            <a:ext cx="4522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i="1" dirty="0"/>
              <a:t>https://www.youtube.com/watch?v=VZkXjh0m1Rg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248" y="5000885"/>
            <a:ext cx="4067175" cy="88582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250" y="4234974"/>
            <a:ext cx="2130136" cy="1316182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409" y="2017618"/>
            <a:ext cx="3455768" cy="1385457"/>
          </a:xfrm>
          <a:prstGeom prst="rect">
            <a:avLst/>
          </a:prstGeom>
        </p:spPr>
      </p:pic>
      <p:sp>
        <p:nvSpPr>
          <p:cNvPr id="16" name="Flecha derecha 15"/>
          <p:cNvSpPr/>
          <p:nvPr/>
        </p:nvSpPr>
        <p:spPr>
          <a:xfrm rot="17615684">
            <a:off x="8713696" y="3449192"/>
            <a:ext cx="717176" cy="367634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/>
          <p:cNvSpPr/>
          <p:nvPr/>
        </p:nvSpPr>
        <p:spPr>
          <a:xfrm>
            <a:off x="7951694" y="1778333"/>
            <a:ext cx="808610" cy="713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4593618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Suponiendo el problema </a:t>
            </a:r>
            <a:r>
              <a:rPr lang="es-CO" b="1" i="1" dirty="0" err="1" smtClean="0"/>
              <a:t>sobredeterminado</a:t>
            </a:r>
            <a:endParaRPr lang="es-CO" b="1" i="1" dirty="0" smtClean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552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Mínimos cuadrados </a:t>
            </a:r>
            <a:r>
              <a:rPr lang="es-CO" dirty="0" smtClean="0"/>
              <a:t>ordinarios </a:t>
            </a:r>
            <a:r>
              <a:rPr lang="es-CO" b="1" i="1" dirty="0" smtClean="0"/>
              <a:t>(</a:t>
            </a:r>
            <a:r>
              <a:rPr lang="es-CO" b="1" i="1" dirty="0" err="1" smtClean="0"/>
              <a:t>Ordinary</a:t>
            </a:r>
            <a:r>
              <a:rPr lang="es-CO" b="1" i="1" dirty="0" smtClean="0"/>
              <a:t> </a:t>
            </a:r>
            <a:r>
              <a:rPr lang="es-CO" b="1" i="1" dirty="0" err="1" smtClean="0"/>
              <a:t>least</a:t>
            </a:r>
            <a:r>
              <a:rPr lang="es-CO" b="1" i="1" dirty="0" smtClean="0"/>
              <a:t> </a:t>
            </a:r>
            <a:r>
              <a:rPr lang="es-CO" b="1" i="1" dirty="0" err="1" smtClean="0"/>
              <a:t>squares</a:t>
            </a:r>
            <a:r>
              <a:rPr lang="es-CO" b="1" i="1" dirty="0" smtClean="0"/>
              <a:t>)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1936403" y="6390088"/>
            <a:ext cx="4124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https://en.wikipedia.org/wiki/Ordinary_least_squares</a:t>
            </a:r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6" y="281625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En su versión matricial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6" y="3884797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donde</a:t>
            </a:r>
            <a:endParaRPr lang="es-CO" b="1" i="1" dirty="0" smtClean="0"/>
          </a:p>
          <a:p>
            <a:endParaRPr lang="es-CO" dirty="0"/>
          </a:p>
          <a:p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55" y="3283007"/>
            <a:ext cx="1073727" cy="44161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403" y="4264233"/>
            <a:ext cx="7195705" cy="180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7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Mínimos cuadrados </a:t>
            </a:r>
            <a:r>
              <a:rPr lang="es-CO" dirty="0" smtClean="0"/>
              <a:t>ordinarios </a:t>
            </a:r>
            <a:r>
              <a:rPr lang="es-CO" b="1" i="1" dirty="0" smtClean="0"/>
              <a:t>(</a:t>
            </a:r>
            <a:r>
              <a:rPr lang="es-CO" b="1" i="1" dirty="0" err="1" smtClean="0"/>
              <a:t>Ordinary</a:t>
            </a:r>
            <a:r>
              <a:rPr lang="es-CO" b="1" i="1" dirty="0" smtClean="0"/>
              <a:t> </a:t>
            </a:r>
            <a:r>
              <a:rPr lang="es-CO" b="1" i="1" dirty="0" err="1" smtClean="0"/>
              <a:t>least</a:t>
            </a:r>
            <a:r>
              <a:rPr lang="es-CO" b="1" i="1" dirty="0" smtClean="0"/>
              <a:t> </a:t>
            </a:r>
            <a:r>
              <a:rPr lang="es-CO" b="1" i="1" dirty="0" err="1" smtClean="0"/>
              <a:t>squares</a:t>
            </a:r>
            <a:r>
              <a:rPr lang="es-CO" b="1" i="1" dirty="0" smtClean="0"/>
              <a:t>)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1936403" y="6390088"/>
            <a:ext cx="4124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https://en.wikipedia.org/wiki/Ordinary_least_squares</a:t>
            </a:r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6" y="281625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El objetivo entonces es minimizar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6" y="3899160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</a:t>
            </a:r>
            <a:r>
              <a:rPr lang="es-CO" dirty="0" smtClean="0"/>
              <a:t>onde la función objetivo es</a:t>
            </a:r>
            <a:endParaRPr lang="es-CO" b="1" i="1" dirty="0" smtClean="0"/>
          </a:p>
          <a:p>
            <a:endParaRPr lang="es-CO" dirty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696" y="3256668"/>
            <a:ext cx="2234045" cy="7187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265" y="4323599"/>
            <a:ext cx="4857750" cy="917864"/>
          </a:xfrm>
          <a:prstGeom prst="rect">
            <a:avLst/>
          </a:prstGeom>
        </p:spPr>
      </p:pic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308157" y="4562059"/>
            <a:ext cx="25341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>
                <a:solidFill>
                  <a:srgbClr val="FF0000"/>
                </a:solidFill>
              </a:rPr>
              <a:t>¿Quién es?</a:t>
            </a:r>
          </a:p>
          <a:p>
            <a:endParaRPr lang="es-CO" b="1" i="1" dirty="0">
              <a:solidFill>
                <a:srgbClr val="FF0000"/>
              </a:solidFill>
            </a:endParaRPr>
          </a:p>
          <a:p>
            <a:endParaRPr lang="es-CO" b="1" i="1" dirty="0">
              <a:solidFill>
                <a:srgbClr val="FF0000"/>
              </a:solidFill>
            </a:endParaRPr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5" y="5485389"/>
            <a:ext cx="9623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Convirtiéndose finalmente en un problema de algebra lineal.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1218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Método del descenso del gradiente (próximo </a:t>
            </a:r>
            <a:r>
              <a:rPr lang="es-CO" dirty="0" err="1" smtClean="0"/>
              <a:t>quiz</a:t>
            </a:r>
            <a:r>
              <a:rPr lang="es-CO" dirty="0" smtClean="0"/>
              <a:t>).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768221" y="5538578"/>
            <a:ext cx="91776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/>
              <a:t>En la práctica, es útil cuando </a:t>
            </a:r>
            <a:r>
              <a:rPr lang="es-CO" sz="1600" dirty="0" smtClean="0"/>
              <a:t>se tiene </a:t>
            </a:r>
            <a:r>
              <a:rPr lang="es-CO" sz="1600" dirty="0"/>
              <a:t>un conjunto de datos muy </a:t>
            </a:r>
            <a:r>
              <a:rPr lang="es-CO" sz="1600" dirty="0" smtClean="0"/>
              <a:t>grande (ya sea porque se tiene muchas características o muchas muestras).</a:t>
            </a:r>
            <a:endParaRPr lang="es-CO" sz="1600" dirty="0"/>
          </a:p>
        </p:txBody>
      </p:sp>
      <p:pic>
        <p:nvPicPr>
          <p:cNvPr id="7170" name="Picture 2" descr="Resultado de imagen para gradient desc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11" y="2988132"/>
            <a:ext cx="5817335" cy="235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1974411" y="6320101"/>
            <a:ext cx="77590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https://www.researchgate.net/figure/LMS-algorithm-induced-gradient-descent_fig4_322909538</a:t>
            </a:r>
          </a:p>
        </p:txBody>
      </p:sp>
      <p:sp>
        <p:nvSpPr>
          <p:cNvPr id="6" name="Rectángulo 5"/>
          <p:cNvSpPr/>
          <p:nvPr/>
        </p:nvSpPr>
        <p:spPr>
          <a:xfrm>
            <a:off x="8023434" y="2882143"/>
            <a:ext cx="342012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/>
              <a:t>El descenso de gradiente es un algoritmo de optimización que se utiliza para minimizar alguna función moviéndose de forma iterativa en la dirección del descenso más pronunciado </a:t>
            </a:r>
            <a:r>
              <a:rPr lang="es-CO" sz="1600" dirty="0" smtClean="0"/>
              <a:t>siguiendo el </a:t>
            </a:r>
            <a:r>
              <a:rPr lang="es-CO" sz="1600" dirty="0"/>
              <a:t>negativo del </a:t>
            </a:r>
            <a:r>
              <a:rPr lang="es-CO" sz="1600" dirty="0" smtClean="0"/>
              <a:t>gradiente de la función.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21498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473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Métodos de regularización.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705671" y="5070675"/>
            <a:ext cx="5432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Reducir </a:t>
            </a:r>
            <a:r>
              <a:rPr lang="es-CO" dirty="0"/>
              <a:t>la suma de todos los coeficientes en el </a:t>
            </a:r>
            <a:r>
              <a:rPr lang="es-CO" dirty="0" smtClean="0"/>
              <a:t>modelo</a:t>
            </a:r>
            <a:r>
              <a:rPr lang="es-CO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3136565" y="4294247"/>
                <a:ext cx="40359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565" y="4294247"/>
                <a:ext cx="4035977" cy="276999"/>
              </a:xfrm>
              <a:prstGeom prst="rect">
                <a:avLst/>
              </a:prstGeom>
              <a:blipFill rotWithShape="0">
                <a:blip r:embed="rId2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de flecha 3"/>
          <p:cNvCxnSpPr/>
          <p:nvPr/>
        </p:nvCxnSpPr>
        <p:spPr>
          <a:xfrm flipV="1">
            <a:off x="4294094" y="4569451"/>
            <a:ext cx="179295" cy="5084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flipV="1">
            <a:off x="4975258" y="4571246"/>
            <a:ext cx="179295" cy="5084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V="1">
            <a:off x="5656422" y="4562177"/>
            <a:ext cx="179295" cy="5084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1443755" y="3000919"/>
            <a:ext cx="90090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Estos </a:t>
            </a:r>
            <a:r>
              <a:rPr lang="es-CO" dirty="0" smtClean="0"/>
              <a:t>métodos buscan </a:t>
            </a:r>
            <a:r>
              <a:rPr lang="es-CO" dirty="0"/>
              <a:t>minimizar tanto la suma del error cuadrado del modelo en los datos de entrenamiento (usando </a:t>
            </a:r>
            <a:r>
              <a:rPr lang="es-CO" i="1" dirty="0"/>
              <a:t>mínimos cuadrados ordinarios</a:t>
            </a:r>
            <a:r>
              <a:rPr lang="es-CO" dirty="0"/>
              <a:t>) como también reducir la complejidad del </a:t>
            </a:r>
            <a:r>
              <a:rPr lang="es-CO" dirty="0" smtClean="0"/>
              <a:t>modelo.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0139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01" y="3291340"/>
            <a:ext cx="3179936" cy="91189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02" y="4554115"/>
            <a:ext cx="3353430" cy="913141"/>
          </a:xfrm>
          <a:prstGeom prst="rect">
            <a:avLst/>
          </a:prstGeom>
        </p:spPr>
      </p:pic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473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Métodos de regularización.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2" name="Rectángulo 1"/>
          <p:cNvSpPr/>
          <p:nvPr/>
        </p:nvSpPr>
        <p:spPr>
          <a:xfrm>
            <a:off x="1443755" y="3000919"/>
            <a:ext cx="90090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Los dos </a:t>
            </a:r>
            <a:r>
              <a:rPr lang="es-CO" dirty="0"/>
              <a:t>ejemplos </a:t>
            </a:r>
            <a:r>
              <a:rPr lang="es-CO" dirty="0" smtClean="0"/>
              <a:t>por excelencia de métodos de </a:t>
            </a:r>
            <a:r>
              <a:rPr lang="es-CO" dirty="0"/>
              <a:t>regularización para regresión lineal son</a:t>
            </a:r>
            <a:r>
              <a:rPr lang="es-CO" dirty="0" smtClean="0"/>
              <a:t>:</a:t>
            </a:r>
          </a:p>
          <a:p>
            <a:endParaRPr lang="es-CO" dirty="0"/>
          </a:p>
          <a:p>
            <a:r>
              <a:rPr lang="es-CO" dirty="0" smtClean="0"/>
              <a:t>1. Regularización L1. L</a:t>
            </a:r>
            <a:r>
              <a:rPr lang="en-US" dirty="0" smtClean="0"/>
              <a:t>ASSO </a:t>
            </a:r>
            <a:r>
              <a:rPr lang="en-US" dirty="0"/>
              <a:t>(least absolute shrinkage and selection </a:t>
            </a:r>
            <a:r>
              <a:rPr lang="en-US" dirty="0" smtClean="0"/>
              <a:t>operator). </a:t>
            </a:r>
          </a:p>
          <a:p>
            <a:endParaRPr lang="en-US" dirty="0" smtClean="0"/>
          </a:p>
          <a:p>
            <a:r>
              <a:rPr lang="en-US" dirty="0" smtClean="0"/>
              <a:t>En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método</a:t>
            </a:r>
            <a:r>
              <a:rPr lang="en-US" dirty="0" smtClean="0"/>
              <a:t> </a:t>
            </a:r>
            <a:r>
              <a:rPr lang="es-CO" dirty="0" smtClean="0"/>
              <a:t>los OLS se modifica para incluir en la minimización a la suma absoluta </a:t>
            </a:r>
            <a:r>
              <a:rPr lang="es-CO" dirty="0"/>
              <a:t>de los </a:t>
            </a:r>
            <a:r>
              <a:rPr lang="es-CO" dirty="0" smtClean="0"/>
              <a:t>coeficientes del modelo.</a:t>
            </a:r>
          </a:p>
          <a:p>
            <a:endParaRPr lang="es-CO" dirty="0"/>
          </a:p>
          <a:p>
            <a:r>
              <a:rPr lang="es-CO" dirty="0" smtClean="0"/>
              <a:t>2. Regularización L2. Ridge.</a:t>
            </a:r>
          </a:p>
          <a:p>
            <a:endParaRPr lang="es-CO" dirty="0"/>
          </a:p>
          <a:p>
            <a:r>
              <a:rPr lang="es-CO" dirty="0" smtClean="0"/>
              <a:t>En este método los </a:t>
            </a:r>
            <a:r>
              <a:rPr lang="es-CO" dirty="0"/>
              <a:t>mínimos cuadrados ordinarios se modifican para minimizar también la suma absoluta cuadrada de los coeficientes</a:t>
            </a:r>
            <a:endParaRPr lang="es-CO" dirty="0" smtClean="0"/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512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443755" y="3000919"/>
            <a:ext cx="90090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Suponga linealidad. </a:t>
            </a:r>
            <a:r>
              <a:rPr lang="es-CO" dirty="0" smtClean="0"/>
              <a:t>La </a:t>
            </a:r>
            <a:r>
              <a:rPr lang="es-CO" dirty="0"/>
              <a:t>regresión lineal asume que la relación entre la entrada y la salida es </a:t>
            </a:r>
            <a:r>
              <a:rPr lang="es-CO" dirty="0" smtClean="0"/>
              <a:t>lineal (es obvio cuando hay un atributo, no tanto cuando hay centenares). Transformar </a:t>
            </a:r>
            <a:r>
              <a:rPr lang="es-CO" dirty="0"/>
              <a:t>los datos para </a:t>
            </a:r>
            <a:r>
              <a:rPr lang="es-CO" dirty="0" smtClean="0"/>
              <a:t>obtener una </a:t>
            </a:r>
            <a:r>
              <a:rPr lang="es-CO" dirty="0"/>
              <a:t>relación </a:t>
            </a:r>
            <a:r>
              <a:rPr lang="es-CO" dirty="0" smtClean="0"/>
              <a:t>lineal (</a:t>
            </a:r>
            <a:r>
              <a:rPr lang="es-CO" i="1" dirty="0" smtClean="0"/>
              <a:t>log</a:t>
            </a:r>
            <a:r>
              <a:rPr lang="es-CO" dirty="0" smtClean="0"/>
              <a:t> o </a:t>
            </a:r>
            <a:r>
              <a:rPr lang="es-CO" i="1" dirty="0" err="1" smtClean="0"/>
              <a:t>exp</a:t>
            </a:r>
            <a:r>
              <a:rPr lang="es-CO" dirty="0" smtClean="0"/>
              <a:t>) puede ser útil.</a:t>
            </a:r>
          </a:p>
          <a:p>
            <a:endParaRPr lang="es-CO" dirty="0"/>
          </a:p>
          <a:p>
            <a:r>
              <a:rPr lang="es-CO" b="1" i="1" dirty="0" smtClean="0"/>
              <a:t>Elimine </a:t>
            </a:r>
            <a:r>
              <a:rPr lang="es-CO" b="1" i="1" dirty="0"/>
              <a:t>el ruido. </a:t>
            </a:r>
            <a:r>
              <a:rPr lang="es-CO" dirty="0"/>
              <a:t>La regresión lineal asume que las variables de entrada y salida no son ruidosas. Considere el uso de operaciones de </a:t>
            </a:r>
            <a:r>
              <a:rPr lang="es-CO" dirty="0" smtClean="0"/>
              <a:t>filtrado de </a:t>
            </a:r>
            <a:r>
              <a:rPr lang="es-CO" dirty="0"/>
              <a:t>datos </a:t>
            </a:r>
            <a:r>
              <a:rPr lang="es-CO" dirty="0" smtClean="0"/>
              <a:t>para representar mejor los datos. </a:t>
            </a:r>
            <a:endParaRPr lang="es-CO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Consideraciones finales acerca de la regresión lineal: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764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443755" y="3000919"/>
            <a:ext cx="90090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Eliminar </a:t>
            </a:r>
            <a:r>
              <a:rPr lang="es-CO" b="1" i="1" dirty="0"/>
              <a:t>la </a:t>
            </a:r>
            <a:r>
              <a:rPr lang="es-CO" b="1" i="1" dirty="0" err="1" smtClean="0"/>
              <a:t>co</a:t>
            </a:r>
            <a:r>
              <a:rPr lang="es-CO" b="1" i="1" dirty="0" smtClean="0"/>
              <a:t>-linealidad</a:t>
            </a:r>
            <a:r>
              <a:rPr lang="es-CO" b="1" i="1" dirty="0"/>
              <a:t>. </a:t>
            </a:r>
            <a:r>
              <a:rPr lang="es-CO" dirty="0"/>
              <a:t>La regresión lineal </a:t>
            </a:r>
            <a:r>
              <a:rPr lang="es-CO" dirty="0" smtClean="0"/>
              <a:t>puede caer en </a:t>
            </a:r>
            <a:r>
              <a:rPr lang="es-CO" i="1" dirty="0" err="1" smtClean="0"/>
              <a:t>overfitting</a:t>
            </a:r>
            <a:r>
              <a:rPr lang="es-CO" dirty="0" smtClean="0"/>
              <a:t> cuando las variables </a:t>
            </a:r>
            <a:r>
              <a:rPr lang="es-CO" dirty="0"/>
              <a:t>de entrada </a:t>
            </a:r>
            <a:r>
              <a:rPr lang="es-CO" dirty="0" smtClean="0"/>
              <a:t>están </a:t>
            </a:r>
            <a:r>
              <a:rPr lang="es-CO" dirty="0"/>
              <a:t>altamente </a:t>
            </a:r>
            <a:r>
              <a:rPr lang="es-CO" dirty="0" smtClean="0"/>
              <a:t>correlacionadas</a:t>
            </a:r>
            <a:r>
              <a:rPr lang="es-CO" dirty="0"/>
              <a:t>. </a:t>
            </a:r>
            <a:r>
              <a:rPr lang="es-CO" dirty="0" smtClean="0"/>
              <a:t>Calcule las </a:t>
            </a:r>
            <a:r>
              <a:rPr lang="es-CO" dirty="0"/>
              <a:t>correlaciones </a:t>
            </a:r>
            <a:r>
              <a:rPr lang="es-CO" dirty="0" smtClean="0"/>
              <a:t>entre los distintos pares de variables en su conjunto de entrenamiento y elimine </a:t>
            </a:r>
            <a:r>
              <a:rPr lang="es-CO" dirty="0"/>
              <a:t>las más correlacionadas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b="1" i="1" dirty="0" smtClean="0"/>
              <a:t>Re-escalar entradas. </a:t>
            </a:r>
            <a:r>
              <a:rPr lang="es-CO" dirty="0" smtClean="0"/>
              <a:t>La </a:t>
            </a:r>
            <a:r>
              <a:rPr lang="es-CO" dirty="0"/>
              <a:t>regresión lineal a menudo hará predicciones más confiables si </a:t>
            </a:r>
            <a:r>
              <a:rPr lang="es-CO" dirty="0" smtClean="0"/>
              <a:t>re-escala </a:t>
            </a:r>
            <a:r>
              <a:rPr lang="es-CO" dirty="0"/>
              <a:t>las variables de entrada utilizando la estandarización o la normalización.</a:t>
            </a:r>
          </a:p>
          <a:p>
            <a:pPr marL="342900" indent="-342900">
              <a:buAutoNum type="arabicPeriod"/>
            </a:pPr>
            <a:endParaRPr lang="es-CO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Consideraciones finales acerca de la regresión lineal:</a:t>
            </a:r>
          </a:p>
        </p:txBody>
      </p:sp>
    </p:spTree>
    <p:extLst>
      <p:ext uri="{BB962C8B-B14F-4D97-AF65-F5344CB8AC3E}">
        <p14:creationId xmlns:p14="http://schemas.microsoft.com/office/powerpoint/2010/main" val="264196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Motivación.</a:t>
            </a:r>
          </a:p>
          <a:p>
            <a:endParaRPr lang="es-CO" dirty="0"/>
          </a:p>
          <a:p>
            <a:r>
              <a:rPr lang="es-CO" dirty="0" smtClean="0"/>
              <a:t>Puede </a:t>
            </a:r>
            <a:r>
              <a:rPr lang="es-CO" dirty="0"/>
              <a:t>haber relaciones complejas y desconocidas entre las variables en </a:t>
            </a:r>
            <a:r>
              <a:rPr lang="es-CO" dirty="0" smtClean="0"/>
              <a:t>un conjunto </a:t>
            </a:r>
            <a:r>
              <a:rPr lang="es-CO" dirty="0"/>
              <a:t>de datos.</a:t>
            </a:r>
          </a:p>
          <a:p>
            <a:endParaRPr lang="es-CO" dirty="0"/>
          </a:p>
          <a:p>
            <a:r>
              <a:rPr lang="es-CO" dirty="0" smtClean="0"/>
              <a:t>A través de la </a:t>
            </a:r>
            <a:r>
              <a:rPr lang="es-CO" b="1" i="1" dirty="0" smtClean="0"/>
              <a:t>correlación</a:t>
            </a:r>
            <a:r>
              <a:rPr lang="es-CO" dirty="0" smtClean="0"/>
              <a:t> se puede </a:t>
            </a:r>
            <a:r>
              <a:rPr lang="es-CO" dirty="0"/>
              <a:t>descubrir y cuantificar el grado en que las variables en </a:t>
            </a:r>
            <a:r>
              <a:rPr lang="es-CO" dirty="0" smtClean="0"/>
              <a:t>un conjunto </a:t>
            </a:r>
            <a:r>
              <a:rPr lang="es-CO" dirty="0"/>
              <a:t>de datos dependen unas de otras. </a:t>
            </a:r>
            <a:endParaRPr lang="es-CO" dirty="0" smtClean="0"/>
          </a:p>
          <a:p>
            <a:endParaRPr lang="es-CO" dirty="0"/>
          </a:p>
          <a:p>
            <a:r>
              <a:rPr lang="es-CO" dirty="0" smtClean="0"/>
              <a:t>Este </a:t>
            </a:r>
            <a:r>
              <a:rPr lang="es-CO" dirty="0"/>
              <a:t>conocimiento puede </a:t>
            </a:r>
            <a:r>
              <a:rPr lang="es-CO" dirty="0" smtClean="0"/>
              <a:t>ayudar </a:t>
            </a:r>
            <a:r>
              <a:rPr lang="es-CO" dirty="0"/>
              <a:t>a preparar mejor </a:t>
            </a:r>
            <a:r>
              <a:rPr lang="es-CO" dirty="0" smtClean="0"/>
              <a:t>los datos </a:t>
            </a:r>
            <a:r>
              <a:rPr lang="es-CO" dirty="0"/>
              <a:t>para cumplir con </a:t>
            </a:r>
            <a:r>
              <a:rPr lang="es-CO" dirty="0" smtClean="0"/>
              <a:t>los requerimientos de </a:t>
            </a:r>
            <a:r>
              <a:rPr lang="es-CO" dirty="0"/>
              <a:t>los algoritmos de </a:t>
            </a:r>
            <a:r>
              <a:rPr lang="es-CO" b="1" i="1" dirty="0" smtClean="0"/>
              <a:t>machine </a:t>
            </a:r>
            <a:r>
              <a:rPr lang="es-CO" b="1" i="1" dirty="0" err="1" smtClean="0"/>
              <a:t>learning</a:t>
            </a:r>
            <a:r>
              <a:rPr lang="es-CO" b="1" i="1" dirty="0" smtClean="0"/>
              <a:t> </a:t>
            </a:r>
            <a:r>
              <a:rPr lang="es-CO" dirty="0" smtClean="0"/>
              <a:t>en general.</a:t>
            </a:r>
          </a:p>
          <a:p>
            <a:endParaRPr lang="es-CO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237745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En un conjunto de datos las distintas variables pueden estar relacionadas debido a</a:t>
            </a:r>
          </a:p>
          <a:p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Una variable puede </a:t>
            </a:r>
            <a:r>
              <a:rPr lang="es-CO" b="1" i="1" dirty="0" smtClean="0"/>
              <a:t>causar o depender </a:t>
            </a:r>
            <a:r>
              <a:rPr lang="es-CO" dirty="0" smtClean="0"/>
              <a:t>de los valores de otra variable.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Una variable puede estar </a:t>
            </a:r>
            <a:r>
              <a:rPr lang="es-CO" b="1" i="1" dirty="0" smtClean="0"/>
              <a:t>ligeramente</a:t>
            </a:r>
            <a:r>
              <a:rPr lang="es-CO" dirty="0" smtClean="0"/>
              <a:t> asociada con otra variable.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Las variables pueden depender de una </a:t>
            </a:r>
            <a:r>
              <a:rPr lang="es-CO" b="1" i="1" dirty="0" smtClean="0"/>
              <a:t>tercera variable </a:t>
            </a:r>
            <a:r>
              <a:rPr lang="es-CO" dirty="0" smtClean="0"/>
              <a:t>desconocida.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endParaRPr lang="es-CO" dirty="0"/>
          </a:p>
          <a:p>
            <a:endParaRPr lang="es-CO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418891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 correlación puede ser:</a:t>
            </a:r>
          </a:p>
          <a:p>
            <a:endParaRPr lang="es-CO" dirty="0" smtClean="0"/>
          </a:p>
          <a:p>
            <a:pPr marL="342900" indent="-342900">
              <a:buAutoNum type="arabicPeriod"/>
            </a:pPr>
            <a:r>
              <a:rPr lang="es-CO" b="1" i="1" dirty="0" smtClean="0"/>
              <a:t>Positiva</a:t>
            </a:r>
            <a:r>
              <a:rPr lang="es-CO" dirty="0" smtClean="0"/>
              <a:t>. Las variables en cuestión cambian en la </a:t>
            </a:r>
            <a:r>
              <a:rPr lang="es-CO" b="1" i="1" dirty="0" smtClean="0"/>
              <a:t>misma dirección</a:t>
            </a:r>
            <a:r>
              <a:rPr lang="es-CO" dirty="0" smtClean="0"/>
              <a:t>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b="1" i="1" dirty="0" smtClean="0"/>
              <a:t>Neutral (cero). </a:t>
            </a:r>
            <a:r>
              <a:rPr lang="es-CO" dirty="0" smtClean="0"/>
              <a:t>No existe una relación en el cambio de las variables.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b="1" i="1" dirty="0" smtClean="0"/>
              <a:t>Negativa. </a:t>
            </a:r>
            <a:r>
              <a:rPr lang="es-CO" dirty="0" smtClean="0"/>
              <a:t>Las variables cambian en </a:t>
            </a:r>
            <a:r>
              <a:rPr lang="es-CO" b="1" i="1" dirty="0" smtClean="0"/>
              <a:t>direcciones opuestas</a:t>
            </a:r>
            <a:r>
              <a:rPr lang="es-CO" dirty="0" smtClean="0"/>
              <a:t>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2918604" y="4645856"/>
                <a:ext cx="2583400" cy="607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s-CO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604" y="4645856"/>
                <a:ext cx="2583400" cy="6076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/>
          <p:cNvCxnSpPr/>
          <p:nvPr/>
        </p:nvCxnSpPr>
        <p:spPr>
          <a:xfrm>
            <a:off x="4470759" y="4719498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5244667" y="4719359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>
            <a:off x="4791436" y="5048765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 flipH="1">
            <a:off x="5536164" y="4466688"/>
            <a:ext cx="701040" cy="2526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 flipV="1">
            <a:off x="5171758" y="5201600"/>
            <a:ext cx="684446" cy="3178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223739" y="4238805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Covarianza de </a:t>
            </a:r>
            <a:r>
              <a:rPr lang="es-CO" b="1" i="1" dirty="0" smtClean="0"/>
              <a:t>(</a:t>
            </a:r>
            <a:r>
              <a:rPr lang="es-CO" b="1" i="1" dirty="0" err="1" smtClean="0"/>
              <a:t>x,y</a:t>
            </a:r>
            <a:r>
              <a:rPr lang="es-CO" b="1" i="1" dirty="0" smtClean="0"/>
              <a:t>)</a:t>
            </a:r>
            <a:endParaRPr lang="es-CO" b="1" i="1" dirty="0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856204" y="5334754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Varianza de </a:t>
            </a:r>
            <a:r>
              <a:rPr lang="es-CO" b="1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05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Covarianza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 covarianza estudia la relación lineal entre dos variables.</a:t>
            </a: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r>
              <a:rPr lang="es-CO" dirty="0" smtClean="0"/>
              <a:t>En </a:t>
            </a:r>
            <a:r>
              <a:rPr lang="es-CO" b="1" i="1" dirty="0" err="1" smtClean="0"/>
              <a:t>numpy</a:t>
            </a:r>
            <a:r>
              <a:rPr lang="es-CO" dirty="0" smtClean="0"/>
              <a:t>:</a:t>
            </a:r>
          </a:p>
          <a:p>
            <a:endParaRPr lang="es-CO" dirty="0"/>
          </a:p>
          <a:p>
            <a:endParaRPr lang="es-CO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3244975" y="3079718"/>
                <a:ext cx="2531398" cy="543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975" y="3079718"/>
                <a:ext cx="2531398" cy="54316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/>
          <p:cNvCxnSpPr/>
          <p:nvPr/>
        </p:nvCxnSpPr>
        <p:spPr>
          <a:xfrm>
            <a:off x="4701880" y="3141900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5523416" y="3141761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/>
          <p:cNvSpPr/>
          <p:nvPr/>
        </p:nvSpPr>
        <p:spPr>
          <a:xfrm>
            <a:off x="1640982" y="4670912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 err="1" smtClean="0">
                <a:solidFill>
                  <a:srgbClr val="002D7A"/>
                </a:solidFill>
                <a:latin typeface="Monaco"/>
              </a:rPr>
              <a:t>covariance</a:t>
            </a:r>
            <a:r>
              <a:rPr lang="es-CO" dirty="0" smtClean="0">
                <a:solidFill>
                  <a:srgbClr val="006FE0"/>
                </a:solidFill>
                <a:latin typeface="Monaco"/>
              </a:rPr>
              <a:t> 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= </a:t>
            </a:r>
            <a:r>
              <a:rPr lang="es-CO" dirty="0" err="1">
                <a:solidFill>
                  <a:srgbClr val="004ED0"/>
                </a:solidFill>
                <a:latin typeface="Monaco"/>
              </a:rPr>
              <a:t>cov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(</a:t>
            </a:r>
            <a:r>
              <a:rPr lang="es-CO" dirty="0">
                <a:solidFill>
                  <a:srgbClr val="002D7A"/>
                </a:solidFill>
                <a:latin typeface="Monaco"/>
              </a:rPr>
              <a:t>data1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,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 </a:t>
            </a:r>
            <a:r>
              <a:rPr lang="es-CO" dirty="0" smtClean="0">
                <a:solidFill>
                  <a:srgbClr val="002D7A"/>
                </a:solidFill>
                <a:latin typeface="Monaco"/>
              </a:rPr>
              <a:t>data2</a:t>
            </a:r>
            <a:r>
              <a:rPr lang="es-CO" dirty="0" smtClean="0">
                <a:solidFill>
                  <a:srgbClr val="333333"/>
                </a:solidFill>
                <a:latin typeface="Monaco"/>
              </a:rPr>
              <a:t>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351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 de Pearson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Este coeficiente otorga una </a:t>
            </a:r>
            <a:r>
              <a:rPr lang="es-CO" b="1" i="1" dirty="0" smtClean="0"/>
              <a:t>cuantificación</a:t>
            </a:r>
            <a:r>
              <a:rPr lang="es-CO" dirty="0" smtClean="0"/>
              <a:t> de la relación lineal entre dos variables.</a:t>
            </a: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r>
              <a:rPr lang="es-CO" dirty="0" smtClean="0"/>
              <a:t>En </a:t>
            </a:r>
            <a:r>
              <a:rPr lang="es-CO" b="1" i="1" dirty="0" err="1" smtClean="0"/>
              <a:t>SciPy</a:t>
            </a:r>
            <a:r>
              <a:rPr lang="es-CO" dirty="0" smtClean="0"/>
              <a:t>:</a:t>
            </a: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endParaRPr lang="es-CO" dirty="0" smtClean="0"/>
          </a:p>
          <a:p>
            <a:r>
              <a:rPr lang="es-CO" dirty="0" smtClean="0"/>
              <a:t>Estudiar la correlación de </a:t>
            </a:r>
            <a:r>
              <a:rPr lang="es-CO" b="1" i="1" dirty="0" err="1" smtClean="0">
                <a:solidFill>
                  <a:srgbClr val="FF0000"/>
                </a:solidFill>
              </a:rPr>
              <a:t>Spearman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endParaRPr lang="es-CO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3244975" y="3079718"/>
                <a:ext cx="3294172" cy="785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CO" b="0" i="0" smtClean="0">
                          <a:latin typeface="Cambria Math" panose="02040503050406030204" pitchFamily="18" charset="0"/>
                        </a:rPr>
                        <m:t>Pearson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𝑥𝑖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𝑦𝑖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num>
                        <m:den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975" y="3079718"/>
                <a:ext cx="3294172" cy="7853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/>
          <p:cNvCxnSpPr/>
          <p:nvPr/>
        </p:nvCxnSpPr>
        <p:spPr>
          <a:xfrm>
            <a:off x="5068593" y="3151384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5864729" y="3156245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/>
          <p:cNvSpPr/>
          <p:nvPr/>
        </p:nvSpPr>
        <p:spPr>
          <a:xfrm>
            <a:off x="1640982" y="4670912"/>
            <a:ext cx="3435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 err="1">
                <a:solidFill>
                  <a:srgbClr val="002D7A"/>
                </a:solidFill>
                <a:latin typeface="Monaco"/>
              </a:rPr>
              <a:t>corr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,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 </a:t>
            </a:r>
            <a:r>
              <a:rPr lang="es-CO" dirty="0">
                <a:solidFill>
                  <a:srgbClr val="002D7A"/>
                </a:solidFill>
                <a:latin typeface="Monaco"/>
              </a:rPr>
              <a:t>_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 = </a:t>
            </a:r>
            <a:r>
              <a:rPr lang="es-CO" dirty="0" err="1">
                <a:solidFill>
                  <a:srgbClr val="004ED0"/>
                </a:solidFill>
                <a:latin typeface="Monaco"/>
              </a:rPr>
              <a:t>pearsonr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(</a:t>
            </a:r>
            <a:r>
              <a:rPr lang="es-CO" dirty="0">
                <a:solidFill>
                  <a:srgbClr val="002D7A"/>
                </a:solidFill>
                <a:latin typeface="Monaco"/>
              </a:rPr>
              <a:t>data1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,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 </a:t>
            </a:r>
            <a:r>
              <a:rPr lang="es-CO" dirty="0">
                <a:solidFill>
                  <a:srgbClr val="002D7A"/>
                </a:solidFill>
                <a:latin typeface="Monaco"/>
              </a:rPr>
              <a:t>data2</a:t>
            </a:r>
            <a:r>
              <a:rPr lang="es-CO" dirty="0" smtClean="0">
                <a:solidFill>
                  <a:srgbClr val="333333"/>
                </a:solidFill>
                <a:latin typeface="Monaco"/>
              </a:rPr>
              <a:t>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1314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 cruzada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524441" y="2436992"/>
            <a:ext cx="96234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La validación cruzada es un método estadístico utilizado para estimar la </a:t>
            </a:r>
            <a:r>
              <a:rPr lang="es-CO" b="1" i="1" dirty="0"/>
              <a:t>habilidad</a:t>
            </a:r>
            <a:r>
              <a:rPr lang="es-CO" dirty="0"/>
              <a:t> de los modelos de </a:t>
            </a:r>
            <a:r>
              <a:rPr lang="es-CO" i="1" dirty="0" smtClean="0"/>
              <a:t>machine </a:t>
            </a:r>
            <a:r>
              <a:rPr lang="es-CO" i="1" dirty="0" err="1" smtClean="0"/>
              <a:t>learning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dirty="0" smtClean="0"/>
              <a:t>En particular vamos </a:t>
            </a:r>
            <a:r>
              <a:rPr lang="es-CO" dirty="0"/>
              <a:t>a </a:t>
            </a:r>
            <a:r>
              <a:rPr lang="es-CO" dirty="0" smtClean="0"/>
              <a:t>estudiar </a:t>
            </a:r>
            <a:r>
              <a:rPr lang="es-CO" b="1" i="1" dirty="0" smtClean="0"/>
              <a:t>k-</a:t>
            </a:r>
            <a:r>
              <a:rPr lang="es-CO" b="1" i="1" dirty="0" err="1" smtClean="0"/>
              <a:t>Fold</a:t>
            </a:r>
            <a:r>
              <a:rPr lang="es-CO" b="1" i="1" dirty="0" smtClean="0"/>
              <a:t> Cross-</a:t>
            </a:r>
            <a:r>
              <a:rPr lang="es-CO" b="1" i="1" dirty="0" err="1" smtClean="0"/>
              <a:t>Validation</a:t>
            </a:r>
            <a:r>
              <a:rPr lang="es-CO" b="1" i="1" dirty="0" smtClean="0"/>
              <a:t>.</a:t>
            </a:r>
          </a:p>
          <a:p>
            <a:endParaRPr lang="es-CO" b="1" i="1" dirty="0"/>
          </a:p>
          <a:p>
            <a:r>
              <a:rPr lang="es-CO" dirty="0" smtClean="0"/>
              <a:t>Esta técnica es </a:t>
            </a:r>
            <a:r>
              <a:rPr lang="es-CO" dirty="0"/>
              <a:t>particularmente útil </a:t>
            </a:r>
            <a:r>
              <a:rPr lang="es-CO" dirty="0" smtClean="0"/>
              <a:t>empleando </a:t>
            </a:r>
            <a:r>
              <a:rPr lang="es-CO" b="1" i="1" dirty="0" smtClean="0"/>
              <a:t>muestra pequeñas</a:t>
            </a:r>
            <a:r>
              <a:rPr lang="es-CO" dirty="0" smtClean="0"/>
              <a:t>.</a:t>
            </a:r>
            <a:endParaRPr lang="es-CO" dirty="0" smtClean="0"/>
          </a:p>
          <a:p>
            <a:endParaRPr lang="es-CO" b="1" i="1" dirty="0"/>
          </a:p>
          <a:p>
            <a:endParaRPr lang="es-CO" dirty="0" smtClean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136528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 cruzada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524441" y="2365273"/>
            <a:ext cx="962345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Procedimiento general:</a:t>
            </a:r>
            <a:endParaRPr lang="es-CO" dirty="0" smtClean="0"/>
          </a:p>
          <a:p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Mezclar </a:t>
            </a:r>
            <a:r>
              <a:rPr lang="es-CO" dirty="0"/>
              <a:t>el conjunto de datos al </a:t>
            </a:r>
            <a:r>
              <a:rPr lang="es-CO" dirty="0" smtClean="0"/>
              <a:t>azar.</a:t>
            </a:r>
          </a:p>
          <a:p>
            <a:pPr marL="342900" indent="-342900">
              <a:buAutoNum type="arabicPeriod"/>
            </a:pPr>
            <a:endParaRPr lang="es-CO" dirty="0" smtClean="0"/>
          </a:p>
          <a:p>
            <a:pPr marL="342900" indent="-342900">
              <a:buAutoNum type="arabicPeriod"/>
            </a:pPr>
            <a:r>
              <a:rPr lang="es-CO" dirty="0" smtClean="0"/>
              <a:t>Dividir </a:t>
            </a:r>
            <a:r>
              <a:rPr lang="es-CO" dirty="0"/>
              <a:t>el conjunto de datos en </a:t>
            </a:r>
            <a:r>
              <a:rPr lang="es-CO" b="1" i="1" dirty="0"/>
              <a:t>k</a:t>
            </a:r>
            <a:r>
              <a:rPr lang="es-CO" dirty="0"/>
              <a:t> </a:t>
            </a:r>
            <a:r>
              <a:rPr lang="es-CO" dirty="0" smtClean="0"/>
              <a:t>grupos. </a:t>
            </a:r>
          </a:p>
          <a:p>
            <a:pPr marL="342900" indent="-342900">
              <a:buAutoNum type="arabicPeriod"/>
            </a:pPr>
            <a:endParaRPr lang="es-CO" dirty="0" smtClean="0"/>
          </a:p>
          <a:p>
            <a:pPr marL="342900" indent="-342900">
              <a:buAutoNum type="arabicPeriod"/>
            </a:pPr>
            <a:r>
              <a:rPr lang="es-CO" dirty="0" smtClean="0"/>
              <a:t>Para </a:t>
            </a:r>
            <a:r>
              <a:rPr lang="es-CO" dirty="0"/>
              <a:t>cada grupo </a:t>
            </a:r>
            <a:r>
              <a:rPr lang="es-CO" dirty="0" smtClean="0"/>
              <a:t>único:</a:t>
            </a:r>
          </a:p>
          <a:p>
            <a:pPr marL="800100" lvl="1" indent="-342900">
              <a:buAutoNum type="arabicPeriod"/>
            </a:pPr>
            <a:r>
              <a:rPr lang="es-CO" dirty="0" smtClean="0"/>
              <a:t>Tomar </a:t>
            </a:r>
            <a:r>
              <a:rPr lang="es-CO" dirty="0"/>
              <a:t>el grupo como un conjunto de datos de espera o </a:t>
            </a:r>
            <a:r>
              <a:rPr lang="es-CO" dirty="0" smtClean="0"/>
              <a:t>prueba.</a:t>
            </a:r>
          </a:p>
          <a:p>
            <a:pPr marL="800100" lvl="1" indent="-342900">
              <a:buAutoNum type="arabicPeriod"/>
            </a:pPr>
            <a:r>
              <a:rPr lang="es-CO" dirty="0" smtClean="0"/>
              <a:t>Tomar </a:t>
            </a:r>
            <a:r>
              <a:rPr lang="es-CO" dirty="0"/>
              <a:t>los grupos restantes como un conjunto de datos de </a:t>
            </a:r>
            <a:r>
              <a:rPr lang="es-CO" dirty="0" smtClean="0"/>
              <a:t>entrenamiento.</a:t>
            </a:r>
          </a:p>
          <a:p>
            <a:pPr marL="800100" lvl="1" indent="-342900">
              <a:buAutoNum type="arabicPeriod"/>
            </a:pPr>
            <a:r>
              <a:rPr lang="es-CO" dirty="0" smtClean="0"/>
              <a:t>Ajustar un </a:t>
            </a:r>
            <a:r>
              <a:rPr lang="es-CO" dirty="0"/>
              <a:t>modelo </a:t>
            </a:r>
            <a:r>
              <a:rPr lang="es-CO" dirty="0" smtClean="0"/>
              <a:t>con el </a:t>
            </a:r>
            <a:r>
              <a:rPr lang="es-CO" dirty="0"/>
              <a:t>conjunto de entrenamiento y evalúelo en el conjunto de </a:t>
            </a:r>
            <a:r>
              <a:rPr lang="es-CO" dirty="0" smtClean="0"/>
              <a:t>prueba.</a:t>
            </a:r>
          </a:p>
          <a:p>
            <a:pPr marL="800100" lvl="1" indent="-342900">
              <a:buAutoNum type="arabicPeriod"/>
            </a:pPr>
            <a:r>
              <a:rPr lang="es-CO" dirty="0" smtClean="0"/>
              <a:t>Conservar </a:t>
            </a:r>
            <a:r>
              <a:rPr lang="es-CO" dirty="0"/>
              <a:t>el puntaje de evaluación y descartar el </a:t>
            </a:r>
            <a:r>
              <a:rPr lang="es-CO" dirty="0" smtClean="0"/>
              <a:t>modelo.</a:t>
            </a:r>
          </a:p>
          <a:p>
            <a:pPr marL="0" lvl="1"/>
            <a:endParaRPr lang="es-CO" dirty="0" smtClean="0"/>
          </a:p>
          <a:p>
            <a:pPr marL="0" lvl="1"/>
            <a:r>
              <a:rPr lang="es-CO" dirty="0" smtClean="0"/>
              <a:t>4. Finalmente, se resume </a:t>
            </a:r>
            <a:r>
              <a:rPr lang="es-CO" dirty="0"/>
              <a:t>la habilidad del modelo utilizando la muestra de puntajes de evaluación del modelo.</a:t>
            </a:r>
            <a:endParaRPr lang="es-CO" b="1" i="1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36485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 cruzada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524441" y="2365273"/>
            <a:ext cx="96234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Consideraciones</a:t>
            </a:r>
            <a:r>
              <a:rPr lang="es-CO" dirty="0" smtClean="0"/>
              <a:t>:</a:t>
            </a:r>
            <a:endParaRPr lang="es-CO" dirty="0" smtClean="0"/>
          </a:p>
          <a:p>
            <a:endParaRPr lang="es-CO" dirty="0"/>
          </a:p>
          <a:p>
            <a:r>
              <a:rPr lang="es-CO" dirty="0" smtClean="0"/>
              <a:t>El valor de </a:t>
            </a:r>
            <a:r>
              <a:rPr lang="es-CO" b="1" i="1" dirty="0" smtClean="0"/>
              <a:t>k</a:t>
            </a:r>
            <a:r>
              <a:rPr lang="es-CO" dirty="0" smtClean="0"/>
              <a:t> debe ser seleccionado cuidadosamente. </a:t>
            </a:r>
          </a:p>
          <a:p>
            <a:endParaRPr lang="es-CO" dirty="0"/>
          </a:p>
          <a:p>
            <a:r>
              <a:rPr lang="es-CO" dirty="0" smtClean="0"/>
              <a:t>Existen tres </a:t>
            </a:r>
            <a:r>
              <a:rPr lang="es-CO" dirty="0"/>
              <a:t>tácticas comunes para elegir </a:t>
            </a:r>
            <a:r>
              <a:rPr lang="es-CO" dirty="0" smtClean="0"/>
              <a:t>el valor de </a:t>
            </a:r>
            <a:r>
              <a:rPr lang="es-CO" b="1" i="1" dirty="0" smtClean="0"/>
              <a:t>k</a:t>
            </a:r>
            <a:r>
              <a:rPr lang="es-CO" dirty="0" smtClean="0"/>
              <a:t>:</a:t>
            </a:r>
            <a:endParaRPr lang="es-CO" dirty="0"/>
          </a:p>
          <a:p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 smtClean="0"/>
              <a:t>El </a:t>
            </a:r>
            <a:r>
              <a:rPr lang="es-CO" dirty="0"/>
              <a:t>valor para </a:t>
            </a:r>
            <a:r>
              <a:rPr lang="es-CO" b="1" i="1" dirty="0"/>
              <a:t>k</a:t>
            </a:r>
            <a:r>
              <a:rPr lang="es-CO" dirty="0"/>
              <a:t> se elige de modo que cada grupo de </a:t>
            </a:r>
            <a:r>
              <a:rPr lang="es-CO" dirty="0" smtClean="0"/>
              <a:t>testeo sea </a:t>
            </a:r>
            <a:r>
              <a:rPr lang="es-CO" dirty="0"/>
              <a:t>lo suficientemente grande como para ser estadísticamente representativo del conjunto de datos </a:t>
            </a:r>
            <a:r>
              <a:rPr lang="es-CO" dirty="0" smtClean="0"/>
              <a:t>completo.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El </a:t>
            </a:r>
            <a:r>
              <a:rPr lang="es-CO" dirty="0"/>
              <a:t>valor para </a:t>
            </a:r>
            <a:r>
              <a:rPr lang="es-CO" b="1" i="1" dirty="0"/>
              <a:t>k</a:t>
            </a:r>
            <a:r>
              <a:rPr lang="es-CO" dirty="0"/>
              <a:t> se fija en 10, un valor </a:t>
            </a:r>
            <a:r>
              <a:rPr lang="es-CO" dirty="0" smtClean="0"/>
              <a:t>que, a partir de la experimentación, ha demostrado otorgar a </a:t>
            </a:r>
            <a:r>
              <a:rPr lang="es-CO" dirty="0"/>
              <a:t>en una </a:t>
            </a:r>
            <a:r>
              <a:rPr lang="es-CO" b="1" i="1" dirty="0" smtClean="0"/>
              <a:t>buena estimación </a:t>
            </a:r>
            <a:r>
              <a:rPr lang="es-CO" b="1" i="1" dirty="0"/>
              <a:t>de </a:t>
            </a:r>
            <a:r>
              <a:rPr lang="es-CO" b="1" i="1" dirty="0" smtClean="0"/>
              <a:t>la habilidad </a:t>
            </a:r>
            <a:r>
              <a:rPr lang="es-CO" dirty="0" smtClean="0"/>
              <a:t>modelo.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El </a:t>
            </a:r>
            <a:r>
              <a:rPr lang="es-CO" dirty="0"/>
              <a:t>valor para </a:t>
            </a:r>
            <a:r>
              <a:rPr lang="es-CO" b="1" i="1" dirty="0"/>
              <a:t>k</a:t>
            </a:r>
            <a:r>
              <a:rPr lang="es-CO" dirty="0"/>
              <a:t> se fija en </a:t>
            </a:r>
            <a:r>
              <a:rPr lang="es-CO" b="1" i="1" dirty="0"/>
              <a:t>n</a:t>
            </a:r>
            <a:r>
              <a:rPr lang="es-CO" dirty="0"/>
              <a:t>, donde </a:t>
            </a:r>
            <a:r>
              <a:rPr lang="es-CO" b="1" i="1" dirty="0"/>
              <a:t>n</a:t>
            </a:r>
            <a:r>
              <a:rPr lang="es-CO" dirty="0"/>
              <a:t> es el tamaño del conjunto de </a:t>
            </a:r>
            <a:r>
              <a:rPr lang="es-CO" dirty="0" smtClean="0"/>
              <a:t>datos. </a:t>
            </a:r>
            <a:endParaRPr lang="es-CO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43539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1222</Words>
  <Application>Microsoft Office PowerPoint</Application>
  <PresentationFormat>Panorámica</PresentationFormat>
  <Paragraphs>184</Paragraphs>
  <Slides>22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Monaco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303</cp:revision>
  <dcterms:created xsi:type="dcterms:W3CDTF">2017-07-31T19:21:32Z</dcterms:created>
  <dcterms:modified xsi:type="dcterms:W3CDTF">2019-03-22T20:39:55Z</dcterms:modified>
</cp:coreProperties>
</file>
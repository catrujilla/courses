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41"/>
  </p:handoutMasterIdLst>
  <p:sldIdLst>
    <p:sldId id="275" r:id="rId2"/>
    <p:sldId id="276" r:id="rId3"/>
    <p:sldId id="277" r:id="rId4"/>
    <p:sldId id="280" r:id="rId5"/>
    <p:sldId id="279" r:id="rId6"/>
    <p:sldId id="281" r:id="rId7"/>
    <p:sldId id="278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92" r:id="rId16"/>
    <p:sldId id="293" r:id="rId17"/>
    <p:sldId id="290" r:id="rId18"/>
    <p:sldId id="291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6" r:id="rId28"/>
    <p:sldId id="307" r:id="rId29"/>
    <p:sldId id="308" r:id="rId30"/>
    <p:sldId id="309" r:id="rId31"/>
    <p:sldId id="310" r:id="rId32"/>
    <p:sldId id="311" r:id="rId33"/>
    <p:sldId id="302" r:id="rId34"/>
    <p:sldId id="303" r:id="rId35"/>
    <p:sldId id="304" r:id="rId36"/>
    <p:sldId id="305" r:id="rId37"/>
    <p:sldId id="314" r:id="rId38"/>
    <p:sldId id="312" r:id="rId39"/>
    <p:sldId id="313" r:id="rId4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10" autoAdjust="0"/>
  </p:normalViewPr>
  <p:slideViewPr>
    <p:cSldViewPr snapToGrid="0">
      <p:cViewPr varScale="1">
        <p:scale>
          <a:sx n="103" d="100"/>
          <a:sy n="103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AC7CDA06-E225-4AB8-8AE1-29B728624B51}"/>
    <pc:docChg chg="addSld modSld">
      <pc:chgData name="" userId="" providerId="" clId="Web-{AC7CDA06-E225-4AB8-8AE1-29B728624B51}" dt="2019-03-18T20:56:17.175" v="154" actId="1076"/>
      <pc:docMkLst>
        <pc:docMk/>
      </pc:docMkLst>
      <pc:sldChg chg="addSp modSp">
        <pc:chgData name="" userId="" providerId="" clId="Web-{AC7CDA06-E225-4AB8-8AE1-29B728624B51}" dt="2019-03-18T20:42:40.096" v="6" actId="1076"/>
        <pc:sldMkLst>
          <pc:docMk/>
          <pc:sldMk cId="1273775910" sldId="278"/>
        </pc:sldMkLst>
        <pc:spChg chg="add mod">
          <ac:chgData name="" userId="" providerId="" clId="Web-{AC7CDA06-E225-4AB8-8AE1-29B728624B51}" dt="2019-03-18T20:42:40.096" v="6" actId="1076"/>
          <ac:spMkLst>
            <pc:docMk/>
            <pc:sldMk cId="1273775910" sldId="278"/>
            <ac:spMk id="5" creationId="{085ADD72-6FC9-4671-9A3B-AC31A1ECA054}"/>
          </ac:spMkLst>
        </pc:spChg>
        <pc:picChg chg="add mod">
          <ac:chgData name="" userId="" providerId="" clId="Web-{AC7CDA06-E225-4AB8-8AE1-29B728624B51}" dt="2019-03-18T20:41:45.956" v="3" actId="14100"/>
          <ac:picMkLst>
            <pc:docMk/>
            <pc:sldMk cId="1273775910" sldId="278"/>
            <ac:picMk id="2" creationId="{2CAA42A3-E26A-4254-937C-124F095B6C2E}"/>
          </ac:picMkLst>
        </pc:picChg>
      </pc:sldChg>
      <pc:sldChg chg="addSp delSp modSp new">
        <pc:chgData name="" userId="" providerId="" clId="Web-{AC7CDA06-E225-4AB8-8AE1-29B728624B51}" dt="2019-03-18T20:44:56.393" v="49" actId="20577"/>
        <pc:sldMkLst>
          <pc:docMk/>
          <pc:sldMk cId="1498402422" sldId="282"/>
        </pc:sldMkLst>
        <pc:spChg chg="del">
          <ac:chgData name="" userId="" providerId="" clId="Web-{AC7CDA06-E225-4AB8-8AE1-29B728624B51}" dt="2019-03-18T20:43:38.034" v="10"/>
          <ac:spMkLst>
            <pc:docMk/>
            <pc:sldMk cId="1498402422" sldId="282"/>
            <ac:spMk id="2" creationId="{05AA0122-5BBB-40BC-8A9D-B0EA7EC09076}"/>
          </ac:spMkLst>
        </pc:spChg>
        <pc:spChg chg="del">
          <ac:chgData name="" userId="" providerId="" clId="Web-{AC7CDA06-E225-4AB8-8AE1-29B728624B51}" dt="2019-03-18T20:43:33.628" v="8"/>
          <ac:spMkLst>
            <pc:docMk/>
            <pc:sldMk cId="1498402422" sldId="282"/>
            <ac:spMk id="3" creationId="{4F860040-0962-401C-A998-6805491891BE}"/>
          </ac:spMkLst>
        </pc:spChg>
        <pc:spChg chg="add">
          <ac:chgData name="" userId="" providerId="" clId="Web-{AC7CDA06-E225-4AB8-8AE1-29B728624B51}" dt="2019-03-18T20:43:43.799" v="11"/>
          <ac:spMkLst>
            <pc:docMk/>
            <pc:sldMk cId="1498402422" sldId="282"/>
            <ac:spMk id="7" creationId="{7DE69909-0B0F-442C-8B45-5A3871D022D8}"/>
          </ac:spMkLst>
        </pc:spChg>
        <pc:spChg chg="add">
          <ac:chgData name="" userId="" providerId="" clId="Web-{AC7CDA06-E225-4AB8-8AE1-29B728624B51}" dt="2019-03-18T20:43:43.799" v="12"/>
          <ac:spMkLst>
            <pc:docMk/>
            <pc:sldMk cId="1498402422" sldId="282"/>
            <ac:spMk id="9" creationId="{BF223799-0977-4E2E-9FF3-485091EAE52A}"/>
          </ac:spMkLst>
        </pc:spChg>
        <pc:spChg chg="add mod">
          <ac:chgData name="" userId="" providerId="" clId="Web-{AC7CDA06-E225-4AB8-8AE1-29B728624B51}" dt="2019-03-18T20:44:56.393" v="49" actId="20577"/>
          <ac:spMkLst>
            <pc:docMk/>
            <pc:sldMk cId="1498402422" sldId="282"/>
            <ac:spMk id="10" creationId="{F0348946-0074-4077-A388-BFF87C2474A6}"/>
          </ac:spMkLst>
        </pc:spChg>
        <pc:picChg chg="add mod ord">
          <ac:chgData name="" userId="" providerId="" clId="Web-{AC7CDA06-E225-4AB8-8AE1-29B728624B51}" dt="2019-03-18T20:43:53.831" v="15" actId="1076"/>
          <ac:picMkLst>
            <pc:docMk/>
            <pc:sldMk cId="1498402422" sldId="282"/>
            <ac:picMk id="4" creationId="{BCC331C3-63DC-45B6-8303-1AF05F81CFF3}"/>
          </ac:picMkLst>
        </pc:picChg>
      </pc:sldChg>
      <pc:sldChg chg="addSp delSp modSp add replId">
        <pc:chgData name="" userId="" providerId="" clId="Web-{AC7CDA06-E225-4AB8-8AE1-29B728624B51}" dt="2019-03-18T20:47:30.675" v="141" actId="14100"/>
        <pc:sldMkLst>
          <pc:docMk/>
          <pc:sldMk cId="1423118678" sldId="283"/>
        </pc:sldMkLst>
        <pc:spChg chg="add del mod">
          <ac:chgData name="" userId="" providerId="" clId="Web-{AC7CDA06-E225-4AB8-8AE1-29B728624B51}" dt="2019-03-18T20:45:59.518" v="53"/>
          <ac:spMkLst>
            <pc:docMk/>
            <pc:sldMk cId="1423118678" sldId="283"/>
            <ac:spMk id="3" creationId="{97C9CC48-AD3B-4F0D-8F30-6D2F30F3A375}"/>
          </ac:spMkLst>
        </pc:spChg>
        <pc:spChg chg="mod">
          <ac:chgData name="" userId="" providerId="" clId="Web-{AC7CDA06-E225-4AB8-8AE1-29B728624B51}" dt="2019-03-18T20:47:30.675" v="141" actId="14100"/>
          <ac:spMkLst>
            <pc:docMk/>
            <pc:sldMk cId="1423118678" sldId="283"/>
            <ac:spMk id="10" creationId="{F0348946-0074-4077-A388-BFF87C2474A6}"/>
          </ac:spMkLst>
        </pc:spChg>
        <pc:picChg chg="del">
          <ac:chgData name="" userId="" providerId="" clId="Web-{AC7CDA06-E225-4AB8-8AE1-29B728624B51}" dt="2019-03-18T20:45:06.190" v="52"/>
          <ac:picMkLst>
            <pc:docMk/>
            <pc:sldMk cId="1423118678" sldId="283"/>
            <ac:picMk id="4" creationId="{BCC331C3-63DC-45B6-8303-1AF05F81CFF3}"/>
          </ac:picMkLst>
        </pc:picChg>
        <pc:picChg chg="add mod">
          <ac:chgData name="" userId="" providerId="" clId="Web-{AC7CDA06-E225-4AB8-8AE1-29B728624B51}" dt="2019-03-18T20:46:11.190" v="58" actId="1076"/>
          <ac:picMkLst>
            <pc:docMk/>
            <pc:sldMk cId="1423118678" sldId="283"/>
            <ac:picMk id="5" creationId="{925056CE-44B0-42EC-ADF4-0C1A71B6600E}"/>
          </ac:picMkLst>
        </pc:picChg>
      </pc:sldChg>
      <pc:sldChg chg="addSp delSp modSp add replId">
        <pc:chgData name="" userId="" providerId="" clId="Web-{AC7CDA06-E225-4AB8-8AE1-29B728624B51}" dt="2019-03-18T20:56:17.175" v="154" actId="1076"/>
        <pc:sldMkLst>
          <pc:docMk/>
          <pc:sldMk cId="3781309455" sldId="284"/>
        </pc:sldMkLst>
        <pc:spChg chg="mod">
          <ac:chgData name="" userId="" providerId="" clId="Web-{AC7CDA06-E225-4AB8-8AE1-29B728624B51}" dt="2019-03-18T20:55:15.206" v="144" actId="20577"/>
          <ac:spMkLst>
            <pc:docMk/>
            <pc:sldMk cId="3781309455" sldId="284"/>
            <ac:spMk id="7" creationId="{7DE69909-0B0F-442C-8B45-5A3871D022D8}"/>
          </ac:spMkLst>
        </pc:spChg>
        <pc:spChg chg="mod">
          <ac:chgData name="" userId="" providerId="" clId="Web-{AC7CDA06-E225-4AB8-8AE1-29B728624B51}" dt="2019-03-18T20:56:17.175" v="154" actId="1076"/>
          <ac:spMkLst>
            <pc:docMk/>
            <pc:sldMk cId="3781309455" sldId="284"/>
            <ac:spMk id="10" creationId="{F0348946-0074-4077-A388-BFF87C2474A6}"/>
          </ac:spMkLst>
        </pc:spChg>
        <pc:picChg chg="add mod">
          <ac:chgData name="" userId="" providerId="" clId="Web-{AC7CDA06-E225-4AB8-8AE1-29B728624B51}" dt="2019-03-18T20:55:53.284" v="148" actId="1076"/>
          <ac:picMkLst>
            <pc:docMk/>
            <pc:sldMk cId="3781309455" sldId="284"/>
            <ac:picMk id="2" creationId="{5DC06769-1A9A-491D-8169-3DD22823A003}"/>
          </ac:picMkLst>
        </pc:picChg>
        <pc:picChg chg="del">
          <ac:chgData name="" userId="" providerId="" clId="Web-{AC7CDA06-E225-4AB8-8AE1-29B728624B51}" dt="2019-03-18T20:55:12.784" v="143"/>
          <ac:picMkLst>
            <pc:docMk/>
            <pc:sldMk cId="3781309455" sldId="284"/>
            <ac:picMk id="5" creationId="{925056CE-44B0-42EC-ADF4-0C1A71B6600E}"/>
          </ac:picMkLst>
        </pc:picChg>
      </pc:sldChg>
    </pc:docChg>
  </pc:docChgLst>
  <pc:docChgLst>
    <pc:chgData clId="Web-{896B5F9C-2E76-4E04-9E6D-7B07AD80F746}"/>
    <pc:docChg chg="addSld modSld">
      <pc:chgData name="" userId="" providerId="" clId="Web-{896B5F9C-2E76-4E04-9E6D-7B07AD80F746}" dt="2019-03-18T22:55:15.613" v="94"/>
      <pc:docMkLst>
        <pc:docMk/>
      </pc:docMkLst>
      <pc:sldChg chg="modSp">
        <pc:chgData name="" userId="" providerId="" clId="Web-{896B5F9C-2E76-4E04-9E6D-7B07AD80F746}" dt="2019-03-18T22:49:08.206" v="48" actId="1076"/>
        <pc:sldMkLst>
          <pc:docMk/>
          <pc:sldMk cId="3781309455" sldId="284"/>
        </pc:sldMkLst>
        <pc:spChg chg="mod">
          <ac:chgData name="" userId="" providerId="" clId="Web-{896B5F9C-2E76-4E04-9E6D-7B07AD80F746}" dt="2019-03-18T22:49:08.206" v="48" actId="1076"/>
          <ac:spMkLst>
            <pc:docMk/>
            <pc:sldMk cId="3781309455" sldId="284"/>
            <ac:spMk id="10" creationId="{F0348946-0074-4077-A388-BFF87C2474A6}"/>
          </ac:spMkLst>
        </pc:spChg>
      </pc:sldChg>
      <pc:sldChg chg="addSp delSp modSp new">
        <pc:chgData name="" userId="" providerId="" clId="Web-{896B5F9C-2E76-4E04-9E6D-7B07AD80F746}" dt="2019-03-18T22:49:01.316" v="39" actId="20577"/>
        <pc:sldMkLst>
          <pc:docMk/>
          <pc:sldMk cId="1105858421" sldId="285"/>
        </pc:sldMkLst>
        <pc:spChg chg="del">
          <ac:chgData name="" userId="" providerId="" clId="Web-{896B5F9C-2E76-4E04-9E6D-7B07AD80F746}" dt="2019-03-18T22:46:16.175" v="4"/>
          <ac:spMkLst>
            <pc:docMk/>
            <pc:sldMk cId="1105858421" sldId="285"/>
            <ac:spMk id="2" creationId="{2FA1DC9D-918B-40A9-85F4-120A2C4EE984}"/>
          </ac:spMkLst>
        </pc:spChg>
        <pc:spChg chg="del">
          <ac:chgData name="" userId="" providerId="" clId="Web-{896B5F9C-2E76-4E04-9E6D-7B07AD80F746}" dt="2019-03-18T22:46:15.316" v="3"/>
          <ac:spMkLst>
            <pc:docMk/>
            <pc:sldMk cId="1105858421" sldId="285"/>
            <ac:spMk id="3" creationId="{CCA4A9A9-02C1-4973-9039-947DDAFB7025}"/>
          </ac:spMkLst>
        </pc:spChg>
        <pc:spChg chg="add mod">
          <ac:chgData name="" userId="" providerId="" clId="Web-{896B5F9C-2E76-4E04-9E6D-7B07AD80F746}" dt="2019-03-18T22:49:01.316" v="39" actId="20577"/>
          <ac:spMkLst>
            <pc:docMk/>
            <pc:sldMk cId="1105858421" sldId="285"/>
            <ac:spMk id="4" creationId="{BD83AC6F-D3A1-443E-8F6E-3BCB9C009D09}"/>
          </ac:spMkLst>
        </pc:spChg>
        <pc:spChg chg="add">
          <ac:chgData name="" userId="" providerId="" clId="Web-{896B5F9C-2E76-4E04-9E6D-7B07AD80F746}" dt="2019-03-18T22:46:22.409" v="5"/>
          <ac:spMkLst>
            <pc:docMk/>
            <pc:sldMk cId="1105858421" sldId="285"/>
            <ac:spMk id="6" creationId="{44F6A84A-8AC6-44B0-8366-5283F1CF064C}"/>
          </ac:spMkLst>
        </pc:spChg>
        <pc:spChg chg="add">
          <ac:chgData name="" userId="" providerId="" clId="Web-{896B5F9C-2E76-4E04-9E6D-7B07AD80F746}" dt="2019-03-18T22:46:22.426" v="6"/>
          <ac:spMkLst>
            <pc:docMk/>
            <pc:sldMk cId="1105858421" sldId="285"/>
            <ac:spMk id="8" creationId="{2175E2EE-9101-45EC-8704-1FB42CE444D8}"/>
          </ac:spMkLst>
        </pc:spChg>
        <pc:spChg chg="add mod">
          <ac:chgData name="" userId="" providerId="" clId="Web-{896B5F9C-2E76-4E04-9E6D-7B07AD80F746}" dt="2019-03-18T22:48:25.097" v="37" actId="1076"/>
          <ac:spMkLst>
            <pc:docMk/>
            <pc:sldMk cId="1105858421" sldId="285"/>
            <ac:spMk id="11" creationId="{19C76307-223B-46E8-993B-759439E395F9}"/>
          </ac:spMkLst>
        </pc:spChg>
        <pc:picChg chg="add mod">
          <ac:chgData name="" userId="" providerId="" clId="Web-{896B5F9C-2E76-4E04-9E6D-7B07AD80F746}" dt="2019-03-18T22:47:43.503" v="28" actId="1076"/>
          <ac:picMkLst>
            <pc:docMk/>
            <pc:sldMk cId="1105858421" sldId="285"/>
            <ac:picMk id="9" creationId="{155F6C95-F016-41A7-8FA4-9AA543225688}"/>
          </ac:picMkLst>
        </pc:picChg>
      </pc:sldChg>
      <pc:sldChg chg="addSp delSp modSp add replId">
        <pc:chgData name="" userId="" providerId="" clId="Web-{896B5F9C-2E76-4E04-9E6D-7B07AD80F746}" dt="2019-03-18T22:55:15.613" v="94"/>
        <pc:sldMkLst>
          <pc:docMk/>
          <pc:sldMk cId="3470509905" sldId="286"/>
        </pc:sldMkLst>
        <pc:spChg chg="mod">
          <ac:chgData name="" userId="" providerId="" clId="Web-{896B5F9C-2E76-4E04-9E6D-7B07AD80F746}" dt="2019-03-18T22:51:58.378" v="68" actId="20577"/>
          <ac:spMkLst>
            <pc:docMk/>
            <pc:sldMk cId="3470509905" sldId="286"/>
            <ac:spMk id="4" creationId="{BD83AC6F-D3A1-443E-8F6E-3BCB9C009D09}"/>
          </ac:spMkLst>
        </pc:spChg>
        <pc:spChg chg="add del mod">
          <ac:chgData name="" userId="" providerId="" clId="Web-{896B5F9C-2E76-4E04-9E6D-7B07AD80F746}" dt="2019-03-18T22:55:09.238" v="89"/>
          <ac:spMkLst>
            <pc:docMk/>
            <pc:sldMk cId="3470509905" sldId="286"/>
            <ac:spMk id="10" creationId="{52AEA5DF-9E78-46D9-816F-86D2472F0EE2}"/>
          </ac:spMkLst>
        </pc:spChg>
        <pc:spChg chg="mod">
          <ac:chgData name="" userId="" providerId="" clId="Web-{896B5F9C-2E76-4E04-9E6D-7B07AD80F746}" dt="2019-03-18T22:53:07.253" v="78" actId="1076"/>
          <ac:spMkLst>
            <pc:docMk/>
            <pc:sldMk cId="3470509905" sldId="286"/>
            <ac:spMk id="11" creationId="{19C76307-223B-46E8-993B-759439E395F9}"/>
          </ac:spMkLst>
        </pc:spChg>
        <pc:spChg chg="add del mod">
          <ac:chgData name="" userId="" providerId="" clId="Web-{896B5F9C-2E76-4E04-9E6D-7B07AD80F746}" dt="2019-03-18T22:55:15.613" v="94"/>
          <ac:spMkLst>
            <pc:docMk/>
            <pc:sldMk cId="3470509905" sldId="286"/>
            <ac:spMk id="12" creationId="{25CDFC07-B9A4-4D04-BD42-641A360B842E}"/>
          </ac:spMkLst>
        </pc:spChg>
        <pc:picChg chg="add del mod">
          <ac:chgData name="" userId="" providerId="" clId="Web-{896B5F9C-2E76-4E04-9E6D-7B07AD80F746}" dt="2019-03-18T22:54:04.347" v="79"/>
          <ac:picMkLst>
            <pc:docMk/>
            <pc:sldMk cId="3470509905" sldId="286"/>
            <ac:picMk id="2" creationId="{F839AA3E-02CF-4C7D-961B-576E95CBCACD}"/>
          </ac:picMkLst>
        </pc:picChg>
        <pc:picChg chg="add del mod">
          <ac:chgData name="" userId="" providerId="" clId="Web-{896B5F9C-2E76-4E04-9E6D-7B07AD80F746}" dt="2019-03-18T22:54:57.957" v="84"/>
          <ac:picMkLst>
            <pc:docMk/>
            <pc:sldMk cId="3470509905" sldId="286"/>
            <ac:picMk id="5" creationId="{D583CBA9-766A-4C11-894A-8A22D3A03958}"/>
          </ac:picMkLst>
        </pc:picChg>
        <pc:picChg chg="del">
          <ac:chgData name="" userId="" providerId="" clId="Web-{896B5F9C-2E76-4E04-9E6D-7B07AD80F746}" dt="2019-03-18T22:49:42.753" v="50"/>
          <ac:picMkLst>
            <pc:docMk/>
            <pc:sldMk cId="3470509905" sldId="286"/>
            <ac:picMk id="9" creationId="{155F6C95-F016-41A7-8FA4-9AA543225688}"/>
          </ac:picMkLst>
        </pc:pic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8AFCF-E03D-4A93-A37D-68805BA4DAD7}" type="datetimeFigureOut">
              <a:rPr lang="es-CO" smtClean="0"/>
              <a:t>10/05/2019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03E21-90F9-4E3B-8DD6-3033CFBD684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5502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556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10/05/2019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4931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10/05/2019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4936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10/05/2019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8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10/05/2019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836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10/05/2019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2116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10/05/2019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279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10/05/2019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8019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10/05/2019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9630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10/05/2019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8537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10/05/2019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4147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9223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99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7.png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36.wmf"/><Relationship Id="rId4" Type="http://schemas.microsoft.com/office/2007/relationships/hdphoto" Target="../media/hdphoto3.wdp"/><Relationship Id="rId9" Type="http://schemas.openxmlformats.org/officeDocument/2006/relationships/oleObject" Target="../embeddings/oleObject3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3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4.bin"/><Relationship Id="rId4" Type="http://schemas.microsoft.com/office/2007/relationships/hdphoto" Target="../media/hdphoto3.wdp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machinelearningmastery.com/classification-versus-regression-in-machine-learning/" TargetMode="External"/><Relationship Id="rId2" Type="http://schemas.openxmlformats.org/officeDocument/2006/relationships/hyperlink" Target="https://machinelearningmastery.com/a-tour-of-machine-learning-algorithms/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atascience.com/blog/k-means-clustering" TargetMode="External"/><Relationship Id="rId3" Type="http://schemas.openxmlformats.org/officeDocument/2006/relationships/hyperlink" Target="https://machinelearningmastery.com/naive-bayes-for-machine-learning/" TargetMode="External"/><Relationship Id="rId7" Type="http://schemas.openxmlformats.org/officeDocument/2006/relationships/hyperlink" Target="https://machinelearningmastery.com/linear-regression-for-machine-learning/" TargetMode="External"/><Relationship Id="rId2" Type="http://schemas.openxmlformats.org/officeDocument/2006/relationships/hyperlink" Target="https://machinelearningmastery.com/classification-and-regression-trees-for-machine-learnin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achinelearningmastery.com/logistic-regression-for-machine-learning/" TargetMode="External"/><Relationship Id="rId11" Type="http://schemas.openxmlformats.org/officeDocument/2006/relationships/hyperlink" Target="https://skymind.ai/wiki/neural-network" TargetMode="External"/><Relationship Id="rId5" Type="http://schemas.openxmlformats.org/officeDocument/2006/relationships/hyperlink" Target="https://machinelearningmastery.com/support-vector-machines-for-machine-learning/" TargetMode="External"/><Relationship Id="rId10" Type="http://schemas.openxmlformats.org/officeDocument/2006/relationships/hyperlink" Target="https://machinelearningmastery.com/what-is-deep-learning/" TargetMode="External"/><Relationship Id="rId4" Type="http://schemas.openxmlformats.org/officeDocument/2006/relationships/hyperlink" Target="https://machinelearningmastery.com/k-nearest-neighbors-for-machine-learning/" TargetMode="External"/><Relationship Id="rId9" Type="http://schemas.openxmlformats.org/officeDocument/2006/relationships/hyperlink" Target="https://www.geeksforgeeks.org/dimensionality-reducti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060535" y="1928733"/>
            <a:ext cx="107897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600" dirty="0"/>
              <a:t>Introducción al aprendizaje de máquina</a:t>
            </a:r>
          </a:p>
          <a:p>
            <a:r>
              <a:rPr lang="es-CO" sz="2400" dirty="0"/>
              <a:t>Marzo </a:t>
            </a:r>
            <a:r>
              <a:rPr lang="es-CO" sz="2400" dirty="0" smtClean="0"/>
              <a:t>18 </a:t>
            </a:r>
            <a:r>
              <a:rPr lang="es-CO" sz="2400" dirty="0"/>
              <a:t>de 2019</a:t>
            </a:r>
          </a:p>
          <a:p>
            <a:r>
              <a:rPr lang="es-CO" sz="2400" dirty="0"/>
              <a:t> </a:t>
            </a:r>
          </a:p>
          <a:p>
            <a:endParaRPr lang="es-CO" sz="3600" dirty="0">
              <a:solidFill>
                <a:srgbClr val="FF0000"/>
              </a:solidFill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1311894" y="3181976"/>
            <a:ext cx="10287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600" dirty="0" smtClean="0"/>
              <a:t>Introducción</a:t>
            </a:r>
            <a:endParaRPr lang="es-CO" sz="1600" dirty="0"/>
          </a:p>
          <a:p>
            <a:r>
              <a:rPr lang="es-CO" sz="1600" dirty="0" smtClean="0"/>
              <a:t>Aprendizaje supervisado</a:t>
            </a:r>
            <a:endParaRPr lang="es-CO" sz="1600" dirty="0"/>
          </a:p>
          <a:p>
            <a:r>
              <a:rPr lang="es-CO" sz="1600" dirty="0" smtClean="0"/>
              <a:t>Aprendizaje no supervisado</a:t>
            </a:r>
            <a:endParaRPr lang="es-CO" sz="1600" dirty="0"/>
          </a:p>
          <a:p>
            <a:r>
              <a:rPr lang="es-CO" sz="1600" dirty="0" smtClean="0"/>
              <a:t>Aprendizaje </a:t>
            </a:r>
            <a:r>
              <a:rPr lang="es-CO" sz="1600" dirty="0" err="1" smtClean="0"/>
              <a:t>semi</a:t>
            </a:r>
            <a:r>
              <a:rPr lang="es-CO" sz="1600" dirty="0" smtClean="0"/>
              <a:t>-supervisado</a:t>
            </a:r>
          </a:p>
          <a:p>
            <a:r>
              <a:rPr lang="es-CO" sz="1600" dirty="0" smtClean="0"/>
              <a:t>Algoritmos de regresión</a:t>
            </a:r>
          </a:p>
          <a:p>
            <a:r>
              <a:rPr lang="es-CO" sz="1600" dirty="0" smtClean="0"/>
              <a:t>Algoritmos basados en instancias</a:t>
            </a:r>
          </a:p>
          <a:p>
            <a:r>
              <a:rPr lang="es-CO" sz="1600" dirty="0" smtClean="0"/>
              <a:t>Árboles de decisión</a:t>
            </a:r>
          </a:p>
          <a:p>
            <a:r>
              <a:rPr lang="es-CO" sz="1600" dirty="0" smtClean="0"/>
              <a:t>Algoritmos bayesianos</a:t>
            </a:r>
          </a:p>
          <a:p>
            <a:r>
              <a:rPr lang="es-CO" sz="1600" dirty="0" smtClean="0"/>
              <a:t>Algoritmos de agrupamiento</a:t>
            </a:r>
          </a:p>
          <a:p>
            <a:r>
              <a:rPr lang="es-CO" sz="1600" dirty="0" smtClean="0"/>
              <a:t>Redes neuronales</a:t>
            </a:r>
          </a:p>
          <a:p>
            <a:r>
              <a:rPr lang="es-CO" sz="1600" i="1" dirty="0" err="1" smtClean="0"/>
              <a:t>Deep</a:t>
            </a:r>
            <a:r>
              <a:rPr lang="es-CO" sz="1600" i="1" dirty="0" smtClean="0"/>
              <a:t> </a:t>
            </a:r>
            <a:r>
              <a:rPr lang="es-CO" sz="1600" i="1" dirty="0" err="1" smtClean="0"/>
              <a:t>learning</a:t>
            </a:r>
            <a:endParaRPr lang="es-CO" sz="1600" i="1" dirty="0" smtClean="0"/>
          </a:p>
          <a:p>
            <a:r>
              <a:rPr lang="es-CO" sz="1600" i="1" dirty="0" smtClean="0"/>
              <a:t>Algoritmos de reducción de </a:t>
            </a:r>
            <a:r>
              <a:rPr lang="es-CO" sz="1600" i="1" dirty="0" err="1" smtClean="0"/>
              <a:t>dimensionalidad</a:t>
            </a:r>
            <a:endParaRPr lang="es-CO" sz="1600" i="1" dirty="0" smtClean="0"/>
          </a:p>
          <a:p>
            <a:endParaRPr lang="es-CO" sz="1600" dirty="0" smtClean="0"/>
          </a:p>
          <a:p>
            <a:endParaRPr lang="es-CO" sz="1600" dirty="0"/>
          </a:p>
        </p:txBody>
      </p:sp>
      <p:sp>
        <p:nvSpPr>
          <p:cNvPr id="4" name="Rectángulo 3"/>
          <p:cNvSpPr/>
          <p:nvPr/>
        </p:nvSpPr>
        <p:spPr>
          <a:xfrm>
            <a:off x="5372977" y="5213619"/>
            <a:ext cx="10287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Docente: Carlos Alejandro Trujillo Anaya – </a:t>
            </a:r>
            <a:r>
              <a:rPr lang="es-CO" b="1" dirty="0"/>
              <a:t>carlostrujillo@itm.edu.co</a:t>
            </a:r>
            <a:endParaRPr lang="es-CO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570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:a16="http://schemas.microsoft.com/office/drawing/2014/main" xmlns="" id="{32DEE136-2416-40AA-BE7B-D7F3F6E07149}"/>
              </a:ext>
            </a:extLst>
          </p:cNvPr>
          <p:cNvSpPr/>
          <p:nvPr/>
        </p:nvSpPr>
        <p:spPr>
          <a:xfrm>
            <a:off x="959840" y="1512881"/>
            <a:ext cx="407842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Cómo aprendemos los humanos?</a:t>
            </a:r>
          </a:p>
        </p:txBody>
      </p:sp>
      <p:sp>
        <p:nvSpPr>
          <p:cNvPr id="8" name="Rectángulo 2">
            <a:extLst>
              <a:ext uri="{FF2B5EF4-FFF2-40B4-BE49-F238E27FC236}">
                <a16:creationId xmlns:a16="http://schemas.microsoft.com/office/drawing/2014/main" xmlns="" id="{C590241E-E156-4E27-A445-E9C3B497BDC7}"/>
              </a:ext>
            </a:extLst>
          </p:cNvPr>
          <p:cNvSpPr/>
          <p:nvPr/>
        </p:nvSpPr>
        <p:spPr>
          <a:xfrm>
            <a:off x="7339754" y="3629669"/>
            <a:ext cx="321741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/>
              <a:t>Modificamos nuestro comportamiento a partir de </a:t>
            </a:r>
            <a:r>
              <a:rPr lang="es-CO" dirty="0" smtClean="0"/>
              <a:t>las experiencias.</a:t>
            </a:r>
            <a:endParaRPr lang="es-CO" dirty="0"/>
          </a:p>
        </p:txBody>
      </p:sp>
      <p:pic>
        <p:nvPicPr>
          <p:cNvPr id="4" name="Picture 2" descr="Resultado de imagen para man remembering cartoon">
            <a:extLst>
              <a:ext uri="{FF2B5EF4-FFF2-40B4-BE49-F238E27FC236}">
                <a16:creationId xmlns:a16="http://schemas.microsoft.com/office/drawing/2014/main" xmlns="" id="{EB0FB102-70BA-48DD-958E-779DE6635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699" y="2305180"/>
            <a:ext cx="1981282" cy="2590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38B4C91-7E61-47C8-9D4C-F42BE4911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766" y="2317086"/>
            <a:ext cx="2279540" cy="361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782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:a16="http://schemas.microsoft.com/office/drawing/2014/main" xmlns="" id="{32DEE136-2416-40AA-BE7B-D7F3F6E07149}"/>
              </a:ext>
            </a:extLst>
          </p:cNvPr>
          <p:cNvSpPr/>
          <p:nvPr/>
        </p:nvSpPr>
        <p:spPr>
          <a:xfrm>
            <a:off x="1079645" y="1531542"/>
            <a:ext cx="301255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Ahora… y las máquinas?</a:t>
            </a:r>
          </a:p>
        </p:txBody>
      </p:sp>
      <p:sp>
        <p:nvSpPr>
          <p:cNvPr id="3" name="Rectángulo 2"/>
          <p:cNvSpPr/>
          <p:nvPr/>
        </p:nvSpPr>
        <p:spPr>
          <a:xfrm>
            <a:off x="2172571" y="5363039"/>
            <a:ext cx="71300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/>
              <a:t>En particular, por máquina nos referiremos a los componentes de software y de hardware con los que cuenta un computador.</a:t>
            </a:r>
          </a:p>
        </p:txBody>
      </p:sp>
      <p:sp>
        <p:nvSpPr>
          <p:cNvPr id="8" name="Rectángulo 2">
            <a:extLst>
              <a:ext uri="{FF2B5EF4-FFF2-40B4-BE49-F238E27FC236}">
                <a16:creationId xmlns:a16="http://schemas.microsoft.com/office/drawing/2014/main" xmlns="" id="{C590241E-E156-4E27-A445-E9C3B497BDC7}"/>
              </a:ext>
            </a:extLst>
          </p:cNvPr>
          <p:cNvSpPr/>
          <p:nvPr/>
        </p:nvSpPr>
        <p:spPr>
          <a:xfrm>
            <a:off x="10229142" y="3429000"/>
            <a:ext cx="170903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>
                <a:solidFill>
                  <a:srgbClr val="FF0000"/>
                </a:solidFill>
              </a:rPr>
              <a:t>Las máquinas siguen instrucciones</a:t>
            </a:r>
          </a:p>
        </p:txBody>
      </p:sp>
      <p:pic>
        <p:nvPicPr>
          <p:cNvPr id="2050" name="Picture 2" descr="Resultado de imagen para machine following orders">
            <a:extLst>
              <a:ext uri="{FF2B5EF4-FFF2-40B4-BE49-F238E27FC236}">
                <a16:creationId xmlns:a16="http://schemas.microsoft.com/office/drawing/2014/main" xmlns="" id="{A46C4D1C-07F0-4CCE-A8D1-A5B73192F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433" y="2375857"/>
            <a:ext cx="5376615" cy="2688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sultado de imagen para robot">
            <a:extLst>
              <a:ext uri="{FF2B5EF4-FFF2-40B4-BE49-F238E27FC236}">
                <a16:creationId xmlns:a16="http://schemas.microsoft.com/office/drawing/2014/main" xmlns="" id="{89715944-DAB1-4FCA-BC5E-57A37F8DAB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9845" y="2184916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027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:a16="http://schemas.microsoft.com/office/drawing/2014/main" xmlns="" id="{32DEE136-2416-40AA-BE7B-D7F3F6E07149}"/>
              </a:ext>
            </a:extLst>
          </p:cNvPr>
          <p:cNvSpPr/>
          <p:nvPr/>
        </p:nvSpPr>
        <p:spPr>
          <a:xfrm>
            <a:off x="773732" y="1604591"/>
            <a:ext cx="875624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Los humanos podemos entrenar a las máquinas: Aprendizaje de Máquina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2C39A814-BC7D-4B08-A00B-EFD2772D9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071" y="1942171"/>
            <a:ext cx="6038850" cy="40195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9408776-C916-4556-AA30-961BA3096B37}"/>
              </a:ext>
            </a:extLst>
          </p:cNvPr>
          <p:cNvSpPr/>
          <p:nvPr/>
        </p:nvSpPr>
        <p:spPr>
          <a:xfrm>
            <a:off x="6552093" y="4052605"/>
            <a:ext cx="457421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El </a:t>
            </a:r>
            <a:r>
              <a:rPr lang="en-US" dirty="0" err="1"/>
              <a:t>aprendizaje</a:t>
            </a:r>
            <a:r>
              <a:rPr lang="en-US" dirty="0"/>
              <a:t> de </a:t>
            </a:r>
            <a:r>
              <a:rPr lang="en-US" dirty="0" err="1"/>
              <a:t>máquina</a:t>
            </a:r>
            <a:r>
              <a:rPr lang="en-US" dirty="0"/>
              <a:t> es el </a:t>
            </a:r>
            <a:r>
              <a:rPr lang="en-US" dirty="0" err="1"/>
              <a:t>estudio</a:t>
            </a:r>
            <a:r>
              <a:rPr lang="en-US" dirty="0"/>
              <a:t> </a:t>
            </a:r>
            <a:r>
              <a:rPr lang="en-US" dirty="0" err="1"/>
              <a:t>científico</a:t>
            </a:r>
            <a:r>
              <a:rPr lang="en-US" dirty="0"/>
              <a:t> de </a:t>
            </a:r>
            <a:r>
              <a:rPr lang="en-US" dirty="0" err="1"/>
              <a:t>algoritmos</a:t>
            </a:r>
            <a:r>
              <a:rPr lang="en-US" dirty="0"/>
              <a:t> y </a:t>
            </a: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estadísticos</a:t>
            </a:r>
            <a:r>
              <a:rPr lang="en-US" dirty="0"/>
              <a:t> que los </a:t>
            </a:r>
            <a:r>
              <a:rPr lang="en-US" dirty="0" err="1"/>
              <a:t>sistemas</a:t>
            </a:r>
            <a:r>
              <a:rPr lang="en-US" dirty="0"/>
              <a:t> </a:t>
            </a:r>
            <a:r>
              <a:rPr lang="en-US" dirty="0" err="1"/>
              <a:t>informáticos</a:t>
            </a:r>
            <a:r>
              <a:rPr lang="en-US" dirty="0"/>
              <a:t> </a:t>
            </a:r>
            <a:r>
              <a:rPr lang="en-US" dirty="0" err="1"/>
              <a:t>utilizan</a:t>
            </a:r>
            <a:r>
              <a:rPr lang="en-US" dirty="0"/>
              <a:t> para </a:t>
            </a:r>
            <a:r>
              <a:rPr lang="en-US" dirty="0" err="1"/>
              <a:t>realizar</a:t>
            </a:r>
            <a:r>
              <a:rPr lang="en-US" dirty="0"/>
              <a:t> de </a:t>
            </a:r>
            <a:r>
              <a:rPr lang="en-US" dirty="0" err="1"/>
              <a:t>manera</a:t>
            </a:r>
            <a:r>
              <a:rPr lang="en-US" dirty="0"/>
              <a:t> </a:t>
            </a:r>
            <a:r>
              <a:rPr lang="en-US" dirty="0" err="1"/>
              <a:t>efectiva</a:t>
            </a:r>
            <a:r>
              <a:rPr lang="en-US" dirty="0"/>
              <a:t> una </a:t>
            </a:r>
            <a:r>
              <a:rPr lang="en-US" dirty="0" err="1"/>
              <a:t>tarea</a:t>
            </a:r>
            <a:r>
              <a:rPr lang="en-US" dirty="0"/>
              <a:t> </a:t>
            </a:r>
            <a:r>
              <a:rPr lang="en-US" dirty="0" err="1"/>
              <a:t>específica</a:t>
            </a:r>
            <a:r>
              <a:rPr lang="en-US" dirty="0"/>
              <a:t> sin </a:t>
            </a:r>
            <a:r>
              <a:rPr lang="en-US" dirty="0" err="1"/>
              <a:t>utilizar</a:t>
            </a:r>
            <a:r>
              <a:rPr lang="en-US" dirty="0"/>
              <a:t> </a:t>
            </a:r>
            <a:r>
              <a:rPr lang="en-US" dirty="0" err="1"/>
              <a:t>instrucciones</a:t>
            </a:r>
            <a:r>
              <a:rPr lang="en-US" dirty="0"/>
              <a:t> </a:t>
            </a:r>
            <a:r>
              <a:rPr lang="en-US" dirty="0" err="1"/>
              <a:t>explícitas</a:t>
            </a:r>
            <a:r>
              <a:rPr lang="en-US" dirty="0"/>
              <a:t>, </a:t>
            </a:r>
            <a:r>
              <a:rPr lang="en-US" dirty="0" err="1"/>
              <a:t>sino</a:t>
            </a:r>
            <a:r>
              <a:rPr lang="en-US" dirty="0"/>
              <a:t> que se </a:t>
            </a:r>
            <a:r>
              <a:rPr lang="en-US" dirty="0" err="1"/>
              <a:t>basan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patrones</a:t>
            </a:r>
            <a:r>
              <a:rPr lang="en-US" dirty="0"/>
              <a:t> e </a:t>
            </a:r>
            <a:r>
              <a:rPr lang="en-US" dirty="0" err="1"/>
              <a:t>inferencias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8321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Resultado de imagen para machine learning">
            <a:extLst>
              <a:ext uri="{FF2B5EF4-FFF2-40B4-BE49-F238E27FC236}">
                <a16:creationId xmlns:a16="http://schemas.microsoft.com/office/drawing/2014/main" xmlns="" id="{625E4AC5-1192-4982-9086-C8F2CC37B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539" y="2322772"/>
            <a:ext cx="5849729" cy="3714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A3C4050-5C8F-4C96-A49A-BDBF1EF9A912}"/>
              </a:ext>
            </a:extLst>
          </p:cNvPr>
          <p:cNvSpPr/>
          <p:nvPr/>
        </p:nvSpPr>
        <p:spPr>
          <a:xfrm>
            <a:off x="5353091" y="6323436"/>
            <a:ext cx="43014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https://www.ibm.com/co-es/analytics/machine-learning</a:t>
            </a:r>
          </a:p>
        </p:txBody>
      </p:sp>
      <p:sp>
        <p:nvSpPr>
          <p:cNvPr id="6" name="Rectángulo 11">
            <a:extLst>
              <a:ext uri="{FF2B5EF4-FFF2-40B4-BE49-F238E27FC236}">
                <a16:creationId xmlns:a16="http://schemas.microsoft.com/office/drawing/2014/main" xmlns="" id="{1C361B4D-708A-41C5-8CB4-D94698AE024A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Panorama general del </a:t>
            </a:r>
            <a:r>
              <a:rPr lang="es-CO" sz="2200" b="1" i="1" dirty="0"/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701171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:a16="http://schemas.microsoft.com/office/drawing/2014/main" xmlns="" id="{1C361B4D-708A-41C5-8CB4-D94698AE024A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Panorama general del </a:t>
            </a:r>
            <a:r>
              <a:rPr lang="es-CO" sz="2200" b="1" i="1" dirty="0"/>
              <a:t>machine learning</a:t>
            </a:r>
          </a:p>
        </p:txBody>
      </p:sp>
      <p:pic>
        <p:nvPicPr>
          <p:cNvPr id="5" name="Picture 2" descr="Imagen relacionada">
            <a:extLst>
              <a:ext uri="{FF2B5EF4-FFF2-40B4-BE49-F238E27FC236}">
                <a16:creationId xmlns:a16="http://schemas.microsoft.com/office/drawing/2014/main" xmlns="" id="{B97A158D-0746-4BD2-BD09-F85D2719B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7475" y="2044809"/>
            <a:ext cx="4371248" cy="437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EE5C5F0-8E7B-4168-991A-4ED38BFF770D}"/>
              </a:ext>
            </a:extLst>
          </p:cNvPr>
          <p:cNvSpPr/>
          <p:nvPr/>
        </p:nvSpPr>
        <p:spPr>
          <a:xfrm>
            <a:off x="7106817" y="5503801"/>
            <a:ext cx="280229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https://medium.com/ai-learners/ai-en-3-minutos-tipos-de-machine-learning-945b708ac78</a:t>
            </a:r>
          </a:p>
        </p:txBody>
      </p:sp>
    </p:spTree>
    <p:extLst>
      <p:ext uri="{BB962C8B-B14F-4D97-AF65-F5344CB8AC3E}">
        <p14:creationId xmlns:p14="http://schemas.microsoft.com/office/powerpoint/2010/main" val="566751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2A4FE2CF-6644-483F-92EB-14281140AA5D}"/>
              </a:ext>
            </a:extLst>
          </p:cNvPr>
          <p:cNvSpPr/>
          <p:nvPr/>
        </p:nvSpPr>
        <p:spPr>
          <a:xfrm>
            <a:off x="1448978" y="235938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dirty="0"/>
              <a:t>Aprendizaje supervisado</a:t>
            </a:r>
          </a:p>
        </p:txBody>
      </p:sp>
      <p:sp>
        <p:nvSpPr>
          <p:cNvPr id="6" name="Rectángulo 11">
            <a:extLst>
              <a:ext uri="{FF2B5EF4-FFF2-40B4-BE49-F238E27FC236}">
                <a16:creationId xmlns:a16="http://schemas.microsoft.com/office/drawing/2014/main" xmlns="" id="{1158CC3B-CF8A-43DE-BDCE-4EF276D2A8CC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Algoritmos organizados por estilo de aprendizaje</a:t>
            </a:r>
            <a:endParaRPr lang="es-CO" sz="2200" b="1" i="1" dirty="0"/>
          </a:p>
        </p:txBody>
      </p:sp>
      <p:pic>
        <p:nvPicPr>
          <p:cNvPr id="2" name="Imagen 2">
            <a:extLst>
              <a:ext uri="{FF2B5EF4-FFF2-40B4-BE49-F238E27FC236}">
                <a16:creationId xmlns:a16="http://schemas.microsoft.com/office/drawing/2014/main" xmlns="" id="{2CAA42A3-E26A-4254-937C-124F095B6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695" y="3147394"/>
            <a:ext cx="2637312" cy="253375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85ADD72-6FC9-4671-9A3B-AC31A1ECA054}"/>
              </a:ext>
            </a:extLst>
          </p:cNvPr>
          <p:cNvSpPr txBox="1"/>
          <p:nvPr/>
        </p:nvSpPr>
        <p:spPr>
          <a:xfrm>
            <a:off x="4976420" y="3753111"/>
            <a:ext cx="6097980" cy="92333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Los datos de entrada se denominan datos de entrenamiento y tienen una etiqueta o resultado conocido, como </a:t>
            </a:r>
            <a:r>
              <a:rPr lang="es-ES" dirty="0" err="1"/>
              <a:t>spam</a:t>
            </a:r>
            <a:r>
              <a:rPr lang="es-ES" dirty="0"/>
              <a:t> / no-</a:t>
            </a:r>
            <a:r>
              <a:rPr lang="es-ES" dirty="0" err="1"/>
              <a:t>spam</a:t>
            </a:r>
            <a:r>
              <a:rPr lang="es-ES" dirty="0"/>
              <a:t> o un precio de acciones a la vez.</a:t>
            </a:r>
          </a:p>
        </p:txBody>
      </p:sp>
      <p:sp>
        <p:nvSpPr>
          <p:cNvPr id="7" name="Rectángulo 6"/>
          <p:cNvSpPr/>
          <p:nvPr/>
        </p:nvSpPr>
        <p:spPr>
          <a:xfrm>
            <a:off x="3991839" y="6384744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400" dirty="0"/>
              <a:t>https://machinelearningmastery.com/a-tour-of-machine-learning-algorithms/</a:t>
            </a:r>
          </a:p>
        </p:txBody>
      </p:sp>
    </p:spTree>
    <p:extLst>
      <p:ext uri="{BB962C8B-B14F-4D97-AF65-F5344CB8AC3E}">
        <p14:creationId xmlns:p14="http://schemas.microsoft.com/office/powerpoint/2010/main" val="1273775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4" descr="Imagen que contiene señal, texto, exterior, calle&#10;&#10;Descripción generada con confianza muy alta">
            <a:extLst>
              <a:ext uri="{FF2B5EF4-FFF2-40B4-BE49-F238E27FC236}">
                <a16:creationId xmlns:a16="http://schemas.microsoft.com/office/drawing/2014/main" xmlns="" id="{BCC331C3-63DC-45B6-8303-1AF05F81CF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9319" y="2914197"/>
            <a:ext cx="5983701" cy="3421517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7DE69909-0B0F-442C-8B45-5A3871D022D8}"/>
              </a:ext>
            </a:extLst>
          </p:cNvPr>
          <p:cNvSpPr/>
          <p:nvPr/>
        </p:nvSpPr>
        <p:spPr>
          <a:xfrm>
            <a:off x="1448978" y="2359384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dirty="0"/>
              <a:t>Aprendizaje supervisado</a:t>
            </a:r>
          </a:p>
        </p:txBody>
      </p:sp>
      <p:sp>
        <p:nvSpPr>
          <p:cNvPr id="9" name="Rectángulo 11">
            <a:extLst>
              <a:ext uri="{FF2B5EF4-FFF2-40B4-BE49-F238E27FC236}">
                <a16:creationId xmlns:a16="http://schemas.microsoft.com/office/drawing/2014/main" xmlns="" id="{BF223799-0977-4E2E-9FF3-485091EAE52A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Algoritmos organizados por estilo de aprendizaje</a:t>
            </a:r>
            <a:endParaRPr lang="es-CO" sz="2200" b="1" i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xmlns="" id="{F0348946-0074-4077-A388-BFF87C2474A6}"/>
              </a:ext>
            </a:extLst>
          </p:cNvPr>
          <p:cNvSpPr txBox="1"/>
          <p:nvPr/>
        </p:nvSpPr>
        <p:spPr>
          <a:xfrm>
            <a:off x="7970322" y="2913413"/>
            <a:ext cx="2743200" cy="3693319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Un modelo se prepara a través de un proceso de </a:t>
            </a:r>
            <a:r>
              <a:rPr lang="es-ES" b="1" i="1" dirty="0"/>
              <a:t>entrenamiento </a:t>
            </a:r>
            <a:r>
              <a:rPr lang="es-ES" dirty="0"/>
              <a:t>en el que se requiere hacer predicciones y se corrige cuando esas predicciones son erróneas. </a:t>
            </a:r>
            <a:endParaRPr lang="es-ES"/>
          </a:p>
          <a:p>
            <a:endParaRPr lang="es-ES" dirty="0"/>
          </a:p>
          <a:p>
            <a:r>
              <a:rPr lang="es-ES" dirty="0"/>
              <a:t>El entrenamiento continúa hasta que el modelo alcanza el nivel deseado de precisión en los datos de entrenamiento.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8402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7DE69909-0B0F-442C-8B45-5A3871D022D8}"/>
              </a:ext>
            </a:extLst>
          </p:cNvPr>
          <p:cNvSpPr/>
          <p:nvPr/>
        </p:nvSpPr>
        <p:spPr>
          <a:xfrm>
            <a:off x="1448978" y="2359384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dirty="0"/>
              <a:t>Aprendizaje supervisado</a:t>
            </a:r>
          </a:p>
        </p:txBody>
      </p:sp>
      <p:sp>
        <p:nvSpPr>
          <p:cNvPr id="9" name="Rectángulo 11">
            <a:extLst>
              <a:ext uri="{FF2B5EF4-FFF2-40B4-BE49-F238E27FC236}">
                <a16:creationId xmlns:a16="http://schemas.microsoft.com/office/drawing/2014/main" xmlns="" id="{BF223799-0977-4E2E-9FF3-485091EAE52A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Algoritmos organizados por estilo de aprendizaje</a:t>
            </a:r>
            <a:endParaRPr lang="es-CO" sz="2200" b="1" i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xmlns="" id="{F0348946-0074-4077-A388-BFF87C2474A6}"/>
              </a:ext>
            </a:extLst>
          </p:cNvPr>
          <p:cNvSpPr txBox="1"/>
          <p:nvPr/>
        </p:nvSpPr>
        <p:spPr>
          <a:xfrm>
            <a:off x="6802582" y="3081647"/>
            <a:ext cx="4722420" cy="1477328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" dirty="0"/>
              <a:t>La clasificación y la regresión pertenecen a este tipo de algoritmos.</a:t>
            </a:r>
            <a:br>
              <a:rPr lang="es" dirty="0"/>
            </a:br>
            <a:r>
              <a:rPr lang="es" dirty="0"/>
              <a:t/>
            </a:r>
            <a:br>
              <a:rPr lang="es" dirty="0"/>
            </a:br>
            <a:r>
              <a:rPr lang="es" dirty="0"/>
              <a:t>Ejemplo: Regresión logística y las redes neuronales.</a:t>
            </a:r>
            <a:endParaRPr lang="es-ES" dirty="0"/>
          </a:p>
        </p:txBody>
      </p:sp>
      <p:pic>
        <p:nvPicPr>
          <p:cNvPr id="5" name="Imagen 5">
            <a:extLst>
              <a:ext uri="{FF2B5EF4-FFF2-40B4-BE49-F238E27FC236}">
                <a16:creationId xmlns:a16="http://schemas.microsoft.com/office/drawing/2014/main" xmlns="" id="{925056CE-44B0-42EC-ADF4-0C1A71B66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738" y="3192940"/>
            <a:ext cx="4217718" cy="221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118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7DE69909-0B0F-442C-8B45-5A3871D022D8}"/>
              </a:ext>
            </a:extLst>
          </p:cNvPr>
          <p:cNvSpPr/>
          <p:nvPr/>
        </p:nvSpPr>
        <p:spPr>
          <a:xfrm>
            <a:off x="1448978" y="2359384"/>
            <a:ext cx="6096000" cy="369332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dirty="0"/>
              <a:t>Aprendizaje no supervisado</a:t>
            </a:r>
          </a:p>
        </p:txBody>
      </p:sp>
      <p:sp>
        <p:nvSpPr>
          <p:cNvPr id="9" name="Rectángulo 11">
            <a:extLst>
              <a:ext uri="{FF2B5EF4-FFF2-40B4-BE49-F238E27FC236}">
                <a16:creationId xmlns:a16="http://schemas.microsoft.com/office/drawing/2014/main" xmlns="" id="{BF223799-0977-4E2E-9FF3-485091EAE52A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Algoritmos organizados por estilo de aprendizaje</a:t>
            </a:r>
            <a:endParaRPr lang="es-CO" sz="2200" b="1" i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xmlns="" id="{F0348946-0074-4077-A388-BFF87C2474A6}"/>
              </a:ext>
            </a:extLst>
          </p:cNvPr>
          <p:cNvSpPr txBox="1"/>
          <p:nvPr/>
        </p:nvSpPr>
        <p:spPr>
          <a:xfrm>
            <a:off x="5080659" y="3358738"/>
            <a:ext cx="4722420" cy="203132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" dirty="0"/>
              <a:t>Los datos de entrada no están etiquetados y no tienen un resultado conocido.</a:t>
            </a:r>
          </a:p>
          <a:p>
            <a:endParaRPr lang="es" dirty="0">
              <a:cs typeface="Calibri"/>
            </a:endParaRPr>
          </a:p>
          <a:p>
            <a:r>
              <a:rPr lang="es-ES" dirty="0">
                <a:cs typeface="Calibri"/>
              </a:rPr>
              <a:t>Se prepara un modelo deduciendo las estructuras presentes en los datos de entrada para extraer reglas generales. </a:t>
            </a:r>
          </a:p>
          <a:p>
            <a:endParaRPr lang="es" dirty="0">
              <a:cs typeface="Calibri"/>
            </a:endParaRPr>
          </a:p>
        </p:txBody>
      </p:sp>
      <p:pic>
        <p:nvPicPr>
          <p:cNvPr id="2" name="Imagen 2">
            <a:extLst>
              <a:ext uri="{FF2B5EF4-FFF2-40B4-BE49-F238E27FC236}">
                <a16:creationId xmlns:a16="http://schemas.microsoft.com/office/drawing/2014/main" xmlns="" id="{5DC06769-1A9A-491D-8169-3DD22823A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697" y="3043670"/>
            <a:ext cx="2638425" cy="2571750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3991839" y="6384744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400" dirty="0"/>
              <a:t>https://machinelearningmastery.com/a-tour-of-machine-learning-algorithms/</a:t>
            </a:r>
          </a:p>
        </p:txBody>
      </p:sp>
    </p:spTree>
    <p:extLst>
      <p:ext uri="{BB962C8B-B14F-4D97-AF65-F5344CB8AC3E}">
        <p14:creationId xmlns:p14="http://schemas.microsoft.com/office/powerpoint/2010/main" val="378130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D83AC6F-D3A1-443E-8F6E-3BCB9C009D09}"/>
              </a:ext>
            </a:extLst>
          </p:cNvPr>
          <p:cNvSpPr txBox="1"/>
          <p:nvPr/>
        </p:nvSpPr>
        <p:spPr>
          <a:xfrm>
            <a:off x="7317180" y="3042063"/>
            <a:ext cx="3950524" cy="1754326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s-ES" dirty="0">
              <a:cs typeface="Calibri"/>
            </a:endParaRPr>
          </a:p>
          <a:p>
            <a:r>
              <a:rPr lang="es-ES" dirty="0"/>
              <a:t>Puede ser mediante un proceso matemático para reducir sistemáticamente la redundancia, o puede ser la organización de datos por similitud.</a:t>
            </a:r>
            <a:endParaRPr lang="es-ES">
              <a:cs typeface="Calibri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xmlns="" id="{44F6A84A-8AC6-44B0-8366-5283F1CF064C}"/>
              </a:ext>
            </a:extLst>
          </p:cNvPr>
          <p:cNvSpPr/>
          <p:nvPr/>
        </p:nvSpPr>
        <p:spPr>
          <a:xfrm>
            <a:off x="1448978" y="2359383"/>
            <a:ext cx="6096000" cy="369332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dirty="0"/>
              <a:t>Aprendizaje no supervisado</a:t>
            </a:r>
          </a:p>
        </p:txBody>
      </p:sp>
      <p:sp>
        <p:nvSpPr>
          <p:cNvPr id="8" name="Rectángulo 11">
            <a:extLst>
              <a:ext uri="{FF2B5EF4-FFF2-40B4-BE49-F238E27FC236}">
                <a16:creationId xmlns:a16="http://schemas.microsoft.com/office/drawing/2014/main" xmlns="" id="{2175E2EE-9101-45EC-8704-1FB42CE444D8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Algoritmos organizados por estilo de aprendizaje</a:t>
            </a:r>
            <a:endParaRPr lang="es-CO" sz="2200" b="1" i="1" dirty="0"/>
          </a:p>
        </p:txBody>
      </p:sp>
      <p:pic>
        <p:nvPicPr>
          <p:cNvPr id="9" name="Imagen 9">
            <a:extLst>
              <a:ext uri="{FF2B5EF4-FFF2-40B4-BE49-F238E27FC236}">
                <a16:creationId xmlns:a16="http://schemas.microsoft.com/office/drawing/2014/main" xmlns="" id="{155F6C95-F016-41A7-8FA4-9AA543225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398" y="2931906"/>
            <a:ext cx="5817673" cy="258746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xmlns="" id="{19C76307-223B-46E8-993B-759439E395F9}"/>
              </a:ext>
            </a:extLst>
          </p:cNvPr>
          <p:cNvSpPr txBox="1"/>
          <p:nvPr/>
        </p:nvSpPr>
        <p:spPr>
          <a:xfrm>
            <a:off x="2151413" y="5981205"/>
            <a:ext cx="6493823" cy="30777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https://www.iotforall.com/machine-learning-crash-course-unsupervised-learning/</a:t>
            </a:r>
          </a:p>
        </p:txBody>
      </p:sp>
    </p:spTree>
    <p:extLst>
      <p:ext uri="{BB962C8B-B14F-4D97-AF65-F5344CB8AC3E}">
        <p14:creationId xmlns:p14="http://schemas.microsoft.com/office/powerpoint/2010/main" val="1105858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D83AC6F-D3A1-443E-8F6E-3BCB9C009D09}"/>
              </a:ext>
            </a:extLst>
          </p:cNvPr>
          <p:cNvSpPr txBox="1"/>
          <p:nvPr/>
        </p:nvSpPr>
        <p:spPr>
          <a:xfrm>
            <a:off x="5745018" y="3042063"/>
            <a:ext cx="5522686" cy="203132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s-ES" dirty="0">
              <a:cs typeface="Calibri"/>
            </a:endParaRPr>
          </a:p>
          <a:p>
            <a:r>
              <a:rPr lang="es" dirty="0"/>
              <a:t>Ejemplos de problemas son el </a:t>
            </a:r>
            <a:r>
              <a:rPr lang="es" b="1" i="1" dirty="0"/>
              <a:t>agrupamiento</a:t>
            </a:r>
            <a:r>
              <a:rPr lang="es" dirty="0"/>
              <a:t>, la reducción de la dimensionalidad y el aprendizaje de reglas de asociación.</a:t>
            </a:r>
            <a:br>
              <a:rPr lang="es" dirty="0"/>
            </a:br>
            <a:r>
              <a:rPr lang="es" dirty="0"/>
              <a:t/>
            </a:r>
            <a:br>
              <a:rPr lang="es" dirty="0"/>
            </a:br>
            <a:r>
              <a:rPr lang="es" dirty="0"/>
              <a:t>Los algoritmos de ejemplo incluyen: el algoritmo </a:t>
            </a:r>
            <a:r>
              <a:rPr lang="es" i="1" dirty="0" err="1"/>
              <a:t>Apriori</a:t>
            </a:r>
            <a:r>
              <a:rPr lang="es" i="1" dirty="0"/>
              <a:t> </a:t>
            </a:r>
            <a:r>
              <a:rPr lang="es" dirty="0"/>
              <a:t>y el </a:t>
            </a:r>
            <a:r>
              <a:rPr lang="es" i="1" dirty="0"/>
              <a:t>k-</a:t>
            </a:r>
            <a:r>
              <a:rPr lang="es" i="1" dirty="0" err="1"/>
              <a:t>Means</a:t>
            </a:r>
            <a:r>
              <a:rPr lang="es" dirty="0"/>
              <a:t>.</a:t>
            </a:r>
            <a:endParaRPr lang="es" dirty="0">
              <a:cs typeface="Calibri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xmlns="" id="{44F6A84A-8AC6-44B0-8366-5283F1CF064C}"/>
              </a:ext>
            </a:extLst>
          </p:cNvPr>
          <p:cNvSpPr/>
          <p:nvPr/>
        </p:nvSpPr>
        <p:spPr>
          <a:xfrm>
            <a:off x="1448978" y="2359383"/>
            <a:ext cx="6096000" cy="369332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dirty="0"/>
              <a:t>Aprendizaje no supervisado</a:t>
            </a:r>
          </a:p>
        </p:txBody>
      </p:sp>
      <p:sp>
        <p:nvSpPr>
          <p:cNvPr id="8" name="Rectángulo 11">
            <a:extLst>
              <a:ext uri="{FF2B5EF4-FFF2-40B4-BE49-F238E27FC236}">
                <a16:creationId xmlns:a16="http://schemas.microsoft.com/office/drawing/2014/main" xmlns="" id="{2175E2EE-9101-45EC-8704-1FB42CE444D8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Algoritmos organizados por estilo de aprendizaje</a:t>
            </a:r>
            <a:endParaRPr lang="es-CO" sz="2200" b="1" i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xmlns="" id="{19C76307-223B-46E8-993B-759439E395F9}"/>
              </a:ext>
            </a:extLst>
          </p:cNvPr>
          <p:cNvSpPr txBox="1"/>
          <p:nvPr/>
        </p:nvSpPr>
        <p:spPr>
          <a:xfrm>
            <a:off x="2088078" y="6086031"/>
            <a:ext cx="6493823" cy="52322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https://towardsdatascience.com/an-easy-introduction-to-unsupervised-learning-with-4-basic-techniques-897cb81979fd</a:t>
            </a:r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565" y="2905837"/>
            <a:ext cx="2899553" cy="289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509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D83AC6F-D3A1-443E-8F6E-3BCB9C009D09}"/>
              </a:ext>
            </a:extLst>
          </p:cNvPr>
          <p:cNvSpPr txBox="1"/>
          <p:nvPr/>
        </p:nvSpPr>
        <p:spPr>
          <a:xfrm>
            <a:off x="5710053" y="4519881"/>
            <a:ext cx="3950524" cy="92333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s-ES" dirty="0">
              <a:cs typeface="Calibri"/>
            </a:endParaRPr>
          </a:p>
          <a:p>
            <a:r>
              <a:rPr lang="es-CO" dirty="0"/>
              <a:t>Los datos de entrada son una mezcla de </a:t>
            </a:r>
            <a:r>
              <a:rPr lang="es-CO" dirty="0" smtClean="0"/>
              <a:t>muestras etiquetadas </a:t>
            </a:r>
            <a:r>
              <a:rPr lang="es-CO" dirty="0"/>
              <a:t>y no </a:t>
            </a:r>
            <a:r>
              <a:rPr lang="es-CO" dirty="0" smtClean="0"/>
              <a:t>etiquetadas</a:t>
            </a:r>
            <a:r>
              <a:rPr lang="es-CO" dirty="0"/>
              <a:t>.</a:t>
            </a:r>
            <a:endParaRPr lang="es" dirty="0">
              <a:cs typeface="Calibri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xmlns="" id="{44F6A84A-8AC6-44B0-8366-5283F1CF064C}"/>
              </a:ext>
            </a:extLst>
          </p:cNvPr>
          <p:cNvSpPr/>
          <p:nvPr/>
        </p:nvSpPr>
        <p:spPr>
          <a:xfrm>
            <a:off x="1448978" y="2359383"/>
            <a:ext cx="6096000" cy="369332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dirty="0"/>
              <a:t>Aprendizaje </a:t>
            </a:r>
            <a:r>
              <a:rPr lang="es-CO" dirty="0" err="1" smtClean="0"/>
              <a:t>semi</a:t>
            </a:r>
            <a:r>
              <a:rPr lang="es-CO" dirty="0" smtClean="0"/>
              <a:t>-supervisado</a:t>
            </a:r>
            <a:endParaRPr lang="es-CO" dirty="0"/>
          </a:p>
        </p:txBody>
      </p:sp>
      <p:sp>
        <p:nvSpPr>
          <p:cNvPr id="8" name="Rectángulo 11">
            <a:extLst>
              <a:ext uri="{FF2B5EF4-FFF2-40B4-BE49-F238E27FC236}">
                <a16:creationId xmlns:a16="http://schemas.microsoft.com/office/drawing/2014/main" xmlns="" id="{2175E2EE-9101-45EC-8704-1FB42CE444D8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Algoritmos organizados por estilo de aprendizaje</a:t>
            </a:r>
            <a:endParaRPr lang="es-CO" sz="2200" b="1" i="1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114" y="2999181"/>
            <a:ext cx="2809875" cy="2705100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3991839" y="6384744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400" dirty="0"/>
              <a:t>https://machinelearningmastery.com/a-tour-of-machine-learning-algorithms/</a:t>
            </a:r>
          </a:p>
        </p:txBody>
      </p:sp>
    </p:spTree>
    <p:extLst>
      <p:ext uri="{BB962C8B-B14F-4D97-AF65-F5344CB8AC3E}">
        <p14:creationId xmlns:p14="http://schemas.microsoft.com/office/powerpoint/2010/main" val="37061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D83AC6F-D3A1-443E-8F6E-3BCB9C009D09}"/>
              </a:ext>
            </a:extLst>
          </p:cNvPr>
          <p:cNvSpPr txBox="1"/>
          <p:nvPr/>
        </p:nvSpPr>
        <p:spPr>
          <a:xfrm>
            <a:off x="6613236" y="3402282"/>
            <a:ext cx="4672940" cy="203132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s-ES" dirty="0">
              <a:cs typeface="Calibri"/>
            </a:endParaRPr>
          </a:p>
          <a:p>
            <a:r>
              <a:rPr lang="es-CO" dirty="0"/>
              <a:t>Hay un problema de predicción deseado, pero el modelo debe aprender las estructuras para organizar los datos y hacer predicciones.</a:t>
            </a:r>
          </a:p>
          <a:p>
            <a:endParaRPr lang="es-CO" dirty="0"/>
          </a:p>
          <a:p>
            <a:r>
              <a:rPr lang="es-CO" dirty="0"/>
              <a:t>Ejemplos de problemas son la clasificación y la regresión.</a:t>
            </a:r>
            <a:endParaRPr lang="es-ES" dirty="0">
              <a:cs typeface="Calibri"/>
            </a:endParaRPr>
          </a:p>
        </p:txBody>
      </p:sp>
      <p:sp>
        <p:nvSpPr>
          <p:cNvPr id="8" name="Rectángulo 11">
            <a:extLst>
              <a:ext uri="{FF2B5EF4-FFF2-40B4-BE49-F238E27FC236}">
                <a16:creationId xmlns:a16="http://schemas.microsoft.com/office/drawing/2014/main" xmlns="" id="{2175E2EE-9101-45EC-8704-1FB42CE444D8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Algoritmos organizados por estilo de aprendizaje</a:t>
            </a:r>
            <a:endParaRPr lang="es-CO" sz="2200" b="1" i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xmlns="" id="{19C76307-223B-46E8-993B-759439E395F9}"/>
              </a:ext>
            </a:extLst>
          </p:cNvPr>
          <p:cNvSpPr txBox="1"/>
          <p:nvPr/>
        </p:nvSpPr>
        <p:spPr>
          <a:xfrm>
            <a:off x="2804264" y="6401991"/>
            <a:ext cx="6493823" cy="30777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http://www.ee.columbia.edu/ln/dvmm/researchProjects/BivariateGTI/gtam.htm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44F6A84A-8AC6-44B0-8366-5283F1CF064C}"/>
              </a:ext>
            </a:extLst>
          </p:cNvPr>
          <p:cNvSpPr/>
          <p:nvPr/>
        </p:nvSpPr>
        <p:spPr>
          <a:xfrm>
            <a:off x="1448978" y="2359383"/>
            <a:ext cx="6096000" cy="369332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dirty="0"/>
              <a:t>Aprendizaje </a:t>
            </a:r>
            <a:r>
              <a:rPr lang="es-CO" dirty="0" err="1" smtClean="0"/>
              <a:t>semi</a:t>
            </a:r>
            <a:r>
              <a:rPr lang="es-CO" dirty="0" smtClean="0"/>
              <a:t>-supervisado</a:t>
            </a:r>
            <a:endParaRPr lang="es-CO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464" y="3006402"/>
            <a:ext cx="3946712" cy="31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232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1">
            <a:extLst>
              <a:ext uri="{FF2B5EF4-FFF2-40B4-BE49-F238E27FC236}">
                <a16:creationId xmlns:a16="http://schemas.microsoft.com/office/drawing/2014/main" xmlns="" id="{2175E2EE-9101-45EC-8704-1FB42CE444D8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Algoritmos organizados por estilo de aprendizaje</a:t>
            </a:r>
            <a:endParaRPr lang="es-CO" sz="2200" b="1" i="1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xmlns="" id="{44F6A84A-8AC6-44B0-8366-5283F1CF064C}"/>
              </a:ext>
            </a:extLst>
          </p:cNvPr>
          <p:cNvSpPr/>
          <p:nvPr/>
        </p:nvSpPr>
        <p:spPr>
          <a:xfrm>
            <a:off x="1448978" y="2359383"/>
            <a:ext cx="6096000" cy="369332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dirty="0"/>
              <a:t>Aprendizaje </a:t>
            </a:r>
            <a:r>
              <a:rPr lang="es-CO" dirty="0" smtClean="0"/>
              <a:t>por refuerzo</a:t>
            </a:r>
            <a:endParaRPr lang="es-CO" dirty="0"/>
          </a:p>
        </p:txBody>
      </p:sp>
      <p:sp>
        <p:nvSpPr>
          <p:cNvPr id="7" name="Rectángulo 6"/>
          <p:cNvSpPr/>
          <p:nvPr/>
        </p:nvSpPr>
        <p:spPr>
          <a:xfrm>
            <a:off x="7435714" y="3837427"/>
            <a:ext cx="423904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El aprendizaje por </a:t>
            </a:r>
            <a:r>
              <a:rPr lang="es-CO" dirty="0" smtClean="0"/>
              <a:t>refuerzo se </a:t>
            </a:r>
            <a:r>
              <a:rPr lang="es-CO" dirty="0"/>
              <a:t>ocupa de cómo los agentes </a:t>
            </a:r>
            <a:r>
              <a:rPr lang="es-CO" dirty="0" smtClean="0"/>
              <a:t>inteligentes </a:t>
            </a:r>
            <a:r>
              <a:rPr lang="es-CO" dirty="0"/>
              <a:t>deben tomar medidas en un entorno para maximizar </a:t>
            </a:r>
            <a:r>
              <a:rPr lang="es-CO" dirty="0" smtClean="0"/>
              <a:t>alguna </a:t>
            </a:r>
            <a:r>
              <a:rPr lang="es-CO" dirty="0"/>
              <a:t>noción de recompensa acumulada.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441" y="2864915"/>
            <a:ext cx="5118537" cy="2849605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2329835" y="6107607"/>
            <a:ext cx="379661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https://www.youtube.com/watch?v=ukzFI9rgwfU</a:t>
            </a:r>
          </a:p>
        </p:txBody>
      </p:sp>
    </p:spTree>
    <p:extLst>
      <p:ext uri="{BB962C8B-B14F-4D97-AF65-F5344CB8AC3E}">
        <p14:creationId xmlns:p14="http://schemas.microsoft.com/office/powerpoint/2010/main" val="3122861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1">
            <a:extLst>
              <a:ext uri="{FF2B5EF4-FFF2-40B4-BE49-F238E27FC236}">
                <a16:creationId xmlns:a16="http://schemas.microsoft.com/office/drawing/2014/main" xmlns="" id="{2175E2EE-9101-45EC-8704-1FB42CE444D8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Actividad de bonificación (?)</a:t>
            </a:r>
            <a:endParaRPr lang="es-CO" sz="2200" b="1" i="1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xmlns="" id="{44F6A84A-8AC6-44B0-8366-5283F1CF064C}"/>
              </a:ext>
            </a:extLst>
          </p:cNvPr>
          <p:cNvSpPr/>
          <p:nvPr/>
        </p:nvSpPr>
        <p:spPr>
          <a:xfrm>
            <a:off x="1448978" y="2359383"/>
            <a:ext cx="6096000" cy="369332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b="1" i="1" dirty="0" smtClean="0">
                <a:solidFill>
                  <a:srgbClr val="FF0000"/>
                </a:solidFill>
              </a:rPr>
              <a:t>Aprendizaje supervisado o no supervisado?</a:t>
            </a:r>
            <a:endParaRPr lang="es-CO" b="1" i="1" dirty="0">
              <a:solidFill>
                <a:srgbClr val="FF0000"/>
              </a:solidFill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2598669" y="6082269"/>
            <a:ext cx="379661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https://www.youtube.com/watch?v=ukzFI9rgwfU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932" y="3169391"/>
            <a:ext cx="7177744" cy="249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632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D83AC6F-D3A1-443E-8F6E-3BCB9C009D09}"/>
              </a:ext>
            </a:extLst>
          </p:cNvPr>
          <p:cNvSpPr txBox="1"/>
          <p:nvPr/>
        </p:nvSpPr>
        <p:spPr>
          <a:xfrm>
            <a:off x="5645397" y="2728715"/>
            <a:ext cx="5715330" cy="3139321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s-ES" dirty="0">
              <a:cs typeface="Calibri"/>
            </a:endParaRPr>
          </a:p>
          <a:p>
            <a:r>
              <a:rPr lang="es-CO" dirty="0"/>
              <a:t>La regresión </a:t>
            </a:r>
            <a:r>
              <a:rPr lang="es-CO" dirty="0" smtClean="0"/>
              <a:t>busca </a:t>
            </a:r>
            <a:r>
              <a:rPr lang="es-CO" dirty="0"/>
              <a:t>modelar la relación entre </a:t>
            </a:r>
            <a:r>
              <a:rPr lang="es-CO" dirty="0" smtClean="0"/>
              <a:t>variables, la cual se </a:t>
            </a:r>
            <a:r>
              <a:rPr lang="es-CO" dirty="0"/>
              <a:t>refina iterativamente utilizando una medida de error en las predicciones hechas por el modelo</a:t>
            </a:r>
            <a:r>
              <a:rPr lang="es-CO" dirty="0" smtClean="0"/>
              <a:t>.</a:t>
            </a:r>
          </a:p>
          <a:p>
            <a:endParaRPr lang="es-CO" dirty="0"/>
          </a:p>
          <a:p>
            <a:r>
              <a:rPr lang="es-CO" dirty="0" err="1"/>
              <a:t>Ordinary</a:t>
            </a:r>
            <a:r>
              <a:rPr lang="es-CO" dirty="0"/>
              <a:t> </a:t>
            </a:r>
            <a:r>
              <a:rPr lang="es-CO" dirty="0" err="1"/>
              <a:t>Least</a:t>
            </a:r>
            <a:r>
              <a:rPr lang="es-CO" dirty="0"/>
              <a:t> </a:t>
            </a:r>
            <a:r>
              <a:rPr lang="es-CO" dirty="0" err="1"/>
              <a:t>Squares</a:t>
            </a:r>
            <a:r>
              <a:rPr lang="es-CO" dirty="0"/>
              <a:t> </a:t>
            </a:r>
            <a:r>
              <a:rPr lang="es-CO" dirty="0" err="1"/>
              <a:t>Regression</a:t>
            </a:r>
            <a:r>
              <a:rPr lang="es-CO" dirty="0"/>
              <a:t> (OLSR)</a:t>
            </a:r>
          </a:p>
          <a:p>
            <a:r>
              <a:rPr lang="es-CO" dirty="0"/>
              <a:t>Linear </a:t>
            </a:r>
            <a:r>
              <a:rPr lang="es-CO" dirty="0" err="1"/>
              <a:t>Regression</a:t>
            </a:r>
            <a:endParaRPr lang="es-CO" dirty="0"/>
          </a:p>
          <a:p>
            <a:r>
              <a:rPr lang="es-CO" b="1" i="1" dirty="0" err="1">
                <a:solidFill>
                  <a:srgbClr val="FF0000"/>
                </a:solidFill>
              </a:rPr>
              <a:t>Logistic</a:t>
            </a:r>
            <a:r>
              <a:rPr lang="es-CO" b="1" i="1" dirty="0">
                <a:solidFill>
                  <a:srgbClr val="FF0000"/>
                </a:solidFill>
              </a:rPr>
              <a:t> </a:t>
            </a:r>
            <a:r>
              <a:rPr lang="es-CO" b="1" i="1" dirty="0" err="1">
                <a:solidFill>
                  <a:srgbClr val="FF0000"/>
                </a:solidFill>
              </a:rPr>
              <a:t>Regression</a:t>
            </a:r>
            <a:endParaRPr lang="es-CO" b="1" i="1" dirty="0">
              <a:solidFill>
                <a:srgbClr val="FF0000"/>
              </a:solidFill>
            </a:endParaRPr>
          </a:p>
          <a:p>
            <a:r>
              <a:rPr lang="es-CO" dirty="0" err="1"/>
              <a:t>Stepwise</a:t>
            </a:r>
            <a:r>
              <a:rPr lang="es-CO" dirty="0"/>
              <a:t> </a:t>
            </a:r>
            <a:r>
              <a:rPr lang="es-CO" dirty="0" err="1"/>
              <a:t>Regression</a:t>
            </a:r>
            <a:endParaRPr lang="es-CO" dirty="0"/>
          </a:p>
          <a:p>
            <a:r>
              <a:rPr lang="es-CO" dirty="0" err="1"/>
              <a:t>Multivariate</a:t>
            </a:r>
            <a:r>
              <a:rPr lang="es-CO" dirty="0"/>
              <a:t> </a:t>
            </a:r>
            <a:r>
              <a:rPr lang="es-CO" dirty="0" err="1"/>
              <a:t>Adaptive</a:t>
            </a:r>
            <a:r>
              <a:rPr lang="es-CO" dirty="0"/>
              <a:t> </a:t>
            </a:r>
            <a:r>
              <a:rPr lang="es-CO" dirty="0" err="1"/>
              <a:t>Regression</a:t>
            </a:r>
            <a:r>
              <a:rPr lang="es-CO" dirty="0"/>
              <a:t> </a:t>
            </a:r>
            <a:r>
              <a:rPr lang="es-CO" dirty="0" err="1"/>
              <a:t>Splines</a:t>
            </a:r>
            <a:r>
              <a:rPr lang="es-CO" dirty="0"/>
              <a:t> (MARS)</a:t>
            </a:r>
          </a:p>
          <a:p>
            <a:r>
              <a:rPr lang="es-CO" dirty="0" err="1"/>
              <a:t>Locally</a:t>
            </a:r>
            <a:r>
              <a:rPr lang="es-CO" dirty="0"/>
              <a:t> </a:t>
            </a:r>
            <a:r>
              <a:rPr lang="es-CO" dirty="0" err="1"/>
              <a:t>Estimated</a:t>
            </a:r>
            <a:r>
              <a:rPr lang="es-CO" dirty="0"/>
              <a:t> </a:t>
            </a:r>
            <a:r>
              <a:rPr lang="es-CO" dirty="0" err="1"/>
              <a:t>Scatterplot</a:t>
            </a:r>
            <a:r>
              <a:rPr lang="es-CO" dirty="0"/>
              <a:t> </a:t>
            </a:r>
            <a:r>
              <a:rPr lang="es-CO" dirty="0" err="1"/>
              <a:t>Smoothing</a:t>
            </a:r>
            <a:r>
              <a:rPr lang="es-CO" dirty="0"/>
              <a:t> (LOESS)</a:t>
            </a:r>
          </a:p>
        </p:txBody>
      </p:sp>
      <p:sp>
        <p:nvSpPr>
          <p:cNvPr id="8" name="Rectángulo 11">
            <a:extLst>
              <a:ext uri="{FF2B5EF4-FFF2-40B4-BE49-F238E27FC236}">
                <a16:creationId xmlns:a16="http://schemas.microsoft.com/office/drawing/2014/main" xmlns="" id="{2175E2EE-9101-45EC-8704-1FB42CE444D8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Algoritmos organizados por </a:t>
            </a:r>
            <a:r>
              <a:rPr lang="es-CO" sz="2200" b="1" dirty="0" smtClean="0"/>
              <a:t>similitud</a:t>
            </a:r>
            <a:endParaRPr lang="es-CO" sz="2200" b="1" i="1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44F6A84A-8AC6-44B0-8366-5283F1CF064C}"/>
              </a:ext>
            </a:extLst>
          </p:cNvPr>
          <p:cNvSpPr/>
          <p:nvPr/>
        </p:nvSpPr>
        <p:spPr>
          <a:xfrm>
            <a:off x="1448978" y="2359383"/>
            <a:ext cx="6096000" cy="369332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dirty="0" smtClean="0"/>
              <a:t>Algoritmos de regresión</a:t>
            </a:r>
            <a:endParaRPr lang="es-CO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204" y="2875039"/>
            <a:ext cx="3341831" cy="3103129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3991839" y="6384744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400" dirty="0"/>
              <a:t>https://machinelearningmastery.com/a-tour-of-machine-learning-algorithms/</a:t>
            </a:r>
          </a:p>
        </p:txBody>
      </p:sp>
    </p:spTree>
    <p:extLst>
      <p:ext uri="{BB962C8B-B14F-4D97-AF65-F5344CB8AC3E}">
        <p14:creationId xmlns:p14="http://schemas.microsoft.com/office/powerpoint/2010/main" val="3252116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D83AC6F-D3A1-443E-8F6E-3BCB9C009D09}"/>
              </a:ext>
            </a:extLst>
          </p:cNvPr>
          <p:cNvSpPr txBox="1"/>
          <p:nvPr/>
        </p:nvSpPr>
        <p:spPr>
          <a:xfrm>
            <a:off x="5218545" y="2991859"/>
            <a:ext cx="6410037" cy="2585323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s-ES" dirty="0">
              <a:cs typeface="Calibri"/>
            </a:endParaRPr>
          </a:p>
          <a:p>
            <a:r>
              <a:rPr lang="es-CO" dirty="0"/>
              <a:t>El modelo de aprendizaje basado en instancias es un problema de decisión con instancias o ejemplos de datos de </a:t>
            </a:r>
            <a:r>
              <a:rPr lang="es-CO" dirty="0" smtClean="0"/>
              <a:t>entrenamiento que </a:t>
            </a:r>
            <a:r>
              <a:rPr lang="es-CO" dirty="0"/>
              <a:t>se consideran importantes </a:t>
            </a:r>
            <a:r>
              <a:rPr lang="es-CO" dirty="0" smtClean="0"/>
              <a:t>para </a:t>
            </a:r>
            <a:r>
              <a:rPr lang="es-CO" dirty="0"/>
              <a:t>el modelo</a:t>
            </a:r>
            <a:r>
              <a:rPr lang="es-CO" dirty="0" smtClean="0"/>
              <a:t>.</a:t>
            </a:r>
          </a:p>
          <a:p>
            <a:endParaRPr lang="es-CO" dirty="0"/>
          </a:p>
          <a:p>
            <a:r>
              <a:rPr lang="es-CO" dirty="0"/>
              <a:t>Estos métodos generalmente construyen una base de datos de datos de ejemplo y comparan datos nuevos con la base de datos utilizando una medida de similitud para encontrar la mejor coincidencia y hacer una predicción.</a:t>
            </a:r>
          </a:p>
        </p:txBody>
      </p:sp>
      <p:sp>
        <p:nvSpPr>
          <p:cNvPr id="8" name="Rectángulo 11">
            <a:extLst>
              <a:ext uri="{FF2B5EF4-FFF2-40B4-BE49-F238E27FC236}">
                <a16:creationId xmlns:a16="http://schemas.microsoft.com/office/drawing/2014/main" xmlns="" id="{2175E2EE-9101-45EC-8704-1FB42CE444D8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Algoritmos organizados por </a:t>
            </a:r>
            <a:r>
              <a:rPr lang="es-CO" sz="2200" b="1" dirty="0" smtClean="0"/>
              <a:t>similitud</a:t>
            </a:r>
            <a:endParaRPr lang="es-CO" sz="2200" b="1" i="1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44F6A84A-8AC6-44B0-8366-5283F1CF064C}"/>
              </a:ext>
            </a:extLst>
          </p:cNvPr>
          <p:cNvSpPr/>
          <p:nvPr/>
        </p:nvSpPr>
        <p:spPr>
          <a:xfrm>
            <a:off x="1448978" y="2359383"/>
            <a:ext cx="6096000" cy="369332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dirty="0" smtClean="0"/>
              <a:t>Algoritmos basados en instancias</a:t>
            </a:r>
            <a:endParaRPr lang="es-CO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414" y="3045816"/>
            <a:ext cx="2857500" cy="2705100"/>
          </a:xfrm>
          <a:prstGeom prst="rect">
            <a:avLst/>
          </a:prstGeom>
        </p:spPr>
      </p:pic>
      <p:sp>
        <p:nvSpPr>
          <p:cNvPr id="12" name="Rectángulo 11"/>
          <p:cNvSpPr/>
          <p:nvPr/>
        </p:nvSpPr>
        <p:spPr>
          <a:xfrm>
            <a:off x="3990327" y="6256345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400" dirty="0"/>
              <a:t>https://machinelearningmastery.com/a-tour-of-machine-learning-algorithms/</a:t>
            </a:r>
          </a:p>
        </p:txBody>
      </p:sp>
    </p:spTree>
    <p:extLst>
      <p:ext uri="{BB962C8B-B14F-4D97-AF65-F5344CB8AC3E}">
        <p14:creationId xmlns:p14="http://schemas.microsoft.com/office/powerpoint/2010/main" val="3515036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D83AC6F-D3A1-443E-8F6E-3BCB9C009D09}"/>
              </a:ext>
            </a:extLst>
          </p:cNvPr>
          <p:cNvSpPr txBox="1"/>
          <p:nvPr/>
        </p:nvSpPr>
        <p:spPr>
          <a:xfrm>
            <a:off x="6652162" y="2223263"/>
            <a:ext cx="5105730" cy="3970318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s-ES" dirty="0">
              <a:cs typeface="Calibri"/>
            </a:endParaRPr>
          </a:p>
          <a:p>
            <a:r>
              <a:rPr lang="es-CO" dirty="0"/>
              <a:t>Por esta razón, los métodos basados en instancias también se denominan métodos </a:t>
            </a:r>
            <a:r>
              <a:rPr lang="es-CO" b="1" i="1" dirty="0" err="1">
                <a:solidFill>
                  <a:srgbClr val="FF0000"/>
                </a:solidFill>
              </a:rPr>
              <a:t>winner-take-all</a:t>
            </a:r>
            <a:r>
              <a:rPr lang="es-CO" dirty="0"/>
              <a:t> y aprendizaje </a:t>
            </a:r>
            <a:r>
              <a:rPr lang="es-CO" i="1" dirty="0"/>
              <a:t>basado en la memoria</a:t>
            </a:r>
            <a:r>
              <a:rPr lang="es-CO" dirty="0"/>
              <a:t>. Se enfoca en la representación de las instancias almacenadas y las medidas de similitud utilizadas entre las instancias</a:t>
            </a:r>
            <a:r>
              <a:rPr lang="es-CO" dirty="0" smtClean="0"/>
              <a:t>.</a:t>
            </a:r>
          </a:p>
          <a:p>
            <a:endParaRPr lang="es-CO" dirty="0"/>
          </a:p>
          <a:p>
            <a:r>
              <a:rPr lang="es-CO" dirty="0"/>
              <a:t>Los algoritmos basados en instancias más populares son:</a:t>
            </a:r>
          </a:p>
          <a:p>
            <a:endParaRPr lang="es-CO" dirty="0"/>
          </a:p>
          <a:p>
            <a:r>
              <a:rPr lang="es-CO" i="1" dirty="0"/>
              <a:t>k-vecino más cercano (</a:t>
            </a:r>
            <a:r>
              <a:rPr lang="es-CO" i="1" dirty="0" err="1"/>
              <a:t>kNN</a:t>
            </a:r>
            <a:r>
              <a:rPr lang="es-CO" i="1" dirty="0"/>
              <a:t>)</a:t>
            </a:r>
          </a:p>
          <a:p>
            <a:r>
              <a:rPr lang="es-CO" i="1" dirty="0"/>
              <a:t>Aprendizaje de cuantificación vectorial (LVQ)</a:t>
            </a:r>
          </a:p>
          <a:p>
            <a:r>
              <a:rPr lang="es-CO" i="1" dirty="0"/>
              <a:t>Mapa de </a:t>
            </a:r>
            <a:r>
              <a:rPr lang="es-CO" i="1" dirty="0" err="1"/>
              <a:t>autoorganización</a:t>
            </a:r>
            <a:r>
              <a:rPr lang="es-CO" i="1" dirty="0"/>
              <a:t> (SOM)</a:t>
            </a:r>
          </a:p>
          <a:p>
            <a:r>
              <a:rPr lang="es-CO" i="1" dirty="0"/>
              <a:t>Aprendizaje ponderado localmente (LWL)</a:t>
            </a:r>
          </a:p>
        </p:txBody>
      </p:sp>
      <p:sp>
        <p:nvSpPr>
          <p:cNvPr id="8" name="Rectángulo 11">
            <a:extLst>
              <a:ext uri="{FF2B5EF4-FFF2-40B4-BE49-F238E27FC236}">
                <a16:creationId xmlns:a16="http://schemas.microsoft.com/office/drawing/2014/main" xmlns="" id="{2175E2EE-9101-45EC-8704-1FB42CE444D8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Algoritmos organizados por </a:t>
            </a:r>
            <a:r>
              <a:rPr lang="es-CO" sz="2200" b="1" dirty="0" smtClean="0"/>
              <a:t>similitud</a:t>
            </a:r>
            <a:endParaRPr lang="es-CO" sz="2200" b="1" i="1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44F6A84A-8AC6-44B0-8366-5283F1CF064C}"/>
              </a:ext>
            </a:extLst>
          </p:cNvPr>
          <p:cNvSpPr/>
          <p:nvPr/>
        </p:nvSpPr>
        <p:spPr>
          <a:xfrm>
            <a:off x="1448978" y="2359383"/>
            <a:ext cx="6096000" cy="369332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dirty="0" smtClean="0"/>
              <a:t>Algoritmos basados en instancias</a:t>
            </a:r>
            <a:endParaRPr lang="es-CO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848" y="3043289"/>
            <a:ext cx="4355348" cy="2710157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2873464" y="5691576"/>
            <a:ext cx="1459335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200" dirty="0" err="1"/>
              <a:t>Thales</a:t>
            </a:r>
            <a:r>
              <a:rPr lang="es-CO" sz="1200" dirty="0"/>
              <a:t> </a:t>
            </a:r>
            <a:r>
              <a:rPr lang="es-CO" sz="1200" dirty="0" err="1"/>
              <a:t>Sehn</a:t>
            </a:r>
            <a:r>
              <a:rPr lang="es-CO" sz="1200" dirty="0"/>
              <a:t> </a:t>
            </a:r>
            <a:r>
              <a:rPr lang="es-CO" sz="1200" dirty="0" err="1"/>
              <a:t>Korting</a:t>
            </a:r>
            <a:endParaRPr lang="es-CO" sz="1200" dirty="0"/>
          </a:p>
        </p:txBody>
      </p:sp>
      <p:sp>
        <p:nvSpPr>
          <p:cNvPr id="10" name="Rectángulo 9"/>
          <p:cNvSpPr/>
          <p:nvPr/>
        </p:nvSpPr>
        <p:spPr>
          <a:xfrm>
            <a:off x="2626228" y="4523599"/>
            <a:ext cx="110030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1" name="Elipse 10"/>
          <p:cNvSpPr/>
          <p:nvPr/>
        </p:nvSpPr>
        <p:spPr>
          <a:xfrm>
            <a:off x="2839629" y="4348573"/>
            <a:ext cx="763503" cy="69761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1376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D83AC6F-D3A1-443E-8F6E-3BCB9C009D09}"/>
              </a:ext>
            </a:extLst>
          </p:cNvPr>
          <p:cNvSpPr txBox="1"/>
          <p:nvPr/>
        </p:nvSpPr>
        <p:spPr>
          <a:xfrm>
            <a:off x="5867072" y="2617878"/>
            <a:ext cx="5105730" cy="3970318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dirty="0">
                <a:cs typeface="Calibri"/>
              </a:rPr>
              <a:t>Los métodos </a:t>
            </a:r>
            <a:r>
              <a:rPr lang="es-CO" dirty="0" smtClean="0">
                <a:cs typeface="Calibri"/>
              </a:rPr>
              <a:t>basados en árboles de decisión construyen </a:t>
            </a:r>
            <a:r>
              <a:rPr lang="es-CO" dirty="0">
                <a:cs typeface="Calibri"/>
              </a:rPr>
              <a:t>un modelo de decisiones </a:t>
            </a:r>
            <a:r>
              <a:rPr lang="es-CO" dirty="0" smtClean="0">
                <a:cs typeface="Calibri"/>
              </a:rPr>
              <a:t>basado </a:t>
            </a:r>
            <a:r>
              <a:rPr lang="es-CO" dirty="0">
                <a:cs typeface="Calibri"/>
              </a:rPr>
              <a:t>en los valores reales de los atributos en los datos.</a:t>
            </a:r>
          </a:p>
          <a:p>
            <a:endParaRPr lang="es-CO" dirty="0">
              <a:cs typeface="Calibri"/>
            </a:endParaRPr>
          </a:p>
          <a:p>
            <a:r>
              <a:rPr lang="es-CO" dirty="0">
                <a:cs typeface="Calibri"/>
              </a:rPr>
              <a:t>Las decisiones se bifurcan en estructuras de árboles hasta que se toma una decisión de predicción para un registro determinado. </a:t>
            </a:r>
            <a:endParaRPr lang="es-CO" dirty="0" smtClean="0">
              <a:cs typeface="Calibri"/>
            </a:endParaRPr>
          </a:p>
          <a:p>
            <a:endParaRPr lang="es-CO" dirty="0">
              <a:cs typeface="Calibri"/>
            </a:endParaRPr>
          </a:p>
          <a:p>
            <a:r>
              <a:rPr lang="es-CO" dirty="0" smtClean="0">
                <a:cs typeface="Calibri"/>
              </a:rPr>
              <a:t>Los </a:t>
            </a:r>
            <a:r>
              <a:rPr lang="es-CO" dirty="0">
                <a:cs typeface="Calibri"/>
              </a:rPr>
              <a:t>árboles de decisión </a:t>
            </a:r>
            <a:r>
              <a:rPr lang="es-CO" dirty="0" smtClean="0">
                <a:cs typeface="Calibri"/>
              </a:rPr>
              <a:t>son empleados para </a:t>
            </a:r>
            <a:r>
              <a:rPr lang="es-CO" dirty="0">
                <a:cs typeface="Calibri"/>
              </a:rPr>
              <a:t>problemas de clasificación y regresión. </a:t>
            </a:r>
            <a:endParaRPr lang="es-CO" dirty="0" smtClean="0">
              <a:cs typeface="Calibri"/>
            </a:endParaRPr>
          </a:p>
          <a:p>
            <a:endParaRPr lang="es-CO" dirty="0">
              <a:cs typeface="Calibri"/>
            </a:endParaRPr>
          </a:p>
          <a:p>
            <a:r>
              <a:rPr lang="es-CO" dirty="0" smtClean="0">
                <a:cs typeface="Calibri"/>
              </a:rPr>
              <a:t>Los </a:t>
            </a:r>
            <a:r>
              <a:rPr lang="es-CO" dirty="0">
                <a:cs typeface="Calibri"/>
              </a:rPr>
              <a:t>árboles de decisión son a menudo rápidos y precisos, y </a:t>
            </a:r>
            <a:r>
              <a:rPr lang="es-CO" dirty="0" smtClean="0">
                <a:cs typeface="Calibri"/>
              </a:rPr>
              <a:t>preferidos por muchos en </a:t>
            </a:r>
            <a:r>
              <a:rPr lang="es-CO" dirty="0">
                <a:cs typeface="Calibri"/>
              </a:rPr>
              <a:t>el aprendizaje </a:t>
            </a:r>
            <a:r>
              <a:rPr lang="es-CO" dirty="0" smtClean="0">
                <a:cs typeface="Calibri"/>
              </a:rPr>
              <a:t>de máquina.</a:t>
            </a:r>
            <a:endParaRPr lang="es-CO" i="1" dirty="0"/>
          </a:p>
        </p:txBody>
      </p:sp>
      <p:sp>
        <p:nvSpPr>
          <p:cNvPr id="8" name="Rectángulo 11">
            <a:extLst>
              <a:ext uri="{FF2B5EF4-FFF2-40B4-BE49-F238E27FC236}">
                <a16:creationId xmlns:a16="http://schemas.microsoft.com/office/drawing/2014/main" xmlns="" id="{2175E2EE-9101-45EC-8704-1FB42CE444D8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Algoritmos organizados por </a:t>
            </a:r>
            <a:r>
              <a:rPr lang="es-CO" sz="2200" b="1" dirty="0" smtClean="0"/>
              <a:t>similitud</a:t>
            </a:r>
            <a:endParaRPr lang="es-CO" sz="2200" b="1" i="1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44F6A84A-8AC6-44B0-8366-5283F1CF064C}"/>
              </a:ext>
            </a:extLst>
          </p:cNvPr>
          <p:cNvSpPr/>
          <p:nvPr/>
        </p:nvSpPr>
        <p:spPr>
          <a:xfrm>
            <a:off x="1448978" y="2359383"/>
            <a:ext cx="6096000" cy="369332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dirty="0" smtClean="0"/>
              <a:t>Algoritmos basados en árboles de decisión</a:t>
            </a:r>
            <a:endParaRPr lang="es-CO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842" y="3043289"/>
            <a:ext cx="3091587" cy="2978605"/>
          </a:xfrm>
          <a:prstGeom prst="rect">
            <a:avLst/>
          </a:prstGeom>
        </p:spPr>
      </p:pic>
      <p:sp>
        <p:nvSpPr>
          <p:cNvPr id="12" name="Rectángulo 11"/>
          <p:cNvSpPr/>
          <p:nvPr/>
        </p:nvSpPr>
        <p:spPr>
          <a:xfrm>
            <a:off x="84857" y="6126500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400" dirty="0"/>
              <a:t>https://machinelearningmastery.com/a-tour-of-machine-learning-algorithms/</a:t>
            </a:r>
          </a:p>
        </p:txBody>
      </p:sp>
    </p:spTree>
    <p:extLst>
      <p:ext uri="{BB962C8B-B14F-4D97-AF65-F5344CB8AC3E}">
        <p14:creationId xmlns:p14="http://schemas.microsoft.com/office/powerpoint/2010/main" val="1081295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D83AC6F-D3A1-443E-8F6E-3BCB9C009D09}"/>
              </a:ext>
            </a:extLst>
          </p:cNvPr>
          <p:cNvSpPr txBox="1"/>
          <p:nvPr/>
        </p:nvSpPr>
        <p:spPr>
          <a:xfrm>
            <a:off x="5830128" y="3227479"/>
            <a:ext cx="5105730" cy="92333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dirty="0">
                <a:cs typeface="Calibri"/>
              </a:rPr>
              <a:t>Los métodos bayesianos son aquellos que aplican explícitamente el Teorema de </a:t>
            </a:r>
            <a:r>
              <a:rPr lang="es-CO" dirty="0" err="1">
                <a:cs typeface="Calibri"/>
              </a:rPr>
              <a:t>Bayes</a:t>
            </a:r>
            <a:r>
              <a:rPr lang="es-CO" dirty="0">
                <a:cs typeface="Calibri"/>
              </a:rPr>
              <a:t> para problemas como la clasificación y la regresión</a:t>
            </a:r>
            <a:r>
              <a:rPr lang="es-CO" dirty="0" smtClean="0">
                <a:cs typeface="Calibri"/>
              </a:rPr>
              <a:t>.</a:t>
            </a:r>
            <a:endParaRPr lang="es-CO" i="1" dirty="0"/>
          </a:p>
        </p:txBody>
      </p:sp>
      <p:sp>
        <p:nvSpPr>
          <p:cNvPr id="8" name="Rectángulo 11">
            <a:extLst>
              <a:ext uri="{FF2B5EF4-FFF2-40B4-BE49-F238E27FC236}">
                <a16:creationId xmlns:a16="http://schemas.microsoft.com/office/drawing/2014/main" xmlns="" id="{2175E2EE-9101-45EC-8704-1FB42CE444D8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Algoritmos organizados por </a:t>
            </a:r>
            <a:r>
              <a:rPr lang="es-CO" sz="2200" b="1" dirty="0" smtClean="0"/>
              <a:t>similitud</a:t>
            </a:r>
            <a:endParaRPr lang="es-CO" sz="2200" b="1" i="1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44F6A84A-8AC6-44B0-8366-5283F1CF064C}"/>
              </a:ext>
            </a:extLst>
          </p:cNvPr>
          <p:cNvSpPr/>
          <p:nvPr/>
        </p:nvSpPr>
        <p:spPr>
          <a:xfrm>
            <a:off x="1448978" y="2359383"/>
            <a:ext cx="6096000" cy="369332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dirty="0" smtClean="0"/>
              <a:t>Algoritmos bayesianos</a:t>
            </a:r>
            <a:endParaRPr lang="es-CO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780" y="2897909"/>
            <a:ext cx="2886075" cy="2743200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3991839" y="6384744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400" dirty="0"/>
              <a:t>https://machinelearningmastery.com/a-tour-of-machine-learning-algorithms/</a:t>
            </a:r>
          </a:p>
        </p:txBody>
      </p:sp>
    </p:spTree>
    <p:extLst>
      <p:ext uri="{BB962C8B-B14F-4D97-AF65-F5344CB8AC3E}">
        <p14:creationId xmlns:p14="http://schemas.microsoft.com/office/powerpoint/2010/main" val="1387369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D83AC6F-D3A1-443E-8F6E-3BCB9C009D09}"/>
              </a:ext>
            </a:extLst>
          </p:cNvPr>
          <p:cNvSpPr txBox="1"/>
          <p:nvPr/>
        </p:nvSpPr>
        <p:spPr>
          <a:xfrm>
            <a:off x="7395169" y="3227479"/>
            <a:ext cx="4987637" cy="2308324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dirty="0" smtClean="0">
                <a:cs typeface="Calibri"/>
              </a:rPr>
              <a:t>Ejemplos:</a:t>
            </a:r>
          </a:p>
          <a:p>
            <a:endParaRPr lang="es-CO" i="1" dirty="0"/>
          </a:p>
          <a:p>
            <a:r>
              <a:rPr lang="es-CO" i="1" dirty="0" err="1"/>
              <a:t>Naive</a:t>
            </a:r>
            <a:r>
              <a:rPr lang="es-CO" i="1" dirty="0"/>
              <a:t> </a:t>
            </a:r>
            <a:r>
              <a:rPr lang="es-CO" i="1" dirty="0" err="1"/>
              <a:t>Bayes</a:t>
            </a:r>
            <a:endParaRPr lang="es-CO" i="1" dirty="0"/>
          </a:p>
          <a:p>
            <a:r>
              <a:rPr lang="es-CO" i="1" dirty="0" err="1"/>
              <a:t>Gaussian</a:t>
            </a:r>
            <a:r>
              <a:rPr lang="es-CO" i="1" dirty="0"/>
              <a:t> </a:t>
            </a:r>
            <a:r>
              <a:rPr lang="es-CO" i="1" dirty="0" err="1"/>
              <a:t>Naive</a:t>
            </a:r>
            <a:r>
              <a:rPr lang="es-CO" i="1" dirty="0"/>
              <a:t> </a:t>
            </a:r>
            <a:r>
              <a:rPr lang="es-CO" i="1" dirty="0" err="1"/>
              <a:t>Bayes</a:t>
            </a:r>
            <a:endParaRPr lang="es-CO" i="1" dirty="0"/>
          </a:p>
          <a:p>
            <a:r>
              <a:rPr lang="es-CO" i="1" dirty="0" err="1"/>
              <a:t>Multinomial</a:t>
            </a:r>
            <a:r>
              <a:rPr lang="es-CO" i="1" dirty="0"/>
              <a:t> </a:t>
            </a:r>
            <a:r>
              <a:rPr lang="es-CO" i="1" dirty="0" err="1"/>
              <a:t>Naive</a:t>
            </a:r>
            <a:r>
              <a:rPr lang="es-CO" i="1" dirty="0"/>
              <a:t> </a:t>
            </a:r>
            <a:r>
              <a:rPr lang="es-CO" i="1" dirty="0" err="1"/>
              <a:t>Bayes</a:t>
            </a:r>
            <a:endParaRPr lang="es-CO" i="1" dirty="0"/>
          </a:p>
          <a:p>
            <a:r>
              <a:rPr lang="es-CO" i="1" dirty="0" err="1"/>
              <a:t>Averaged</a:t>
            </a:r>
            <a:r>
              <a:rPr lang="es-CO" i="1" dirty="0"/>
              <a:t> </a:t>
            </a:r>
            <a:r>
              <a:rPr lang="es-CO" i="1" dirty="0" err="1"/>
              <a:t>One-Dependence</a:t>
            </a:r>
            <a:r>
              <a:rPr lang="es-CO" i="1" dirty="0"/>
              <a:t> </a:t>
            </a:r>
            <a:r>
              <a:rPr lang="es-CO" i="1" dirty="0" err="1"/>
              <a:t>Estimators</a:t>
            </a:r>
            <a:r>
              <a:rPr lang="es-CO" i="1" dirty="0"/>
              <a:t> (AODE)</a:t>
            </a:r>
          </a:p>
          <a:p>
            <a:r>
              <a:rPr lang="es-CO" i="1" dirty="0" err="1"/>
              <a:t>Bayesian</a:t>
            </a:r>
            <a:r>
              <a:rPr lang="es-CO" i="1" dirty="0"/>
              <a:t> </a:t>
            </a:r>
            <a:r>
              <a:rPr lang="es-CO" i="1" dirty="0" err="1"/>
              <a:t>Belief</a:t>
            </a:r>
            <a:r>
              <a:rPr lang="es-CO" i="1" dirty="0"/>
              <a:t> Network (BBN)</a:t>
            </a:r>
          </a:p>
          <a:p>
            <a:r>
              <a:rPr lang="es-CO" i="1" dirty="0" err="1"/>
              <a:t>Bayesian</a:t>
            </a:r>
            <a:r>
              <a:rPr lang="es-CO" i="1" dirty="0"/>
              <a:t> Network (BN)</a:t>
            </a:r>
          </a:p>
        </p:txBody>
      </p:sp>
      <p:sp>
        <p:nvSpPr>
          <p:cNvPr id="8" name="Rectángulo 11">
            <a:extLst>
              <a:ext uri="{FF2B5EF4-FFF2-40B4-BE49-F238E27FC236}">
                <a16:creationId xmlns:a16="http://schemas.microsoft.com/office/drawing/2014/main" xmlns="" id="{2175E2EE-9101-45EC-8704-1FB42CE444D8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Algoritmos organizados por </a:t>
            </a:r>
            <a:r>
              <a:rPr lang="es-CO" sz="2200" b="1" dirty="0" smtClean="0"/>
              <a:t>similitud</a:t>
            </a:r>
            <a:endParaRPr lang="es-CO" sz="2200" b="1" i="1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44F6A84A-8AC6-44B0-8366-5283F1CF064C}"/>
              </a:ext>
            </a:extLst>
          </p:cNvPr>
          <p:cNvSpPr/>
          <p:nvPr/>
        </p:nvSpPr>
        <p:spPr>
          <a:xfrm>
            <a:off x="1448978" y="2359383"/>
            <a:ext cx="6096000" cy="369332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dirty="0" smtClean="0"/>
              <a:t>Algoritmos bayesianos</a:t>
            </a:r>
            <a:endParaRPr lang="es-CO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124" y="3227479"/>
            <a:ext cx="6880045" cy="2337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574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D83AC6F-D3A1-443E-8F6E-3BCB9C009D09}"/>
              </a:ext>
            </a:extLst>
          </p:cNvPr>
          <p:cNvSpPr txBox="1"/>
          <p:nvPr/>
        </p:nvSpPr>
        <p:spPr>
          <a:xfrm>
            <a:off x="5631023" y="3790897"/>
            <a:ext cx="4987637" cy="1754326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dirty="0" smtClean="0">
                <a:cs typeface="Calibri"/>
              </a:rPr>
              <a:t>Ejemplos:</a:t>
            </a:r>
          </a:p>
          <a:p>
            <a:endParaRPr lang="es-CO" dirty="0" smtClean="0">
              <a:cs typeface="Calibri"/>
            </a:endParaRPr>
          </a:p>
          <a:p>
            <a:r>
              <a:rPr lang="en-US" i="1" dirty="0"/>
              <a:t>k-Means</a:t>
            </a:r>
          </a:p>
          <a:p>
            <a:r>
              <a:rPr lang="en-US" i="1" dirty="0"/>
              <a:t>k-Medians</a:t>
            </a:r>
          </a:p>
          <a:p>
            <a:r>
              <a:rPr lang="en-US" i="1" dirty="0"/>
              <a:t>Expectation </a:t>
            </a:r>
            <a:r>
              <a:rPr lang="en-US" i="1" dirty="0" err="1"/>
              <a:t>Maximisation</a:t>
            </a:r>
            <a:r>
              <a:rPr lang="en-US" i="1" dirty="0"/>
              <a:t> (EM)</a:t>
            </a:r>
          </a:p>
          <a:p>
            <a:r>
              <a:rPr lang="en-US" i="1" dirty="0"/>
              <a:t>Hierarchical Clustering</a:t>
            </a:r>
            <a:endParaRPr lang="es-CO" i="1" dirty="0"/>
          </a:p>
        </p:txBody>
      </p:sp>
      <p:sp>
        <p:nvSpPr>
          <p:cNvPr id="8" name="Rectángulo 11">
            <a:extLst>
              <a:ext uri="{FF2B5EF4-FFF2-40B4-BE49-F238E27FC236}">
                <a16:creationId xmlns:a16="http://schemas.microsoft.com/office/drawing/2014/main" xmlns="" id="{2175E2EE-9101-45EC-8704-1FB42CE444D8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Algoritmos organizados por </a:t>
            </a:r>
            <a:r>
              <a:rPr lang="es-CO" sz="2200" b="1" dirty="0" smtClean="0"/>
              <a:t>similitud</a:t>
            </a:r>
            <a:endParaRPr lang="es-CO" sz="2200" b="1" i="1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44F6A84A-8AC6-44B0-8366-5283F1CF064C}"/>
              </a:ext>
            </a:extLst>
          </p:cNvPr>
          <p:cNvSpPr/>
          <p:nvPr/>
        </p:nvSpPr>
        <p:spPr>
          <a:xfrm>
            <a:off x="1448978" y="2359383"/>
            <a:ext cx="6096000" cy="369332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dirty="0" smtClean="0"/>
              <a:t>Algoritmos de agrupamiento</a:t>
            </a:r>
            <a:endParaRPr lang="es-CO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742" y="3043289"/>
            <a:ext cx="2983240" cy="2853100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3991839" y="6384744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400" dirty="0"/>
              <a:t>https://machinelearningmastery.com/a-tour-of-machine-learning-algorithms/</a:t>
            </a:r>
          </a:p>
        </p:txBody>
      </p:sp>
    </p:spTree>
    <p:extLst>
      <p:ext uri="{BB962C8B-B14F-4D97-AF65-F5344CB8AC3E}">
        <p14:creationId xmlns:p14="http://schemas.microsoft.com/office/powerpoint/2010/main" val="1283075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D83AC6F-D3A1-443E-8F6E-3BCB9C009D09}"/>
              </a:ext>
            </a:extLst>
          </p:cNvPr>
          <p:cNvSpPr txBox="1"/>
          <p:nvPr/>
        </p:nvSpPr>
        <p:spPr>
          <a:xfrm>
            <a:off x="6408858" y="3898968"/>
            <a:ext cx="4091756" cy="1200329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dirty="0"/>
              <a:t>Las redes neuronales artificiales son modelos inspirados en la estructura </a:t>
            </a:r>
            <a:r>
              <a:rPr lang="es-CO" dirty="0" smtClean="0"/>
              <a:t>y/o </a:t>
            </a:r>
            <a:r>
              <a:rPr lang="es-CO" dirty="0"/>
              <a:t>función de las redes neuronales biológicas.</a:t>
            </a:r>
          </a:p>
        </p:txBody>
      </p:sp>
      <p:sp>
        <p:nvSpPr>
          <p:cNvPr id="8" name="Rectángulo 11">
            <a:extLst>
              <a:ext uri="{FF2B5EF4-FFF2-40B4-BE49-F238E27FC236}">
                <a16:creationId xmlns:a16="http://schemas.microsoft.com/office/drawing/2014/main" xmlns="" id="{2175E2EE-9101-45EC-8704-1FB42CE444D8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Algoritmos organizados por </a:t>
            </a:r>
            <a:r>
              <a:rPr lang="es-CO" sz="2200" b="1" dirty="0" smtClean="0"/>
              <a:t>similitud</a:t>
            </a:r>
            <a:endParaRPr lang="es-CO" sz="2200" b="1" i="1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44F6A84A-8AC6-44B0-8366-5283F1CF064C}"/>
              </a:ext>
            </a:extLst>
          </p:cNvPr>
          <p:cNvSpPr/>
          <p:nvPr/>
        </p:nvSpPr>
        <p:spPr>
          <a:xfrm>
            <a:off x="1448978" y="2359383"/>
            <a:ext cx="6096000" cy="369332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dirty="0" smtClean="0"/>
              <a:t>Redes neuronales artificiales</a:t>
            </a:r>
            <a:endParaRPr lang="es-CO" dirty="0"/>
          </a:p>
        </p:txBody>
      </p:sp>
      <p:pic>
        <p:nvPicPr>
          <p:cNvPr id="1026" name="Picture 2" descr="Resultado de imagen para artificial  neural networ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409" y="3343391"/>
            <a:ext cx="4025322" cy="2623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/>
          <p:cNvSpPr/>
          <p:nvPr/>
        </p:nvSpPr>
        <p:spPr>
          <a:xfrm>
            <a:off x="2064131" y="6269550"/>
            <a:ext cx="84376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/>
              <a:t>https://cdn-images-1.medium.com/max/1200/1*eBMwpBBboAXgqsawwOKkPw.png</a:t>
            </a:r>
          </a:p>
        </p:txBody>
      </p:sp>
    </p:spTree>
    <p:extLst>
      <p:ext uri="{BB962C8B-B14F-4D97-AF65-F5344CB8AC3E}">
        <p14:creationId xmlns:p14="http://schemas.microsoft.com/office/powerpoint/2010/main" val="3266334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D83AC6F-D3A1-443E-8F6E-3BCB9C009D09}"/>
              </a:ext>
            </a:extLst>
          </p:cNvPr>
          <p:cNvSpPr txBox="1"/>
          <p:nvPr/>
        </p:nvSpPr>
        <p:spPr>
          <a:xfrm>
            <a:off x="7064639" y="3372495"/>
            <a:ext cx="4091756" cy="203132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dirty="0" smtClean="0"/>
              <a:t>Estos algoritmos se basan en el acople de </a:t>
            </a:r>
            <a:r>
              <a:rPr lang="es-CO" dirty="0"/>
              <a:t>patrones </a:t>
            </a:r>
            <a:r>
              <a:rPr lang="es-CO" dirty="0" smtClean="0"/>
              <a:t>y se </a:t>
            </a:r>
            <a:r>
              <a:rPr lang="es-CO" dirty="0"/>
              <a:t>usan comúnmente para problemas de regresión y clasificación, pero en realidad son un </a:t>
            </a:r>
            <a:r>
              <a:rPr lang="es-CO" dirty="0" smtClean="0"/>
              <a:t>sub-campo </a:t>
            </a:r>
            <a:r>
              <a:rPr lang="es-CO" dirty="0"/>
              <a:t>enorme que consta de cientos de algoritmos y variaciones para todo tipo de problemas.</a:t>
            </a:r>
          </a:p>
        </p:txBody>
      </p:sp>
      <p:sp>
        <p:nvSpPr>
          <p:cNvPr id="8" name="Rectángulo 11">
            <a:extLst>
              <a:ext uri="{FF2B5EF4-FFF2-40B4-BE49-F238E27FC236}">
                <a16:creationId xmlns:a16="http://schemas.microsoft.com/office/drawing/2014/main" xmlns="" id="{2175E2EE-9101-45EC-8704-1FB42CE444D8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Algoritmos organizados por </a:t>
            </a:r>
            <a:r>
              <a:rPr lang="es-CO" sz="2200" b="1" dirty="0" smtClean="0"/>
              <a:t>similitud</a:t>
            </a:r>
            <a:endParaRPr lang="es-CO" sz="2200" b="1" i="1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44F6A84A-8AC6-44B0-8366-5283F1CF064C}"/>
              </a:ext>
            </a:extLst>
          </p:cNvPr>
          <p:cNvSpPr/>
          <p:nvPr/>
        </p:nvSpPr>
        <p:spPr>
          <a:xfrm>
            <a:off x="1448978" y="2359383"/>
            <a:ext cx="6096000" cy="369332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dirty="0" smtClean="0"/>
              <a:t>Redes neuronales artificiales</a:t>
            </a:r>
            <a:endParaRPr lang="es-CO" dirty="0"/>
          </a:p>
        </p:txBody>
      </p:sp>
      <p:pic>
        <p:nvPicPr>
          <p:cNvPr id="2050" name="Picture 2" descr="Resultado de imagen para ANN applicati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639" y="3119744"/>
            <a:ext cx="4847435" cy="253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8463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D83AC6F-D3A1-443E-8F6E-3BCB9C009D09}"/>
              </a:ext>
            </a:extLst>
          </p:cNvPr>
          <p:cNvSpPr txBox="1"/>
          <p:nvPr/>
        </p:nvSpPr>
        <p:spPr>
          <a:xfrm>
            <a:off x="7147767" y="3372495"/>
            <a:ext cx="4091756" cy="203132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dirty="0" smtClean="0"/>
              <a:t>Los algoritmos (clásicos) más populares son:</a:t>
            </a:r>
            <a:endParaRPr lang="es-CO" dirty="0"/>
          </a:p>
          <a:p>
            <a:endParaRPr lang="es-CO" dirty="0"/>
          </a:p>
          <a:p>
            <a:r>
              <a:rPr lang="es-CO" i="1" dirty="0" err="1"/>
              <a:t>Perceptron</a:t>
            </a:r>
            <a:endParaRPr lang="es-CO" i="1" dirty="0"/>
          </a:p>
          <a:p>
            <a:r>
              <a:rPr lang="es-CO" i="1" dirty="0"/>
              <a:t>Back-</a:t>
            </a:r>
            <a:r>
              <a:rPr lang="es-CO" i="1" dirty="0" err="1"/>
              <a:t>Propagation</a:t>
            </a:r>
            <a:endParaRPr lang="es-CO" i="1" dirty="0"/>
          </a:p>
          <a:p>
            <a:r>
              <a:rPr lang="es-CO" i="1" dirty="0" err="1"/>
              <a:t>Hopfield</a:t>
            </a:r>
            <a:r>
              <a:rPr lang="es-CO" i="1" dirty="0"/>
              <a:t> Network</a:t>
            </a:r>
          </a:p>
          <a:p>
            <a:r>
              <a:rPr lang="es-CO" i="1" dirty="0"/>
              <a:t>Radial </a:t>
            </a:r>
            <a:r>
              <a:rPr lang="es-CO" i="1" dirty="0" err="1"/>
              <a:t>Basis</a:t>
            </a:r>
            <a:r>
              <a:rPr lang="es-CO" i="1" dirty="0"/>
              <a:t> </a:t>
            </a:r>
            <a:r>
              <a:rPr lang="es-CO" i="1" dirty="0" err="1"/>
              <a:t>Function</a:t>
            </a:r>
            <a:r>
              <a:rPr lang="es-CO" i="1" dirty="0"/>
              <a:t> Network (RBFN)</a:t>
            </a:r>
          </a:p>
        </p:txBody>
      </p:sp>
      <p:sp>
        <p:nvSpPr>
          <p:cNvPr id="8" name="Rectángulo 11">
            <a:extLst>
              <a:ext uri="{FF2B5EF4-FFF2-40B4-BE49-F238E27FC236}">
                <a16:creationId xmlns:a16="http://schemas.microsoft.com/office/drawing/2014/main" xmlns="" id="{2175E2EE-9101-45EC-8704-1FB42CE444D8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Algoritmos organizados por </a:t>
            </a:r>
            <a:r>
              <a:rPr lang="es-CO" sz="2200" b="1" dirty="0" smtClean="0"/>
              <a:t>similitud</a:t>
            </a:r>
            <a:endParaRPr lang="es-CO" sz="2200" b="1" i="1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44F6A84A-8AC6-44B0-8366-5283F1CF064C}"/>
              </a:ext>
            </a:extLst>
          </p:cNvPr>
          <p:cNvSpPr/>
          <p:nvPr/>
        </p:nvSpPr>
        <p:spPr>
          <a:xfrm>
            <a:off x="1448978" y="2359383"/>
            <a:ext cx="6096000" cy="369332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dirty="0" smtClean="0"/>
              <a:t>Redes neuronales artificiales</a:t>
            </a:r>
            <a:endParaRPr lang="es-CO" dirty="0"/>
          </a:p>
        </p:txBody>
      </p:sp>
      <p:sp>
        <p:nvSpPr>
          <p:cNvPr id="3" name="Rectángulo 2"/>
          <p:cNvSpPr/>
          <p:nvPr/>
        </p:nvSpPr>
        <p:spPr>
          <a:xfrm>
            <a:off x="2064131" y="6269550"/>
            <a:ext cx="84376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/>
              <a:t>https://towardsdatascience.com/what-the-hell-is-perceptron-626217814f53</a:t>
            </a:r>
          </a:p>
        </p:txBody>
      </p:sp>
      <p:pic>
        <p:nvPicPr>
          <p:cNvPr id="3074" name="Picture 2" descr="Resultado de imagen para perceptr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1764" y="3365595"/>
            <a:ext cx="4619000" cy="2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632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5CD04345-15B8-4900-A6D9-F42DF2B64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003" y="3011256"/>
            <a:ext cx="4063768" cy="3495989"/>
          </a:xfrm>
          <a:prstGeom prst="rect">
            <a:avLst/>
          </a:prstGeom>
        </p:spPr>
      </p:pic>
      <p:sp>
        <p:nvSpPr>
          <p:cNvPr id="11" name="Rectángulo 3">
            <a:extLst>
              <a:ext uri="{FF2B5EF4-FFF2-40B4-BE49-F238E27FC236}">
                <a16:creationId xmlns="" xmlns:a16="http://schemas.microsoft.com/office/drawing/2014/main" id="{A0C96777-DBA4-47C8-922F-018B751AD16E}"/>
              </a:ext>
            </a:extLst>
          </p:cNvPr>
          <p:cNvSpPr/>
          <p:nvPr/>
        </p:nvSpPr>
        <p:spPr>
          <a:xfrm>
            <a:off x="6805971" y="4326973"/>
            <a:ext cx="35261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Problema de clasificación binario con dos conjunto linealmente separables (ideal).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5B13290F-60BD-4CA7-9F1E-C5D4EBD9EADA}"/>
              </a:ext>
            </a:extLst>
          </p:cNvPr>
          <p:cNvSpPr/>
          <p:nvPr/>
        </p:nvSpPr>
        <p:spPr>
          <a:xfrm>
            <a:off x="4831438" y="6368746"/>
            <a:ext cx="15744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Roboto"/>
              </a:rPr>
              <a:t>Thales </a:t>
            </a:r>
            <a:r>
              <a:rPr lang="en-US" sz="1200" dirty="0" err="1">
                <a:latin typeface="Roboto"/>
              </a:rPr>
              <a:t>Sehn</a:t>
            </a:r>
            <a:r>
              <a:rPr lang="en-US" sz="1200" dirty="0">
                <a:latin typeface="Roboto"/>
              </a:rPr>
              <a:t> </a:t>
            </a:r>
            <a:r>
              <a:rPr lang="en-US" sz="1200" dirty="0" err="1">
                <a:latin typeface="Roboto"/>
              </a:rPr>
              <a:t>Körting</a:t>
            </a:r>
            <a:endParaRPr lang="en-US" sz="1200" dirty="0"/>
          </a:p>
        </p:txBody>
      </p:sp>
      <p:sp>
        <p:nvSpPr>
          <p:cNvPr id="6" name="Rectángulo 11">
            <a:extLst>
              <a:ext uri="{FF2B5EF4-FFF2-40B4-BE49-F238E27FC236}">
                <a16:creationId xmlns:a16="http://schemas.microsoft.com/office/drawing/2014/main" xmlns="" id="{2175E2EE-9101-45EC-8704-1FB42CE444D8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Algoritmos organizados por </a:t>
            </a:r>
            <a:r>
              <a:rPr lang="es-CO" sz="2200" b="1" dirty="0" smtClean="0"/>
              <a:t>similitud</a:t>
            </a:r>
            <a:endParaRPr lang="es-CO" sz="2200" b="1" i="1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44F6A84A-8AC6-44B0-8366-5283F1CF064C}"/>
              </a:ext>
            </a:extLst>
          </p:cNvPr>
          <p:cNvSpPr/>
          <p:nvPr/>
        </p:nvSpPr>
        <p:spPr>
          <a:xfrm>
            <a:off x="1448978" y="2359383"/>
            <a:ext cx="6096000" cy="369332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dirty="0" smtClean="0"/>
              <a:t>Máquinas de vectores de soporte (SVM)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73495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786A508-5828-4746-B853-64C5DCC75F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455" b="95455" l="812" r="99351">
                        <a14:foregroundMark x1="37013" y1="23455" x2="10227" y2="11636"/>
                        <a14:foregroundMark x1="10227" y1="11636" x2="21916" y2="7273"/>
                        <a14:foregroundMark x1="21916" y1="7273" x2="62825" y2="18364"/>
                        <a14:foregroundMark x1="62825" y1="18364" x2="72403" y2="29455"/>
                        <a14:foregroundMark x1="72403" y1="29455" x2="78896" y2="73273"/>
                        <a14:foregroundMark x1="78896" y1="73273" x2="61688" y2="67636"/>
                        <a14:foregroundMark x1="61688" y1="67636" x2="88312" y2="77636"/>
                        <a14:foregroundMark x1="88312" y1="77636" x2="88474" y2="92182"/>
                        <a14:foregroundMark x1="88474" y1="92182" x2="35552" y2="90727"/>
                        <a14:foregroundMark x1="35552" y1="90727" x2="20292" y2="83273"/>
                        <a14:foregroundMark x1="20292" y1="83273" x2="8929" y2="91636"/>
                        <a14:foregroundMark x1="8929" y1="91636" x2="43182" y2="93091"/>
                        <a14:foregroundMark x1="43182" y1="93091" x2="29870" y2="93455"/>
                        <a14:foregroundMark x1="29870" y1="93455" x2="16558" y2="83455"/>
                        <a14:foregroundMark x1="16558" y1="83455" x2="12825" y2="62364"/>
                        <a14:foregroundMark x1="12825" y1="62364" x2="3571" y2="79273"/>
                        <a14:foregroundMark x1="3571" y1="79273" x2="4545" y2="94182"/>
                        <a14:foregroundMark x1="4545" y1="94182" x2="17208" y2="88000"/>
                        <a14:foregroundMark x1="17208" y1="88000" x2="13149" y2="41455"/>
                        <a14:foregroundMark x1="13149" y1="41455" x2="5195" y2="14182"/>
                        <a14:foregroundMark x1="5195" y1="14182" x2="12338" y2="3273"/>
                        <a14:foregroundMark x1="12338" y1="3273" x2="24838" y2="9091"/>
                        <a14:foregroundMark x1="24838" y1="9091" x2="35390" y2="20545"/>
                        <a14:foregroundMark x1="35390" y1="20545" x2="51299" y2="26909"/>
                        <a14:foregroundMark x1="51299" y1="26909" x2="37500" y2="46364"/>
                        <a14:foregroundMark x1="37500" y1="46364" x2="22403" y2="40545"/>
                        <a14:foregroundMark x1="22403" y1="40545" x2="43019" y2="36364"/>
                        <a14:foregroundMark x1="43019" y1="36364" x2="22403" y2="46364"/>
                        <a14:foregroundMark x1="22403" y1="46364" x2="35065" y2="35273"/>
                        <a14:foregroundMark x1="35065" y1="35273" x2="39286" y2="20545"/>
                        <a14:foregroundMark x1="39286" y1="20545" x2="17857" y2="23455"/>
                        <a14:foregroundMark x1="17857" y1="23455" x2="30844" y2="30364"/>
                        <a14:foregroundMark x1="30844" y1="30364" x2="44318" y2="26000"/>
                        <a14:foregroundMark x1="44318" y1="26000" x2="24026" y2="30727"/>
                        <a14:foregroundMark x1="24026" y1="30727" x2="38474" y2="24364"/>
                        <a14:foregroundMark x1="38474" y1="24364" x2="16396" y2="32909"/>
                        <a14:foregroundMark x1="16396" y1="32909" x2="35227" y2="32364"/>
                        <a14:foregroundMark x1="35227" y1="32364" x2="46591" y2="44909"/>
                        <a14:foregroundMark x1="46591" y1="44909" x2="41234" y2="62909"/>
                        <a14:foregroundMark x1="41234" y1="62909" x2="49838" y2="52909"/>
                        <a14:foregroundMark x1="49838" y1="52909" x2="59091" y2="62727"/>
                        <a14:foregroundMark x1="59091" y1="62727" x2="71753" y2="54545"/>
                        <a14:foregroundMark x1="71753" y1="54545" x2="43506" y2="66364"/>
                        <a14:foregroundMark x1="43506" y1="66364" x2="56981" y2="63455"/>
                        <a14:foregroundMark x1="56981" y1="63455" x2="70617" y2="65818"/>
                        <a14:foregroundMark x1="70617" y1="65818" x2="60227" y2="72545"/>
                        <a14:foregroundMark x1="60227" y1="72545" x2="73377" y2="68182"/>
                        <a14:foregroundMark x1="73377" y1="68182" x2="55844" y2="76545"/>
                        <a14:foregroundMark x1="55844" y1="76545" x2="68019" y2="71091"/>
                        <a14:foregroundMark x1="68019" y1="71091" x2="83442" y2="75455"/>
                        <a14:foregroundMark x1="83442" y1="75455" x2="66396" y2="84000"/>
                        <a14:foregroundMark x1="66396" y1="84000" x2="78896" y2="81818"/>
                        <a14:foregroundMark x1="78896" y1="81818" x2="61201" y2="84364"/>
                        <a14:foregroundMark x1="61201" y1="84364" x2="61201" y2="78727"/>
                        <a14:foregroundMark x1="6494" y1="6545" x2="7955" y2="4727"/>
                        <a14:foregroundMark x1="4870" y1="5273" x2="6981" y2="8727"/>
                        <a14:foregroundMark x1="4545" y1="6909" x2="974" y2="10727"/>
                        <a14:foregroundMark x1="7792" y1="6000" x2="3734" y2="3636"/>
                        <a14:foregroundMark x1="95779" y1="92909" x2="82792" y2="92000"/>
                        <a14:foregroundMark x1="82792" y1="92000" x2="95779" y2="91455"/>
                        <a14:foregroundMark x1="95779" y1="91455" x2="93019" y2="90364"/>
                        <a14:foregroundMark x1="44968" y1="62909" x2="44968" y2="66000"/>
                        <a14:foregroundMark x1="44968" y1="66000" x2="44968" y2="66000"/>
                        <a14:foregroundMark x1="32630" y1="48000" x2="22565" y2="55818"/>
                        <a14:foregroundMark x1="22565" y1="55818" x2="33604" y2="47273"/>
                        <a14:foregroundMark x1="33604" y1="47273" x2="22078" y2="51455"/>
                        <a14:foregroundMark x1="22078" y1="51455" x2="34091" y2="47091"/>
                        <a14:foregroundMark x1="34091" y1="47091" x2="19481" y2="50364"/>
                        <a14:foregroundMark x1="19481" y1="50364" x2="33604" y2="45818"/>
                        <a14:foregroundMark x1="33604" y1="45818" x2="22078" y2="49273"/>
                        <a14:foregroundMark x1="22078" y1="49273" x2="38312" y2="48364"/>
                        <a14:foregroundMark x1="38312" y1="48364" x2="22078" y2="51818"/>
                        <a14:foregroundMark x1="22078" y1="51818" x2="36201" y2="46727"/>
                        <a14:foregroundMark x1="36201" y1="46727" x2="24351" y2="49455"/>
                        <a14:foregroundMark x1="24351" y1="49455" x2="37662" y2="43636"/>
                        <a14:foregroundMark x1="37662" y1="43636" x2="24675" y2="47273"/>
                        <a14:foregroundMark x1="24675" y1="47273" x2="39610" y2="47273"/>
                        <a14:foregroundMark x1="39610" y1="47273" x2="33117" y2="63636"/>
                        <a14:foregroundMark x1="33117" y1="63636" x2="47565" y2="63455"/>
                        <a14:foregroundMark x1="47565" y1="63455" x2="36364" y2="68545"/>
                        <a14:foregroundMark x1="36364" y1="68545" x2="48701" y2="61818"/>
                        <a14:foregroundMark x1="48701" y1="61818" x2="36688" y2="66364"/>
                        <a14:foregroundMark x1="36688" y1="66364" x2="20455" y2="66909"/>
                        <a14:foregroundMark x1="20455" y1="66909" x2="13799" y2="84364"/>
                        <a14:foregroundMark x1="13799" y1="84364" x2="28734" y2="95091"/>
                        <a14:foregroundMark x1="28734" y1="95091" x2="42532" y2="93636"/>
                        <a14:foregroundMark x1="42532" y1="93636" x2="56006" y2="95636"/>
                        <a14:foregroundMark x1="56006" y1="95636" x2="74513" y2="94545"/>
                        <a14:foregroundMark x1="74513" y1="94545" x2="99351" y2="95455"/>
                        <a14:foregroundMark x1="99351" y1="95455" x2="94968" y2="92909"/>
                        <a14:backgroundMark x1="82630" y1="5091" x2="94481" y2="8727"/>
                        <a14:backgroundMark x1="94481" y1="8727" x2="87662" y2="22364"/>
                        <a14:backgroundMark x1="87662" y1="22364" x2="94968" y2="25091"/>
                        <a14:backgroundMark x1="84578" y1="27636" x2="80195" y2="28545"/>
                        <a14:backgroundMark x1="92695" y1="28182" x2="88312" y2="27636"/>
                        <a14:backgroundMark x1="91558" y1="27636" x2="99675" y2="258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50479" y="2805607"/>
            <a:ext cx="4007514" cy="3578136"/>
          </a:xfrm>
          <a:prstGeom prst="rect">
            <a:avLst/>
          </a:prstGeom>
        </p:spPr>
      </p:pic>
      <p:sp>
        <p:nvSpPr>
          <p:cNvPr id="6" name="Rectángulo 3">
            <a:extLst>
              <a:ext uri="{FF2B5EF4-FFF2-40B4-BE49-F238E27FC236}">
                <a16:creationId xmlns="" xmlns:a16="http://schemas.microsoft.com/office/drawing/2014/main" id="{65FEC29A-66E4-4147-B857-6813C47577FA}"/>
              </a:ext>
            </a:extLst>
          </p:cNvPr>
          <p:cNvSpPr/>
          <p:nvPr/>
        </p:nvSpPr>
        <p:spPr>
          <a:xfrm>
            <a:off x="6196371" y="4133010"/>
            <a:ext cx="35261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El objetivo es obtener el hiperplano que mejor nos permita clasificar las muestras entre las dos clases.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7FC188F-679B-4A8C-B575-F047716D1ADA}"/>
              </a:ext>
            </a:extLst>
          </p:cNvPr>
          <p:cNvSpPr/>
          <p:nvPr/>
        </p:nvSpPr>
        <p:spPr>
          <a:xfrm>
            <a:off x="4831438" y="6368746"/>
            <a:ext cx="15744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Roboto"/>
              </a:rPr>
              <a:t>Thales </a:t>
            </a:r>
            <a:r>
              <a:rPr lang="en-US" sz="1200" dirty="0" err="1">
                <a:latin typeface="Roboto"/>
              </a:rPr>
              <a:t>Sehn</a:t>
            </a:r>
            <a:r>
              <a:rPr lang="en-US" sz="1200" dirty="0">
                <a:latin typeface="Roboto"/>
              </a:rPr>
              <a:t> </a:t>
            </a:r>
            <a:r>
              <a:rPr lang="en-US" sz="1200" dirty="0" err="1">
                <a:latin typeface="Roboto"/>
              </a:rPr>
              <a:t>Körting</a:t>
            </a:r>
            <a:endParaRPr lang="en-US" sz="1200" dirty="0"/>
          </a:p>
        </p:txBody>
      </p:sp>
      <p:sp>
        <p:nvSpPr>
          <p:cNvPr id="8" name="Rectángulo 11">
            <a:extLst>
              <a:ext uri="{FF2B5EF4-FFF2-40B4-BE49-F238E27FC236}">
                <a16:creationId xmlns:a16="http://schemas.microsoft.com/office/drawing/2014/main" xmlns="" id="{2175E2EE-9101-45EC-8704-1FB42CE444D8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Algoritmos organizados por </a:t>
            </a:r>
            <a:r>
              <a:rPr lang="es-CO" sz="2200" b="1" dirty="0" smtClean="0"/>
              <a:t>similitud</a:t>
            </a:r>
            <a:endParaRPr lang="es-CO" sz="2200" b="1" i="1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xmlns="" id="{44F6A84A-8AC6-44B0-8366-5283F1CF064C}"/>
              </a:ext>
            </a:extLst>
          </p:cNvPr>
          <p:cNvSpPr/>
          <p:nvPr/>
        </p:nvSpPr>
        <p:spPr>
          <a:xfrm>
            <a:off x="1448978" y="2359383"/>
            <a:ext cx="6096000" cy="369332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dirty="0" smtClean="0"/>
              <a:t>Máquinas de vectores de soporte (SVM)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99366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FE3A0F8A-8845-4A4F-AAF1-B6925D498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584" y="2727532"/>
            <a:ext cx="4613703" cy="3642398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="" xmlns:a16="http://schemas.microsoft.com/office/drawing/2014/main" id="{271ADA7A-F2AF-4E12-AB00-4FA9F848CC80}"/>
              </a:ext>
            </a:extLst>
          </p:cNvPr>
          <p:cNvSpPr/>
          <p:nvPr/>
        </p:nvSpPr>
        <p:spPr>
          <a:xfrm>
            <a:off x="6703214" y="4170332"/>
            <a:ext cx="35261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El objetivo es obtener el hiperplano que mejor nos permita clasificar las muestras entre las dos clases.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7D168C58-2701-4460-A340-B9DE2F357D86}"/>
              </a:ext>
            </a:extLst>
          </p:cNvPr>
          <p:cNvSpPr/>
          <p:nvPr/>
        </p:nvSpPr>
        <p:spPr>
          <a:xfrm>
            <a:off x="4831438" y="6368746"/>
            <a:ext cx="15744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Roboto"/>
              </a:rPr>
              <a:t>Thales </a:t>
            </a:r>
            <a:r>
              <a:rPr lang="en-US" sz="1200" dirty="0" err="1">
                <a:latin typeface="Roboto"/>
              </a:rPr>
              <a:t>Sehn</a:t>
            </a:r>
            <a:r>
              <a:rPr lang="en-US" sz="1200" dirty="0">
                <a:latin typeface="Roboto"/>
              </a:rPr>
              <a:t> </a:t>
            </a:r>
            <a:r>
              <a:rPr lang="en-US" sz="1200" dirty="0" err="1">
                <a:latin typeface="Roboto"/>
              </a:rPr>
              <a:t>Körting</a:t>
            </a:r>
            <a:endParaRPr lang="en-US" sz="1200" dirty="0"/>
          </a:p>
        </p:txBody>
      </p:sp>
      <p:sp>
        <p:nvSpPr>
          <p:cNvPr id="7" name="Rectángulo 11">
            <a:extLst>
              <a:ext uri="{FF2B5EF4-FFF2-40B4-BE49-F238E27FC236}">
                <a16:creationId xmlns:a16="http://schemas.microsoft.com/office/drawing/2014/main" xmlns="" id="{2175E2EE-9101-45EC-8704-1FB42CE444D8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Algoritmos organizados por </a:t>
            </a:r>
            <a:r>
              <a:rPr lang="es-CO" sz="2200" b="1" dirty="0" smtClean="0"/>
              <a:t>similitud</a:t>
            </a:r>
            <a:endParaRPr lang="es-CO" sz="2200" b="1" i="1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xmlns="" id="{44F6A84A-8AC6-44B0-8366-5283F1CF064C}"/>
              </a:ext>
            </a:extLst>
          </p:cNvPr>
          <p:cNvSpPr/>
          <p:nvPr/>
        </p:nvSpPr>
        <p:spPr>
          <a:xfrm>
            <a:off x="1448978" y="2359383"/>
            <a:ext cx="6096000" cy="369332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dirty="0" smtClean="0"/>
              <a:t>Máquinas de vectores de soporte (SVM)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35700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31537A0-E5C3-4129-8D2F-8690572C6B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943" b="94953" l="464" r="97680">
                        <a14:foregroundMark x1="10325" y1="31230" x2="9281" y2="43533"/>
                        <a14:foregroundMark x1="9281" y1="43533" x2="10673" y2="56625"/>
                        <a14:foregroundMark x1="10673" y1="56625" x2="12297" y2="42902"/>
                        <a14:foregroundMark x1="12297" y1="42902" x2="14037" y2="74763"/>
                        <a14:foregroundMark x1="14037" y1="74763" x2="13921" y2="36120"/>
                        <a14:foregroundMark x1="13921" y1="36120" x2="12529" y2="80757"/>
                        <a14:foregroundMark x1="12529" y1="80757" x2="12993" y2="67192"/>
                        <a14:foregroundMark x1="12993" y1="67192" x2="13225" y2="93691"/>
                        <a14:foregroundMark x1="13225" y1="93691" x2="5800" y2="87382"/>
                        <a14:foregroundMark x1="5800" y1="87382" x2="19374" y2="88328"/>
                        <a14:foregroundMark x1="19374" y1="88328" x2="31671" y2="87066"/>
                        <a14:foregroundMark x1="31671" y1="87066" x2="65197" y2="88801"/>
                        <a14:foregroundMark x1="65197" y1="88801" x2="54292" y2="88486"/>
                        <a14:foregroundMark x1="54292" y1="88486" x2="63109" y2="92114"/>
                        <a14:foregroundMark x1="63109" y1="92114" x2="22738" y2="96530"/>
                        <a14:foregroundMark x1="22738" y1="96530" x2="31090" y2="93060"/>
                        <a14:foregroundMark x1="31090" y1="93060" x2="22506" y2="96530"/>
                        <a14:foregroundMark x1="22506" y1="96530" x2="41647" y2="82650"/>
                        <a14:foregroundMark x1="41647" y1="82650" x2="22390" y2="85647"/>
                        <a14:foregroundMark x1="22390" y1="85647" x2="43387" y2="79653"/>
                        <a14:foregroundMark x1="43387" y1="79653" x2="31671" y2="79022"/>
                        <a14:foregroundMark x1="31671" y1="79022" x2="46868" y2="79022"/>
                        <a14:foregroundMark x1="46868" y1="79022" x2="36079" y2="75079"/>
                        <a14:foregroundMark x1="36079" y1="75079" x2="44896" y2="80442"/>
                        <a14:foregroundMark x1="44896" y1="80442" x2="39211" y2="70189"/>
                        <a14:foregroundMark x1="39211" y1="70189" x2="51044" y2="65300"/>
                        <a14:foregroundMark x1="51044" y1="65300" x2="38167" y2="71924"/>
                        <a14:foregroundMark x1="38167" y1="71924" x2="50232" y2="62934"/>
                        <a14:foregroundMark x1="50232" y1="62934" x2="41531" y2="69243"/>
                        <a14:foregroundMark x1="41531" y1="69243" x2="67749" y2="47634"/>
                        <a14:foregroundMark x1="67749" y1="47634" x2="38167" y2="55836"/>
                        <a14:foregroundMark x1="38167" y1="55836" x2="33759" y2="68612"/>
                        <a14:foregroundMark x1="33759" y1="68612" x2="14849" y2="75868"/>
                        <a14:foregroundMark x1="14849" y1="75868" x2="23086" y2="70662"/>
                        <a14:foregroundMark x1="23086" y1="70662" x2="11137" y2="73659"/>
                        <a14:foregroundMark x1="11137" y1="73659" x2="28538" y2="55521"/>
                        <a14:foregroundMark x1="28538" y1="55521" x2="19490" y2="52839"/>
                        <a14:foregroundMark x1="19490" y1="52839" x2="25754" y2="42587"/>
                        <a14:foregroundMark x1="25754" y1="42587" x2="18213" y2="50789"/>
                        <a14:foregroundMark x1="18213" y1="50789" x2="27726" y2="50000"/>
                        <a14:foregroundMark x1="27726" y1="50000" x2="32715" y2="39905"/>
                        <a14:foregroundMark x1="32715" y1="39905" x2="41647" y2="38801"/>
                        <a14:foregroundMark x1="41647" y1="38801" x2="45940" y2="26972"/>
                        <a14:foregroundMark x1="45940" y1="26972" x2="45128" y2="12934"/>
                        <a14:foregroundMark x1="45128" y1="12934" x2="42575" y2="24448"/>
                        <a14:foregroundMark x1="42575" y1="24448" x2="58005" y2="21451"/>
                        <a14:foregroundMark x1="58005" y1="21451" x2="67633" y2="12776"/>
                        <a14:foregroundMark x1="67633" y1="12776" x2="78422" y2="8833"/>
                        <a14:foregroundMark x1="78422" y1="8833" x2="69838" y2="18297"/>
                        <a14:foregroundMark x1="69838" y1="18297" x2="93271" y2="7571"/>
                        <a14:foregroundMark x1="93271" y1="7571" x2="82367" y2="17823"/>
                        <a14:foregroundMark x1="82367" y1="17823" x2="73318" y2="13565"/>
                        <a14:foregroundMark x1="73318" y1="13565" x2="71114" y2="9779"/>
                        <a14:foregroundMark x1="71346" y1="6625" x2="62413" y2="6625"/>
                        <a14:foregroundMark x1="62413" y1="6625" x2="78654" y2="4101"/>
                        <a14:foregroundMark x1="78654" y1="4101" x2="66125" y2="6625"/>
                        <a14:foregroundMark x1="66125" y1="6625" x2="77726" y2="13249"/>
                        <a14:foregroundMark x1="77726" y1="13249" x2="86427" y2="9464"/>
                        <a14:foregroundMark x1="86427" y1="9464" x2="75290" y2="5994"/>
                        <a14:foregroundMark x1="75290" y1="5994" x2="88515" y2="10568"/>
                        <a14:foregroundMark x1="88515" y1="10568" x2="79234" y2="10883"/>
                        <a14:foregroundMark x1="79234" y1="10883" x2="93271" y2="12618"/>
                        <a14:foregroundMark x1="93271" y1="12618" x2="83527" y2="5205"/>
                        <a14:foregroundMark x1="83527" y1="5205" x2="88283" y2="18297"/>
                        <a14:foregroundMark x1="88283" y1="18297" x2="99768" y2="15773"/>
                        <a14:foregroundMark x1="99768" y1="15773" x2="88399" y2="13565"/>
                        <a14:foregroundMark x1="88399" y1="13565" x2="95940" y2="20662"/>
                        <a14:foregroundMark x1="95940" y1="20662" x2="95476" y2="13091"/>
                        <a14:foregroundMark x1="94780" y1="6151" x2="64037" y2="4574"/>
                        <a14:foregroundMark x1="64037" y1="4574" x2="75522" y2="1577"/>
                        <a14:foregroundMark x1="75522" y1="1577" x2="83643" y2="11199"/>
                        <a14:foregroundMark x1="83643" y1="11199" x2="94084" y2="6625"/>
                        <a14:foregroundMark x1="94084" y1="6625" x2="91879" y2="18139"/>
                        <a14:foregroundMark x1="91879" y1="18139" x2="94780" y2="20820"/>
                        <a14:foregroundMark x1="89327" y1="24763" x2="75406" y2="46215"/>
                        <a14:foregroundMark x1="75406" y1="46215" x2="73318" y2="45899"/>
                        <a14:foregroundMark x1="74942" y1="44953" x2="71926" y2="57413"/>
                        <a14:foregroundMark x1="71926" y1="57413" x2="73550" y2="54574"/>
                        <a14:foregroundMark x1="73550" y1="54574" x2="73550" y2="54574"/>
                        <a14:foregroundMark x1="74246" y1="44164" x2="74246" y2="48107"/>
                        <a14:foregroundMark x1="75406" y1="48107" x2="73666" y2="42744"/>
                        <a14:foregroundMark x1="74710" y1="41956" x2="70998" y2="44479"/>
                        <a14:foregroundMark x1="72390" y1="44479" x2="73898" y2="44795"/>
                        <a14:foregroundMark x1="8701" y1="32019" x2="24246" y2="27287"/>
                        <a14:foregroundMark x1="24246" y1="27287" x2="4640" y2="30126"/>
                        <a14:foregroundMark x1="4640" y1="30126" x2="18561" y2="25237"/>
                        <a14:foregroundMark x1="18561" y1="25237" x2="928" y2="32808"/>
                        <a14:foregroundMark x1="928" y1="32808" x2="10673" y2="32965"/>
                        <a14:foregroundMark x1="10673" y1="32965" x2="10441" y2="34227"/>
                        <a14:foregroundMark x1="63225" y1="92114" x2="27030" y2="97634"/>
                        <a14:foregroundMark x1="27030" y1="97634" x2="36775" y2="97792"/>
                        <a14:foregroundMark x1="36775" y1="97792" x2="24826" y2="95584"/>
                        <a14:foregroundMark x1="24826" y1="95584" x2="37355" y2="94953"/>
                        <a14:foregroundMark x1="37355" y1="94953" x2="18677" y2="93375"/>
                        <a14:foregroundMark x1="18677" y1="93375" x2="27610" y2="93375"/>
                        <a14:foregroundMark x1="27610" y1="93375" x2="14617" y2="91325"/>
                        <a14:foregroundMark x1="14617" y1="91325" x2="26102" y2="91009"/>
                        <a14:foregroundMark x1="26102" y1="91009" x2="15197" y2="92429"/>
                        <a14:foregroundMark x1="15197" y1="92429" x2="23666" y2="94953"/>
                        <a14:foregroundMark x1="70766" y1="91167" x2="59165" y2="95268"/>
                        <a14:foregroundMark x1="59165" y1="95268" x2="67401" y2="90379"/>
                        <a14:foregroundMark x1="67401" y1="90379" x2="55104" y2="94953"/>
                        <a14:foregroundMark x1="55104" y1="94953" x2="66937" y2="92114"/>
                        <a14:foregroundMark x1="66937" y1="92114" x2="81206" y2="36278"/>
                        <a14:foregroundMark x1="81206" y1="36278" x2="76914" y2="46845"/>
                        <a14:foregroundMark x1="76914" y1="46845" x2="54524" y2="27287"/>
                        <a14:foregroundMark x1="54524" y1="27287" x2="38863" y2="23659"/>
                        <a14:foregroundMark x1="38863" y1="23659" x2="45012" y2="14511"/>
                        <a14:foregroundMark x1="45012" y1="14511" x2="55684" y2="8833"/>
                        <a14:foregroundMark x1="55684" y1="8833" x2="41531" y2="15142"/>
                        <a14:foregroundMark x1="50348" y1="11987" x2="38863" y2="13249"/>
                        <a14:foregroundMark x1="38863" y1="13249" x2="47448" y2="11987"/>
                        <a14:foregroundMark x1="48028" y1="9779" x2="46636" y2="11041"/>
                        <a14:foregroundMark x1="81555" y1="3943" x2="93503" y2="4416"/>
                        <a14:foregroundMark x1="93503" y1="4416" x2="97216" y2="15773"/>
                        <a14:foregroundMark x1="97216" y1="15773" x2="96288" y2="16404"/>
                        <a14:foregroundMark x1="96288" y1="3943" x2="97680" y2="4259"/>
                        <a14:foregroundMark x1="97680" y1="4259" x2="97680" y2="4259"/>
                        <a14:foregroundMark x1="63225" y1="94479" x2="64269" y2="94006"/>
                        <a14:foregroundMark x1="12877" y1="94953" x2="14733" y2="94953"/>
                        <a14:backgroundMark x1="10441" y1="19085" x2="19374" y2="15142"/>
                        <a14:backgroundMark x1="19374" y1="15142" x2="29234" y2="15142"/>
                        <a14:backgroundMark x1="29234" y1="15142" x2="10905" y2="14038"/>
                        <a14:backgroundMark x1="10905" y1="14038" x2="19374" y2="9779"/>
                        <a14:backgroundMark x1="19374" y1="9779" x2="29930" y2="9779"/>
                        <a14:backgroundMark x1="29930" y1="9779" x2="7773" y2="8833"/>
                        <a14:backgroundMark x1="7773" y1="8833" x2="36427" y2="4416"/>
                        <a14:backgroundMark x1="36427" y1="4416" x2="8817" y2="3785"/>
                        <a14:backgroundMark x1="8817" y1="3785" x2="3132" y2="13722"/>
                        <a14:backgroundMark x1="3132" y1="13722" x2="11253" y2="19874"/>
                        <a14:backgroundMark x1="11253" y1="19874" x2="13573" y2="20032"/>
                        <a14:backgroundMark x1="35847" y1="15457" x2="35499" y2="126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49753" y="2815016"/>
            <a:ext cx="5442964" cy="400329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="" xmlns:a16="http://schemas.microsoft.com/office/drawing/2014/main" id="{271ADA7A-F2AF-4E12-AB00-4FA9F848CC80}"/>
              </a:ext>
            </a:extLst>
          </p:cNvPr>
          <p:cNvSpPr/>
          <p:nvPr/>
        </p:nvSpPr>
        <p:spPr>
          <a:xfrm>
            <a:off x="6308388" y="5173773"/>
            <a:ext cx="35261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Es decir, el hiperplano que provee el mayor </a:t>
            </a:r>
            <a:r>
              <a:rPr lang="es-CO" b="1" i="1" dirty="0"/>
              <a:t>margen</a:t>
            </a:r>
            <a:r>
              <a:rPr lang="es-CO" dirty="0"/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648A40A-7A22-46A7-B684-70025603B4A4}"/>
              </a:ext>
            </a:extLst>
          </p:cNvPr>
          <p:cNvSpPr/>
          <p:nvPr/>
        </p:nvSpPr>
        <p:spPr>
          <a:xfrm>
            <a:off x="4831438" y="6368746"/>
            <a:ext cx="15744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Roboto"/>
              </a:rPr>
              <a:t>Thales </a:t>
            </a:r>
            <a:r>
              <a:rPr lang="en-US" sz="1200" dirty="0" err="1">
                <a:latin typeface="Roboto"/>
              </a:rPr>
              <a:t>Sehn</a:t>
            </a:r>
            <a:r>
              <a:rPr lang="en-US" sz="1200" dirty="0">
                <a:latin typeface="Roboto"/>
              </a:rPr>
              <a:t> </a:t>
            </a:r>
            <a:r>
              <a:rPr lang="en-US" sz="1200" dirty="0" err="1">
                <a:latin typeface="Roboto"/>
              </a:rPr>
              <a:t>Körting</a:t>
            </a:r>
            <a:endParaRPr lang="en-US" sz="1200" dirty="0"/>
          </a:p>
        </p:txBody>
      </p:sp>
      <p:sp>
        <p:nvSpPr>
          <p:cNvPr id="6" name="Rectángulo 11">
            <a:extLst>
              <a:ext uri="{FF2B5EF4-FFF2-40B4-BE49-F238E27FC236}">
                <a16:creationId xmlns:a16="http://schemas.microsoft.com/office/drawing/2014/main" xmlns="" id="{2175E2EE-9101-45EC-8704-1FB42CE444D8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Algoritmos organizados por </a:t>
            </a:r>
            <a:r>
              <a:rPr lang="es-CO" sz="2200" b="1" dirty="0" smtClean="0"/>
              <a:t>similitud</a:t>
            </a:r>
            <a:endParaRPr lang="es-CO" sz="2200" b="1" i="1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xmlns="" id="{44F6A84A-8AC6-44B0-8366-5283F1CF064C}"/>
              </a:ext>
            </a:extLst>
          </p:cNvPr>
          <p:cNvSpPr/>
          <p:nvPr/>
        </p:nvSpPr>
        <p:spPr>
          <a:xfrm>
            <a:off x="1448978" y="2359383"/>
            <a:ext cx="6096000" cy="369332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dirty="0" smtClean="0"/>
              <a:t>Máquinas de vectores de soporte (SVM)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34011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="" xmlns:a16="http://schemas.microsoft.com/office/drawing/2014/main" id="{271ADA7A-F2AF-4E12-AB00-4FA9F848CC80}"/>
              </a:ext>
            </a:extLst>
          </p:cNvPr>
          <p:cNvSpPr/>
          <p:nvPr/>
        </p:nvSpPr>
        <p:spPr>
          <a:xfrm>
            <a:off x="7236456" y="3696640"/>
            <a:ext cx="35261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Si el margen total es</a:t>
            </a:r>
          </a:p>
          <a:p>
            <a:endParaRPr lang="es-CO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DB6D4611-9884-4F51-B49C-56BDCD3E08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958" b="93801" l="2009" r="96809">
                        <a14:foregroundMark x1="88180" y1="8809" x2="58392" y2="15498"/>
                        <a14:foregroundMark x1="58392" y1="15498" x2="72459" y2="22023"/>
                        <a14:foregroundMark x1="72459" y1="22023" x2="65721" y2="12887"/>
                        <a14:foregroundMark x1="65721" y1="12887" x2="77305" y2="20065"/>
                        <a14:foregroundMark x1="77305" y1="20065" x2="88771" y2="10114"/>
                        <a14:foregroundMark x1="88771" y1="10114" x2="92908" y2="21370"/>
                        <a14:foregroundMark x1="92908" y1="21370" x2="76950" y2="17618"/>
                        <a14:foregroundMark x1="76950" y1="17618" x2="91608" y2="10440"/>
                        <a14:foregroundMark x1="91608" y1="10440" x2="82270" y2="8972"/>
                        <a14:foregroundMark x1="82270" y1="8972" x2="72931" y2="19739"/>
                        <a14:foregroundMark x1="72931" y1="19739" x2="85934" y2="19739"/>
                        <a14:foregroundMark x1="85934" y1="19739" x2="99527" y2="14845"/>
                        <a14:foregroundMark x1="99527" y1="14845" x2="82388" y2="15498"/>
                        <a14:foregroundMark x1="82388" y1="15498" x2="94090" y2="16476"/>
                        <a14:foregroundMark x1="94090" y1="16476" x2="82861" y2="8157"/>
                        <a14:foregroundMark x1="82861" y1="8157" x2="72104" y2="17129"/>
                        <a14:foregroundMark x1="72104" y1="17129" x2="86761" y2="10767"/>
                        <a14:foregroundMark x1="86761" y1="10767" x2="72695" y2="11419"/>
                        <a14:foregroundMark x1="72695" y1="11419" x2="65603" y2="23817"/>
                        <a14:foregroundMark x1="65603" y1="23817" x2="80024" y2="17292"/>
                        <a14:foregroundMark x1="80024" y1="17292" x2="89598" y2="3263"/>
                        <a14:foregroundMark x1="89598" y1="3263" x2="60284" y2="12235"/>
                        <a14:foregroundMark x1="60284" y1="12235" x2="81560" y2="11909"/>
                        <a14:foregroundMark x1="81560" y1="11909" x2="63712" y2="6525"/>
                        <a14:foregroundMark x1="63712" y1="6525" x2="48700" y2="17781"/>
                        <a14:foregroundMark x1="48700" y1="17781" x2="57801" y2="17781"/>
                        <a14:foregroundMark x1="57801" y1="17781" x2="51537" y2="8157"/>
                        <a14:foregroundMark x1="51537" y1="8157" x2="33688" y2="17945"/>
                        <a14:foregroundMark x1="33688" y1="17945" x2="49882" y2="12887"/>
                        <a14:foregroundMark x1="49882" y1="12887" x2="34043" y2="12561"/>
                        <a14:foregroundMark x1="34043" y1="12561" x2="50236" y2="15008"/>
                        <a14:foregroundMark x1="50236" y1="15008" x2="37589" y2="15498"/>
                        <a14:foregroundMark x1="37589" y1="15498" x2="52955" y2="13866"/>
                        <a14:foregroundMark x1="52955" y1="13866" x2="30142" y2="13377"/>
                        <a14:foregroundMark x1="30142" y1="13377" x2="16785" y2="31158"/>
                        <a14:foregroundMark x1="16785" y1="31158" x2="25768" y2="36052"/>
                        <a14:foregroundMark x1="25768" y1="36052" x2="38298" y2="28874"/>
                        <a14:foregroundMark x1="38298" y1="28874" x2="8274" y2="29364"/>
                        <a14:foregroundMark x1="8274" y1="29364" x2="1773" y2="40457"/>
                        <a14:foregroundMark x1="1773" y1="40457" x2="15248" y2="34910"/>
                        <a14:foregroundMark x1="15248" y1="34910" x2="4492" y2="43230"/>
                        <a14:foregroundMark x1="4492" y1="43230" x2="27896" y2="34747"/>
                        <a14:foregroundMark x1="27896" y1="34747" x2="9220" y2="50408"/>
                        <a14:foregroundMark x1="9220" y1="50408" x2="30024" y2="40783"/>
                        <a14:foregroundMark x1="30024" y1="40783" x2="14775" y2="55465"/>
                        <a14:foregroundMark x1="14775" y1="55465" x2="24113" y2="48940"/>
                        <a14:foregroundMark x1="24113" y1="48940" x2="33688" y2="36542"/>
                        <a14:foregroundMark x1="33688" y1="36542" x2="29787" y2="49755"/>
                        <a14:foregroundMark x1="29787" y1="49755" x2="38416" y2="32953"/>
                        <a14:foregroundMark x1="38416" y1="32953" x2="34161" y2="45514"/>
                        <a14:foregroundMark x1="34161" y1="45514" x2="39362" y2="30179"/>
                        <a14:foregroundMark x1="39362" y1="30179" x2="27069" y2="60522"/>
                        <a14:foregroundMark x1="27069" y1="60522" x2="29196" y2="45024"/>
                        <a14:foregroundMark x1="29196" y1="45024" x2="16667" y2="66558"/>
                        <a14:foregroundMark x1="16667" y1="66558" x2="28014" y2="48124"/>
                        <a14:foregroundMark x1="28014" y1="48124" x2="21040" y2="57259"/>
                        <a14:foregroundMark x1="21040" y1="57259" x2="32151" y2="44372"/>
                        <a14:foregroundMark x1="32151" y1="44372" x2="16785" y2="57586"/>
                        <a14:foregroundMark x1="16785" y1="57586" x2="32624" y2="36542"/>
                        <a14:foregroundMark x1="32624" y1="36542" x2="15957" y2="50245"/>
                        <a14:foregroundMark x1="15957" y1="50245" x2="28487" y2="37194"/>
                        <a14:foregroundMark x1="28487" y1="37194" x2="2246" y2="58238"/>
                        <a14:foregroundMark x1="2246" y1="58238" x2="827" y2="70310"/>
                        <a14:foregroundMark x1="827" y1="70310" x2="6265" y2="46493"/>
                        <a14:foregroundMark x1="6265" y1="46493" x2="4255" y2="76509"/>
                        <a14:foregroundMark x1="4255" y1="76509" x2="8274" y2="42577"/>
                        <a14:foregroundMark x1="8274" y1="42577" x2="5674" y2="78303"/>
                        <a14:foregroundMark x1="5674" y1="78303" x2="7092" y2="37847"/>
                        <a14:foregroundMark x1="7092" y1="37847" x2="6619" y2="75367"/>
                        <a14:foregroundMark x1="6619" y1="75367" x2="6974" y2="40294"/>
                        <a14:foregroundMark x1="6974" y1="40294" x2="8274" y2="92496"/>
                        <a14:foregroundMark x1="8274" y1="92496" x2="5674" y2="76183"/>
                        <a14:foregroundMark x1="5674" y1="76183" x2="6383" y2="95106"/>
                        <a14:foregroundMark x1="6383" y1="95106" x2="16076" y2="87765"/>
                        <a14:foregroundMark x1="16076" y1="87765" x2="6619" y2="87439"/>
                        <a14:foregroundMark x1="6619" y1="87439" x2="25532" y2="89233"/>
                        <a14:foregroundMark x1="25532" y1="89233" x2="16430" y2="92659"/>
                        <a14:foregroundMark x1="16430" y1="92659" x2="33570" y2="92170"/>
                        <a14:foregroundMark x1="33570" y1="92170" x2="18322" y2="92985"/>
                        <a14:foregroundMark x1="18322" y1="92985" x2="46809" y2="88581"/>
                        <a14:foregroundMark x1="46809" y1="88581" x2="33570" y2="89396"/>
                        <a14:foregroundMark x1="33570" y1="89396" x2="50591" y2="86134"/>
                        <a14:foregroundMark x1="50591" y1="86134" x2="29433" y2="87928"/>
                        <a14:foregroundMark x1="29433" y1="87928" x2="47281" y2="83197"/>
                        <a14:foregroundMark x1="47281" y1="83197" x2="17021" y2="84666"/>
                        <a14:foregroundMark x1="17021" y1="84666" x2="48582" y2="75856"/>
                        <a14:foregroundMark x1="48582" y1="75856" x2="32506" y2="77977"/>
                        <a14:foregroundMark x1="32506" y1="77977" x2="65485" y2="69168"/>
                        <a14:foregroundMark x1="65485" y1="69168" x2="40307" y2="76183"/>
                        <a14:foregroundMark x1="40307" y1="76183" x2="56028" y2="70636"/>
                        <a14:foregroundMark x1="56028" y1="70636" x2="41017" y2="72757"/>
                        <a14:foregroundMark x1="41017" y1="72757" x2="30733" y2="70473"/>
                        <a14:foregroundMark x1="30733" y1="70473" x2="39598" y2="65579"/>
                        <a14:foregroundMark x1="39598" y1="65579" x2="28842" y2="67210"/>
                        <a14:foregroundMark x1="28842" y1="67210" x2="42317" y2="62316"/>
                        <a14:foregroundMark x1="42317" y1="62316" x2="24704" y2="64600"/>
                        <a14:foregroundMark x1="24704" y1="64600" x2="33570" y2="62153"/>
                        <a14:foregroundMark x1="33570" y1="62153" x2="24586" y2="61827"/>
                        <a14:foregroundMark x1="24586" y1="61827" x2="38652" y2="61990"/>
                        <a14:foregroundMark x1="38652" y1="61990" x2="44681" y2="76672"/>
                        <a14:foregroundMark x1="44681" y1="76672" x2="55437" y2="83687"/>
                        <a14:foregroundMark x1="55437" y1="83687" x2="49764" y2="93148"/>
                        <a14:foregroundMark x1="49764" y1="93148" x2="60875" y2="90049"/>
                        <a14:foregroundMark x1="60875" y1="90049" x2="52482" y2="92985"/>
                        <a14:foregroundMark x1="52482" y1="92985" x2="62175" y2="93964"/>
                        <a14:foregroundMark x1="62175" y1="93964" x2="7801" y2="98369"/>
                        <a14:foregroundMark x1="7801" y1="98369" x2="23995" y2="98695"/>
                        <a14:foregroundMark x1="23995" y1="98695" x2="4492" y2="97390"/>
                        <a14:foregroundMark x1="4492" y1="97390" x2="13593" y2="93801"/>
                        <a14:foregroundMark x1="13593" y1="93801" x2="11939" y2="92496"/>
                        <a14:foregroundMark x1="9338" y1="86297" x2="473" y2="84502"/>
                        <a14:foregroundMark x1="473" y1="84502" x2="12766" y2="77977"/>
                        <a14:foregroundMark x1="12766" y1="77977" x2="4137" y2="74062"/>
                        <a14:foregroundMark x1="4137" y1="74062" x2="19385" y2="66395"/>
                        <a14:foregroundMark x1="19385" y1="66395" x2="43381" y2="64111"/>
                        <a14:foregroundMark x1="43381" y1="64111" x2="33688" y2="68352"/>
                        <a14:foregroundMark x1="33688" y1="68352" x2="49527" y2="65579"/>
                        <a14:foregroundMark x1="49527" y1="65579" x2="39835" y2="69331"/>
                        <a14:foregroundMark x1="39835" y1="69331" x2="54610" y2="65579"/>
                        <a14:foregroundMark x1="54610" y1="65579" x2="39598" y2="66721"/>
                        <a14:foregroundMark x1="39598" y1="66721" x2="52246" y2="61827"/>
                        <a14:foregroundMark x1="52246" y1="61827" x2="39480" y2="67537"/>
                        <a14:foregroundMark x1="39480" y1="67537" x2="48936" y2="64600"/>
                        <a14:foregroundMark x1="48936" y1="64600" x2="36643" y2="67210"/>
                        <a14:foregroundMark x1="36643" y1="67210" x2="36407" y2="53181"/>
                        <a14:foregroundMark x1="36407" y1="53181" x2="41253" y2="39804"/>
                        <a14:foregroundMark x1="41253" y1="39804" x2="41844" y2="27080"/>
                        <a14:foregroundMark x1="41844" y1="27080" x2="45626" y2="13214"/>
                        <a14:foregroundMark x1="45626" y1="13214" x2="58392" y2="13377"/>
                        <a14:foregroundMark x1="58392" y1="13377" x2="45390" y2="19250"/>
                        <a14:foregroundMark x1="45390" y1="19250" x2="61820" y2="14192"/>
                        <a14:foregroundMark x1="61820" y1="14192" x2="37470" y2="19086"/>
                        <a14:foregroundMark x1="37470" y1="19086" x2="58038" y2="15008"/>
                        <a14:foregroundMark x1="58038" y1="15008" x2="27069" y2="25449"/>
                        <a14:foregroundMark x1="27069" y1="25449" x2="64894" y2="18434"/>
                        <a14:foregroundMark x1="64894" y1="18434" x2="75532" y2="20065"/>
                        <a14:foregroundMark x1="75532" y1="20065" x2="87943" y2="17618"/>
                        <a14:foregroundMark x1="87943" y1="17618" x2="58629" y2="21207"/>
                        <a14:foregroundMark x1="58629" y1="21207" x2="92199" y2="15661"/>
                        <a14:foregroundMark x1="92199" y1="15661" x2="96572" y2="4568"/>
                        <a14:foregroundMark x1="96572" y1="4568" x2="77423" y2="9951"/>
                        <a14:foregroundMark x1="77423" y1="9951" x2="69031" y2="6199"/>
                        <a14:foregroundMark x1="69031" y1="6199" x2="45154" y2="7667"/>
                        <a14:foregroundMark x1="45154" y1="7667" x2="42317" y2="6036"/>
                        <a14:foregroundMark x1="5792" y1="25612" x2="5792" y2="27569"/>
                        <a14:foregroundMark x1="5792" y1="27406" x2="6147" y2="25612"/>
                        <a14:foregroundMark x1="6147" y1="23002" x2="6147" y2="28059"/>
                        <a14:foregroundMark x1="7210" y1="26591" x2="4374" y2="24307"/>
                        <a14:foregroundMark x1="4846" y1="24959" x2="4965" y2="28711"/>
                        <a14:foregroundMark x1="2719" y1="28548" x2="2364" y2="45514"/>
                        <a14:foregroundMark x1="2364" y1="45514" x2="4610" y2="36378"/>
                        <a14:foregroundMark x1="61111" y1="86134" x2="62648" y2="89070"/>
                        <a14:foregroundMark x1="89835" y1="9299" x2="95272" y2="18923"/>
                        <a14:foregroundMark x1="95272" y1="18923" x2="95863" y2="5383"/>
                        <a14:foregroundMark x1="95863" y1="5383" x2="75414" y2="7667"/>
                        <a14:foregroundMark x1="75414" y1="7667" x2="56974" y2="3915"/>
                        <a14:foregroundMark x1="56974" y1="3915" x2="47754" y2="6036"/>
                        <a14:foregroundMark x1="47754" y1="6036" x2="46454" y2="1958"/>
                        <a14:foregroundMark x1="96454" y1="12887" x2="89243" y2="5710"/>
                        <a14:foregroundMark x1="89243" y1="5710" x2="93972" y2="3426"/>
                        <a14:foregroundMark x1="98700" y1="10440" x2="94917" y2="21207"/>
                        <a14:foregroundMark x1="94917" y1="21207" x2="97991" y2="8646"/>
                        <a14:foregroundMark x1="97991" y1="8646" x2="96572" y2="21370"/>
                        <a14:foregroundMark x1="96572" y1="21370" x2="96690" y2="17455"/>
                        <a14:foregroundMark x1="96809" y1="9135" x2="95981" y2="4405"/>
                        <a14:foregroundMark x1="4019" y1="24959" x2="3664" y2="23817"/>
                        <a14:foregroundMark x1="2009" y1="27569" x2="3546" y2="28059"/>
                        <a14:backgroundMark x1="52246" y1="38336" x2="50473" y2="37520"/>
                        <a14:backgroundMark x1="49764" y1="37684" x2="49409" y2="39152"/>
                        <a14:backgroundMark x1="49527" y1="37031" x2="51773" y2="40131"/>
                        <a14:backgroundMark x1="48109" y1="35563" x2="50591" y2="39152"/>
                        <a14:backgroundMark x1="50000" y1="35889" x2="50000" y2="358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8978" y="2919664"/>
            <a:ext cx="5528239" cy="400568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FD5E489A-3ABE-49C3-99DE-6325AEE983B9}"/>
              </a:ext>
            </a:extLst>
          </p:cNvPr>
          <p:cNvSpPr/>
          <p:nvPr/>
        </p:nvSpPr>
        <p:spPr>
          <a:xfrm>
            <a:off x="4831438" y="6368746"/>
            <a:ext cx="15744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Roboto"/>
              </a:rPr>
              <a:t>Thales </a:t>
            </a:r>
            <a:r>
              <a:rPr lang="en-US" sz="1200" dirty="0" err="1">
                <a:latin typeface="Roboto"/>
              </a:rPr>
              <a:t>Sehn</a:t>
            </a:r>
            <a:r>
              <a:rPr lang="en-US" sz="1200" dirty="0">
                <a:latin typeface="Roboto"/>
              </a:rPr>
              <a:t> </a:t>
            </a:r>
            <a:r>
              <a:rPr lang="en-US" sz="1200" dirty="0" err="1">
                <a:latin typeface="Roboto"/>
              </a:rPr>
              <a:t>Körting</a:t>
            </a:r>
            <a:endParaRPr lang="en-US" sz="12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="" xmlns:a16="http://schemas.microsoft.com/office/drawing/2014/main" id="{A4FA9431-2CD3-4C66-A924-A1C4C91BF843}"/>
              </a:ext>
            </a:extLst>
          </p:cNvPr>
          <p:cNvCxnSpPr>
            <a:cxnSpLocks/>
          </p:cNvCxnSpPr>
          <p:nvPr/>
        </p:nvCxnSpPr>
        <p:spPr>
          <a:xfrm>
            <a:off x="2628900" y="4684395"/>
            <a:ext cx="321945" cy="148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="" xmlns:a16="http://schemas.microsoft.com/office/drawing/2014/main" id="{92F7B148-478A-4EC5-B3E9-B13F6305808D}"/>
              </a:ext>
            </a:extLst>
          </p:cNvPr>
          <p:cNvCxnSpPr>
            <a:cxnSpLocks/>
          </p:cNvCxnSpPr>
          <p:nvPr/>
        </p:nvCxnSpPr>
        <p:spPr>
          <a:xfrm flipH="1" flipV="1">
            <a:off x="2992755" y="4804410"/>
            <a:ext cx="325756" cy="110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3">
            <a:extLst>
              <a:ext uri="{FF2B5EF4-FFF2-40B4-BE49-F238E27FC236}">
                <a16:creationId xmlns="" xmlns:a16="http://schemas.microsoft.com/office/drawing/2014/main" id="{E03E5170-5EAE-4CD1-8379-7E8F7B15788C}"/>
              </a:ext>
            </a:extLst>
          </p:cNvPr>
          <p:cNvSpPr/>
          <p:nvPr/>
        </p:nvSpPr>
        <p:spPr>
          <a:xfrm>
            <a:off x="2662039" y="4669559"/>
            <a:ext cx="3579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>
                <a:solidFill>
                  <a:schemeClr val="accent1">
                    <a:lumMod val="75000"/>
                  </a:schemeClr>
                </a:solidFill>
              </a:rPr>
              <a:t>z</a:t>
            </a:r>
          </a:p>
        </p:txBody>
      </p:sp>
      <p:sp>
        <p:nvSpPr>
          <p:cNvPr id="17" name="Rectángulo 3">
            <a:extLst>
              <a:ext uri="{FF2B5EF4-FFF2-40B4-BE49-F238E27FC236}">
                <a16:creationId xmlns="" xmlns:a16="http://schemas.microsoft.com/office/drawing/2014/main" id="{1CC08066-C75A-419F-B38B-EA27D2494D46}"/>
              </a:ext>
            </a:extLst>
          </p:cNvPr>
          <p:cNvSpPr/>
          <p:nvPr/>
        </p:nvSpPr>
        <p:spPr>
          <a:xfrm>
            <a:off x="3027799" y="4768619"/>
            <a:ext cx="3579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>
                <a:solidFill>
                  <a:schemeClr val="accent1">
                    <a:lumMod val="75000"/>
                  </a:schemeClr>
                </a:solidFill>
              </a:rPr>
              <a:t>z</a:t>
            </a:r>
          </a:p>
        </p:txBody>
      </p:sp>
      <p:graphicFrame>
        <p:nvGraphicFramePr>
          <p:cNvPr id="19" name="Object 18">
            <a:extLst>
              <a:ext uri="{FF2B5EF4-FFF2-40B4-BE49-F238E27FC236}">
                <a16:creationId xmlns="" xmlns:a16="http://schemas.microsoft.com/office/drawing/2014/main" id="{B6079F18-D2C4-4433-B848-3C6769E5F6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756874"/>
              </p:ext>
            </p:extLst>
          </p:nvPr>
        </p:nvGraphicFramePr>
        <p:xfrm>
          <a:off x="4912158" y="4145369"/>
          <a:ext cx="2087287" cy="10029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Equation" r:id="rId5" imgW="977760" imgH="469800" progId="Equation.DSMT4">
                  <p:embed/>
                </p:oleObj>
              </mc:Choice>
              <mc:Fallback>
                <p:oleObj name="Equation" r:id="rId5" imgW="9777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12158" y="4145369"/>
                        <a:ext cx="2087287" cy="10029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>
            <a:extLst>
              <a:ext uri="{FF2B5EF4-FFF2-40B4-BE49-F238E27FC236}">
                <a16:creationId xmlns="" xmlns:a16="http://schemas.microsoft.com/office/drawing/2014/main" id="{A2C0098B-8423-4B81-A1B3-BD74245F9D5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643794" y="4127158"/>
          <a:ext cx="1355725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" name="Equation" r:id="rId7" imgW="634680" imgH="444240" progId="Equation.DSMT4">
                  <p:embed/>
                </p:oleObj>
              </mc:Choice>
              <mc:Fallback>
                <p:oleObj name="Equation" r:id="rId7" imgW="6346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43794" y="4127158"/>
                        <a:ext cx="1355725" cy="947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ángulo 3">
            <a:extLst>
              <a:ext uri="{FF2B5EF4-FFF2-40B4-BE49-F238E27FC236}">
                <a16:creationId xmlns="" xmlns:a16="http://schemas.microsoft.com/office/drawing/2014/main" id="{C2E3F939-4560-4239-9499-5DD97B46CA1B}"/>
              </a:ext>
            </a:extLst>
          </p:cNvPr>
          <p:cNvSpPr/>
          <p:nvPr/>
        </p:nvSpPr>
        <p:spPr>
          <a:xfrm>
            <a:off x="7643794" y="5245664"/>
            <a:ext cx="35261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El objetivo entonces es minimizar </a:t>
            </a:r>
          </a:p>
          <a:p>
            <a:endParaRPr lang="es-CO" dirty="0"/>
          </a:p>
        </p:txBody>
      </p:sp>
      <p:graphicFrame>
        <p:nvGraphicFramePr>
          <p:cNvPr id="22" name="Object 21">
            <a:extLst>
              <a:ext uri="{FF2B5EF4-FFF2-40B4-BE49-F238E27FC236}">
                <a16:creationId xmlns="" xmlns:a16="http://schemas.microsoft.com/office/drawing/2014/main" id="{A4089F47-782D-4E25-B639-849EADF01B8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865519" y="5621326"/>
          <a:ext cx="541338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" name="Equation" r:id="rId9" imgW="253800" imgH="253800" progId="Equation.DSMT4">
                  <p:embed/>
                </p:oleObj>
              </mc:Choice>
              <mc:Fallback>
                <p:oleObj name="Equation" r:id="rId9" imgW="2538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865519" y="5621326"/>
                        <a:ext cx="541338" cy="541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ángulo 11">
            <a:extLst>
              <a:ext uri="{FF2B5EF4-FFF2-40B4-BE49-F238E27FC236}">
                <a16:creationId xmlns:a16="http://schemas.microsoft.com/office/drawing/2014/main" xmlns="" id="{2175E2EE-9101-45EC-8704-1FB42CE444D8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Algoritmos organizados por </a:t>
            </a:r>
            <a:r>
              <a:rPr lang="es-CO" sz="2200" b="1" dirty="0" smtClean="0"/>
              <a:t>similitud</a:t>
            </a:r>
            <a:endParaRPr lang="es-CO" sz="2200" b="1" i="1" dirty="0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xmlns="" id="{44F6A84A-8AC6-44B0-8366-5283F1CF064C}"/>
              </a:ext>
            </a:extLst>
          </p:cNvPr>
          <p:cNvSpPr/>
          <p:nvPr/>
        </p:nvSpPr>
        <p:spPr>
          <a:xfrm>
            <a:off x="1448978" y="2359383"/>
            <a:ext cx="6096000" cy="369332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dirty="0" smtClean="0"/>
              <a:t>Máquinas de vectores de soporte (SVM)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84848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DB6D4611-9884-4F51-B49C-56BDCD3E08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958" b="93801" l="2009" r="96809">
                        <a14:foregroundMark x1="88180" y1="8809" x2="58392" y2="15498"/>
                        <a14:foregroundMark x1="58392" y1="15498" x2="72459" y2="22023"/>
                        <a14:foregroundMark x1="72459" y1="22023" x2="65721" y2="12887"/>
                        <a14:foregroundMark x1="65721" y1="12887" x2="77305" y2="20065"/>
                        <a14:foregroundMark x1="77305" y1="20065" x2="88771" y2="10114"/>
                        <a14:foregroundMark x1="88771" y1="10114" x2="92908" y2="21370"/>
                        <a14:foregroundMark x1="92908" y1="21370" x2="76950" y2="17618"/>
                        <a14:foregroundMark x1="76950" y1="17618" x2="91608" y2="10440"/>
                        <a14:foregroundMark x1="91608" y1="10440" x2="82270" y2="8972"/>
                        <a14:foregroundMark x1="82270" y1="8972" x2="72931" y2="19739"/>
                        <a14:foregroundMark x1="72931" y1="19739" x2="85934" y2="19739"/>
                        <a14:foregroundMark x1="85934" y1="19739" x2="99527" y2="14845"/>
                        <a14:foregroundMark x1="99527" y1="14845" x2="82388" y2="15498"/>
                        <a14:foregroundMark x1="82388" y1="15498" x2="94090" y2="16476"/>
                        <a14:foregroundMark x1="94090" y1="16476" x2="82861" y2="8157"/>
                        <a14:foregroundMark x1="82861" y1="8157" x2="72104" y2="17129"/>
                        <a14:foregroundMark x1="72104" y1="17129" x2="86761" y2="10767"/>
                        <a14:foregroundMark x1="86761" y1="10767" x2="72695" y2="11419"/>
                        <a14:foregroundMark x1="72695" y1="11419" x2="65603" y2="23817"/>
                        <a14:foregroundMark x1="65603" y1="23817" x2="80024" y2="17292"/>
                        <a14:foregroundMark x1="80024" y1="17292" x2="89598" y2="3263"/>
                        <a14:foregroundMark x1="89598" y1="3263" x2="60284" y2="12235"/>
                        <a14:foregroundMark x1="60284" y1="12235" x2="81560" y2="11909"/>
                        <a14:foregroundMark x1="81560" y1="11909" x2="63712" y2="6525"/>
                        <a14:foregroundMark x1="63712" y1="6525" x2="48700" y2="17781"/>
                        <a14:foregroundMark x1="48700" y1="17781" x2="57801" y2="17781"/>
                        <a14:foregroundMark x1="57801" y1="17781" x2="51537" y2="8157"/>
                        <a14:foregroundMark x1="51537" y1="8157" x2="33688" y2="17945"/>
                        <a14:foregroundMark x1="33688" y1="17945" x2="49882" y2="12887"/>
                        <a14:foregroundMark x1="49882" y1="12887" x2="34043" y2="12561"/>
                        <a14:foregroundMark x1="34043" y1="12561" x2="50236" y2="15008"/>
                        <a14:foregroundMark x1="50236" y1="15008" x2="37589" y2="15498"/>
                        <a14:foregroundMark x1="37589" y1="15498" x2="52955" y2="13866"/>
                        <a14:foregroundMark x1="52955" y1="13866" x2="30142" y2="13377"/>
                        <a14:foregroundMark x1="30142" y1="13377" x2="16785" y2="31158"/>
                        <a14:foregroundMark x1="16785" y1="31158" x2="25768" y2="36052"/>
                        <a14:foregroundMark x1="25768" y1="36052" x2="38298" y2="28874"/>
                        <a14:foregroundMark x1="38298" y1="28874" x2="8274" y2="29364"/>
                        <a14:foregroundMark x1="8274" y1="29364" x2="1773" y2="40457"/>
                        <a14:foregroundMark x1="1773" y1="40457" x2="15248" y2="34910"/>
                        <a14:foregroundMark x1="15248" y1="34910" x2="4492" y2="43230"/>
                        <a14:foregroundMark x1="4492" y1="43230" x2="27896" y2="34747"/>
                        <a14:foregroundMark x1="27896" y1="34747" x2="9220" y2="50408"/>
                        <a14:foregroundMark x1="9220" y1="50408" x2="30024" y2="40783"/>
                        <a14:foregroundMark x1="30024" y1="40783" x2="14775" y2="55465"/>
                        <a14:foregroundMark x1="14775" y1="55465" x2="24113" y2="48940"/>
                        <a14:foregroundMark x1="24113" y1="48940" x2="33688" y2="36542"/>
                        <a14:foregroundMark x1="33688" y1="36542" x2="29787" y2="49755"/>
                        <a14:foregroundMark x1="29787" y1="49755" x2="38416" y2="32953"/>
                        <a14:foregroundMark x1="38416" y1="32953" x2="34161" y2="45514"/>
                        <a14:foregroundMark x1="34161" y1="45514" x2="39362" y2="30179"/>
                        <a14:foregroundMark x1="39362" y1="30179" x2="27069" y2="60522"/>
                        <a14:foregroundMark x1="27069" y1="60522" x2="29196" y2="45024"/>
                        <a14:foregroundMark x1="29196" y1="45024" x2="16667" y2="66558"/>
                        <a14:foregroundMark x1="16667" y1="66558" x2="28014" y2="48124"/>
                        <a14:foregroundMark x1="28014" y1="48124" x2="21040" y2="57259"/>
                        <a14:foregroundMark x1="21040" y1="57259" x2="32151" y2="44372"/>
                        <a14:foregroundMark x1="32151" y1="44372" x2="16785" y2="57586"/>
                        <a14:foregroundMark x1="16785" y1="57586" x2="32624" y2="36542"/>
                        <a14:foregroundMark x1="32624" y1="36542" x2="15957" y2="50245"/>
                        <a14:foregroundMark x1="15957" y1="50245" x2="28487" y2="37194"/>
                        <a14:foregroundMark x1="28487" y1="37194" x2="2246" y2="58238"/>
                        <a14:foregroundMark x1="2246" y1="58238" x2="827" y2="70310"/>
                        <a14:foregroundMark x1="827" y1="70310" x2="6265" y2="46493"/>
                        <a14:foregroundMark x1="6265" y1="46493" x2="4255" y2="76509"/>
                        <a14:foregroundMark x1="4255" y1="76509" x2="8274" y2="42577"/>
                        <a14:foregroundMark x1="8274" y1="42577" x2="5674" y2="78303"/>
                        <a14:foregroundMark x1="5674" y1="78303" x2="7092" y2="37847"/>
                        <a14:foregroundMark x1="7092" y1="37847" x2="6619" y2="75367"/>
                        <a14:foregroundMark x1="6619" y1="75367" x2="6974" y2="40294"/>
                        <a14:foregroundMark x1="6974" y1="40294" x2="8274" y2="92496"/>
                        <a14:foregroundMark x1="8274" y1="92496" x2="5674" y2="76183"/>
                        <a14:foregroundMark x1="5674" y1="76183" x2="6383" y2="95106"/>
                        <a14:foregroundMark x1="6383" y1="95106" x2="16076" y2="87765"/>
                        <a14:foregroundMark x1="16076" y1="87765" x2="6619" y2="87439"/>
                        <a14:foregroundMark x1="6619" y1="87439" x2="25532" y2="89233"/>
                        <a14:foregroundMark x1="25532" y1="89233" x2="16430" y2="92659"/>
                        <a14:foregroundMark x1="16430" y1="92659" x2="33570" y2="92170"/>
                        <a14:foregroundMark x1="33570" y1="92170" x2="18322" y2="92985"/>
                        <a14:foregroundMark x1="18322" y1="92985" x2="46809" y2="88581"/>
                        <a14:foregroundMark x1="46809" y1="88581" x2="33570" y2="89396"/>
                        <a14:foregroundMark x1="33570" y1="89396" x2="50591" y2="86134"/>
                        <a14:foregroundMark x1="50591" y1="86134" x2="29433" y2="87928"/>
                        <a14:foregroundMark x1="29433" y1="87928" x2="47281" y2="83197"/>
                        <a14:foregroundMark x1="47281" y1="83197" x2="17021" y2="84666"/>
                        <a14:foregroundMark x1="17021" y1="84666" x2="48582" y2="75856"/>
                        <a14:foregroundMark x1="48582" y1="75856" x2="32506" y2="77977"/>
                        <a14:foregroundMark x1="32506" y1="77977" x2="65485" y2="69168"/>
                        <a14:foregroundMark x1="65485" y1="69168" x2="40307" y2="76183"/>
                        <a14:foregroundMark x1="40307" y1="76183" x2="56028" y2="70636"/>
                        <a14:foregroundMark x1="56028" y1="70636" x2="41017" y2="72757"/>
                        <a14:foregroundMark x1="41017" y1="72757" x2="30733" y2="70473"/>
                        <a14:foregroundMark x1="30733" y1="70473" x2="39598" y2="65579"/>
                        <a14:foregroundMark x1="39598" y1="65579" x2="28842" y2="67210"/>
                        <a14:foregroundMark x1="28842" y1="67210" x2="42317" y2="62316"/>
                        <a14:foregroundMark x1="42317" y1="62316" x2="24704" y2="64600"/>
                        <a14:foregroundMark x1="24704" y1="64600" x2="33570" y2="62153"/>
                        <a14:foregroundMark x1="33570" y1="62153" x2="24586" y2="61827"/>
                        <a14:foregroundMark x1="24586" y1="61827" x2="38652" y2="61990"/>
                        <a14:foregroundMark x1="38652" y1="61990" x2="44681" y2="76672"/>
                        <a14:foregroundMark x1="44681" y1="76672" x2="55437" y2="83687"/>
                        <a14:foregroundMark x1="55437" y1="83687" x2="49764" y2="93148"/>
                        <a14:foregroundMark x1="49764" y1="93148" x2="60875" y2="90049"/>
                        <a14:foregroundMark x1="60875" y1="90049" x2="52482" y2="92985"/>
                        <a14:foregroundMark x1="52482" y1="92985" x2="62175" y2="93964"/>
                        <a14:foregroundMark x1="62175" y1="93964" x2="7801" y2="98369"/>
                        <a14:foregroundMark x1="7801" y1="98369" x2="23995" y2="98695"/>
                        <a14:foregroundMark x1="23995" y1="98695" x2="4492" y2="97390"/>
                        <a14:foregroundMark x1="4492" y1="97390" x2="13593" y2="93801"/>
                        <a14:foregroundMark x1="13593" y1="93801" x2="11939" y2="92496"/>
                        <a14:foregroundMark x1="9338" y1="86297" x2="473" y2="84502"/>
                        <a14:foregroundMark x1="473" y1="84502" x2="12766" y2="77977"/>
                        <a14:foregroundMark x1="12766" y1="77977" x2="4137" y2="74062"/>
                        <a14:foregroundMark x1="4137" y1="74062" x2="19385" y2="66395"/>
                        <a14:foregroundMark x1="19385" y1="66395" x2="43381" y2="64111"/>
                        <a14:foregroundMark x1="43381" y1="64111" x2="33688" y2="68352"/>
                        <a14:foregroundMark x1="33688" y1="68352" x2="49527" y2="65579"/>
                        <a14:foregroundMark x1="49527" y1="65579" x2="39835" y2="69331"/>
                        <a14:foregroundMark x1="39835" y1="69331" x2="54610" y2="65579"/>
                        <a14:foregroundMark x1="54610" y1="65579" x2="39598" y2="66721"/>
                        <a14:foregroundMark x1="39598" y1="66721" x2="52246" y2="61827"/>
                        <a14:foregroundMark x1="52246" y1="61827" x2="39480" y2="67537"/>
                        <a14:foregroundMark x1="39480" y1="67537" x2="48936" y2="64600"/>
                        <a14:foregroundMark x1="48936" y1="64600" x2="36643" y2="67210"/>
                        <a14:foregroundMark x1="36643" y1="67210" x2="36407" y2="53181"/>
                        <a14:foregroundMark x1="36407" y1="53181" x2="41253" y2="39804"/>
                        <a14:foregroundMark x1="41253" y1="39804" x2="41844" y2="27080"/>
                        <a14:foregroundMark x1="41844" y1="27080" x2="45626" y2="13214"/>
                        <a14:foregroundMark x1="45626" y1="13214" x2="58392" y2="13377"/>
                        <a14:foregroundMark x1="58392" y1="13377" x2="45390" y2="19250"/>
                        <a14:foregroundMark x1="45390" y1="19250" x2="61820" y2="14192"/>
                        <a14:foregroundMark x1="61820" y1="14192" x2="37470" y2="19086"/>
                        <a14:foregroundMark x1="37470" y1="19086" x2="58038" y2="15008"/>
                        <a14:foregroundMark x1="58038" y1="15008" x2="27069" y2="25449"/>
                        <a14:foregroundMark x1="27069" y1="25449" x2="64894" y2="18434"/>
                        <a14:foregroundMark x1="64894" y1="18434" x2="75532" y2="20065"/>
                        <a14:foregroundMark x1="75532" y1="20065" x2="87943" y2="17618"/>
                        <a14:foregroundMark x1="87943" y1="17618" x2="58629" y2="21207"/>
                        <a14:foregroundMark x1="58629" y1="21207" x2="92199" y2="15661"/>
                        <a14:foregroundMark x1="92199" y1="15661" x2="96572" y2="4568"/>
                        <a14:foregroundMark x1="96572" y1="4568" x2="77423" y2="9951"/>
                        <a14:foregroundMark x1="77423" y1="9951" x2="69031" y2="6199"/>
                        <a14:foregroundMark x1="69031" y1="6199" x2="45154" y2="7667"/>
                        <a14:foregroundMark x1="45154" y1="7667" x2="42317" y2="6036"/>
                        <a14:foregroundMark x1="5792" y1="25612" x2="5792" y2="27569"/>
                        <a14:foregroundMark x1="5792" y1="27406" x2="6147" y2="25612"/>
                        <a14:foregroundMark x1="6147" y1="23002" x2="6147" y2="28059"/>
                        <a14:foregroundMark x1="7210" y1="26591" x2="4374" y2="24307"/>
                        <a14:foregroundMark x1="4846" y1="24959" x2="4965" y2="28711"/>
                        <a14:foregroundMark x1="2719" y1="28548" x2="2364" y2="45514"/>
                        <a14:foregroundMark x1="2364" y1="45514" x2="4610" y2="36378"/>
                        <a14:foregroundMark x1="61111" y1="86134" x2="62648" y2="89070"/>
                        <a14:foregroundMark x1="89835" y1="9299" x2="95272" y2="18923"/>
                        <a14:foregroundMark x1="95272" y1="18923" x2="95863" y2="5383"/>
                        <a14:foregroundMark x1="95863" y1="5383" x2="75414" y2="7667"/>
                        <a14:foregroundMark x1="75414" y1="7667" x2="56974" y2="3915"/>
                        <a14:foregroundMark x1="56974" y1="3915" x2="47754" y2="6036"/>
                        <a14:foregroundMark x1="47754" y1="6036" x2="46454" y2="1958"/>
                        <a14:foregroundMark x1="96454" y1="12887" x2="89243" y2="5710"/>
                        <a14:foregroundMark x1="89243" y1="5710" x2="93972" y2="3426"/>
                        <a14:foregroundMark x1="98700" y1="10440" x2="94917" y2="21207"/>
                        <a14:foregroundMark x1="94917" y1="21207" x2="97991" y2="8646"/>
                        <a14:foregroundMark x1="97991" y1="8646" x2="96572" y2="21370"/>
                        <a14:foregroundMark x1="96572" y1="21370" x2="96690" y2="17455"/>
                        <a14:foregroundMark x1="96809" y1="9135" x2="95981" y2="4405"/>
                        <a14:foregroundMark x1="4019" y1="24959" x2="3664" y2="23817"/>
                        <a14:foregroundMark x1="2009" y1="27569" x2="3546" y2="28059"/>
                        <a14:backgroundMark x1="52246" y1="38336" x2="50473" y2="37520"/>
                        <a14:backgroundMark x1="49764" y1="37684" x2="49409" y2="39152"/>
                        <a14:backgroundMark x1="49527" y1="37031" x2="51773" y2="40131"/>
                        <a14:backgroundMark x1="48109" y1="35563" x2="50591" y2="39152"/>
                        <a14:backgroundMark x1="50000" y1="35889" x2="50000" y2="358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71529" y="2936393"/>
            <a:ext cx="5528239" cy="400568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FD5E489A-3ABE-49C3-99DE-6325AEE983B9}"/>
              </a:ext>
            </a:extLst>
          </p:cNvPr>
          <p:cNvSpPr/>
          <p:nvPr/>
        </p:nvSpPr>
        <p:spPr>
          <a:xfrm>
            <a:off x="5454629" y="6451874"/>
            <a:ext cx="15744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Roboto"/>
              </a:rPr>
              <a:t>Thales </a:t>
            </a:r>
            <a:r>
              <a:rPr lang="en-US" sz="1200" dirty="0" err="1">
                <a:latin typeface="Roboto"/>
              </a:rPr>
              <a:t>Sehn</a:t>
            </a:r>
            <a:r>
              <a:rPr lang="en-US" sz="1200" dirty="0">
                <a:latin typeface="Roboto"/>
              </a:rPr>
              <a:t> </a:t>
            </a:r>
            <a:r>
              <a:rPr lang="en-US" sz="1200" dirty="0" err="1">
                <a:latin typeface="Roboto"/>
              </a:rPr>
              <a:t>Körting</a:t>
            </a:r>
            <a:endParaRPr lang="en-US" sz="12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="" xmlns:a16="http://schemas.microsoft.com/office/drawing/2014/main" id="{A4FA9431-2CD3-4C66-A924-A1C4C91BF843}"/>
              </a:ext>
            </a:extLst>
          </p:cNvPr>
          <p:cNvCxnSpPr>
            <a:cxnSpLocks/>
          </p:cNvCxnSpPr>
          <p:nvPr/>
        </p:nvCxnSpPr>
        <p:spPr>
          <a:xfrm>
            <a:off x="2628900" y="4684395"/>
            <a:ext cx="321945" cy="148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="" xmlns:a16="http://schemas.microsoft.com/office/drawing/2014/main" id="{92F7B148-478A-4EC5-B3E9-B13F6305808D}"/>
              </a:ext>
            </a:extLst>
          </p:cNvPr>
          <p:cNvCxnSpPr>
            <a:cxnSpLocks/>
          </p:cNvCxnSpPr>
          <p:nvPr/>
        </p:nvCxnSpPr>
        <p:spPr>
          <a:xfrm flipH="1" flipV="1">
            <a:off x="2992755" y="4804410"/>
            <a:ext cx="325756" cy="110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3">
            <a:extLst>
              <a:ext uri="{FF2B5EF4-FFF2-40B4-BE49-F238E27FC236}">
                <a16:creationId xmlns="" xmlns:a16="http://schemas.microsoft.com/office/drawing/2014/main" id="{E03E5170-5EAE-4CD1-8379-7E8F7B15788C}"/>
              </a:ext>
            </a:extLst>
          </p:cNvPr>
          <p:cNvSpPr/>
          <p:nvPr/>
        </p:nvSpPr>
        <p:spPr>
          <a:xfrm>
            <a:off x="2662039" y="4669559"/>
            <a:ext cx="3579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>
                <a:solidFill>
                  <a:schemeClr val="accent1">
                    <a:lumMod val="75000"/>
                  </a:schemeClr>
                </a:solidFill>
              </a:rPr>
              <a:t>z</a:t>
            </a:r>
          </a:p>
        </p:txBody>
      </p:sp>
      <p:sp>
        <p:nvSpPr>
          <p:cNvPr id="17" name="Rectángulo 3">
            <a:extLst>
              <a:ext uri="{FF2B5EF4-FFF2-40B4-BE49-F238E27FC236}">
                <a16:creationId xmlns="" xmlns:a16="http://schemas.microsoft.com/office/drawing/2014/main" id="{1CC08066-C75A-419F-B38B-EA27D2494D46}"/>
              </a:ext>
            </a:extLst>
          </p:cNvPr>
          <p:cNvSpPr/>
          <p:nvPr/>
        </p:nvSpPr>
        <p:spPr>
          <a:xfrm>
            <a:off x="3027799" y="4768619"/>
            <a:ext cx="3579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>
                <a:solidFill>
                  <a:schemeClr val="accent1">
                    <a:lumMod val="75000"/>
                  </a:schemeClr>
                </a:solidFill>
              </a:rPr>
              <a:t>z</a:t>
            </a:r>
          </a:p>
        </p:txBody>
      </p:sp>
      <p:sp>
        <p:nvSpPr>
          <p:cNvPr id="21" name="Rectángulo 3">
            <a:extLst>
              <a:ext uri="{FF2B5EF4-FFF2-40B4-BE49-F238E27FC236}">
                <a16:creationId xmlns="" xmlns:a16="http://schemas.microsoft.com/office/drawing/2014/main" id="{C2E3F939-4560-4239-9499-5DD97B46CA1B}"/>
              </a:ext>
            </a:extLst>
          </p:cNvPr>
          <p:cNvSpPr/>
          <p:nvPr/>
        </p:nvSpPr>
        <p:spPr>
          <a:xfrm>
            <a:off x="5807374" y="3937563"/>
            <a:ext cx="35261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El objetivo entonces es minimizar </a:t>
            </a:r>
          </a:p>
          <a:p>
            <a:endParaRPr lang="es-CO" dirty="0"/>
          </a:p>
        </p:txBody>
      </p:sp>
      <p:graphicFrame>
        <p:nvGraphicFramePr>
          <p:cNvPr id="22" name="Object 21">
            <a:extLst>
              <a:ext uri="{FF2B5EF4-FFF2-40B4-BE49-F238E27FC236}">
                <a16:creationId xmlns="" xmlns:a16="http://schemas.microsoft.com/office/drawing/2014/main" id="{A4089F47-782D-4E25-B639-849EADF01B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2109279"/>
              </p:ext>
            </p:extLst>
          </p:nvPr>
        </p:nvGraphicFramePr>
        <p:xfrm>
          <a:off x="7029099" y="4313225"/>
          <a:ext cx="541338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quation" r:id="rId5" imgW="253800" imgH="253800" progId="Equation.DSMT4">
                  <p:embed/>
                </p:oleObj>
              </mc:Choice>
              <mc:Fallback>
                <p:oleObj name="Equation" r:id="rId5" imgW="2538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29099" y="4313225"/>
                        <a:ext cx="541338" cy="541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33349A1-39D5-4605-B94C-9597AC5E85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7291" y="4925852"/>
            <a:ext cx="1512987" cy="1516659"/>
          </a:xfrm>
          <a:prstGeom prst="rect">
            <a:avLst/>
          </a:prstGeom>
        </p:spPr>
      </p:pic>
      <p:sp>
        <p:nvSpPr>
          <p:cNvPr id="15" name="Rectángulo 3">
            <a:extLst>
              <a:ext uri="{FF2B5EF4-FFF2-40B4-BE49-F238E27FC236}">
                <a16:creationId xmlns="" xmlns:a16="http://schemas.microsoft.com/office/drawing/2014/main" id="{DA76E9C9-8C2F-478D-8A79-B870EBA3E5FB}"/>
              </a:ext>
            </a:extLst>
          </p:cNvPr>
          <p:cNvSpPr/>
          <p:nvPr/>
        </p:nvSpPr>
        <p:spPr>
          <a:xfrm>
            <a:off x="8213603" y="5345635"/>
            <a:ext cx="397839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Esta es una tarea de optimización no lineal que se lleva a cabo empleando los </a:t>
            </a:r>
            <a:r>
              <a:rPr lang="es-CO" b="1" i="1" dirty="0"/>
              <a:t>multiplicadores de Lagrange</a:t>
            </a:r>
          </a:p>
          <a:p>
            <a:endParaRPr lang="es-CO" dirty="0"/>
          </a:p>
        </p:txBody>
      </p:sp>
      <p:sp>
        <p:nvSpPr>
          <p:cNvPr id="13" name="Rectángulo 11">
            <a:extLst>
              <a:ext uri="{FF2B5EF4-FFF2-40B4-BE49-F238E27FC236}">
                <a16:creationId xmlns:a16="http://schemas.microsoft.com/office/drawing/2014/main" xmlns="" id="{2175E2EE-9101-45EC-8704-1FB42CE444D8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Algoritmos organizados por </a:t>
            </a:r>
            <a:r>
              <a:rPr lang="es-CO" sz="2200" b="1" dirty="0" smtClean="0"/>
              <a:t>similitud</a:t>
            </a:r>
            <a:endParaRPr lang="es-CO" sz="2200" b="1" i="1" dirty="0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xmlns="" id="{44F6A84A-8AC6-44B0-8366-5283F1CF064C}"/>
              </a:ext>
            </a:extLst>
          </p:cNvPr>
          <p:cNvSpPr/>
          <p:nvPr/>
        </p:nvSpPr>
        <p:spPr>
          <a:xfrm>
            <a:off x="1448978" y="2359383"/>
            <a:ext cx="6096000" cy="369332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dirty="0" smtClean="0"/>
              <a:t>Máquinas de vectores de soporte (SVM)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36465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D83AC6F-D3A1-443E-8F6E-3BCB9C009D09}"/>
              </a:ext>
            </a:extLst>
          </p:cNvPr>
          <p:cNvSpPr txBox="1"/>
          <p:nvPr/>
        </p:nvSpPr>
        <p:spPr>
          <a:xfrm>
            <a:off x="7184712" y="3295793"/>
            <a:ext cx="4647069" cy="203132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dirty="0"/>
              <a:t>Se preocupan por construir redes neuronales mucho más grandes y </a:t>
            </a:r>
            <a:r>
              <a:rPr lang="es-CO" dirty="0" smtClean="0"/>
              <a:t>complejas.</a:t>
            </a:r>
          </a:p>
          <a:p>
            <a:endParaRPr lang="es-CO" dirty="0"/>
          </a:p>
          <a:p>
            <a:r>
              <a:rPr lang="es-CO" dirty="0" smtClean="0"/>
              <a:t>Muchos </a:t>
            </a:r>
            <a:r>
              <a:rPr lang="es-CO" dirty="0"/>
              <a:t>métodos se ocupan de problemas de aprendizaje </a:t>
            </a:r>
            <a:r>
              <a:rPr lang="es-CO" dirty="0" err="1"/>
              <a:t>semi</a:t>
            </a:r>
            <a:r>
              <a:rPr lang="es-CO" dirty="0"/>
              <a:t>-supervisados donde los conjuntos de datos grandes contienen muy poca información etiquetada.</a:t>
            </a:r>
            <a:endParaRPr lang="es-CO" i="1" dirty="0"/>
          </a:p>
        </p:txBody>
      </p:sp>
      <p:sp>
        <p:nvSpPr>
          <p:cNvPr id="8" name="Rectángulo 11">
            <a:extLst>
              <a:ext uri="{FF2B5EF4-FFF2-40B4-BE49-F238E27FC236}">
                <a16:creationId xmlns:a16="http://schemas.microsoft.com/office/drawing/2014/main" xmlns="" id="{2175E2EE-9101-45EC-8704-1FB42CE444D8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Algoritmos organizados por </a:t>
            </a:r>
            <a:r>
              <a:rPr lang="es-CO" sz="2200" b="1" dirty="0" smtClean="0"/>
              <a:t>similitud</a:t>
            </a:r>
            <a:endParaRPr lang="es-CO" sz="2200" b="1" i="1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44F6A84A-8AC6-44B0-8366-5283F1CF064C}"/>
              </a:ext>
            </a:extLst>
          </p:cNvPr>
          <p:cNvSpPr/>
          <p:nvPr/>
        </p:nvSpPr>
        <p:spPr>
          <a:xfrm>
            <a:off x="1448978" y="2359383"/>
            <a:ext cx="6096000" cy="369332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dirty="0" smtClean="0"/>
              <a:t>Algoritmos de </a:t>
            </a:r>
            <a:r>
              <a:rPr lang="es-CO" i="1" dirty="0" err="1" smtClean="0"/>
              <a:t>deep</a:t>
            </a:r>
            <a:r>
              <a:rPr lang="es-CO" i="1" dirty="0" smtClean="0"/>
              <a:t> </a:t>
            </a:r>
            <a:r>
              <a:rPr lang="es-CO" i="1" dirty="0" err="1" smtClean="0"/>
              <a:t>learning</a:t>
            </a:r>
            <a:endParaRPr lang="es-CO" i="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398" y="2920804"/>
            <a:ext cx="2886076" cy="2781301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3991839" y="6384744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400" dirty="0"/>
              <a:t>https://machinelearningmastery.com/a-tour-of-machine-learning-algorithms/</a:t>
            </a:r>
          </a:p>
        </p:txBody>
      </p:sp>
    </p:spTree>
    <p:extLst>
      <p:ext uri="{BB962C8B-B14F-4D97-AF65-F5344CB8AC3E}">
        <p14:creationId xmlns:p14="http://schemas.microsoft.com/office/powerpoint/2010/main" val="3742362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D83AC6F-D3A1-443E-8F6E-3BCB9C009D09}"/>
              </a:ext>
            </a:extLst>
          </p:cNvPr>
          <p:cNvSpPr txBox="1"/>
          <p:nvPr/>
        </p:nvSpPr>
        <p:spPr>
          <a:xfrm>
            <a:off x="7018457" y="3683720"/>
            <a:ext cx="4647069" cy="203132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dirty="0"/>
              <a:t>Los algoritmos de </a:t>
            </a:r>
            <a:r>
              <a:rPr lang="es-CO" i="1" dirty="0" err="1" smtClean="0"/>
              <a:t>deep</a:t>
            </a:r>
            <a:r>
              <a:rPr lang="es-CO" i="1" dirty="0" smtClean="0"/>
              <a:t> </a:t>
            </a:r>
            <a:r>
              <a:rPr lang="es-CO" i="1" dirty="0" err="1" smtClean="0"/>
              <a:t>learning</a:t>
            </a:r>
            <a:r>
              <a:rPr lang="es-CO" i="1" dirty="0" smtClean="0"/>
              <a:t> </a:t>
            </a:r>
            <a:r>
              <a:rPr lang="es-CO" dirty="0" smtClean="0"/>
              <a:t>más </a:t>
            </a:r>
            <a:r>
              <a:rPr lang="es-CO" dirty="0"/>
              <a:t>populares </a:t>
            </a:r>
            <a:r>
              <a:rPr lang="es-CO" dirty="0" smtClean="0"/>
              <a:t>son:</a:t>
            </a:r>
          </a:p>
          <a:p>
            <a:endParaRPr lang="es-CO" dirty="0"/>
          </a:p>
          <a:p>
            <a:r>
              <a:rPr lang="es-CO" i="1" dirty="0" err="1"/>
              <a:t>Deep</a:t>
            </a:r>
            <a:r>
              <a:rPr lang="es-CO" i="1" dirty="0"/>
              <a:t> </a:t>
            </a:r>
            <a:r>
              <a:rPr lang="es-CO" i="1" dirty="0" err="1"/>
              <a:t>Boltzmann</a:t>
            </a:r>
            <a:r>
              <a:rPr lang="es-CO" i="1" dirty="0"/>
              <a:t> Machine (DBM)</a:t>
            </a:r>
          </a:p>
          <a:p>
            <a:r>
              <a:rPr lang="es-CO" i="1" dirty="0" err="1"/>
              <a:t>Deep</a:t>
            </a:r>
            <a:r>
              <a:rPr lang="es-CO" i="1" dirty="0"/>
              <a:t> </a:t>
            </a:r>
            <a:r>
              <a:rPr lang="es-CO" i="1" dirty="0" err="1"/>
              <a:t>Belief</a:t>
            </a:r>
            <a:r>
              <a:rPr lang="es-CO" i="1" dirty="0"/>
              <a:t> Networks (DBN)</a:t>
            </a:r>
          </a:p>
          <a:p>
            <a:r>
              <a:rPr lang="es-CO" i="1" dirty="0" err="1"/>
              <a:t>Convolutional</a:t>
            </a:r>
            <a:r>
              <a:rPr lang="es-CO" i="1" dirty="0"/>
              <a:t> Neural Network (CNN)</a:t>
            </a:r>
          </a:p>
          <a:p>
            <a:r>
              <a:rPr lang="es-CO" i="1" dirty="0" err="1"/>
              <a:t>Stacked</a:t>
            </a:r>
            <a:r>
              <a:rPr lang="es-CO" i="1" dirty="0"/>
              <a:t> Auto-</a:t>
            </a:r>
            <a:r>
              <a:rPr lang="es-CO" i="1" dirty="0" err="1"/>
              <a:t>Encoders</a:t>
            </a:r>
            <a:endParaRPr lang="es-CO" i="1" dirty="0" smtClean="0"/>
          </a:p>
        </p:txBody>
      </p:sp>
      <p:sp>
        <p:nvSpPr>
          <p:cNvPr id="8" name="Rectángulo 11">
            <a:extLst>
              <a:ext uri="{FF2B5EF4-FFF2-40B4-BE49-F238E27FC236}">
                <a16:creationId xmlns:a16="http://schemas.microsoft.com/office/drawing/2014/main" xmlns="" id="{2175E2EE-9101-45EC-8704-1FB42CE444D8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Algoritmos organizados por </a:t>
            </a:r>
            <a:r>
              <a:rPr lang="es-CO" sz="2200" b="1" dirty="0" smtClean="0"/>
              <a:t>similitud</a:t>
            </a:r>
            <a:endParaRPr lang="es-CO" sz="2200" b="1" i="1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44F6A84A-8AC6-44B0-8366-5283F1CF064C}"/>
              </a:ext>
            </a:extLst>
          </p:cNvPr>
          <p:cNvSpPr/>
          <p:nvPr/>
        </p:nvSpPr>
        <p:spPr>
          <a:xfrm>
            <a:off x="1448978" y="2359383"/>
            <a:ext cx="6096000" cy="369332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dirty="0" smtClean="0"/>
              <a:t>Algoritmos de </a:t>
            </a:r>
            <a:r>
              <a:rPr lang="es-CO" i="1" dirty="0" err="1" smtClean="0"/>
              <a:t>deep</a:t>
            </a:r>
            <a:r>
              <a:rPr lang="es-CO" i="1" dirty="0" smtClean="0"/>
              <a:t> </a:t>
            </a:r>
            <a:r>
              <a:rPr lang="es-CO" i="1" dirty="0" err="1" smtClean="0"/>
              <a:t>learning</a:t>
            </a:r>
            <a:endParaRPr lang="es-CO" i="1" dirty="0"/>
          </a:p>
        </p:txBody>
      </p:sp>
      <p:pic>
        <p:nvPicPr>
          <p:cNvPr id="4098" name="Picture 2" descr="Resultado de imagen para deep learn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079" y="3043289"/>
            <a:ext cx="5655342" cy="2888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/>
          <p:cNvSpPr/>
          <p:nvPr/>
        </p:nvSpPr>
        <p:spPr>
          <a:xfrm>
            <a:off x="2135891" y="6246127"/>
            <a:ext cx="76541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https://medium.com/swlh/ill-tell-you-why-deep-learning-is-so-popular-and-in-demand-5aca72628780</a:t>
            </a:r>
          </a:p>
        </p:txBody>
      </p:sp>
    </p:spTree>
    <p:extLst>
      <p:ext uri="{BB962C8B-B14F-4D97-AF65-F5344CB8AC3E}">
        <p14:creationId xmlns:p14="http://schemas.microsoft.com/office/powerpoint/2010/main" val="342642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D83AC6F-D3A1-443E-8F6E-3BCB9C009D09}"/>
              </a:ext>
            </a:extLst>
          </p:cNvPr>
          <p:cNvSpPr txBox="1"/>
          <p:nvPr/>
        </p:nvSpPr>
        <p:spPr>
          <a:xfrm>
            <a:off x="6491985" y="3692956"/>
            <a:ext cx="4647069" cy="1477328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dirty="0" smtClean="0"/>
              <a:t>La </a:t>
            </a:r>
            <a:r>
              <a:rPr lang="es-CO" dirty="0"/>
              <a:t>reducción de la </a:t>
            </a:r>
            <a:r>
              <a:rPr lang="es-CO" dirty="0" err="1"/>
              <a:t>dimensionalidad</a:t>
            </a:r>
            <a:r>
              <a:rPr lang="es-CO" dirty="0"/>
              <a:t> busca y explota la estructura inherente en los </a:t>
            </a:r>
            <a:r>
              <a:rPr lang="es-CO" dirty="0" smtClean="0"/>
              <a:t>datos de </a:t>
            </a:r>
            <a:r>
              <a:rPr lang="es-CO" dirty="0"/>
              <a:t>una manera </a:t>
            </a:r>
            <a:r>
              <a:rPr lang="es-CO" dirty="0" smtClean="0"/>
              <a:t>no </a:t>
            </a:r>
            <a:r>
              <a:rPr lang="es-CO" dirty="0"/>
              <a:t>supervisada para resumir o describir los datos utilizando menos información.</a:t>
            </a:r>
            <a:endParaRPr lang="es-CO" i="1" dirty="0" smtClean="0"/>
          </a:p>
        </p:txBody>
      </p:sp>
      <p:sp>
        <p:nvSpPr>
          <p:cNvPr id="8" name="Rectángulo 11">
            <a:extLst>
              <a:ext uri="{FF2B5EF4-FFF2-40B4-BE49-F238E27FC236}">
                <a16:creationId xmlns:a16="http://schemas.microsoft.com/office/drawing/2014/main" xmlns="" id="{2175E2EE-9101-45EC-8704-1FB42CE444D8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Algoritmos organizados por </a:t>
            </a:r>
            <a:r>
              <a:rPr lang="es-CO" sz="2200" b="1" dirty="0" smtClean="0"/>
              <a:t>similitud</a:t>
            </a:r>
            <a:endParaRPr lang="es-CO" sz="2200" b="1" i="1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44F6A84A-8AC6-44B0-8366-5283F1CF064C}"/>
              </a:ext>
            </a:extLst>
          </p:cNvPr>
          <p:cNvSpPr/>
          <p:nvPr/>
        </p:nvSpPr>
        <p:spPr>
          <a:xfrm>
            <a:off x="1448978" y="2359383"/>
            <a:ext cx="6096000" cy="369332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dirty="0"/>
              <a:t>Algoritmos de reducción de </a:t>
            </a:r>
            <a:r>
              <a:rPr lang="es-CO" dirty="0" err="1"/>
              <a:t>dimensionalidad</a:t>
            </a:r>
            <a:endParaRPr lang="es-CO" i="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335" y="2988962"/>
            <a:ext cx="3063009" cy="2949181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3991839" y="6384744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400" dirty="0"/>
              <a:t>https://machinelearningmastery.com/a-tour-of-machine-learning-algorithms/</a:t>
            </a:r>
          </a:p>
        </p:txBody>
      </p:sp>
    </p:spTree>
    <p:extLst>
      <p:ext uri="{BB962C8B-B14F-4D97-AF65-F5344CB8AC3E}">
        <p14:creationId xmlns:p14="http://schemas.microsoft.com/office/powerpoint/2010/main" val="575522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Resultado de imagen para reducciÃ³n de dimensionalid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55" y="3294796"/>
            <a:ext cx="6142802" cy="239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D83AC6F-D3A1-443E-8F6E-3BCB9C009D09}"/>
              </a:ext>
            </a:extLst>
          </p:cNvPr>
          <p:cNvSpPr txBox="1"/>
          <p:nvPr/>
        </p:nvSpPr>
        <p:spPr>
          <a:xfrm>
            <a:off x="6510458" y="2728715"/>
            <a:ext cx="5284379" cy="341632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dirty="0" smtClean="0"/>
              <a:t>Estos algoritmos pueden ser útiles </a:t>
            </a:r>
            <a:r>
              <a:rPr lang="es-CO" dirty="0"/>
              <a:t>para visualizar datos </a:t>
            </a:r>
            <a:r>
              <a:rPr lang="es-CO" b="1" i="1" dirty="0" err="1" smtClean="0"/>
              <a:t>multi</a:t>
            </a:r>
            <a:r>
              <a:rPr lang="es-CO" b="1" i="1" dirty="0" smtClean="0"/>
              <a:t>-dimensionales</a:t>
            </a:r>
            <a:r>
              <a:rPr lang="es-CO" dirty="0" smtClean="0"/>
              <a:t> </a:t>
            </a:r>
            <a:r>
              <a:rPr lang="es-CO" dirty="0"/>
              <a:t>o para simplificar datos que luego pueden usarse en un método de aprendizaje </a:t>
            </a:r>
            <a:r>
              <a:rPr lang="es-CO" dirty="0" smtClean="0"/>
              <a:t>supervisado.</a:t>
            </a:r>
          </a:p>
          <a:p>
            <a:endParaRPr lang="es-CO" dirty="0"/>
          </a:p>
          <a:p>
            <a:r>
              <a:rPr lang="es-CO" dirty="0" smtClean="0"/>
              <a:t>Muchos </a:t>
            </a:r>
            <a:r>
              <a:rPr lang="es-CO" dirty="0"/>
              <a:t>de estos métodos pueden adaptarse para su uso en clasificación y regresión</a:t>
            </a:r>
            <a:r>
              <a:rPr lang="es-CO" dirty="0" smtClean="0"/>
              <a:t>. Ejemplos:</a:t>
            </a:r>
          </a:p>
          <a:p>
            <a:endParaRPr lang="es-CO" i="1" dirty="0"/>
          </a:p>
          <a:p>
            <a:r>
              <a:rPr lang="es-CO" i="1" dirty="0"/>
              <a:t>Principal </a:t>
            </a:r>
            <a:r>
              <a:rPr lang="es-CO" i="1" dirty="0" err="1"/>
              <a:t>Component</a:t>
            </a:r>
            <a:r>
              <a:rPr lang="es-CO" i="1" dirty="0"/>
              <a:t> </a:t>
            </a:r>
            <a:r>
              <a:rPr lang="es-CO" i="1" dirty="0" err="1"/>
              <a:t>Analysis</a:t>
            </a:r>
            <a:r>
              <a:rPr lang="es-CO" i="1" dirty="0"/>
              <a:t> (PCA)</a:t>
            </a:r>
          </a:p>
          <a:p>
            <a:r>
              <a:rPr lang="es-CO" i="1" dirty="0" err="1" smtClean="0"/>
              <a:t>Partial</a:t>
            </a:r>
            <a:r>
              <a:rPr lang="es-CO" i="1" dirty="0" smtClean="0"/>
              <a:t> </a:t>
            </a:r>
            <a:r>
              <a:rPr lang="es-CO" i="1" dirty="0" err="1"/>
              <a:t>Least</a:t>
            </a:r>
            <a:r>
              <a:rPr lang="es-CO" i="1" dirty="0"/>
              <a:t> </a:t>
            </a:r>
            <a:r>
              <a:rPr lang="es-CO" i="1" dirty="0" err="1"/>
              <a:t>Squares</a:t>
            </a:r>
            <a:r>
              <a:rPr lang="es-CO" i="1" dirty="0"/>
              <a:t> </a:t>
            </a:r>
            <a:r>
              <a:rPr lang="es-CO" i="1" dirty="0" err="1"/>
              <a:t>Regression</a:t>
            </a:r>
            <a:r>
              <a:rPr lang="es-CO" i="1" dirty="0"/>
              <a:t> (PLSR)</a:t>
            </a:r>
          </a:p>
          <a:p>
            <a:r>
              <a:rPr lang="es-CO" i="1" dirty="0" smtClean="0"/>
              <a:t>Multidimensional </a:t>
            </a:r>
            <a:r>
              <a:rPr lang="es-CO" i="1" dirty="0" err="1"/>
              <a:t>Scaling</a:t>
            </a:r>
            <a:r>
              <a:rPr lang="es-CO" i="1" dirty="0"/>
              <a:t> (MDS)</a:t>
            </a:r>
          </a:p>
          <a:p>
            <a:r>
              <a:rPr lang="es-CO" i="1" dirty="0" smtClean="0"/>
              <a:t>Linear </a:t>
            </a:r>
            <a:r>
              <a:rPr lang="es-CO" i="1" dirty="0" err="1"/>
              <a:t>Discriminant</a:t>
            </a:r>
            <a:r>
              <a:rPr lang="es-CO" i="1" dirty="0"/>
              <a:t> </a:t>
            </a:r>
            <a:r>
              <a:rPr lang="es-CO" i="1" dirty="0" err="1"/>
              <a:t>Analysis</a:t>
            </a:r>
            <a:r>
              <a:rPr lang="es-CO" i="1" dirty="0"/>
              <a:t> (LDA</a:t>
            </a:r>
            <a:r>
              <a:rPr lang="es-CO" i="1" dirty="0" smtClean="0"/>
              <a:t>)</a:t>
            </a:r>
            <a:endParaRPr lang="es-CO" i="1" dirty="0"/>
          </a:p>
        </p:txBody>
      </p:sp>
      <p:sp>
        <p:nvSpPr>
          <p:cNvPr id="8" name="Rectángulo 11">
            <a:extLst>
              <a:ext uri="{FF2B5EF4-FFF2-40B4-BE49-F238E27FC236}">
                <a16:creationId xmlns:a16="http://schemas.microsoft.com/office/drawing/2014/main" xmlns="" id="{2175E2EE-9101-45EC-8704-1FB42CE444D8}"/>
              </a:ext>
            </a:extLst>
          </p:cNvPr>
          <p:cNvSpPr/>
          <p:nvPr/>
        </p:nvSpPr>
        <p:spPr>
          <a:xfrm>
            <a:off x="1081599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Algoritmos organizados por </a:t>
            </a:r>
            <a:r>
              <a:rPr lang="es-CO" sz="2200" b="1" dirty="0" smtClean="0"/>
              <a:t>similitud</a:t>
            </a:r>
            <a:endParaRPr lang="es-CO" sz="2200" b="1" i="1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44F6A84A-8AC6-44B0-8366-5283F1CF064C}"/>
              </a:ext>
            </a:extLst>
          </p:cNvPr>
          <p:cNvSpPr/>
          <p:nvPr/>
        </p:nvSpPr>
        <p:spPr>
          <a:xfrm>
            <a:off x="1448978" y="2359383"/>
            <a:ext cx="6096000" cy="369332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dirty="0"/>
              <a:t>Algoritmos de reducción de </a:t>
            </a:r>
            <a:r>
              <a:rPr lang="es-CO" dirty="0" err="1"/>
              <a:t>dimensionalidad</a:t>
            </a:r>
            <a:endParaRPr lang="es-CO" i="1" dirty="0"/>
          </a:p>
        </p:txBody>
      </p:sp>
      <p:sp>
        <p:nvSpPr>
          <p:cNvPr id="3" name="Rectángulo 2"/>
          <p:cNvSpPr/>
          <p:nvPr/>
        </p:nvSpPr>
        <p:spPr>
          <a:xfrm>
            <a:off x="914401" y="6206590"/>
            <a:ext cx="108804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/>
              <a:t>https://www.deeplearningitalia.com/metodos-para-la-reduccion-de-la-dimensionalidad-manifold-based-el-caso-isomap/</a:t>
            </a:r>
          </a:p>
        </p:txBody>
      </p:sp>
    </p:spTree>
    <p:extLst>
      <p:ext uri="{BB962C8B-B14F-4D97-AF65-F5344CB8AC3E}">
        <p14:creationId xmlns:p14="http://schemas.microsoft.com/office/powerpoint/2010/main" val="3961782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3074" name="Picture 2" descr="https://s3.amazonaws.com/MLMastery/MachineLearningAlgorithms.png?__s=jzv8ypwroxs5hpifnsw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69" y="0"/>
            <a:ext cx="10443050" cy="667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/>
          <p:cNvSpPr/>
          <p:nvPr/>
        </p:nvSpPr>
        <p:spPr>
          <a:xfrm>
            <a:off x="10381673" y="5430982"/>
            <a:ext cx="1681018" cy="16902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3286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11">
            <a:extLst>
              <a:ext uri="{FF2B5EF4-FFF2-40B4-BE49-F238E27FC236}">
                <a16:creationId xmlns:a16="http://schemas.microsoft.com/office/drawing/2014/main" xmlns="" id="{2175E2EE-9101-45EC-8704-1FB42CE444D8}"/>
              </a:ext>
            </a:extLst>
          </p:cNvPr>
          <p:cNvSpPr/>
          <p:nvPr/>
        </p:nvSpPr>
        <p:spPr>
          <a:xfrm>
            <a:off x="564362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Referencias</a:t>
            </a:r>
            <a:endParaRPr lang="es-CO" sz="2200" b="1" i="1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44F6A84A-8AC6-44B0-8366-5283F1CF064C}"/>
              </a:ext>
            </a:extLst>
          </p:cNvPr>
          <p:cNvSpPr/>
          <p:nvPr/>
        </p:nvSpPr>
        <p:spPr>
          <a:xfrm>
            <a:off x="811668" y="2359383"/>
            <a:ext cx="10299677" cy="2308324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s-CO" dirty="0">
                <a:hlinkClick r:id="rId2"/>
              </a:rPr>
              <a:t>https://machinelearningmastery.com/a-tour-of-machine-learning-algorithms</a:t>
            </a:r>
            <a:r>
              <a:rPr lang="es-CO" dirty="0" smtClean="0">
                <a:hlinkClick r:id="rId2"/>
              </a:rPr>
              <a:t>/</a:t>
            </a:r>
            <a:endParaRPr lang="es-CO" dirty="0" smtClean="0"/>
          </a:p>
          <a:p>
            <a:r>
              <a:rPr lang="es-CO" dirty="0">
                <a:hlinkClick r:id="rId3"/>
              </a:rPr>
              <a:t>https://machinelearningmastery.com/classification-versus-regression-in-machine-learning/</a:t>
            </a:r>
            <a:endParaRPr lang="es-CO" dirty="0" smtClean="0"/>
          </a:p>
          <a:p>
            <a:endParaRPr lang="en-US" dirty="0" smtClean="0"/>
          </a:p>
          <a:p>
            <a:r>
              <a:rPr lang="en-US" dirty="0" smtClean="0"/>
              <a:t>Machine Learning Tom </a:t>
            </a:r>
            <a:r>
              <a:rPr lang="en-US" dirty="0"/>
              <a:t>M. </a:t>
            </a:r>
            <a:r>
              <a:rPr lang="en-US" dirty="0" smtClean="0"/>
              <a:t>Mitchell, McGraw-Hill Science/Engineering/Math </a:t>
            </a:r>
            <a:r>
              <a:rPr lang="en-US" dirty="0"/>
              <a:t>(</a:t>
            </a:r>
            <a:r>
              <a:rPr lang="en-US" dirty="0" smtClean="0"/>
              <a:t>1997).</a:t>
            </a:r>
          </a:p>
          <a:p>
            <a:endParaRPr lang="en-US" dirty="0"/>
          </a:p>
          <a:p>
            <a:r>
              <a:rPr lang="en-US" dirty="0"/>
              <a:t>Understanding Machine Learning: From Theory to </a:t>
            </a:r>
            <a:r>
              <a:rPr lang="en-US" dirty="0" smtClean="0"/>
              <a:t>Algorithms, </a:t>
            </a:r>
            <a:r>
              <a:rPr lang="en-US" dirty="0" err="1" smtClean="0"/>
              <a:t>Shai</a:t>
            </a:r>
            <a:r>
              <a:rPr lang="en-US" dirty="0" smtClean="0"/>
              <a:t> </a:t>
            </a:r>
            <a:r>
              <a:rPr lang="en-US" dirty="0" err="1"/>
              <a:t>Shalev-Shwartz</a:t>
            </a:r>
            <a:r>
              <a:rPr lang="en-US" dirty="0"/>
              <a:t> and </a:t>
            </a:r>
            <a:r>
              <a:rPr lang="en-US" dirty="0" err="1"/>
              <a:t>Shai</a:t>
            </a:r>
            <a:r>
              <a:rPr lang="en-US" dirty="0"/>
              <a:t> </a:t>
            </a:r>
            <a:r>
              <a:rPr lang="en-US" dirty="0" smtClean="0"/>
              <a:t>Ben-David. Cambridge </a:t>
            </a:r>
            <a:r>
              <a:rPr lang="en-US" dirty="0"/>
              <a:t>University Press</a:t>
            </a:r>
            <a:r>
              <a:rPr lang="en-US" dirty="0" smtClean="0"/>
              <a:t>. 2014.</a:t>
            </a:r>
            <a:endParaRPr lang="es-CO" dirty="0" smtClean="0"/>
          </a:p>
          <a:p>
            <a:endParaRPr lang="es-CO" i="1" dirty="0"/>
          </a:p>
        </p:txBody>
      </p:sp>
    </p:spTree>
    <p:extLst>
      <p:ext uri="{BB962C8B-B14F-4D97-AF65-F5344CB8AC3E}">
        <p14:creationId xmlns:p14="http://schemas.microsoft.com/office/powerpoint/2010/main" val="699337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11">
            <a:extLst>
              <a:ext uri="{FF2B5EF4-FFF2-40B4-BE49-F238E27FC236}">
                <a16:creationId xmlns:a16="http://schemas.microsoft.com/office/drawing/2014/main" xmlns="" id="{2175E2EE-9101-45EC-8704-1FB42CE444D8}"/>
              </a:ext>
            </a:extLst>
          </p:cNvPr>
          <p:cNvSpPr/>
          <p:nvPr/>
        </p:nvSpPr>
        <p:spPr>
          <a:xfrm>
            <a:off x="564362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smtClean="0"/>
              <a:t>Referencias</a:t>
            </a:r>
            <a:endParaRPr lang="es-CO" sz="2200" b="1" i="1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44F6A84A-8AC6-44B0-8366-5283F1CF064C}"/>
              </a:ext>
            </a:extLst>
          </p:cNvPr>
          <p:cNvSpPr/>
          <p:nvPr/>
        </p:nvSpPr>
        <p:spPr>
          <a:xfrm>
            <a:off x="811668" y="2359383"/>
            <a:ext cx="10299677" cy="2862322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s-CO" dirty="0" smtClean="0">
                <a:hlinkClick r:id="rId2"/>
              </a:rPr>
              <a:t>https</a:t>
            </a:r>
            <a:r>
              <a:rPr lang="es-CO" dirty="0">
                <a:hlinkClick r:id="rId2"/>
              </a:rPr>
              <a:t>://machinelearningmastery.com/classification-and-regression-trees-for-machine-learning</a:t>
            </a:r>
            <a:r>
              <a:rPr lang="es-CO" dirty="0" smtClean="0">
                <a:hlinkClick r:id="rId2"/>
              </a:rPr>
              <a:t>/</a:t>
            </a:r>
            <a:endParaRPr lang="es-CO" dirty="0" smtClean="0"/>
          </a:p>
          <a:p>
            <a:r>
              <a:rPr lang="es-CO" dirty="0">
                <a:hlinkClick r:id="rId3"/>
              </a:rPr>
              <a:t>https://machinelearningmastery.com/naive-bayes-for-machine-learning</a:t>
            </a:r>
            <a:r>
              <a:rPr lang="es-CO" dirty="0" smtClean="0">
                <a:hlinkClick r:id="rId3"/>
              </a:rPr>
              <a:t>/</a:t>
            </a:r>
            <a:endParaRPr lang="es-CO" dirty="0" smtClean="0"/>
          </a:p>
          <a:p>
            <a:r>
              <a:rPr lang="es-CO" dirty="0">
                <a:hlinkClick r:id="rId4"/>
              </a:rPr>
              <a:t>https://machinelearningmastery.com/k-nearest-neighbors-for-machine-learning</a:t>
            </a:r>
            <a:r>
              <a:rPr lang="es-CO" dirty="0" smtClean="0">
                <a:hlinkClick r:id="rId4"/>
              </a:rPr>
              <a:t>/</a:t>
            </a:r>
            <a:endParaRPr lang="es-CO" dirty="0" smtClean="0"/>
          </a:p>
          <a:p>
            <a:r>
              <a:rPr lang="es-CO" dirty="0">
                <a:hlinkClick r:id="rId5"/>
              </a:rPr>
              <a:t>https://machinelearningmastery.com/support-vector-machines-for-machine-learning</a:t>
            </a:r>
            <a:r>
              <a:rPr lang="es-CO" dirty="0" smtClean="0">
                <a:hlinkClick r:id="rId5"/>
              </a:rPr>
              <a:t>/</a:t>
            </a:r>
            <a:endParaRPr lang="es-CO" dirty="0" smtClean="0"/>
          </a:p>
          <a:p>
            <a:r>
              <a:rPr lang="es-CO" dirty="0">
                <a:hlinkClick r:id="rId6"/>
              </a:rPr>
              <a:t>https://machinelearningmastery.com/logistic-regression-for-machine-learning</a:t>
            </a:r>
            <a:r>
              <a:rPr lang="es-CO" dirty="0" smtClean="0">
                <a:hlinkClick r:id="rId6"/>
              </a:rPr>
              <a:t>/</a:t>
            </a:r>
            <a:endParaRPr lang="es-CO" dirty="0" smtClean="0"/>
          </a:p>
          <a:p>
            <a:r>
              <a:rPr lang="es-CO" dirty="0">
                <a:hlinkClick r:id="rId7"/>
              </a:rPr>
              <a:t>https://machinelearningmastery.com/linear-regression-for-machine-learning</a:t>
            </a:r>
            <a:r>
              <a:rPr lang="es-CO" dirty="0" smtClean="0">
                <a:hlinkClick r:id="rId7"/>
              </a:rPr>
              <a:t>/</a:t>
            </a:r>
            <a:endParaRPr lang="es-CO" dirty="0" smtClean="0"/>
          </a:p>
          <a:p>
            <a:r>
              <a:rPr lang="es-CO" dirty="0">
                <a:hlinkClick r:id="rId8"/>
              </a:rPr>
              <a:t>https://</a:t>
            </a:r>
            <a:r>
              <a:rPr lang="es-CO" dirty="0" smtClean="0">
                <a:hlinkClick r:id="rId8"/>
              </a:rPr>
              <a:t>www.datascience.com/blog/k-means-clustering</a:t>
            </a:r>
            <a:endParaRPr lang="es-CO" dirty="0" smtClean="0"/>
          </a:p>
          <a:p>
            <a:r>
              <a:rPr lang="es-CO" dirty="0">
                <a:hlinkClick r:id="rId9"/>
              </a:rPr>
              <a:t>https://www.geeksforgeeks.org/dimensionality-reduction</a:t>
            </a:r>
            <a:r>
              <a:rPr lang="es-CO" dirty="0" smtClean="0">
                <a:hlinkClick r:id="rId9"/>
              </a:rPr>
              <a:t>/</a:t>
            </a:r>
            <a:endParaRPr lang="es-CO" dirty="0" smtClean="0"/>
          </a:p>
          <a:p>
            <a:r>
              <a:rPr lang="es-CO" dirty="0">
                <a:hlinkClick r:id="rId10"/>
              </a:rPr>
              <a:t>https://machinelearningmastery.com/what-is-deep-learning</a:t>
            </a:r>
            <a:r>
              <a:rPr lang="es-CO" dirty="0" smtClean="0">
                <a:hlinkClick r:id="rId10"/>
              </a:rPr>
              <a:t>/</a:t>
            </a:r>
            <a:endParaRPr lang="es-CO" dirty="0" smtClean="0"/>
          </a:p>
          <a:p>
            <a:r>
              <a:rPr lang="es-CO" dirty="0">
                <a:hlinkClick r:id="rId11"/>
              </a:rPr>
              <a:t>https://</a:t>
            </a:r>
            <a:r>
              <a:rPr lang="es-CO" dirty="0" smtClean="0">
                <a:hlinkClick r:id="rId11"/>
              </a:rPr>
              <a:t>skymind.ai/wiki/neural-network</a:t>
            </a:r>
            <a:endParaRPr lang="es-CO" dirty="0" smtClean="0"/>
          </a:p>
        </p:txBody>
      </p:sp>
    </p:spTree>
    <p:extLst>
      <p:ext uri="{BB962C8B-B14F-4D97-AF65-F5344CB8AC3E}">
        <p14:creationId xmlns:p14="http://schemas.microsoft.com/office/powerpoint/2010/main" val="263332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1888</TotalTime>
  <Words>1493</Words>
  <Application>Microsoft Office PowerPoint</Application>
  <PresentationFormat>Panorámica</PresentationFormat>
  <Paragraphs>233</Paragraphs>
  <Slides>39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5" baseType="lpstr">
      <vt:lpstr>Arial</vt:lpstr>
      <vt:lpstr>Calibri</vt:lpstr>
      <vt:lpstr>Calibri Light</vt:lpstr>
      <vt:lpstr>Roboto</vt:lpstr>
      <vt:lpstr>Tema de Office</vt:lpstr>
      <vt:lpstr>Equation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Andres Rodriguez Andrade</dc:creator>
  <cp:lastModifiedBy>Carlos Alejandro Trujillo Anaya</cp:lastModifiedBy>
  <cp:revision>394</cp:revision>
  <dcterms:created xsi:type="dcterms:W3CDTF">2017-07-31T19:21:32Z</dcterms:created>
  <dcterms:modified xsi:type="dcterms:W3CDTF">2019-05-10T20:50:58Z</dcterms:modified>
</cp:coreProperties>
</file>
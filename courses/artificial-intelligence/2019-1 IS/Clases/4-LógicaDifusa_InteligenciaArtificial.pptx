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75" r:id="rId2"/>
    <p:sldId id="276" r:id="rId3"/>
    <p:sldId id="290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7" r:id="rId12"/>
    <p:sldId id="284" r:id="rId13"/>
    <p:sldId id="285" r:id="rId14"/>
    <p:sldId id="286" r:id="rId15"/>
    <p:sldId id="289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10" autoAdjust="0"/>
  </p:normalViewPr>
  <p:slideViewPr>
    <p:cSldViewPr snapToGrid="0">
      <p:cViewPr varScale="1">
        <p:scale>
          <a:sx n="103" d="100"/>
          <a:sy n="103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11/03/2019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11/03/2019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11/03/2019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11/03/2019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11/03/2019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11/03/2019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11/03/2019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11/03/2019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11/03/2019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11/03/2019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11/03/2019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5" y="1928733"/>
            <a:ext cx="107897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dirty="0" smtClean="0"/>
              <a:t>Lógica Difusa</a:t>
            </a:r>
            <a:endParaRPr lang="es-CO" sz="3600" dirty="0"/>
          </a:p>
          <a:p>
            <a:r>
              <a:rPr lang="es-CO" sz="2400" dirty="0"/>
              <a:t>Marzo </a:t>
            </a:r>
            <a:r>
              <a:rPr lang="es-CO" sz="2400" dirty="0" smtClean="0"/>
              <a:t>11 </a:t>
            </a:r>
            <a:r>
              <a:rPr lang="es-CO" sz="2400" dirty="0"/>
              <a:t>de </a:t>
            </a:r>
            <a:r>
              <a:rPr lang="es-CO" sz="2400" dirty="0" smtClean="0"/>
              <a:t>2019</a:t>
            </a:r>
            <a:endParaRPr lang="es-CO" sz="2400" dirty="0"/>
          </a:p>
          <a:p>
            <a:r>
              <a:rPr lang="es-CO" sz="2400" dirty="0"/>
              <a:t> </a:t>
            </a:r>
          </a:p>
          <a:p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422400" y="3265438"/>
            <a:ext cx="10287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dirty="0" smtClean="0"/>
              <a:t>Introducción a los sistemas de lógica difusa</a:t>
            </a:r>
            <a:endParaRPr lang="es-CO" sz="2400" dirty="0"/>
          </a:p>
          <a:p>
            <a:r>
              <a:rPr lang="es-CO" sz="2400" dirty="0" smtClean="0"/>
              <a:t>Variables lingüísticas</a:t>
            </a:r>
          </a:p>
          <a:p>
            <a:r>
              <a:rPr lang="es-CO" sz="2400" dirty="0" smtClean="0"/>
              <a:t>Funciones de pertenencia</a:t>
            </a:r>
          </a:p>
          <a:p>
            <a:r>
              <a:rPr lang="es-CO" sz="2400" dirty="0" smtClean="0"/>
              <a:t>Reglas borrosas</a:t>
            </a:r>
          </a:p>
          <a:p>
            <a:r>
              <a:rPr lang="es-CO" sz="2400" dirty="0" smtClean="0"/>
              <a:t>Operaciones del conjunto borroso</a:t>
            </a:r>
          </a:p>
          <a:p>
            <a:r>
              <a:rPr lang="es-CO" sz="2400" dirty="0" err="1" smtClean="0"/>
              <a:t>Desfuzificación</a:t>
            </a:r>
            <a:endParaRPr lang="es-CO" sz="2400" dirty="0"/>
          </a:p>
        </p:txBody>
      </p:sp>
      <p:sp>
        <p:nvSpPr>
          <p:cNvPr id="4" name="Rectángulo 3"/>
          <p:cNvSpPr/>
          <p:nvPr/>
        </p:nvSpPr>
        <p:spPr>
          <a:xfrm>
            <a:off x="2500468" y="6035656"/>
            <a:ext cx="1028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Docente: Carlos Alejandro Trujillo Anaya – </a:t>
            </a:r>
            <a:r>
              <a:rPr lang="es-CO" b="1" dirty="0"/>
              <a:t>carlostrujillo@itm.edu.co</a:t>
            </a:r>
            <a:endParaRPr lang="es-C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7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334983" y="1447571"/>
            <a:ext cx="47869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Sistemas de lógica difusa - </a:t>
            </a:r>
            <a:r>
              <a:rPr lang="es-CO" sz="2200" b="1" dirty="0"/>
              <a:t>Introducción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280109" y="3018323"/>
            <a:ext cx="29952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/>
              <a:t>Un sistema de lógica difusa (FLS) se puede definir como la asignación no lineal de un conjunto de datos de entrada a un dato de salida escalar.</a:t>
            </a:r>
            <a:endParaRPr lang="es-CO" dirty="0"/>
          </a:p>
        </p:txBody>
      </p:sp>
      <p:pic>
        <p:nvPicPr>
          <p:cNvPr id="1026" name="Picture 2" descr="Resultado de imagen para logica difus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102" y="244754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logica difus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021" y="2447547"/>
            <a:ext cx="3814294" cy="219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1816531" y="5796659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http://cs.bilkent.edu.tr/~zeynep/files/short_fuzzy_logic_tutorial.pdf</a:t>
            </a:r>
          </a:p>
        </p:txBody>
      </p:sp>
      <p:sp>
        <p:nvSpPr>
          <p:cNvPr id="3" name="Rectángulo 2"/>
          <p:cNvSpPr/>
          <p:nvPr/>
        </p:nvSpPr>
        <p:spPr>
          <a:xfrm>
            <a:off x="862094" y="5096476"/>
            <a:ext cx="737616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i="1" dirty="0"/>
              <a:t>Fue formulada en 1965 por el ingeniero y matemático </a:t>
            </a:r>
            <a:r>
              <a:rPr lang="es-CO" i="1" dirty="0" err="1"/>
              <a:t>Lotfi</a:t>
            </a:r>
            <a:r>
              <a:rPr lang="es-CO" i="1" dirty="0"/>
              <a:t> A. </a:t>
            </a:r>
            <a:r>
              <a:rPr lang="es-CO" i="1" dirty="0" err="1"/>
              <a:t>Zadeh</a:t>
            </a:r>
            <a:r>
              <a:rPr lang="es-CO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878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369" y="2810868"/>
            <a:ext cx="4022386" cy="2233069"/>
          </a:xfr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323" y="2650874"/>
            <a:ext cx="4686954" cy="2553056"/>
          </a:xfrm>
          <a:prstGeom prst="rect">
            <a:avLst/>
          </a:prstGeom>
        </p:spPr>
      </p:pic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334983" y="1447571"/>
            <a:ext cx="47869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Sistemas de lógica difusa - </a:t>
            </a:r>
            <a:r>
              <a:rPr lang="es-CO" sz="2200" b="1" dirty="0"/>
              <a:t>Introducción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2126655" y="5043937"/>
            <a:ext cx="29952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Conjunto binario</a:t>
            </a:r>
            <a:endParaRPr lang="es-CO" dirty="0"/>
          </a:p>
        </p:txBody>
      </p:sp>
      <p:sp>
        <p:nvSpPr>
          <p:cNvPr id="8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7405236" y="5203930"/>
            <a:ext cx="29952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dirty="0" smtClean="0"/>
              <a:t>Conjunto difuso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6109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334983" y="1447571"/>
            <a:ext cx="47869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Sistemas de lógica difusa - </a:t>
            </a:r>
            <a:r>
              <a:rPr lang="es-CO" sz="2200" b="1" dirty="0"/>
              <a:t>Introducción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62094" y="2287137"/>
            <a:ext cx="894692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Aplicaciones</a:t>
            </a:r>
          </a:p>
          <a:p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 smtClean="0"/>
              <a:t>Sistemas </a:t>
            </a:r>
            <a:r>
              <a:rPr lang="es-CO" dirty="0"/>
              <a:t>de control de acondicionadores de </a:t>
            </a:r>
            <a:r>
              <a:rPr lang="es-CO" dirty="0" smtClean="0"/>
              <a:t>aire.</a:t>
            </a:r>
          </a:p>
          <a:p>
            <a:pPr marL="285750" indent="-285750">
              <a:buFontTx/>
              <a:buChar char="-"/>
            </a:pPr>
            <a:r>
              <a:rPr lang="es-CO" dirty="0" smtClean="0"/>
              <a:t>Sistemas </a:t>
            </a:r>
            <a:r>
              <a:rPr lang="es-CO" dirty="0"/>
              <a:t>de foco automático en cámaras </a:t>
            </a:r>
            <a:r>
              <a:rPr lang="es-CO" dirty="0" smtClean="0"/>
              <a:t>fotográficas.</a:t>
            </a:r>
          </a:p>
          <a:p>
            <a:pPr marL="285750" indent="-285750">
              <a:buFontTx/>
              <a:buChar char="-"/>
            </a:pPr>
            <a:r>
              <a:rPr lang="es-CO" dirty="0" smtClean="0"/>
              <a:t>Electrodomésticos </a:t>
            </a:r>
            <a:r>
              <a:rPr lang="es-CO" dirty="0"/>
              <a:t>familiares (frigoríficos, lavadoras</a:t>
            </a:r>
            <a:r>
              <a:rPr lang="es-CO" dirty="0" smtClean="0"/>
              <a:t>...).</a:t>
            </a:r>
          </a:p>
          <a:p>
            <a:pPr marL="285750" indent="-285750">
              <a:buFontTx/>
              <a:buChar char="-"/>
            </a:pPr>
            <a:r>
              <a:rPr lang="es-CO" dirty="0" smtClean="0"/>
              <a:t>Optimización </a:t>
            </a:r>
            <a:r>
              <a:rPr lang="es-CO" dirty="0"/>
              <a:t>de sistemas de control </a:t>
            </a:r>
            <a:r>
              <a:rPr lang="es-CO" dirty="0" smtClean="0"/>
              <a:t>industriales.</a:t>
            </a:r>
          </a:p>
          <a:p>
            <a:pPr marL="285750" indent="-285750">
              <a:buFontTx/>
              <a:buChar char="-"/>
            </a:pPr>
            <a:r>
              <a:rPr lang="es-CO" dirty="0" smtClean="0"/>
              <a:t>Sistemas </a:t>
            </a:r>
            <a:r>
              <a:rPr lang="es-CO" dirty="0"/>
              <a:t>de </a:t>
            </a:r>
            <a:r>
              <a:rPr lang="es-CO" dirty="0" smtClean="0"/>
              <a:t>escritura.</a:t>
            </a:r>
          </a:p>
          <a:p>
            <a:pPr marL="285750" indent="-285750">
              <a:buFontTx/>
              <a:buChar char="-"/>
            </a:pPr>
            <a:r>
              <a:rPr lang="es-CO" dirty="0" smtClean="0"/>
              <a:t>Mejora </a:t>
            </a:r>
            <a:r>
              <a:rPr lang="es-CO" dirty="0"/>
              <a:t>en la eficiencia del uso de combustible en </a:t>
            </a:r>
            <a:r>
              <a:rPr lang="es-CO" dirty="0" smtClean="0"/>
              <a:t>motores.</a:t>
            </a:r>
          </a:p>
          <a:p>
            <a:pPr marL="285750" indent="-285750">
              <a:buFontTx/>
              <a:buChar char="-"/>
            </a:pPr>
            <a:r>
              <a:rPr lang="es-CO" dirty="0" smtClean="0"/>
              <a:t>Sistemas </a:t>
            </a:r>
            <a:r>
              <a:rPr lang="es-CO" dirty="0"/>
              <a:t>expertos del conocimiento (simular el comportamiento de un experto humano</a:t>
            </a:r>
            <a:r>
              <a:rPr lang="es-CO" dirty="0" smtClean="0"/>
              <a:t>).</a:t>
            </a:r>
          </a:p>
          <a:p>
            <a:pPr marL="285750" indent="-285750">
              <a:buFontTx/>
              <a:buChar char="-"/>
            </a:pPr>
            <a:r>
              <a:rPr lang="es-CO" dirty="0" smtClean="0"/>
              <a:t>Tecnología informática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5169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334983" y="1447571"/>
            <a:ext cx="47869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Sistemas de lógica difusa - </a:t>
            </a:r>
            <a:r>
              <a:rPr lang="es-CO" sz="2200" b="1" dirty="0"/>
              <a:t>Introducción</a:t>
            </a:r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62094" y="2287137"/>
            <a:ext cx="89469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Estructura</a:t>
            </a:r>
          </a:p>
          <a:p>
            <a:endParaRPr lang="es-CO" dirty="0"/>
          </a:p>
          <a:p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14" y="2849706"/>
            <a:ext cx="7455477" cy="271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968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334983" y="1447571"/>
            <a:ext cx="47869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Sistemas de lógica difusa - </a:t>
            </a:r>
            <a:r>
              <a:rPr lang="es-CO" sz="2200" b="1" dirty="0"/>
              <a:t>Introducción</a:t>
            </a:r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62094" y="2287137"/>
            <a:ext cx="89469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Implementación</a:t>
            </a:r>
          </a:p>
          <a:p>
            <a:endParaRPr lang="es-CO" dirty="0"/>
          </a:p>
          <a:p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48" y="2748802"/>
            <a:ext cx="802005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9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62094" y="1502990"/>
            <a:ext cx="30906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Sistemas de lógica difusa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62094" y="2287137"/>
            <a:ext cx="89469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 smtClean="0"/>
              <a:t>Ejemplo: Acondicionamiento de temperatura</a:t>
            </a:r>
          </a:p>
          <a:p>
            <a:endParaRPr lang="es-CO" dirty="0"/>
          </a:p>
          <a:p>
            <a:endParaRPr lang="es-CO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973" y="3210467"/>
            <a:ext cx="6565165" cy="151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10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1102998" y="1502990"/>
            <a:ext cx="260885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Variables lingüísticas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1277730" y="2407210"/>
            <a:ext cx="89469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Las variables lingüísticas son las variables de entrada o salida del sistema cuyos valores son palabras u oraciones de un lenguaje natural, en lugar de valores numéricos. </a:t>
            </a:r>
            <a:endParaRPr lang="es-CO" dirty="0" smtClean="0"/>
          </a:p>
          <a:p>
            <a:endParaRPr lang="es-CO" dirty="0"/>
          </a:p>
          <a:p>
            <a:r>
              <a:rPr lang="es-CO" dirty="0" smtClean="0"/>
              <a:t>Una </a:t>
            </a:r>
            <a:r>
              <a:rPr lang="es-CO" dirty="0"/>
              <a:t>variable lingüística generalmente se descompone en un conjunto de términos lingüísticos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r>
              <a:rPr lang="es-CO" b="1" i="1" dirty="0" smtClean="0"/>
              <a:t>Ejemplo:</a:t>
            </a:r>
          </a:p>
          <a:p>
            <a:endParaRPr lang="es-CO" dirty="0"/>
          </a:p>
          <a:p>
            <a:r>
              <a:rPr lang="es-CO" dirty="0" smtClean="0"/>
              <a:t>Temperatura</a:t>
            </a:r>
          </a:p>
          <a:p>
            <a:endParaRPr lang="es-CO" dirty="0"/>
          </a:p>
          <a:p>
            <a:r>
              <a:rPr lang="es-CO" dirty="0" smtClean="0"/>
              <a:t>Muy caliente, caliente, cálida, fría y muy fría.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85761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14817" y="1502990"/>
            <a:ext cx="318523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Funciones de pertenencia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1277730" y="2407210"/>
            <a:ext cx="89469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Las funciones de membresía se utilizan en los pasos de </a:t>
            </a:r>
            <a:r>
              <a:rPr lang="es-CO" dirty="0" err="1" smtClean="0"/>
              <a:t>fuzificación</a:t>
            </a:r>
            <a:r>
              <a:rPr lang="es-CO" dirty="0" smtClean="0"/>
              <a:t> y </a:t>
            </a:r>
            <a:r>
              <a:rPr lang="es-CO" dirty="0" err="1" smtClean="0"/>
              <a:t>defuzificación</a:t>
            </a:r>
            <a:r>
              <a:rPr lang="es-CO" dirty="0" smtClean="0"/>
              <a:t> de </a:t>
            </a:r>
            <a:r>
              <a:rPr lang="es-CO" dirty="0"/>
              <a:t>un FLS, para asignar los valores de entrada no difusos a los términos lingüísticos difusos y viceversa. </a:t>
            </a:r>
            <a:endParaRPr lang="es-CO" dirty="0" smtClean="0"/>
          </a:p>
          <a:p>
            <a:endParaRPr lang="es-CO" dirty="0"/>
          </a:p>
          <a:p>
            <a:r>
              <a:rPr lang="es-CO" dirty="0" smtClean="0"/>
              <a:t>Una </a:t>
            </a:r>
            <a:r>
              <a:rPr lang="es-CO" dirty="0"/>
              <a:t>función de membresía se utiliza para cuantificar un término lingüístico.</a:t>
            </a:r>
            <a:endParaRPr lang="es-CO" dirty="0"/>
          </a:p>
          <a:p>
            <a:endParaRPr lang="es-CO" b="1" i="1" dirty="0" smtClean="0"/>
          </a:p>
          <a:p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556" y="3857337"/>
            <a:ext cx="4320886" cy="259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08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14817" y="1502990"/>
            <a:ext cx="318523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Funciones de pertenencia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1277730" y="2407210"/>
            <a:ext cx="89469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Las más utilizadas:</a:t>
            </a:r>
            <a:endParaRPr lang="es-CO" dirty="0"/>
          </a:p>
          <a:p>
            <a:endParaRPr lang="es-CO" b="1" i="1" dirty="0" smtClean="0"/>
          </a:p>
          <a:p>
            <a:endParaRPr lang="es-CO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662" y="3160362"/>
            <a:ext cx="7637695" cy="279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0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814817" y="1502990"/>
            <a:ext cx="318523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Funciones de pertenencia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1277730" y="2407210"/>
            <a:ext cx="89469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Matemáticamente</a:t>
            </a:r>
            <a:endParaRPr lang="es-CO" dirty="0"/>
          </a:p>
          <a:p>
            <a:endParaRPr lang="es-CO" b="1" i="1" dirty="0" smtClean="0"/>
          </a:p>
          <a:p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59" y="3030173"/>
            <a:ext cx="8535591" cy="314368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978" y="382500"/>
            <a:ext cx="5628409" cy="2407227"/>
          </a:xfrm>
          <a:prstGeom prst="rect">
            <a:avLst/>
          </a:prstGeom>
        </p:spPr>
      </p:pic>
      <p:sp>
        <p:nvSpPr>
          <p:cNvPr id="9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5751192" y="710734"/>
            <a:ext cx="89469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 smtClean="0"/>
              <a:t>Gaussiana</a:t>
            </a:r>
            <a:endParaRPr lang="es-CO" b="1" dirty="0"/>
          </a:p>
          <a:p>
            <a:endParaRPr lang="es-CO" b="1" i="1" dirty="0" smtClean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4371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1398761" y="1502990"/>
            <a:ext cx="201734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Reglas borrosas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1231547" y="2287137"/>
            <a:ext cx="97227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En un FLS, se construye una base de reglas para controlar la variable de salida. </a:t>
            </a:r>
            <a:endParaRPr lang="es-CO" dirty="0" smtClean="0"/>
          </a:p>
          <a:p>
            <a:endParaRPr lang="es-CO" dirty="0"/>
          </a:p>
          <a:p>
            <a:r>
              <a:rPr lang="es-CO" dirty="0" smtClean="0"/>
              <a:t>Una </a:t>
            </a:r>
            <a:r>
              <a:rPr lang="es-CO" dirty="0"/>
              <a:t>regla difusa es una regla simple IF-THEN con una condición y una conclusión.</a:t>
            </a:r>
            <a:endParaRPr lang="es-CO" b="1" i="1" dirty="0" smtClean="0"/>
          </a:p>
          <a:p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737" y="3404755"/>
            <a:ext cx="8269432" cy="1212273"/>
          </a:xfrm>
          <a:prstGeom prst="rect">
            <a:avLst/>
          </a:prstGeom>
        </p:spPr>
      </p:pic>
      <p:sp>
        <p:nvSpPr>
          <p:cNvPr id="8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3000310" y="4480774"/>
            <a:ext cx="97227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b="1" i="1" dirty="0" smtClean="0">
                <a:solidFill>
                  <a:srgbClr val="FF0000"/>
                </a:solidFill>
              </a:rPr>
              <a:t>Qué otras más?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936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981476" y="1493753"/>
            <a:ext cx="201734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Reglas borrosas</a:t>
            </a:r>
            <a:endParaRPr lang="es-CO" sz="2200" b="1" dirty="0"/>
          </a:p>
        </p:txBody>
      </p:sp>
      <p:sp>
        <p:nvSpPr>
          <p:cNvPr id="6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1231547" y="2287137"/>
            <a:ext cx="97227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Con las reglas difusas, se conforma la matriz difusa</a:t>
            </a:r>
            <a:endParaRPr lang="es-CO" b="1" i="1" dirty="0" smtClean="0"/>
          </a:p>
          <a:p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0" y="3018689"/>
            <a:ext cx="6512209" cy="120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96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69268" y="1567644"/>
            <a:ext cx="41597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Operaciones del conjunto borroso</a:t>
            </a:r>
          </a:p>
        </p:txBody>
      </p:sp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1231547" y="2287137"/>
            <a:ext cx="97227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Las evaluaciones de las reglas difusas y la combinación de los resultados de las reglas individuales se realizan mediante operaciones de conjuntos difusos.</a:t>
            </a:r>
          </a:p>
          <a:p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875" y="3299735"/>
            <a:ext cx="5069505" cy="850165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231547" y="4528236"/>
            <a:ext cx="75707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Sean µ</a:t>
            </a:r>
            <a:r>
              <a:rPr lang="es-CO" baseline="-25000" dirty="0"/>
              <a:t>A</a:t>
            </a:r>
            <a:r>
              <a:rPr lang="es-CO" dirty="0"/>
              <a:t> y µ</a:t>
            </a:r>
            <a:r>
              <a:rPr lang="es-CO" baseline="-25000" dirty="0"/>
              <a:t>B</a:t>
            </a:r>
            <a:r>
              <a:rPr lang="es-CO" dirty="0"/>
              <a:t> las funciones de pertenencia para los conjuntos </a:t>
            </a:r>
            <a:r>
              <a:rPr lang="es-CO" dirty="0" smtClean="0"/>
              <a:t>difusos </a:t>
            </a:r>
            <a:r>
              <a:rPr lang="es-CO" dirty="0"/>
              <a:t>A y B.</a:t>
            </a:r>
          </a:p>
        </p:txBody>
      </p:sp>
    </p:spTree>
    <p:extLst>
      <p:ext uri="{BB962C8B-B14F-4D97-AF65-F5344CB8AC3E}">
        <p14:creationId xmlns:p14="http://schemas.microsoft.com/office/powerpoint/2010/main" val="203319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11">
            <a:extLst>
              <a:ext uri="{FF2B5EF4-FFF2-40B4-BE49-F238E27FC236}">
                <a16:creationId xmlns=""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778846" y="1667082"/>
            <a:ext cx="194232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err="1" smtClean="0"/>
              <a:t>Desfuzificación</a:t>
            </a:r>
            <a:endParaRPr lang="es-CO" sz="2200" b="1" dirty="0"/>
          </a:p>
        </p:txBody>
      </p:sp>
      <p:sp>
        <p:nvSpPr>
          <p:cNvPr id="5" name="Rectángulo 11">
            <a:extLst>
              <a:ext uri="{FF2B5EF4-FFF2-40B4-BE49-F238E27FC236}">
                <a16:creationId xmlns=""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1231547" y="2287137"/>
            <a:ext cx="972277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Después del paso de inferencia, el resultado general es un valor difuso. </a:t>
            </a:r>
            <a:endParaRPr lang="es-CO" dirty="0" smtClean="0"/>
          </a:p>
          <a:p>
            <a:endParaRPr lang="es-CO" dirty="0"/>
          </a:p>
          <a:p>
            <a:r>
              <a:rPr lang="es-CO" dirty="0" smtClean="0"/>
              <a:t>Este </a:t>
            </a:r>
            <a:r>
              <a:rPr lang="es-CO" dirty="0"/>
              <a:t>resultado debe ser </a:t>
            </a:r>
            <a:r>
              <a:rPr lang="es-CO" dirty="0" err="1" smtClean="0"/>
              <a:t>DEsFUZIFICADO</a:t>
            </a:r>
            <a:r>
              <a:rPr lang="es-CO" dirty="0" smtClean="0"/>
              <a:t> para </a:t>
            </a:r>
            <a:r>
              <a:rPr lang="es-CO" dirty="0"/>
              <a:t>obtener una salida final </a:t>
            </a:r>
            <a:r>
              <a:rPr lang="es-CO" b="1" i="1" dirty="0" smtClean="0"/>
              <a:t>NO DIFUSA</a:t>
            </a:r>
            <a:r>
              <a:rPr lang="es-CO" dirty="0" smtClean="0"/>
              <a:t>. </a:t>
            </a:r>
          </a:p>
          <a:p>
            <a:endParaRPr lang="es-CO" dirty="0"/>
          </a:p>
          <a:p>
            <a:r>
              <a:rPr lang="es-CO" dirty="0" smtClean="0"/>
              <a:t>Este </a:t>
            </a:r>
            <a:r>
              <a:rPr lang="es-CO" dirty="0"/>
              <a:t>es el propósito del componente </a:t>
            </a:r>
            <a:r>
              <a:rPr lang="es-CO" b="1" i="1" dirty="0" err="1" smtClean="0"/>
              <a:t>DEsFUZIFICADOR</a:t>
            </a:r>
            <a:r>
              <a:rPr lang="es-CO" dirty="0" smtClean="0"/>
              <a:t> de </a:t>
            </a:r>
            <a:r>
              <a:rPr lang="es-CO" dirty="0"/>
              <a:t>un FLS. </a:t>
            </a:r>
            <a:endParaRPr lang="es-CO" dirty="0" smtClean="0"/>
          </a:p>
          <a:p>
            <a:endParaRPr lang="es-CO" dirty="0"/>
          </a:p>
          <a:p>
            <a:r>
              <a:rPr lang="es-CO" dirty="0" smtClean="0"/>
              <a:t>La </a:t>
            </a:r>
            <a:r>
              <a:rPr lang="es-CO" dirty="0" err="1" smtClean="0"/>
              <a:t>desfuzificación</a:t>
            </a:r>
            <a:r>
              <a:rPr lang="es-CO" dirty="0" smtClean="0"/>
              <a:t> se </a:t>
            </a:r>
            <a:r>
              <a:rPr lang="es-CO" dirty="0"/>
              <a:t>realiza de acuerdo con la función de pertenencia de la variable de salida.</a:t>
            </a:r>
            <a:endParaRPr lang="es-CO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642" y="4700604"/>
            <a:ext cx="3120135" cy="163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229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458</Words>
  <Application>Microsoft Office PowerPoint</Application>
  <PresentationFormat>Panorámica</PresentationFormat>
  <Paragraphs>71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285</cp:revision>
  <dcterms:created xsi:type="dcterms:W3CDTF">2017-07-31T19:21:32Z</dcterms:created>
  <dcterms:modified xsi:type="dcterms:W3CDTF">2019-03-12T00:44:38Z</dcterms:modified>
</cp:coreProperties>
</file>
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8" r:id="rId2"/>
    <p:sldId id="297" r:id="rId3"/>
    <p:sldId id="298" r:id="rId4"/>
    <p:sldId id="299" r:id="rId5"/>
    <p:sldId id="300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41" autoAdjust="0"/>
    <p:restoredTop sz="94610" autoAdjust="0"/>
  </p:normalViewPr>
  <p:slideViewPr>
    <p:cSldViewPr snapToGrid="0">
      <p:cViewPr>
        <p:scale>
          <a:sx n="75" d="100"/>
          <a:sy n="75" d="100"/>
        </p:scale>
        <p:origin x="1344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8AFCF-E03D-4A93-A37D-68805BA4DAD7}" type="datetimeFigureOut">
              <a:rPr lang="es-CO" smtClean="0"/>
              <a:t>22/05/2019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03E21-90F9-4E3B-8DD6-3033CFBD684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5502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CD579-DF9B-412F-8E3D-C91BFC395CAE}" type="datetimeFigureOut">
              <a:rPr lang="es-CO" smtClean="0"/>
              <a:t>22/05/2019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09A9AB-28CE-45AB-A29C-4FBE97946A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9171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556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22/05/2019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4931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22/05/2019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4936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22/05/2019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8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22/05/2019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836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22/05/2019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2116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22/05/2019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279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22/05/2019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8019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22/05/2019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9630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22/05/2019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8537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22/05/2019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4147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223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99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carlostrujillo@itm.edu.co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machinelearningmastery.com/tutorial-first-neural-network-python-keras/" TargetMode="External"/><Relationship Id="rId2" Type="http://schemas.openxmlformats.org/officeDocument/2006/relationships/hyperlink" Target="https://machinelearningmastery.com/regression-tutorial-keras-deep-learning-library-python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060536" y="1928733"/>
            <a:ext cx="35578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3600" dirty="0" smtClean="0"/>
              <a:t>Redes Neuronales</a:t>
            </a:r>
            <a:endParaRPr lang="es-CO" sz="3600" dirty="0"/>
          </a:p>
          <a:p>
            <a:r>
              <a:rPr lang="es-CO" sz="2400" dirty="0" smtClean="0"/>
              <a:t>Mayo 13 de 2019</a:t>
            </a:r>
            <a:endParaRPr lang="es-CO" sz="2400" dirty="0"/>
          </a:p>
        </p:txBody>
      </p:sp>
      <p:sp>
        <p:nvSpPr>
          <p:cNvPr id="5" name="Rectángulo 4"/>
          <p:cNvSpPr/>
          <p:nvPr/>
        </p:nvSpPr>
        <p:spPr>
          <a:xfrm>
            <a:off x="1563253" y="3191704"/>
            <a:ext cx="10287000" cy="1323439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s-CO" sz="2000" dirty="0" smtClean="0"/>
              <a:t>Introducción a las redes neuronales</a:t>
            </a:r>
            <a:endParaRPr lang="es-CO" sz="2000" dirty="0"/>
          </a:p>
          <a:p>
            <a:r>
              <a:rPr lang="es-CO" sz="2000" dirty="0" smtClean="0"/>
              <a:t>Funciones de activación</a:t>
            </a:r>
          </a:p>
          <a:p>
            <a:r>
              <a:rPr lang="es-CO" sz="2000" dirty="0" err="1" smtClean="0"/>
              <a:t>Perceptrón</a:t>
            </a:r>
            <a:r>
              <a:rPr lang="es-CO" sz="2000" dirty="0" smtClean="0"/>
              <a:t> multicapa</a:t>
            </a:r>
          </a:p>
          <a:p>
            <a:r>
              <a:rPr lang="es-CO" sz="2000" dirty="0" smtClean="0"/>
              <a:t>Algoritmos </a:t>
            </a:r>
            <a:r>
              <a:rPr lang="es-CO" sz="2000" dirty="0" smtClean="0"/>
              <a:t>de </a:t>
            </a:r>
            <a:r>
              <a:rPr lang="es-CO" sz="2000" i="1" dirty="0" smtClean="0"/>
              <a:t>deep learning</a:t>
            </a:r>
            <a:endParaRPr lang="es-CO" sz="2000" i="1" dirty="0"/>
          </a:p>
        </p:txBody>
      </p:sp>
      <p:sp>
        <p:nvSpPr>
          <p:cNvPr id="6" name="Rectángulo 5"/>
          <p:cNvSpPr/>
          <p:nvPr/>
        </p:nvSpPr>
        <p:spPr>
          <a:xfrm>
            <a:off x="4944960" y="5266216"/>
            <a:ext cx="10287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Docente: Carlos Alejandro Trujillo Anaya – </a:t>
            </a:r>
            <a:r>
              <a:rPr lang="es-CO" b="1" dirty="0" smtClean="0">
                <a:hlinkClick r:id="rId2"/>
              </a:rPr>
              <a:t>carlostrujillo@itm.edu.co</a:t>
            </a:r>
            <a:endParaRPr lang="es-CO" b="1" dirty="0" smtClean="0"/>
          </a:p>
          <a:p>
            <a:r>
              <a:rPr lang="es-CO" b="1" dirty="0" smtClean="0"/>
              <a:t>Inteligencia Artificial</a:t>
            </a:r>
          </a:p>
          <a:p>
            <a:r>
              <a:rPr lang="es-CO" dirty="0" smtClean="0"/>
              <a:t>Ingeniería de Sistemas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40555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="" xmlns:a16="http://schemas.microsoft.com/office/drawing/2014/main" id="{BD83AC6F-D3A1-443E-8F6E-3BCB9C009D09}"/>
              </a:ext>
            </a:extLst>
          </p:cNvPr>
          <p:cNvSpPr txBox="1"/>
          <p:nvPr/>
        </p:nvSpPr>
        <p:spPr>
          <a:xfrm>
            <a:off x="6408858" y="3898968"/>
            <a:ext cx="4091756" cy="1200329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dirty="0"/>
              <a:t>Las redes neuronales artificiales son modelos inspirados en la estructura </a:t>
            </a:r>
            <a:r>
              <a:rPr lang="es-CO" dirty="0" smtClean="0"/>
              <a:t>y/o </a:t>
            </a:r>
            <a:r>
              <a:rPr lang="es-CO" dirty="0"/>
              <a:t>función de las redes neuronales biológicas.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="" xmlns:a16="http://schemas.microsoft.com/office/drawing/2014/main" id="{44F6A84A-8AC6-44B0-8366-5283F1CF064C}"/>
              </a:ext>
            </a:extLst>
          </p:cNvPr>
          <p:cNvSpPr/>
          <p:nvPr/>
        </p:nvSpPr>
        <p:spPr>
          <a:xfrm>
            <a:off x="1081426" y="1866559"/>
            <a:ext cx="6096000" cy="430887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sz="2200" b="1" dirty="0" smtClean="0"/>
              <a:t>Redes neuronales artificiales</a:t>
            </a:r>
            <a:endParaRPr lang="es-CO" sz="2200" b="1" dirty="0"/>
          </a:p>
        </p:txBody>
      </p:sp>
      <p:pic>
        <p:nvPicPr>
          <p:cNvPr id="1026" name="Picture 2" descr="Resultado de imagen para artificial  neural networ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2597" y="2742756"/>
            <a:ext cx="4025322" cy="2623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/>
          <p:cNvSpPr/>
          <p:nvPr/>
        </p:nvSpPr>
        <p:spPr>
          <a:xfrm>
            <a:off x="2064131" y="6269550"/>
            <a:ext cx="84376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/>
              <a:t>https://cdn-images-1.medium.com/max/1200/1*eBMwpBBboAXgqsawwOKkPw.png</a:t>
            </a:r>
          </a:p>
        </p:txBody>
      </p:sp>
    </p:spTree>
    <p:extLst>
      <p:ext uri="{BB962C8B-B14F-4D97-AF65-F5344CB8AC3E}">
        <p14:creationId xmlns:p14="http://schemas.microsoft.com/office/powerpoint/2010/main" val="2679748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="" xmlns:a16="http://schemas.microsoft.com/office/drawing/2014/main" id="{BD83AC6F-D3A1-443E-8F6E-3BCB9C009D09}"/>
              </a:ext>
            </a:extLst>
          </p:cNvPr>
          <p:cNvSpPr txBox="1"/>
          <p:nvPr/>
        </p:nvSpPr>
        <p:spPr>
          <a:xfrm>
            <a:off x="6966027" y="3435247"/>
            <a:ext cx="4091756" cy="203132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dirty="0" smtClean="0"/>
              <a:t>Estos algoritmos se basan en el acople de </a:t>
            </a:r>
            <a:r>
              <a:rPr lang="es-CO" dirty="0"/>
              <a:t>patrones </a:t>
            </a:r>
            <a:r>
              <a:rPr lang="es-CO" dirty="0" smtClean="0"/>
              <a:t>y se </a:t>
            </a:r>
            <a:r>
              <a:rPr lang="es-CO" dirty="0"/>
              <a:t>usan comúnmente para problemas de regresión y clasificación, pero en realidad son un </a:t>
            </a:r>
            <a:r>
              <a:rPr lang="es-CO" dirty="0" smtClean="0"/>
              <a:t>sub-campo </a:t>
            </a:r>
            <a:r>
              <a:rPr lang="es-CO" dirty="0"/>
              <a:t>enorme que consta de cientos de algoritmos y variaciones para todo tipo de problemas.</a:t>
            </a:r>
          </a:p>
        </p:txBody>
      </p:sp>
      <p:pic>
        <p:nvPicPr>
          <p:cNvPr id="2050" name="Picture 2" descr="Resultado de imagen para ANN applicati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639" y="3119744"/>
            <a:ext cx="4847435" cy="253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="" xmlns:a16="http://schemas.microsoft.com/office/drawing/2014/main" id="{44F6A84A-8AC6-44B0-8366-5283F1CF064C}"/>
              </a:ext>
            </a:extLst>
          </p:cNvPr>
          <p:cNvSpPr/>
          <p:nvPr/>
        </p:nvSpPr>
        <p:spPr>
          <a:xfrm>
            <a:off x="1081426" y="1866559"/>
            <a:ext cx="6096000" cy="430887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sz="2200" b="1" dirty="0" smtClean="0"/>
              <a:t>Redes neuronales artificiales</a:t>
            </a:r>
            <a:endParaRPr lang="es-CO" sz="2200" b="1" dirty="0"/>
          </a:p>
        </p:txBody>
      </p:sp>
    </p:spTree>
    <p:extLst>
      <p:ext uri="{BB962C8B-B14F-4D97-AF65-F5344CB8AC3E}">
        <p14:creationId xmlns:p14="http://schemas.microsoft.com/office/powerpoint/2010/main" val="35936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="" xmlns:a16="http://schemas.microsoft.com/office/drawing/2014/main" id="{BD83AC6F-D3A1-443E-8F6E-3BCB9C009D09}"/>
              </a:ext>
            </a:extLst>
          </p:cNvPr>
          <p:cNvSpPr txBox="1"/>
          <p:nvPr/>
        </p:nvSpPr>
        <p:spPr>
          <a:xfrm>
            <a:off x="7147767" y="3372495"/>
            <a:ext cx="4091756" cy="2308324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dirty="0" smtClean="0"/>
              <a:t>Los algoritmos (clásicos) más populares son:</a:t>
            </a:r>
            <a:endParaRPr lang="es-CO" dirty="0"/>
          </a:p>
          <a:p>
            <a:endParaRPr lang="es-CO" dirty="0"/>
          </a:p>
          <a:p>
            <a:r>
              <a:rPr lang="es-CO" b="1" i="1" dirty="0" err="1">
                <a:solidFill>
                  <a:srgbClr val="FF0000"/>
                </a:solidFill>
              </a:rPr>
              <a:t>Perceptron</a:t>
            </a:r>
            <a:endParaRPr lang="es-CO" b="1" i="1" dirty="0">
              <a:solidFill>
                <a:srgbClr val="FF0000"/>
              </a:solidFill>
            </a:endParaRPr>
          </a:p>
          <a:p>
            <a:r>
              <a:rPr lang="es-CO" b="1" i="1" dirty="0">
                <a:solidFill>
                  <a:srgbClr val="FF0000"/>
                </a:solidFill>
              </a:rPr>
              <a:t>Back-</a:t>
            </a:r>
            <a:r>
              <a:rPr lang="es-CO" b="1" i="1" dirty="0" err="1">
                <a:solidFill>
                  <a:srgbClr val="FF0000"/>
                </a:solidFill>
              </a:rPr>
              <a:t>Propagation</a:t>
            </a:r>
            <a:endParaRPr lang="es-CO" b="1" i="1" dirty="0">
              <a:solidFill>
                <a:srgbClr val="FF0000"/>
              </a:solidFill>
            </a:endParaRPr>
          </a:p>
          <a:p>
            <a:r>
              <a:rPr lang="es-CO" i="1" dirty="0" err="1"/>
              <a:t>Hopfield</a:t>
            </a:r>
            <a:r>
              <a:rPr lang="es-CO" i="1" dirty="0"/>
              <a:t> Network</a:t>
            </a:r>
          </a:p>
          <a:p>
            <a:r>
              <a:rPr lang="es-CO" i="1" dirty="0"/>
              <a:t>Radial </a:t>
            </a:r>
            <a:r>
              <a:rPr lang="es-CO" i="1" dirty="0" err="1"/>
              <a:t>Basis</a:t>
            </a:r>
            <a:r>
              <a:rPr lang="es-CO" i="1" dirty="0"/>
              <a:t> </a:t>
            </a:r>
            <a:r>
              <a:rPr lang="es-CO" i="1" dirty="0" err="1"/>
              <a:t>Function</a:t>
            </a:r>
            <a:r>
              <a:rPr lang="es-CO" i="1" dirty="0"/>
              <a:t> Network (RBFN</a:t>
            </a:r>
            <a:r>
              <a:rPr lang="es-CO" i="1" dirty="0" smtClean="0"/>
              <a:t>)</a:t>
            </a:r>
          </a:p>
          <a:p>
            <a:r>
              <a:rPr lang="es-CO" i="1" dirty="0" err="1" smtClean="0">
                <a:solidFill>
                  <a:srgbClr val="FF0000"/>
                </a:solidFill>
              </a:rPr>
              <a:t>Convolutional</a:t>
            </a:r>
            <a:r>
              <a:rPr lang="es-CO" i="1" dirty="0" smtClean="0">
                <a:solidFill>
                  <a:srgbClr val="FF0000"/>
                </a:solidFill>
              </a:rPr>
              <a:t> neural </a:t>
            </a:r>
            <a:r>
              <a:rPr lang="es-CO" i="1" dirty="0" err="1" smtClean="0">
                <a:solidFill>
                  <a:srgbClr val="FF0000"/>
                </a:solidFill>
              </a:rPr>
              <a:t>networks</a:t>
            </a:r>
            <a:endParaRPr lang="es-CO" i="1" dirty="0">
              <a:solidFill>
                <a:srgbClr val="FF0000"/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2064131" y="6269550"/>
            <a:ext cx="84376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/>
              <a:t>https://towardsdatascience.com/what-the-hell-is-perceptron-626217814f53</a:t>
            </a:r>
          </a:p>
        </p:txBody>
      </p:sp>
      <p:pic>
        <p:nvPicPr>
          <p:cNvPr id="3074" name="Picture 2" descr="Resultado de imagen para perceptr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1764" y="3365595"/>
            <a:ext cx="4619000" cy="2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3">
            <a:extLst>
              <a:ext uri="{FF2B5EF4-FFF2-40B4-BE49-F238E27FC236}">
                <a16:creationId xmlns="" xmlns:a16="http://schemas.microsoft.com/office/drawing/2014/main" id="{44F6A84A-8AC6-44B0-8366-5283F1CF064C}"/>
              </a:ext>
            </a:extLst>
          </p:cNvPr>
          <p:cNvSpPr/>
          <p:nvPr/>
        </p:nvSpPr>
        <p:spPr>
          <a:xfrm>
            <a:off x="1081426" y="1866559"/>
            <a:ext cx="6096000" cy="430887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sz="2200" b="1" dirty="0" smtClean="0"/>
              <a:t>Redes neuronales artificiales</a:t>
            </a:r>
            <a:endParaRPr lang="es-CO" sz="2200" b="1" dirty="0"/>
          </a:p>
        </p:txBody>
      </p:sp>
    </p:spTree>
    <p:extLst>
      <p:ext uri="{BB962C8B-B14F-4D97-AF65-F5344CB8AC3E}">
        <p14:creationId xmlns:p14="http://schemas.microsoft.com/office/powerpoint/2010/main" val="2243286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="" xmlns:a16="http://schemas.microsoft.com/office/drawing/2014/main" id="{BD83AC6F-D3A1-443E-8F6E-3BCB9C009D09}"/>
              </a:ext>
            </a:extLst>
          </p:cNvPr>
          <p:cNvSpPr txBox="1"/>
          <p:nvPr/>
        </p:nvSpPr>
        <p:spPr>
          <a:xfrm>
            <a:off x="7007096" y="2449776"/>
            <a:ext cx="4091756" cy="58477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600" dirty="0" smtClean="0"/>
              <a:t>Una red neuronal se puede expresar matemáticamente como</a:t>
            </a:r>
            <a:endParaRPr lang="es-CO" sz="1600" dirty="0"/>
          </a:p>
        </p:txBody>
      </p:sp>
      <p:sp>
        <p:nvSpPr>
          <p:cNvPr id="3" name="Rectángulo 2"/>
          <p:cNvSpPr/>
          <p:nvPr/>
        </p:nvSpPr>
        <p:spPr>
          <a:xfrm>
            <a:off x="1642790" y="5193494"/>
            <a:ext cx="482459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/>
              <a:t>http://neuralnetworksanddeeplearning.com/chap1.html</a:t>
            </a:r>
          </a:p>
        </p:txBody>
      </p:sp>
      <p:pic>
        <p:nvPicPr>
          <p:cNvPr id="1026" name="Picture 2" descr="http://neuralnetworksanddeeplearning.com/images/tikz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471" y="3214095"/>
            <a:ext cx="4675909" cy="182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="" xmlns:a16="http://schemas.microsoft.com/office/drawing/2014/main" id="{44F6A84A-8AC6-44B0-8366-5283F1CF064C}"/>
              </a:ext>
            </a:extLst>
          </p:cNvPr>
          <p:cNvSpPr/>
          <p:nvPr/>
        </p:nvSpPr>
        <p:spPr>
          <a:xfrm>
            <a:off x="1081426" y="1866559"/>
            <a:ext cx="6096000" cy="430887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sz="2200" b="1" dirty="0" smtClean="0"/>
              <a:t>Redes neuronales artificiales</a:t>
            </a:r>
            <a:endParaRPr lang="es-CO" sz="2200" b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359" y="3096034"/>
            <a:ext cx="1581536" cy="52240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462" y="4355976"/>
            <a:ext cx="3709023" cy="47739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="" xmlns:a16="http://schemas.microsoft.com/office/drawing/2014/main" id="{BD83AC6F-D3A1-443E-8F6E-3BCB9C009D09}"/>
              </a:ext>
            </a:extLst>
          </p:cNvPr>
          <p:cNvSpPr txBox="1"/>
          <p:nvPr/>
        </p:nvSpPr>
        <p:spPr>
          <a:xfrm>
            <a:off x="7007096" y="3868281"/>
            <a:ext cx="4091756" cy="338554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600" dirty="0" smtClean="0"/>
              <a:t>En el caso de una red de tres capas</a:t>
            </a:r>
            <a:endParaRPr lang="es-CO" sz="16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525" y="3041693"/>
            <a:ext cx="201677" cy="240711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5438" y="2753645"/>
            <a:ext cx="257625" cy="329188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8450" y="3517166"/>
            <a:ext cx="257625" cy="329188"/>
          </a:xfrm>
          <a:prstGeom prst="rect">
            <a:avLst/>
          </a:prstGeom>
        </p:spPr>
      </p:pic>
      <p:sp>
        <p:nvSpPr>
          <p:cNvPr id="12" name="Rectángulo 11"/>
          <p:cNvSpPr/>
          <p:nvPr/>
        </p:nvSpPr>
        <p:spPr>
          <a:xfrm>
            <a:off x="5207794" y="3673096"/>
            <a:ext cx="353766" cy="173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CuadroTexto 15">
            <a:extLst>
              <a:ext uri="{FF2B5EF4-FFF2-40B4-BE49-F238E27FC236}">
                <a16:creationId xmlns="" xmlns:a16="http://schemas.microsoft.com/office/drawing/2014/main" id="{BD83AC6F-D3A1-443E-8F6E-3BCB9C009D09}"/>
              </a:ext>
            </a:extLst>
          </p:cNvPr>
          <p:cNvSpPr txBox="1"/>
          <p:nvPr/>
        </p:nvSpPr>
        <p:spPr>
          <a:xfrm>
            <a:off x="5088930" y="3599592"/>
            <a:ext cx="227145" cy="25648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600" b="1" i="1" baseline="-25000" dirty="0" smtClean="0"/>
              <a:t>3</a:t>
            </a:r>
            <a:endParaRPr lang="es-CO" sz="1600" b="1" i="1" baseline="-25000" dirty="0"/>
          </a:p>
        </p:txBody>
      </p:sp>
      <p:sp>
        <p:nvSpPr>
          <p:cNvPr id="17" name="CuadroTexto 16">
            <a:extLst>
              <a:ext uri="{FF2B5EF4-FFF2-40B4-BE49-F238E27FC236}">
                <a16:creationId xmlns="" xmlns:a16="http://schemas.microsoft.com/office/drawing/2014/main" id="{BD83AC6F-D3A1-443E-8F6E-3BCB9C009D09}"/>
              </a:ext>
            </a:extLst>
          </p:cNvPr>
          <p:cNvSpPr txBox="1"/>
          <p:nvPr/>
        </p:nvSpPr>
        <p:spPr>
          <a:xfrm>
            <a:off x="7007096" y="5127056"/>
            <a:ext cx="4651505" cy="338554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600" dirty="0" smtClean="0"/>
              <a:t>Donde las dos primera funciones vienen dadas por:</a:t>
            </a:r>
            <a:endParaRPr lang="es-CO" sz="1600" dirty="0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1289" y="5501271"/>
            <a:ext cx="2493818" cy="571500"/>
          </a:xfrm>
          <a:prstGeom prst="rect">
            <a:avLst/>
          </a:prstGeom>
        </p:spPr>
      </p:pic>
      <p:sp>
        <p:nvSpPr>
          <p:cNvPr id="19" name="Rectángulo 18"/>
          <p:cNvSpPr/>
          <p:nvPr/>
        </p:nvSpPr>
        <p:spPr>
          <a:xfrm>
            <a:off x="4991750" y="6360601"/>
            <a:ext cx="576300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 err="1" smtClean="0"/>
              <a:t>Andriy</a:t>
            </a:r>
            <a:r>
              <a:rPr lang="es-CO" sz="1400" dirty="0" smtClean="0"/>
              <a:t> </a:t>
            </a:r>
            <a:r>
              <a:rPr lang="es-CO" sz="1400" dirty="0" err="1" smtClean="0"/>
              <a:t>Burkov</a:t>
            </a:r>
            <a:r>
              <a:rPr lang="es-CO" sz="1400" dirty="0" smtClean="0"/>
              <a:t>, “</a:t>
            </a:r>
            <a:r>
              <a:rPr lang="es-CO" sz="1400" dirty="0" err="1" smtClean="0"/>
              <a:t>The</a:t>
            </a:r>
            <a:r>
              <a:rPr lang="es-CO" sz="1400" dirty="0" smtClean="0"/>
              <a:t> </a:t>
            </a:r>
            <a:r>
              <a:rPr lang="es-CO" sz="1400" dirty="0" err="1" smtClean="0"/>
              <a:t>hundred</a:t>
            </a:r>
            <a:r>
              <a:rPr lang="es-CO" sz="1400" dirty="0" smtClean="0"/>
              <a:t>-page machine </a:t>
            </a:r>
            <a:r>
              <a:rPr lang="es-CO" sz="1400" dirty="0" err="1" smtClean="0"/>
              <a:t>learning</a:t>
            </a:r>
            <a:r>
              <a:rPr lang="es-CO" sz="1400" dirty="0" smtClean="0"/>
              <a:t> </a:t>
            </a:r>
            <a:r>
              <a:rPr lang="es-CO" sz="1400" dirty="0" err="1" smtClean="0"/>
              <a:t>book</a:t>
            </a:r>
            <a:r>
              <a:rPr lang="es-CO" sz="1400" dirty="0" smtClean="0"/>
              <a:t>”, </a:t>
            </a:r>
            <a:r>
              <a:rPr lang="es-CO" sz="1400" dirty="0" err="1" smtClean="0"/>
              <a:t>chapter</a:t>
            </a:r>
            <a:r>
              <a:rPr lang="es-CO" sz="1400" dirty="0" smtClean="0"/>
              <a:t> 6.</a:t>
            </a:r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3043534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642790" y="5193494"/>
            <a:ext cx="482459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/>
              <a:t>http://neuralnetworksanddeeplearning.com/chap1.html</a:t>
            </a:r>
          </a:p>
        </p:txBody>
      </p:sp>
      <p:pic>
        <p:nvPicPr>
          <p:cNvPr id="1026" name="Picture 2" descr="http://neuralnetworksanddeeplearning.com/images/tikz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471" y="3214095"/>
            <a:ext cx="4675909" cy="182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="" xmlns:a16="http://schemas.microsoft.com/office/drawing/2014/main" id="{44F6A84A-8AC6-44B0-8366-5283F1CF064C}"/>
              </a:ext>
            </a:extLst>
          </p:cNvPr>
          <p:cNvSpPr/>
          <p:nvPr/>
        </p:nvSpPr>
        <p:spPr>
          <a:xfrm>
            <a:off x="1081426" y="1866559"/>
            <a:ext cx="6096000" cy="430887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sz="2200" b="1" dirty="0" smtClean="0"/>
              <a:t>Redes neuronales artificiales</a:t>
            </a:r>
            <a:endParaRPr lang="es-CO" sz="2200" b="1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525" y="3041693"/>
            <a:ext cx="201677" cy="240711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5438" y="2753645"/>
            <a:ext cx="257625" cy="329188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8450" y="3517166"/>
            <a:ext cx="257625" cy="329188"/>
          </a:xfrm>
          <a:prstGeom prst="rect">
            <a:avLst/>
          </a:prstGeom>
        </p:spPr>
      </p:pic>
      <p:sp>
        <p:nvSpPr>
          <p:cNvPr id="12" name="Rectángulo 11"/>
          <p:cNvSpPr/>
          <p:nvPr/>
        </p:nvSpPr>
        <p:spPr>
          <a:xfrm>
            <a:off x="5207794" y="3673096"/>
            <a:ext cx="353766" cy="173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CuadroTexto 15">
            <a:extLst>
              <a:ext uri="{FF2B5EF4-FFF2-40B4-BE49-F238E27FC236}">
                <a16:creationId xmlns="" xmlns:a16="http://schemas.microsoft.com/office/drawing/2014/main" id="{BD83AC6F-D3A1-443E-8F6E-3BCB9C009D09}"/>
              </a:ext>
            </a:extLst>
          </p:cNvPr>
          <p:cNvSpPr txBox="1"/>
          <p:nvPr/>
        </p:nvSpPr>
        <p:spPr>
          <a:xfrm>
            <a:off x="5088930" y="3599592"/>
            <a:ext cx="227145" cy="25648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600" b="1" i="1" baseline="-25000" dirty="0" smtClean="0"/>
              <a:t>3</a:t>
            </a:r>
            <a:endParaRPr lang="es-CO" sz="1600" b="1" i="1" baseline="-25000" dirty="0"/>
          </a:p>
        </p:txBody>
      </p:sp>
      <p:sp>
        <p:nvSpPr>
          <p:cNvPr id="17" name="CuadroTexto 16">
            <a:extLst>
              <a:ext uri="{FF2B5EF4-FFF2-40B4-BE49-F238E27FC236}">
                <a16:creationId xmlns="" xmlns:a16="http://schemas.microsoft.com/office/drawing/2014/main" id="{BD83AC6F-D3A1-443E-8F6E-3BCB9C009D09}"/>
              </a:ext>
            </a:extLst>
          </p:cNvPr>
          <p:cNvSpPr txBox="1"/>
          <p:nvPr/>
        </p:nvSpPr>
        <p:spPr>
          <a:xfrm>
            <a:off x="7007096" y="4538464"/>
            <a:ext cx="4651505" cy="83099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600" dirty="0" smtClean="0"/>
              <a:t>Estos parámetros se ajustan empleando el </a:t>
            </a:r>
            <a:r>
              <a:rPr lang="es-CO" sz="1600" b="1" i="1" dirty="0" smtClean="0"/>
              <a:t>algoritmo del descenso del gradiente</a:t>
            </a:r>
            <a:r>
              <a:rPr lang="es-CO" sz="1600" dirty="0" smtClean="0"/>
              <a:t> o alguna de sus variantes sobre una </a:t>
            </a:r>
            <a:r>
              <a:rPr lang="es-CO" sz="1600" b="1" i="1" dirty="0" smtClean="0"/>
              <a:t>función de costo</a:t>
            </a:r>
            <a:r>
              <a:rPr lang="es-CO" sz="1600" dirty="0" smtClean="0"/>
              <a:t> particular.</a:t>
            </a:r>
            <a:endParaRPr lang="es-CO" sz="1600" dirty="0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6039" y="2396745"/>
            <a:ext cx="2493818" cy="571500"/>
          </a:xfrm>
          <a:prstGeom prst="rect">
            <a:avLst/>
          </a:prstGeom>
        </p:spPr>
      </p:pic>
      <p:sp>
        <p:nvSpPr>
          <p:cNvPr id="19" name="Rectángulo 18"/>
          <p:cNvSpPr/>
          <p:nvPr/>
        </p:nvSpPr>
        <p:spPr>
          <a:xfrm>
            <a:off x="4991750" y="6360601"/>
            <a:ext cx="576300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 err="1" smtClean="0"/>
              <a:t>Andriy</a:t>
            </a:r>
            <a:r>
              <a:rPr lang="es-CO" sz="1400" dirty="0" smtClean="0"/>
              <a:t> </a:t>
            </a:r>
            <a:r>
              <a:rPr lang="es-CO" sz="1400" dirty="0" err="1" smtClean="0"/>
              <a:t>Burkov</a:t>
            </a:r>
            <a:r>
              <a:rPr lang="es-CO" sz="1400" dirty="0" smtClean="0"/>
              <a:t>, “</a:t>
            </a:r>
            <a:r>
              <a:rPr lang="es-CO" sz="1400" dirty="0" err="1" smtClean="0"/>
              <a:t>The</a:t>
            </a:r>
            <a:r>
              <a:rPr lang="es-CO" sz="1400" dirty="0" smtClean="0"/>
              <a:t> </a:t>
            </a:r>
            <a:r>
              <a:rPr lang="es-CO" sz="1400" dirty="0" err="1" smtClean="0"/>
              <a:t>hundred</a:t>
            </a:r>
            <a:r>
              <a:rPr lang="es-CO" sz="1400" dirty="0" smtClean="0"/>
              <a:t>-page machine </a:t>
            </a:r>
            <a:r>
              <a:rPr lang="es-CO" sz="1400" dirty="0" err="1" smtClean="0"/>
              <a:t>learning</a:t>
            </a:r>
            <a:r>
              <a:rPr lang="es-CO" sz="1400" dirty="0" smtClean="0"/>
              <a:t> </a:t>
            </a:r>
            <a:r>
              <a:rPr lang="es-CO" sz="1400" dirty="0" err="1" smtClean="0"/>
              <a:t>book</a:t>
            </a:r>
            <a:r>
              <a:rPr lang="es-CO" sz="1400" dirty="0" smtClean="0"/>
              <a:t>”, </a:t>
            </a:r>
            <a:r>
              <a:rPr lang="es-CO" sz="1400" dirty="0" err="1" smtClean="0"/>
              <a:t>chapter</a:t>
            </a:r>
            <a:r>
              <a:rPr lang="es-CO" sz="1400" dirty="0" smtClean="0"/>
              <a:t> 6.</a:t>
            </a:r>
            <a:endParaRPr lang="es-CO" sz="1400" dirty="0"/>
          </a:p>
        </p:txBody>
      </p:sp>
      <p:grpSp>
        <p:nvGrpSpPr>
          <p:cNvPr id="15" name="Grupo 14"/>
          <p:cNvGrpSpPr/>
          <p:nvPr/>
        </p:nvGrpSpPr>
        <p:grpSpPr>
          <a:xfrm>
            <a:off x="7007096" y="3248329"/>
            <a:ext cx="4091756" cy="1077218"/>
            <a:chOff x="7007096" y="2853883"/>
            <a:chExt cx="4091756" cy="1077218"/>
          </a:xfrm>
        </p:grpSpPr>
        <p:sp>
          <p:nvSpPr>
            <p:cNvPr id="10" name="CuadroTexto 9">
              <a:extLst>
                <a:ext uri="{FF2B5EF4-FFF2-40B4-BE49-F238E27FC236}">
                  <a16:creationId xmlns="" xmlns:a16="http://schemas.microsoft.com/office/drawing/2014/main" id="{BD83AC6F-D3A1-443E-8F6E-3BCB9C009D09}"/>
                </a:ext>
              </a:extLst>
            </p:cNvPr>
            <p:cNvSpPr txBox="1"/>
            <p:nvPr/>
          </p:nvSpPr>
          <p:spPr>
            <a:xfrm>
              <a:off x="7007096" y="2853883"/>
              <a:ext cx="4091756" cy="1077218"/>
            </a:xfrm>
            <a:prstGeom prst="rect">
              <a:avLst/>
            </a:prstGeom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s-CO" sz="1600" dirty="0" smtClean="0"/>
                <a:t>En esta expresión         es una matriz con los pesos de las neuronas en la capa dada, y el vector        corresponde a los </a:t>
              </a:r>
              <a:r>
                <a:rPr lang="es-CO" sz="1600" i="1" dirty="0" err="1" smtClean="0"/>
                <a:t>bias</a:t>
              </a:r>
              <a:r>
                <a:rPr lang="es-CO" sz="1600" dirty="0" smtClean="0"/>
                <a:t> u </a:t>
              </a:r>
              <a:r>
                <a:rPr lang="es-CO" sz="1600" i="1" dirty="0" err="1" smtClean="0"/>
                <a:t>offsets</a:t>
              </a:r>
              <a:r>
                <a:rPr lang="es-CO" sz="1600" dirty="0" smtClean="0"/>
                <a:t> de cada neurona en cada capa.</a:t>
              </a:r>
              <a:endParaRPr lang="es-CO" sz="1600" dirty="0"/>
            </a:p>
          </p:txBody>
        </p:sp>
        <p:pic>
          <p:nvPicPr>
            <p:cNvPr id="9" name="Imagen 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574220" y="2898251"/>
              <a:ext cx="378741" cy="245805"/>
            </a:xfrm>
            <a:prstGeom prst="rect">
              <a:avLst/>
            </a:prstGeom>
          </p:spPr>
        </p:pic>
        <p:pic>
          <p:nvPicPr>
            <p:cNvPr id="11" name="Imagen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677995" y="3412551"/>
              <a:ext cx="238282" cy="2106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8899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642790" y="5193494"/>
            <a:ext cx="482459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/>
              <a:t>http://neuralnetworksanddeeplearning.com/chap1.html</a:t>
            </a:r>
          </a:p>
        </p:txBody>
      </p:sp>
      <p:pic>
        <p:nvPicPr>
          <p:cNvPr id="1026" name="Picture 2" descr="http://neuralnetworksanddeeplearning.com/images/tikz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471" y="3214095"/>
            <a:ext cx="4675909" cy="182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="" xmlns:a16="http://schemas.microsoft.com/office/drawing/2014/main" id="{44F6A84A-8AC6-44B0-8366-5283F1CF064C}"/>
              </a:ext>
            </a:extLst>
          </p:cNvPr>
          <p:cNvSpPr/>
          <p:nvPr/>
        </p:nvSpPr>
        <p:spPr>
          <a:xfrm>
            <a:off x="1081426" y="1866559"/>
            <a:ext cx="6096000" cy="430887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sz="2200" b="1" dirty="0" smtClean="0"/>
              <a:t>Redes neuronales artificiales</a:t>
            </a:r>
            <a:endParaRPr lang="es-CO" sz="2200" b="1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525" y="3041693"/>
            <a:ext cx="201677" cy="240711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5438" y="2753645"/>
            <a:ext cx="257625" cy="329188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8450" y="3517166"/>
            <a:ext cx="257625" cy="329188"/>
          </a:xfrm>
          <a:prstGeom prst="rect">
            <a:avLst/>
          </a:prstGeom>
        </p:spPr>
      </p:pic>
      <p:sp>
        <p:nvSpPr>
          <p:cNvPr id="12" name="Rectángulo 11"/>
          <p:cNvSpPr/>
          <p:nvPr/>
        </p:nvSpPr>
        <p:spPr>
          <a:xfrm>
            <a:off x="5207794" y="3673096"/>
            <a:ext cx="353766" cy="173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CuadroTexto 15">
            <a:extLst>
              <a:ext uri="{FF2B5EF4-FFF2-40B4-BE49-F238E27FC236}">
                <a16:creationId xmlns="" xmlns:a16="http://schemas.microsoft.com/office/drawing/2014/main" id="{BD83AC6F-D3A1-443E-8F6E-3BCB9C009D09}"/>
              </a:ext>
            </a:extLst>
          </p:cNvPr>
          <p:cNvSpPr txBox="1"/>
          <p:nvPr/>
        </p:nvSpPr>
        <p:spPr>
          <a:xfrm>
            <a:off x="5088930" y="3599592"/>
            <a:ext cx="227145" cy="25648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600" b="1" i="1" baseline="-25000" dirty="0" smtClean="0"/>
              <a:t>3</a:t>
            </a:r>
            <a:endParaRPr lang="es-CO" sz="1600" b="1" i="1" baseline="-25000" dirty="0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6039" y="2396745"/>
            <a:ext cx="2493818" cy="571500"/>
          </a:xfrm>
          <a:prstGeom prst="rect">
            <a:avLst/>
          </a:prstGeom>
        </p:spPr>
      </p:pic>
      <p:sp>
        <p:nvSpPr>
          <p:cNvPr id="19" name="Rectángulo 18"/>
          <p:cNvSpPr/>
          <p:nvPr/>
        </p:nvSpPr>
        <p:spPr>
          <a:xfrm>
            <a:off x="4991750" y="6360601"/>
            <a:ext cx="576300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 err="1" smtClean="0"/>
              <a:t>Andriy</a:t>
            </a:r>
            <a:r>
              <a:rPr lang="es-CO" sz="1400" dirty="0" smtClean="0"/>
              <a:t> </a:t>
            </a:r>
            <a:r>
              <a:rPr lang="es-CO" sz="1400" dirty="0" err="1" smtClean="0"/>
              <a:t>Burkov</a:t>
            </a:r>
            <a:r>
              <a:rPr lang="es-CO" sz="1400" dirty="0" smtClean="0"/>
              <a:t>, “</a:t>
            </a:r>
            <a:r>
              <a:rPr lang="es-CO" sz="1400" dirty="0" err="1" smtClean="0"/>
              <a:t>The</a:t>
            </a:r>
            <a:r>
              <a:rPr lang="es-CO" sz="1400" dirty="0" smtClean="0"/>
              <a:t> </a:t>
            </a:r>
            <a:r>
              <a:rPr lang="es-CO" sz="1400" dirty="0" err="1" smtClean="0"/>
              <a:t>hundred</a:t>
            </a:r>
            <a:r>
              <a:rPr lang="es-CO" sz="1400" dirty="0" smtClean="0"/>
              <a:t>-page machine </a:t>
            </a:r>
            <a:r>
              <a:rPr lang="es-CO" sz="1400" dirty="0" err="1" smtClean="0"/>
              <a:t>learning</a:t>
            </a:r>
            <a:r>
              <a:rPr lang="es-CO" sz="1400" dirty="0" smtClean="0"/>
              <a:t> </a:t>
            </a:r>
            <a:r>
              <a:rPr lang="es-CO" sz="1400" dirty="0" err="1" smtClean="0"/>
              <a:t>book</a:t>
            </a:r>
            <a:r>
              <a:rPr lang="es-CO" sz="1400" dirty="0" smtClean="0"/>
              <a:t>”, </a:t>
            </a:r>
            <a:r>
              <a:rPr lang="es-CO" sz="1400" dirty="0" err="1" smtClean="0"/>
              <a:t>chapter</a:t>
            </a:r>
            <a:r>
              <a:rPr lang="es-CO" sz="1400" dirty="0" smtClean="0"/>
              <a:t> 6.</a:t>
            </a:r>
            <a:endParaRPr lang="es-CO" sz="1400" dirty="0"/>
          </a:p>
        </p:txBody>
      </p:sp>
      <p:grpSp>
        <p:nvGrpSpPr>
          <p:cNvPr id="4" name="Grupo 3"/>
          <p:cNvGrpSpPr/>
          <p:nvPr/>
        </p:nvGrpSpPr>
        <p:grpSpPr>
          <a:xfrm>
            <a:off x="7051920" y="3117709"/>
            <a:ext cx="4835280" cy="584775"/>
            <a:chOff x="7007096" y="3248329"/>
            <a:chExt cx="4835280" cy="584775"/>
          </a:xfrm>
        </p:grpSpPr>
        <p:sp>
          <p:nvSpPr>
            <p:cNvPr id="10" name="CuadroTexto 9">
              <a:extLst>
                <a:ext uri="{FF2B5EF4-FFF2-40B4-BE49-F238E27FC236}">
                  <a16:creationId xmlns="" xmlns:a16="http://schemas.microsoft.com/office/drawing/2014/main" id="{BD83AC6F-D3A1-443E-8F6E-3BCB9C009D09}"/>
                </a:ext>
              </a:extLst>
            </p:cNvPr>
            <p:cNvSpPr txBox="1"/>
            <p:nvPr/>
          </p:nvSpPr>
          <p:spPr>
            <a:xfrm>
              <a:off x="7007096" y="3248329"/>
              <a:ext cx="4835280" cy="584775"/>
            </a:xfrm>
            <a:prstGeom prst="rect">
              <a:avLst/>
            </a:prstGeom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s-CO" sz="1600" dirty="0" smtClean="0"/>
                <a:t>En esta expresión        es la </a:t>
              </a:r>
              <a:r>
                <a:rPr lang="es-CO" sz="1600" b="1" i="1" dirty="0" smtClean="0"/>
                <a:t>función de activación</a:t>
              </a:r>
              <a:r>
                <a:rPr lang="es-CO" sz="1600" dirty="0" smtClean="0"/>
                <a:t>. Esta función puede tener la forma:</a:t>
              </a:r>
              <a:endParaRPr lang="es-CO" sz="1600" dirty="0"/>
            </a:p>
          </p:txBody>
        </p:sp>
        <p:pic>
          <p:nvPicPr>
            <p:cNvPr id="2" name="Imagen 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552530" y="3297178"/>
              <a:ext cx="311727" cy="259773"/>
            </a:xfrm>
            <a:prstGeom prst="rect">
              <a:avLst/>
            </a:prstGeom>
          </p:spPr>
        </p:pic>
      </p:grpSp>
      <p:pic>
        <p:nvPicPr>
          <p:cNvPr id="5" name="Imagen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4994" y="3802041"/>
            <a:ext cx="2794525" cy="15507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4">
                <a:extLst>
                  <a:ext uri="{FF2B5EF4-FFF2-40B4-BE49-F238E27FC236}">
                    <a16:creationId xmlns:a16="http://schemas.microsoft.com/office/drawing/2014/main" xmlns="" id="{9B76F3E5-00DF-45D8-BA5E-4A95183247C3}"/>
                  </a:ext>
                </a:extLst>
              </p:cNvPr>
              <p:cNvSpPr txBox="1"/>
              <p:nvPr/>
            </p:nvSpPr>
            <p:spPr>
              <a:xfrm>
                <a:off x="8209142" y="5577407"/>
                <a:ext cx="190622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200" i="1" dirty="0" smtClean="0"/>
                  <a:t>Sig(z)=1/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200" i="1" dirty="0"/>
                          <m:t>(1+</m:t>
                        </m:r>
                        <m:r>
                          <m:rPr>
                            <m:nor/>
                          </m:rPr>
                          <a:rPr lang="en-US" sz="2200" b="0" i="1" dirty="0" smtClean="0"/>
                          <m:t>e</m:t>
                        </m:r>
                      </m:e>
                      <m:sup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CO" sz="2200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i="1" dirty="0"/>
              </a:p>
            </p:txBody>
          </p:sp>
        </mc:Choice>
        <mc:Fallback xmlns="">
          <p:sp>
            <p:nvSpPr>
              <p:cNvPr id="20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B76F3E5-00DF-45D8-BA5E-4A9518324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9142" y="5577407"/>
                <a:ext cx="1906227" cy="338554"/>
              </a:xfrm>
              <a:prstGeom prst="rect">
                <a:avLst/>
              </a:prstGeom>
              <a:blipFill rotWithShape="0">
                <a:blip r:embed="rId8"/>
                <a:stretch>
                  <a:fillRect l="-8974" t="-25455" r="-7051" b="-5090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0777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951" y="4294866"/>
            <a:ext cx="3542355" cy="2361570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="" xmlns:a16="http://schemas.microsoft.com/office/drawing/2014/main" id="{44F6A84A-8AC6-44B0-8366-5283F1CF064C}"/>
              </a:ext>
            </a:extLst>
          </p:cNvPr>
          <p:cNvSpPr/>
          <p:nvPr/>
        </p:nvSpPr>
        <p:spPr>
          <a:xfrm>
            <a:off x="1081426" y="1866559"/>
            <a:ext cx="6096000" cy="430887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sz="2200" b="1" dirty="0" smtClean="0"/>
              <a:t>Funciones de activación</a:t>
            </a:r>
            <a:endParaRPr lang="es-CO" sz="2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4">
                <a:extLst>
                  <a:ext uri="{FF2B5EF4-FFF2-40B4-BE49-F238E27FC236}">
                    <a16:creationId xmlns:a16="http://schemas.microsoft.com/office/drawing/2014/main" xmlns="" id="{9B76F3E5-00DF-45D8-BA5E-4A95183247C3}"/>
                  </a:ext>
                </a:extLst>
              </p:cNvPr>
              <p:cNvSpPr txBox="1"/>
              <p:nvPr/>
            </p:nvSpPr>
            <p:spPr>
              <a:xfrm>
                <a:off x="1234601" y="2968245"/>
                <a:ext cx="190622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200" i="1" dirty="0" smtClean="0"/>
                  <a:t>Sig(z)=1/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200" i="1" dirty="0"/>
                          <m:t>(1+</m:t>
                        </m:r>
                        <m:r>
                          <m:rPr>
                            <m:nor/>
                          </m:rPr>
                          <a:rPr lang="en-US" sz="2200" b="0" i="1" dirty="0" smtClean="0"/>
                          <m:t>e</m:t>
                        </m:r>
                      </m:e>
                      <m:sup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CO" sz="2200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i="1" dirty="0"/>
              </a:p>
            </p:txBody>
          </p:sp>
        </mc:Choice>
        <mc:Fallback xmlns="">
          <p:sp>
            <p:nvSpPr>
              <p:cNvPr id="20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B76F3E5-00DF-45D8-BA5E-4A9518324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601" y="2968245"/>
                <a:ext cx="1906227" cy="338554"/>
              </a:xfrm>
              <a:prstGeom prst="rect">
                <a:avLst/>
              </a:prstGeom>
              <a:blipFill rotWithShape="0">
                <a:blip r:embed="rId3"/>
                <a:stretch>
                  <a:fillRect l="-8974" t="-25455" r="-7051" b="-5090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https://upload.wikimedia.org/wikipedia/commons/thumb/8/88/Logistic-curve.svg/1280px-Logistic-curve.svg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967" y="2624308"/>
            <a:ext cx="3210535" cy="2139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upload.wikimedia.org/wikipedia/commons/thumb/6/6c/Rectifier_and_softplus_functions.svg/1280px-Rectifier_and_softplus_functions.svg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1533" y="679101"/>
            <a:ext cx="4273222" cy="3108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8139" y="5619313"/>
            <a:ext cx="2709814" cy="914024"/>
          </a:xfrm>
          <a:prstGeom prst="rect">
            <a:avLst/>
          </a:prstGeom>
        </p:spPr>
      </p:pic>
      <p:cxnSp>
        <p:nvCxnSpPr>
          <p:cNvPr id="17" name="Conector recto de flecha 16"/>
          <p:cNvCxnSpPr/>
          <p:nvPr/>
        </p:nvCxnSpPr>
        <p:spPr>
          <a:xfrm>
            <a:off x="8050306" y="1981200"/>
            <a:ext cx="788894" cy="1165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/>
          <p:cNvCxnSpPr/>
          <p:nvPr/>
        </p:nvCxnSpPr>
        <p:spPr>
          <a:xfrm>
            <a:off x="2598139" y="3306799"/>
            <a:ext cx="542689" cy="816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utoShape 6" descr="Resultado de imagen para tanh func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22" name="AutoShape 8" descr="Resultado de imagen para tanh functio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25" name="Imagen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1528" y="795838"/>
            <a:ext cx="2913147" cy="860259"/>
          </a:xfrm>
          <a:prstGeom prst="rect">
            <a:avLst/>
          </a:prstGeom>
        </p:spPr>
      </p:pic>
      <p:cxnSp>
        <p:nvCxnSpPr>
          <p:cNvPr id="29" name="Conector recto de flecha 28"/>
          <p:cNvCxnSpPr/>
          <p:nvPr/>
        </p:nvCxnSpPr>
        <p:spPr>
          <a:xfrm flipV="1">
            <a:off x="5307953" y="5719482"/>
            <a:ext cx="1630148" cy="435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765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="" xmlns:a16="http://schemas.microsoft.com/office/drawing/2014/main" id="{44F6A84A-8AC6-44B0-8366-5283F1CF064C}"/>
              </a:ext>
            </a:extLst>
          </p:cNvPr>
          <p:cNvSpPr/>
          <p:nvPr/>
        </p:nvSpPr>
        <p:spPr>
          <a:xfrm>
            <a:off x="1081426" y="1866559"/>
            <a:ext cx="6096000" cy="430887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sz="2200" b="1" dirty="0" smtClean="0"/>
              <a:t>Algoritmos de deep learning</a:t>
            </a:r>
            <a:endParaRPr lang="es-CO" sz="2200" b="1" dirty="0"/>
          </a:p>
        </p:txBody>
      </p:sp>
      <p:sp>
        <p:nvSpPr>
          <p:cNvPr id="21" name="CuadroTexto 20">
            <a:extLst>
              <a:ext uri="{FF2B5EF4-FFF2-40B4-BE49-F238E27FC236}">
                <a16:creationId xmlns="" xmlns:a16="http://schemas.microsoft.com/office/drawing/2014/main" id="{BD83AC6F-D3A1-443E-8F6E-3BCB9C009D09}"/>
              </a:ext>
            </a:extLst>
          </p:cNvPr>
          <p:cNvSpPr txBox="1"/>
          <p:nvPr/>
        </p:nvSpPr>
        <p:spPr>
          <a:xfrm>
            <a:off x="7947579" y="2952707"/>
            <a:ext cx="3736421" cy="2246769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2000" dirty="0" smtClean="0"/>
              <a:t>Una definición establece que estos algoritmos son todos aquellos que involucran redes con mas de dos capas ocultas y, al menos, alguna de las capas de una naturaleza distinta a la tradicional </a:t>
            </a:r>
            <a:r>
              <a:rPr lang="es-CO" sz="2000" b="1" i="1" dirty="0" smtClean="0"/>
              <a:t>fully-connected</a:t>
            </a:r>
            <a:r>
              <a:rPr lang="es-CO" sz="2000" dirty="0" smtClean="0"/>
              <a:t>. </a:t>
            </a:r>
            <a:endParaRPr lang="es-CO" sz="2000" dirty="0"/>
          </a:p>
        </p:txBody>
      </p:sp>
      <p:pic>
        <p:nvPicPr>
          <p:cNvPr id="1028" name="Picture 4" descr="Resultado de imagen para deep learn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923" y="2548832"/>
            <a:ext cx="5472503" cy="3648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291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2028272" y="6448553"/>
            <a:ext cx="84425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/>
              <a:t>https://www.houseofbots.com/news-detail/3620-4-most-popular-20-free-online-courses-to-learn-deep-learning</a:t>
            </a:r>
            <a:endParaRPr lang="es-CO" sz="1400" dirty="0"/>
          </a:p>
        </p:txBody>
      </p:sp>
      <p:sp>
        <p:nvSpPr>
          <p:cNvPr id="7" name="Rectangle 3">
            <a:extLst>
              <a:ext uri="{FF2B5EF4-FFF2-40B4-BE49-F238E27FC236}">
                <a16:creationId xmlns="" xmlns:a16="http://schemas.microsoft.com/office/drawing/2014/main" id="{44F6A84A-8AC6-44B0-8366-5283F1CF064C}"/>
              </a:ext>
            </a:extLst>
          </p:cNvPr>
          <p:cNvSpPr/>
          <p:nvPr/>
        </p:nvSpPr>
        <p:spPr>
          <a:xfrm>
            <a:off x="1081426" y="1866559"/>
            <a:ext cx="6096000" cy="430887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sz="2200" b="1" dirty="0" smtClean="0"/>
              <a:t>Algoritmos de deep learning</a:t>
            </a:r>
            <a:endParaRPr lang="es-CO" sz="2200" b="1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350" y="3402654"/>
            <a:ext cx="5948795" cy="2900795"/>
          </a:xfrm>
          <a:prstGeom prst="rect">
            <a:avLst/>
          </a:prstGeom>
        </p:spPr>
      </p:pic>
      <p:pic>
        <p:nvPicPr>
          <p:cNvPr id="17" name="Picture 2" descr="Resultado de imagen para car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9204" y="3414929"/>
            <a:ext cx="2083912" cy="1389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uadroTexto 20">
            <a:extLst>
              <a:ext uri="{FF2B5EF4-FFF2-40B4-BE49-F238E27FC236}">
                <a16:creationId xmlns="" xmlns:a16="http://schemas.microsoft.com/office/drawing/2014/main" id="{BD83AC6F-D3A1-443E-8F6E-3BCB9C009D09}"/>
              </a:ext>
            </a:extLst>
          </p:cNvPr>
          <p:cNvSpPr txBox="1"/>
          <p:nvPr/>
        </p:nvSpPr>
        <p:spPr>
          <a:xfrm>
            <a:off x="9776379" y="4804202"/>
            <a:ext cx="2729389" cy="58477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600" i="1" dirty="0" smtClean="0"/>
              <a:t>Podemos procesar las entradas directamente!</a:t>
            </a:r>
            <a:endParaRPr lang="es-CO" sz="1600" i="1" dirty="0"/>
          </a:p>
        </p:txBody>
      </p:sp>
      <p:sp>
        <p:nvSpPr>
          <p:cNvPr id="8" name="CuadroTexto 7">
            <a:extLst>
              <a:ext uri="{FF2B5EF4-FFF2-40B4-BE49-F238E27FC236}">
                <a16:creationId xmlns="" xmlns:a16="http://schemas.microsoft.com/office/drawing/2014/main" id="{BD83AC6F-D3A1-443E-8F6E-3BCB9C009D09}"/>
              </a:ext>
            </a:extLst>
          </p:cNvPr>
          <p:cNvSpPr txBox="1"/>
          <p:nvPr/>
        </p:nvSpPr>
        <p:spPr>
          <a:xfrm>
            <a:off x="1654708" y="2496107"/>
            <a:ext cx="7806792" cy="707886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2000" dirty="0" smtClean="0"/>
              <a:t>En particular están orientadas a la solución de problemas de clasificación en imágenes y video.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1119364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2194368" y="6410453"/>
            <a:ext cx="84425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/>
              <a:t>https://www.jessicayung.com/explaining-tensorflow-code-for-a-convolutional-neural-network/</a:t>
            </a:r>
            <a:endParaRPr lang="es-CO" sz="1400" dirty="0"/>
          </a:p>
        </p:txBody>
      </p:sp>
      <p:sp>
        <p:nvSpPr>
          <p:cNvPr id="7" name="Rectangle 3">
            <a:extLst>
              <a:ext uri="{FF2B5EF4-FFF2-40B4-BE49-F238E27FC236}">
                <a16:creationId xmlns="" xmlns:a16="http://schemas.microsoft.com/office/drawing/2014/main" id="{44F6A84A-8AC6-44B0-8366-5283F1CF064C}"/>
              </a:ext>
            </a:extLst>
          </p:cNvPr>
          <p:cNvSpPr/>
          <p:nvPr/>
        </p:nvSpPr>
        <p:spPr>
          <a:xfrm>
            <a:off x="1081426" y="1866559"/>
            <a:ext cx="6096000" cy="430887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sz="2200" b="1" dirty="0" smtClean="0"/>
              <a:t>Redes neuronales convolucionales</a:t>
            </a:r>
            <a:endParaRPr lang="es-CO" sz="22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="" xmlns:a16="http://schemas.microsoft.com/office/drawing/2014/main" id="{BD83AC6F-D3A1-443E-8F6E-3BCB9C009D09}"/>
              </a:ext>
            </a:extLst>
          </p:cNvPr>
          <p:cNvSpPr txBox="1"/>
          <p:nvPr/>
        </p:nvSpPr>
        <p:spPr>
          <a:xfrm>
            <a:off x="1540408" y="2483407"/>
            <a:ext cx="10118192" cy="707886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2000" dirty="0"/>
              <a:t>Estas redes conservan la estructura espacial </a:t>
            </a:r>
            <a:r>
              <a:rPr lang="es-CO" sz="2000" dirty="0" smtClean="0"/>
              <a:t>de los datos. </a:t>
            </a:r>
            <a:r>
              <a:rPr lang="es-CO" sz="2000" dirty="0"/>
              <a:t>S</a:t>
            </a:r>
            <a:r>
              <a:rPr lang="es-CO" sz="2000" dirty="0" smtClean="0"/>
              <a:t>e </a:t>
            </a:r>
            <a:r>
              <a:rPr lang="es-CO" sz="2000" dirty="0"/>
              <a:t>desarrollaron para tareas de </a:t>
            </a:r>
            <a:r>
              <a:rPr lang="es-CO" sz="2000" b="1" i="1" dirty="0"/>
              <a:t>reconocimiento</a:t>
            </a:r>
            <a:r>
              <a:rPr lang="es-CO" sz="2000" dirty="0"/>
              <a:t> de objetos como el reconocimiento de dígitos </a:t>
            </a:r>
            <a:r>
              <a:rPr lang="es-CO" sz="2000" dirty="0" smtClean="0"/>
              <a:t>escritos. </a:t>
            </a:r>
            <a:endParaRPr lang="es-CO" sz="2000" dirty="0"/>
          </a:p>
        </p:txBody>
      </p:sp>
      <p:pic>
        <p:nvPicPr>
          <p:cNvPr id="3074" name="Picture 2" descr="Resultado de imagen para convolutional neural netwo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876" y="3368947"/>
            <a:ext cx="8853488" cy="272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7501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540408" y="6410453"/>
            <a:ext cx="90964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/>
              <a:t>https://towardsdatascience.com/a-comprehensive-guide-to-convolutional-neural-networks-the-eli5-way-3bd2b1164a53</a:t>
            </a:r>
            <a:endParaRPr lang="es-CO" sz="1400" dirty="0"/>
          </a:p>
        </p:txBody>
      </p:sp>
      <p:sp>
        <p:nvSpPr>
          <p:cNvPr id="7" name="Rectangle 3">
            <a:extLst>
              <a:ext uri="{FF2B5EF4-FFF2-40B4-BE49-F238E27FC236}">
                <a16:creationId xmlns="" xmlns:a16="http://schemas.microsoft.com/office/drawing/2014/main" id="{44F6A84A-8AC6-44B0-8366-5283F1CF064C}"/>
              </a:ext>
            </a:extLst>
          </p:cNvPr>
          <p:cNvSpPr/>
          <p:nvPr/>
        </p:nvSpPr>
        <p:spPr>
          <a:xfrm>
            <a:off x="1081426" y="1866559"/>
            <a:ext cx="6096000" cy="430887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sz="2200" b="1" dirty="0" smtClean="0"/>
              <a:t>Redes neuronales convolucionales</a:t>
            </a:r>
            <a:endParaRPr lang="es-CO" sz="22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="" xmlns:a16="http://schemas.microsoft.com/office/drawing/2014/main" id="{BD83AC6F-D3A1-443E-8F6E-3BCB9C009D09}"/>
              </a:ext>
            </a:extLst>
          </p:cNvPr>
          <p:cNvSpPr txBox="1"/>
          <p:nvPr/>
        </p:nvSpPr>
        <p:spPr>
          <a:xfrm>
            <a:off x="1540408" y="2483407"/>
            <a:ext cx="10118192" cy="707886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2000" dirty="0" smtClean="0"/>
              <a:t>Su estructura la componen tres módulos principales: los filtros (capas convolucionales), el sub-muestreo (</a:t>
            </a:r>
            <a:r>
              <a:rPr lang="es-CO" sz="2000" b="1" i="1" dirty="0" err="1" smtClean="0"/>
              <a:t>max-pooling</a:t>
            </a:r>
            <a:r>
              <a:rPr lang="es-CO" sz="2000" dirty="0" smtClean="0"/>
              <a:t>) y un perceptrón.</a:t>
            </a:r>
            <a:endParaRPr lang="es-CO" sz="2000" dirty="0"/>
          </a:p>
        </p:txBody>
      </p:sp>
      <p:pic>
        <p:nvPicPr>
          <p:cNvPr id="4098" name="Picture 2" descr="Resultado de imagen para convolutional neural netwo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432" y="3215207"/>
            <a:ext cx="8981123" cy="3034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5916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7905854" y="6054853"/>
            <a:ext cx="23953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/>
              <a:t>C. Trujillo and J. </a:t>
            </a:r>
            <a:r>
              <a:rPr lang="es-CO" sz="1400" dirty="0" err="1"/>
              <a:t>Garcia-Sucerquia</a:t>
            </a:r>
            <a:endParaRPr lang="es-CO" sz="1400" dirty="0"/>
          </a:p>
        </p:txBody>
      </p:sp>
      <p:sp>
        <p:nvSpPr>
          <p:cNvPr id="7" name="Rectangle 3">
            <a:extLst>
              <a:ext uri="{FF2B5EF4-FFF2-40B4-BE49-F238E27FC236}">
                <a16:creationId xmlns="" xmlns:a16="http://schemas.microsoft.com/office/drawing/2014/main" id="{44F6A84A-8AC6-44B0-8366-5283F1CF064C}"/>
              </a:ext>
            </a:extLst>
          </p:cNvPr>
          <p:cNvSpPr/>
          <p:nvPr/>
        </p:nvSpPr>
        <p:spPr>
          <a:xfrm>
            <a:off x="1081426" y="1866559"/>
            <a:ext cx="6096000" cy="430887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sz="2200" b="1" dirty="0" smtClean="0"/>
              <a:t>Redes neuronales convolucionales</a:t>
            </a:r>
            <a:endParaRPr lang="es-CO" sz="22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="" xmlns:a16="http://schemas.microsoft.com/office/drawing/2014/main" id="{BD83AC6F-D3A1-443E-8F6E-3BCB9C009D09}"/>
              </a:ext>
            </a:extLst>
          </p:cNvPr>
          <p:cNvSpPr txBox="1"/>
          <p:nvPr/>
        </p:nvSpPr>
        <p:spPr>
          <a:xfrm>
            <a:off x="1540408" y="2483407"/>
            <a:ext cx="10118192" cy="1015663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2000" dirty="0" smtClean="0"/>
              <a:t>Los </a:t>
            </a:r>
            <a:r>
              <a:rPr lang="es-CO" sz="2000" b="1" i="1" dirty="0" smtClean="0"/>
              <a:t>filtros</a:t>
            </a:r>
            <a:r>
              <a:rPr lang="es-CO" sz="2000" dirty="0" smtClean="0"/>
              <a:t> son los componentes fundamentales de la capa convolucional, a partir de ellos se construyen los </a:t>
            </a:r>
            <a:r>
              <a:rPr lang="es-CO" sz="2000" b="1" i="1" dirty="0" smtClean="0"/>
              <a:t>mapas de características</a:t>
            </a:r>
            <a:r>
              <a:rPr lang="es-CO" sz="2000" dirty="0" smtClean="0"/>
              <a:t>. Cada uno se enfoca en una determinada característica que </a:t>
            </a:r>
            <a:r>
              <a:rPr lang="es-CO" sz="2000" b="1" i="1" dirty="0" smtClean="0"/>
              <a:t>“busca” </a:t>
            </a:r>
            <a:r>
              <a:rPr lang="es-CO" sz="2000" dirty="0" smtClean="0"/>
              <a:t>en la imagen a procesar.</a:t>
            </a:r>
            <a:endParaRPr lang="es-CO" sz="20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831" y="3652930"/>
            <a:ext cx="5345736" cy="307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246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="" xmlns:a16="http://schemas.microsoft.com/office/drawing/2014/main" id="{44F6A84A-8AC6-44B0-8366-5283F1CF064C}"/>
              </a:ext>
            </a:extLst>
          </p:cNvPr>
          <p:cNvSpPr/>
          <p:nvPr/>
        </p:nvSpPr>
        <p:spPr>
          <a:xfrm>
            <a:off x="1081426" y="1866559"/>
            <a:ext cx="6096000" cy="430887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sz="2200" b="1" dirty="0" smtClean="0"/>
              <a:t>Redes neuronales convolucionales</a:t>
            </a:r>
            <a:endParaRPr lang="es-CO" sz="22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="" xmlns:a16="http://schemas.microsoft.com/office/drawing/2014/main" id="{BD83AC6F-D3A1-443E-8F6E-3BCB9C009D09}"/>
              </a:ext>
            </a:extLst>
          </p:cNvPr>
          <p:cNvSpPr txBox="1"/>
          <p:nvPr/>
        </p:nvSpPr>
        <p:spPr>
          <a:xfrm>
            <a:off x="1540408" y="2483407"/>
            <a:ext cx="10118192" cy="1015663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2000" dirty="0" smtClean="0"/>
              <a:t>Las capas </a:t>
            </a:r>
            <a:r>
              <a:rPr lang="es-CO" sz="2000" b="1" i="1" dirty="0" err="1" smtClean="0"/>
              <a:t>pooling</a:t>
            </a:r>
            <a:r>
              <a:rPr lang="es-CO" sz="2000" dirty="0" smtClean="0"/>
              <a:t> sub-muestrean la información que se obtiene para cada mapa de características. A través de este proceso consolidan la información obtenida en una etapa convolucional.</a:t>
            </a:r>
            <a:endParaRPr lang="es-CO" sz="2000" dirty="0"/>
          </a:p>
        </p:txBody>
      </p:sp>
      <p:pic>
        <p:nvPicPr>
          <p:cNvPr id="5122" name="Picture 2" descr="https://upload.wikimedia.org/wikipedia/commons/e/e9/Max_pool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1744" y="3722859"/>
            <a:ext cx="4935682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/>
          <p:cNvSpPr/>
          <p:nvPr/>
        </p:nvSpPr>
        <p:spPr>
          <a:xfrm>
            <a:off x="5233557" y="6272582"/>
            <a:ext cx="561493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/>
              <a:t>https://en.wikipedia.org/wiki/Convolutional_neural_network</a:t>
            </a:r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2420981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="" xmlns:a16="http://schemas.microsoft.com/office/drawing/2014/main" id="{44F6A84A-8AC6-44B0-8366-5283F1CF064C}"/>
              </a:ext>
            </a:extLst>
          </p:cNvPr>
          <p:cNvSpPr/>
          <p:nvPr/>
        </p:nvSpPr>
        <p:spPr>
          <a:xfrm>
            <a:off x="1081426" y="1866559"/>
            <a:ext cx="6096000" cy="430887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sz="2200" b="1" dirty="0" smtClean="0"/>
              <a:t>Redes neuronales convolucionales</a:t>
            </a:r>
            <a:endParaRPr lang="es-CO" sz="22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="" xmlns:a16="http://schemas.microsoft.com/office/drawing/2014/main" id="{BD83AC6F-D3A1-443E-8F6E-3BCB9C009D09}"/>
              </a:ext>
            </a:extLst>
          </p:cNvPr>
          <p:cNvSpPr txBox="1"/>
          <p:nvPr/>
        </p:nvSpPr>
        <p:spPr>
          <a:xfrm>
            <a:off x="1540408" y="2483407"/>
            <a:ext cx="10118192" cy="707886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2000" dirty="0" smtClean="0"/>
              <a:t>El </a:t>
            </a:r>
            <a:r>
              <a:rPr lang="es-CO" sz="2000" b="1" i="1" dirty="0" smtClean="0"/>
              <a:t>perceptrón</a:t>
            </a:r>
            <a:r>
              <a:rPr lang="es-CO" sz="2000" dirty="0" smtClean="0"/>
              <a:t> es quien finalmente lleva a cabo la tarea de clasificación (o regresión) a partir de las </a:t>
            </a:r>
            <a:r>
              <a:rPr lang="es-CO" sz="2000" b="1" i="1" dirty="0" smtClean="0"/>
              <a:t>características extraídas </a:t>
            </a:r>
            <a:r>
              <a:rPr lang="es-CO" sz="2000" dirty="0" smtClean="0"/>
              <a:t>en las etapas convolucionales.</a:t>
            </a:r>
            <a:endParaRPr lang="es-CO" sz="2000" dirty="0"/>
          </a:p>
        </p:txBody>
      </p:sp>
      <p:sp>
        <p:nvSpPr>
          <p:cNvPr id="6" name="Rectángulo 5"/>
          <p:cNvSpPr/>
          <p:nvPr/>
        </p:nvSpPr>
        <p:spPr>
          <a:xfrm>
            <a:off x="1540408" y="6410453"/>
            <a:ext cx="90964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/>
              <a:t>https://towardsdatascience.com/a-comprehensive-guide-to-convolutional-neural-networks-the-eli5-way-3bd2b1164a53</a:t>
            </a:r>
            <a:endParaRPr lang="es-CO" sz="1400" dirty="0"/>
          </a:p>
        </p:txBody>
      </p:sp>
      <p:pic>
        <p:nvPicPr>
          <p:cNvPr id="9" name="Picture 2" descr="Resultado de imagen para convolutional neural netwo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432" y="3215207"/>
            <a:ext cx="8981123" cy="3034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lipse 1"/>
          <p:cNvSpPr/>
          <p:nvPr/>
        </p:nvSpPr>
        <p:spPr>
          <a:xfrm>
            <a:off x="8229600" y="3215207"/>
            <a:ext cx="2946400" cy="291889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0834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="" xmlns:a16="http://schemas.microsoft.com/office/drawing/2014/main" id="{44F6A84A-8AC6-44B0-8366-5283F1CF064C}"/>
              </a:ext>
            </a:extLst>
          </p:cNvPr>
          <p:cNvSpPr/>
          <p:nvPr/>
        </p:nvSpPr>
        <p:spPr>
          <a:xfrm>
            <a:off x="1081426" y="1866559"/>
            <a:ext cx="6096000" cy="430887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sz="2200" b="1" dirty="0" smtClean="0"/>
              <a:t>Redes neuronales convolucionales</a:t>
            </a:r>
            <a:endParaRPr lang="es-CO" sz="22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="" xmlns:a16="http://schemas.microsoft.com/office/drawing/2014/main" id="{BD83AC6F-D3A1-443E-8F6E-3BCB9C009D09}"/>
              </a:ext>
            </a:extLst>
          </p:cNvPr>
          <p:cNvSpPr txBox="1"/>
          <p:nvPr/>
        </p:nvSpPr>
        <p:spPr>
          <a:xfrm>
            <a:off x="1540408" y="2483407"/>
            <a:ext cx="10118192" cy="378565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2000" dirty="0" smtClean="0"/>
              <a:t>Algunos </a:t>
            </a:r>
            <a:r>
              <a:rPr lang="es-CO" sz="2000" b="1" i="1" dirty="0" smtClean="0"/>
              <a:t>trucos</a:t>
            </a:r>
            <a:r>
              <a:rPr lang="es-CO" sz="2000" dirty="0" smtClean="0"/>
              <a:t> con las CNN</a:t>
            </a:r>
          </a:p>
          <a:p>
            <a:endParaRPr lang="es-CO" sz="2000" dirty="0"/>
          </a:p>
          <a:p>
            <a:pPr marL="342900" indent="-342900">
              <a:buFontTx/>
              <a:buChar char="-"/>
            </a:pPr>
            <a:r>
              <a:rPr lang="es-CO" sz="2000" dirty="0" smtClean="0"/>
              <a:t>El tamaño del campo receptivo de los filtros debe ser más grande, a medida que se emplean imágenes más grandes.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El paso puede ser más grande, si la imagen a procesar es más grande.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El número de filtros por capa convolucional aumenta, a medida que nos vamos adentrando en la red.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El campo receptivo del </a:t>
            </a:r>
            <a:r>
              <a:rPr lang="es-CO" sz="2000" b="1" i="1" dirty="0" err="1" smtClean="0"/>
              <a:t>pooling</a:t>
            </a:r>
            <a:r>
              <a:rPr lang="es-CO" sz="2000" dirty="0" smtClean="0"/>
              <a:t> normalmente es de 2x2, para descartar el 75% de los datos de etapas anteriores (y así evitar </a:t>
            </a:r>
            <a:r>
              <a:rPr lang="es-CO" sz="2000" b="1" i="1" dirty="0" smtClean="0"/>
              <a:t>overfitting</a:t>
            </a:r>
            <a:r>
              <a:rPr lang="es-CO" sz="2000" dirty="0" smtClean="0"/>
              <a:t>).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Hay que emplear </a:t>
            </a:r>
            <a:r>
              <a:rPr lang="es-CO" sz="2000" b="1" i="1" dirty="0" smtClean="0"/>
              <a:t>data </a:t>
            </a:r>
            <a:r>
              <a:rPr lang="es-CO" sz="2000" b="1" i="1" dirty="0" err="1" smtClean="0"/>
              <a:t>augmentation</a:t>
            </a:r>
            <a:r>
              <a:rPr lang="es-CO" sz="2000" dirty="0" smtClean="0"/>
              <a:t>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Hay que emplear </a:t>
            </a:r>
            <a:r>
              <a:rPr lang="es-CO" sz="2000" b="1" i="1" dirty="0" err="1" smtClean="0"/>
              <a:t>dropout</a:t>
            </a:r>
            <a:r>
              <a:rPr lang="es-CO" sz="2000" dirty="0" smtClean="0"/>
              <a:t> para evitar </a:t>
            </a:r>
            <a:r>
              <a:rPr lang="es-CO" sz="2000" b="1" i="1" dirty="0" err="1" smtClean="0"/>
              <a:t>overtiffing</a:t>
            </a:r>
            <a:r>
              <a:rPr lang="es-CO" sz="2000" dirty="0" smtClean="0"/>
              <a:t>.</a:t>
            </a:r>
          </a:p>
          <a:p>
            <a:endParaRPr lang="es-CO" sz="2000" dirty="0"/>
          </a:p>
        </p:txBody>
      </p:sp>
      <p:sp>
        <p:nvSpPr>
          <p:cNvPr id="6" name="Rectángulo 5"/>
          <p:cNvSpPr/>
          <p:nvPr/>
        </p:nvSpPr>
        <p:spPr>
          <a:xfrm>
            <a:off x="3686708" y="6269059"/>
            <a:ext cx="68796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dirty="0"/>
              <a:t>https://machinelearningmastery.com/crash-course-convolutional-neural-networks/</a:t>
            </a:r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570368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="" xmlns:a16="http://schemas.microsoft.com/office/drawing/2014/main" id="{44F6A84A-8AC6-44B0-8366-5283F1CF064C}"/>
              </a:ext>
            </a:extLst>
          </p:cNvPr>
          <p:cNvSpPr/>
          <p:nvPr/>
        </p:nvSpPr>
        <p:spPr>
          <a:xfrm>
            <a:off x="1081426" y="1866559"/>
            <a:ext cx="6096000" cy="430887"/>
          </a:xfrm>
          <a:prstGeom prst="rect">
            <a:avLst/>
          </a:prstGeom>
        </p:spPr>
        <p:txBody>
          <a:bodyPr anchor="t">
            <a:spAutoFit/>
          </a:bodyPr>
          <a:lstStyle/>
          <a:p>
            <a:r>
              <a:rPr lang="es-CO" sz="2200" b="1" dirty="0" smtClean="0"/>
              <a:t>Referencias</a:t>
            </a:r>
            <a:endParaRPr lang="es-CO" sz="2200" b="1" dirty="0"/>
          </a:p>
        </p:txBody>
      </p:sp>
      <p:sp>
        <p:nvSpPr>
          <p:cNvPr id="2" name="Rectángulo 1"/>
          <p:cNvSpPr/>
          <p:nvPr/>
        </p:nvSpPr>
        <p:spPr>
          <a:xfrm>
            <a:off x="1447800" y="2670939"/>
            <a:ext cx="8509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err="1">
                <a:solidFill>
                  <a:srgbClr val="000000"/>
                </a:solidFill>
              </a:rPr>
              <a:t>Andriy</a:t>
            </a:r>
            <a:r>
              <a:rPr lang="es-CO" dirty="0">
                <a:solidFill>
                  <a:srgbClr val="000000"/>
                </a:solidFill>
              </a:rPr>
              <a:t> </a:t>
            </a:r>
            <a:r>
              <a:rPr lang="es-CO" dirty="0" err="1">
                <a:solidFill>
                  <a:srgbClr val="000000"/>
                </a:solidFill>
              </a:rPr>
              <a:t>Burkov</a:t>
            </a:r>
            <a:r>
              <a:rPr lang="es-CO" dirty="0">
                <a:solidFill>
                  <a:srgbClr val="000000"/>
                </a:solidFill>
              </a:rPr>
              <a:t>, “</a:t>
            </a:r>
            <a:r>
              <a:rPr lang="es-CO" dirty="0" err="1">
                <a:solidFill>
                  <a:srgbClr val="000000"/>
                </a:solidFill>
              </a:rPr>
              <a:t>The</a:t>
            </a:r>
            <a:r>
              <a:rPr lang="es-CO" dirty="0">
                <a:solidFill>
                  <a:srgbClr val="000000"/>
                </a:solidFill>
              </a:rPr>
              <a:t> </a:t>
            </a:r>
            <a:r>
              <a:rPr lang="es-CO" dirty="0" err="1">
                <a:solidFill>
                  <a:srgbClr val="000000"/>
                </a:solidFill>
              </a:rPr>
              <a:t>hundred</a:t>
            </a:r>
            <a:r>
              <a:rPr lang="es-CO" dirty="0">
                <a:solidFill>
                  <a:srgbClr val="000000"/>
                </a:solidFill>
              </a:rPr>
              <a:t>-page machine learning </a:t>
            </a:r>
            <a:r>
              <a:rPr lang="es-CO" dirty="0" err="1">
                <a:solidFill>
                  <a:srgbClr val="000000"/>
                </a:solidFill>
              </a:rPr>
              <a:t>book</a:t>
            </a:r>
            <a:r>
              <a:rPr lang="es-CO" dirty="0">
                <a:solidFill>
                  <a:srgbClr val="000000"/>
                </a:solidFill>
              </a:rPr>
              <a:t>”, </a:t>
            </a:r>
            <a:r>
              <a:rPr lang="es-CO" dirty="0" err="1">
                <a:solidFill>
                  <a:srgbClr val="000000"/>
                </a:solidFill>
              </a:rPr>
              <a:t>chapter</a:t>
            </a:r>
            <a:r>
              <a:rPr lang="es-CO" dirty="0">
                <a:solidFill>
                  <a:srgbClr val="000000"/>
                </a:solidFill>
              </a:rPr>
              <a:t> 6</a:t>
            </a:r>
            <a:r>
              <a:rPr lang="es-CO" dirty="0" smtClean="0">
                <a:solidFill>
                  <a:srgbClr val="000000"/>
                </a:solidFill>
              </a:rPr>
              <a:t>.</a:t>
            </a:r>
          </a:p>
          <a:p>
            <a:endParaRPr lang="es-CO" dirty="0" smtClean="0">
              <a:solidFill>
                <a:srgbClr val="000000"/>
              </a:solidFill>
            </a:endParaRPr>
          </a:p>
          <a:p>
            <a:r>
              <a:rPr lang="es-CO" dirty="0" err="1" smtClean="0">
                <a:solidFill>
                  <a:srgbClr val="000000"/>
                </a:solidFill>
              </a:rPr>
              <a:t>Shai</a:t>
            </a:r>
            <a:r>
              <a:rPr lang="es-CO" dirty="0" smtClean="0">
                <a:solidFill>
                  <a:srgbClr val="000000"/>
                </a:solidFill>
              </a:rPr>
              <a:t> </a:t>
            </a:r>
            <a:r>
              <a:rPr lang="es-CO" dirty="0" err="1">
                <a:solidFill>
                  <a:srgbClr val="000000"/>
                </a:solidFill>
              </a:rPr>
              <a:t>Shalev-Shwartz</a:t>
            </a:r>
            <a:r>
              <a:rPr lang="es-CO" dirty="0">
                <a:solidFill>
                  <a:srgbClr val="000000"/>
                </a:solidFill>
              </a:rPr>
              <a:t> and </a:t>
            </a:r>
            <a:r>
              <a:rPr lang="es-CO" dirty="0" err="1">
                <a:solidFill>
                  <a:srgbClr val="000000"/>
                </a:solidFill>
              </a:rPr>
              <a:t>Shai</a:t>
            </a:r>
            <a:r>
              <a:rPr lang="es-CO" dirty="0">
                <a:solidFill>
                  <a:srgbClr val="000000"/>
                </a:solidFill>
              </a:rPr>
              <a:t> Ben-David “</a:t>
            </a:r>
            <a:r>
              <a:rPr lang="es-CO" dirty="0" err="1">
                <a:solidFill>
                  <a:srgbClr val="000000"/>
                </a:solidFill>
              </a:rPr>
              <a:t>Understanding</a:t>
            </a:r>
            <a:r>
              <a:rPr lang="es-CO" dirty="0">
                <a:solidFill>
                  <a:srgbClr val="000000"/>
                </a:solidFill>
              </a:rPr>
              <a:t> Machine Learning: </a:t>
            </a:r>
            <a:r>
              <a:rPr lang="es-CO" dirty="0" err="1"/>
              <a:t>From</a:t>
            </a:r>
            <a:r>
              <a:rPr lang="es-CO" dirty="0"/>
              <a:t> </a:t>
            </a:r>
            <a:r>
              <a:rPr lang="es-CO" dirty="0" err="1"/>
              <a:t>Theory</a:t>
            </a:r>
            <a:r>
              <a:rPr lang="es-CO" dirty="0"/>
              <a:t> </a:t>
            </a:r>
            <a:r>
              <a:rPr lang="es-CO" dirty="0" err="1" smtClean="0"/>
              <a:t>to</a:t>
            </a:r>
            <a:r>
              <a:rPr lang="es-CO" dirty="0" smtClean="0"/>
              <a:t> </a:t>
            </a:r>
            <a:r>
              <a:rPr lang="es-CO" dirty="0" err="1" smtClean="0"/>
              <a:t>Algorithms</a:t>
            </a:r>
            <a:r>
              <a:rPr lang="es-CO" dirty="0"/>
              <a:t>”, </a:t>
            </a:r>
            <a:r>
              <a:rPr lang="es-CO" dirty="0" err="1"/>
              <a:t>chapter</a:t>
            </a:r>
            <a:r>
              <a:rPr lang="es-CO" dirty="0"/>
              <a:t> 20</a:t>
            </a:r>
            <a:r>
              <a:rPr lang="es-CO" dirty="0" smtClean="0"/>
              <a:t>.</a:t>
            </a:r>
          </a:p>
          <a:p>
            <a:r>
              <a:rPr lang="es-CO" dirty="0"/>
              <a:t/>
            </a:r>
            <a:br>
              <a:rPr lang="es-CO" dirty="0"/>
            </a:br>
            <a:r>
              <a:rPr lang="es-CO" dirty="0" smtClean="0">
                <a:hlinkClick r:id="rId2"/>
              </a:rPr>
              <a:t>https</a:t>
            </a:r>
            <a:r>
              <a:rPr lang="es-CO" dirty="0">
                <a:hlinkClick r:id="rId2"/>
              </a:rPr>
              <a:t>://machinelearningmastery.com/regression-tutorial-keras-deep-learning-library-python</a:t>
            </a:r>
            <a:r>
              <a:rPr lang="es-CO" dirty="0" smtClean="0">
                <a:hlinkClick r:id="rId2"/>
              </a:rPr>
              <a:t>/</a:t>
            </a:r>
            <a:endParaRPr lang="es-CO" dirty="0" smtClean="0"/>
          </a:p>
          <a:p>
            <a:r>
              <a:rPr lang="es-CO" dirty="0"/>
              <a:t/>
            </a:r>
            <a:br>
              <a:rPr lang="es-CO" dirty="0"/>
            </a:br>
            <a:r>
              <a:rPr lang="es-CO" dirty="0" smtClean="0">
                <a:hlinkClick r:id="rId3"/>
              </a:rPr>
              <a:t>https</a:t>
            </a:r>
            <a:r>
              <a:rPr lang="es-CO" dirty="0">
                <a:hlinkClick r:id="rId3"/>
              </a:rPr>
              <a:t>://machinelearningmastery.com/tutorial-first-neural-network-python-keras</a:t>
            </a:r>
            <a:r>
              <a:rPr lang="es-CO" dirty="0" smtClean="0">
                <a:hlinkClick r:id="rId3"/>
              </a:rPr>
              <a:t>/</a:t>
            </a:r>
            <a:endParaRPr lang="es-CO" dirty="0" smtClean="0"/>
          </a:p>
          <a:p>
            <a:endParaRPr lang="es-CO" dirty="0"/>
          </a:p>
          <a:p>
            <a:r>
              <a:rPr lang="es-CO" dirty="0" err="1"/>
              <a:t>Lecun</a:t>
            </a:r>
            <a:r>
              <a:rPr lang="es-CO" dirty="0"/>
              <a:t> Y, </a:t>
            </a:r>
            <a:r>
              <a:rPr lang="es-CO" dirty="0" err="1"/>
              <a:t>Bengio</a:t>
            </a:r>
            <a:r>
              <a:rPr lang="es-CO" dirty="0"/>
              <a:t> Y, </a:t>
            </a:r>
            <a:r>
              <a:rPr lang="es-CO" dirty="0" err="1"/>
              <a:t>Hinton</a:t>
            </a:r>
            <a:r>
              <a:rPr lang="es-CO" dirty="0"/>
              <a:t> G. Deep learning. </a:t>
            </a:r>
            <a:r>
              <a:rPr lang="es-CO" dirty="0" err="1"/>
              <a:t>Nature</a:t>
            </a:r>
            <a:r>
              <a:rPr lang="es-CO" dirty="0"/>
              <a:t> 2015;521:436–44</a:t>
            </a:r>
            <a:r>
              <a:rPr lang="es-CO" dirty="0"/>
              <a:t> </a:t>
            </a:r>
            <a:br>
              <a:rPr lang="es-CO" dirty="0"/>
            </a:br>
            <a:endParaRPr lang="es-CO" dirty="0" smtClean="0"/>
          </a:p>
          <a:p>
            <a:endParaRPr lang="es-CO" dirty="0" smtClean="0"/>
          </a:p>
          <a:p>
            <a:r>
              <a:rPr lang="es-CO" dirty="0"/>
              <a:t/>
            </a:r>
            <a:br>
              <a:rPr lang="es-CO" dirty="0"/>
            </a:b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86411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1712</TotalTime>
  <Words>695</Words>
  <Application>Microsoft Office PowerPoint</Application>
  <PresentationFormat>Panorámica</PresentationFormat>
  <Paragraphs>85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Andres Rodriguez Andrade</dc:creator>
  <cp:lastModifiedBy>Carlos Alejandro Trujillo Anaya</cp:lastModifiedBy>
  <cp:revision>357</cp:revision>
  <dcterms:created xsi:type="dcterms:W3CDTF">2017-07-31T19:21:32Z</dcterms:created>
  <dcterms:modified xsi:type="dcterms:W3CDTF">2019-05-23T00:20:59Z</dcterms:modified>
</cp:coreProperties>
</file>
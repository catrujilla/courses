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7" r:id="rId13"/>
    <p:sldId id="286" r:id="rId14"/>
    <p:sldId id="288" r:id="rId15"/>
    <p:sldId id="289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10" autoAdjust="0"/>
  </p:normalViewPr>
  <p:slideViewPr>
    <p:cSldViewPr snapToGrid="0">
      <p:cViewPr varScale="1">
        <p:scale>
          <a:sx n="81" d="100"/>
          <a:sy n="81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28/07/2020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060535" y="1928733"/>
            <a:ext cx="10789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600" dirty="0"/>
              <a:t>Algoritmos genéticos</a:t>
            </a:r>
          </a:p>
          <a:p>
            <a:r>
              <a:rPr lang="es-CO" sz="2400" dirty="0"/>
              <a:t>Marzo 4 de 2019 - Marzo 6 de 2019 </a:t>
            </a:r>
          </a:p>
          <a:p>
            <a:r>
              <a:rPr lang="es-CO" sz="2400" dirty="0"/>
              <a:t> </a:t>
            </a:r>
          </a:p>
          <a:p>
            <a:endParaRPr lang="es-CO" sz="3600" dirty="0">
              <a:solidFill>
                <a:srgbClr val="FF0000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422400" y="3265438"/>
            <a:ext cx="10287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/>
              <a:t>Introducción</a:t>
            </a:r>
          </a:p>
          <a:p>
            <a:r>
              <a:rPr lang="es-CO" sz="2400" dirty="0"/>
              <a:t>Estructura de un algoritmo genético</a:t>
            </a:r>
          </a:p>
          <a:p>
            <a:r>
              <a:rPr lang="es-CO" sz="2400" dirty="0"/>
              <a:t>Ejemplos de implementación y aplicaciones</a:t>
            </a:r>
          </a:p>
          <a:p>
            <a:endParaRPr lang="es-CO" sz="2400" dirty="0"/>
          </a:p>
        </p:txBody>
      </p:sp>
      <p:sp>
        <p:nvSpPr>
          <p:cNvPr id="4" name="Rectángulo 3"/>
          <p:cNvSpPr/>
          <p:nvPr/>
        </p:nvSpPr>
        <p:spPr>
          <a:xfrm>
            <a:off x="2288032" y="5342929"/>
            <a:ext cx="1028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Docente: Carlos Alejandro Trujillo Anaya – </a:t>
            </a:r>
            <a:r>
              <a:rPr lang="es-CO" b="1" dirty="0"/>
              <a:t>carlostrujillo@itm.edu.co</a:t>
            </a:r>
            <a:endParaRPr lang="es-CO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7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57378" y="1447571"/>
            <a:ext cx="43421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Algoritmos genéticos - Introducción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6542133" y="2971897"/>
            <a:ext cx="43853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La naturaleza tiene una forma robusta de evolucionar organismos exitosos.</a:t>
            </a:r>
            <a:endParaRPr lang="es-CO" dirty="0"/>
          </a:p>
        </p:txBody>
      </p:sp>
      <p:sp>
        <p:nvSpPr>
          <p:cNvPr id="8" name="Rectángulo 23">
            <a:extLst>
              <a:ext uri="{FF2B5EF4-FFF2-40B4-BE49-F238E27FC236}">
                <a16:creationId xmlns:a16="http://schemas.microsoft.com/office/drawing/2014/main" id="{95295EE0-F9F3-4149-A8CB-FA5E3A8F8C29}"/>
              </a:ext>
            </a:extLst>
          </p:cNvPr>
          <p:cNvSpPr/>
          <p:nvPr/>
        </p:nvSpPr>
        <p:spPr>
          <a:xfrm>
            <a:off x="2073190" y="5658526"/>
            <a:ext cx="42450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https://www.biografiasyvidas.com/monografia/darwin/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B4114-9EE7-4172-BE34-F54826FB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89" y="2393399"/>
            <a:ext cx="4000500" cy="3190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5819192" y="41051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dirty="0"/>
              <a:t>Los organismos que son inadecuados para un ambiente se extinguen, mientras que los que son aptos viven para reproducirse.</a:t>
            </a:r>
            <a:endParaRPr lang="en-US" dirty="0"/>
          </a:p>
        </p:txBody>
      </p:sp>
      <p:sp>
        <p:nvSpPr>
          <p:cNvPr id="10" name="Rectángulo 5">
            <a:extLst>
              <a:ext uri="{FF2B5EF4-FFF2-40B4-BE49-F238E27FC236}">
                <a16:creationId xmlns:a16="http://schemas.microsoft.com/office/drawing/2014/main" id="{60DAA665-A16D-476E-BEAC-6EFF755542DB}"/>
              </a:ext>
            </a:extLst>
          </p:cNvPr>
          <p:cNvSpPr/>
          <p:nvPr/>
        </p:nvSpPr>
        <p:spPr>
          <a:xfrm>
            <a:off x="7674760" y="5289194"/>
            <a:ext cx="424043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400" i="1" dirty="0"/>
              <a:t>“Artificial </a:t>
            </a:r>
            <a:r>
              <a:rPr lang="es-CO" sz="1400" i="1" dirty="0" err="1"/>
              <a:t>Intelligence</a:t>
            </a:r>
            <a:r>
              <a:rPr lang="es-CO" sz="1400" i="1" dirty="0"/>
              <a:t>: A </a:t>
            </a:r>
            <a:r>
              <a:rPr lang="es-CO" sz="1400" i="1" dirty="0" err="1"/>
              <a:t>modern</a:t>
            </a:r>
            <a:r>
              <a:rPr lang="es-CO" sz="1400" i="1" dirty="0"/>
              <a:t> </a:t>
            </a:r>
            <a:r>
              <a:rPr lang="es-CO" sz="1400" i="1" dirty="0" err="1"/>
              <a:t>approach</a:t>
            </a:r>
            <a:r>
              <a:rPr lang="es-CO" sz="1400" i="1" dirty="0"/>
              <a:t>”, </a:t>
            </a:r>
            <a:r>
              <a:rPr lang="es-CO" sz="1400" dirty="0"/>
              <a:t>S.J. Russell and P. </a:t>
            </a:r>
            <a:r>
              <a:rPr lang="es-CO" sz="1400" dirty="0" err="1"/>
              <a:t>Norvig</a:t>
            </a:r>
            <a:r>
              <a:rPr lang="es-CO" sz="1400" dirty="0"/>
              <a:t>. Capítulo 20.</a:t>
            </a:r>
          </a:p>
          <a:p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400878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57378" y="1447571"/>
            <a:ext cx="434215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Algoritmos genéticos - Introducción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464606" y="2139150"/>
            <a:ext cx="7127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Son estrategias de optimización que </a:t>
            </a:r>
            <a:r>
              <a:rPr lang="es-ES" b="1" i="1" dirty="0"/>
              <a:t>imitan</a:t>
            </a:r>
            <a:r>
              <a:rPr lang="es-ES" dirty="0"/>
              <a:t> la selección natural…</a:t>
            </a:r>
            <a:endParaRPr lang="es-C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5385233" y="486255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ES" dirty="0"/>
              <a:t>Supervivencia del más apto!</a:t>
            </a:r>
            <a:endParaRPr lang="en-US" dirty="0"/>
          </a:p>
        </p:txBody>
      </p:sp>
      <p:sp>
        <p:nvSpPr>
          <p:cNvPr id="2" name="Rectángulo 1"/>
          <p:cNvSpPr/>
          <p:nvPr/>
        </p:nvSpPr>
        <p:spPr>
          <a:xfrm>
            <a:off x="2562199" y="5985068"/>
            <a:ext cx="4170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https://quantdare.com/ga-to-define-a-trading-system/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476" y="2764577"/>
            <a:ext cx="338137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1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24982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/>
              <a:t>Qué se requiere?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533670" y="2775135"/>
            <a:ext cx="87371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ES" dirty="0"/>
              <a:t>Un problema para resolver.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Una función de aptitud (la que nos permite definir qué tan buena es una solución dada).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r>
              <a:rPr lang="es-ES" dirty="0"/>
              <a:t>Una representación de las posibles soluciones como </a:t>
            </a:r>
            <a:r>
              <a:rPr lang="es-ES" b="1" i="1" dirty="0"/>
              <a:t>ADN</a:t>
            </a:r>
            <a:r>
              <a:rPr lang="es-ES" dirty="0"/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2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5594777" y="4355238"/>
            <a:ext cx="4075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Intentar</a:t>
            </a:r>
            <a:r>
              <a:rPr lang="en-US" dirty="0"/>
              <a:t> resolver un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via </a:t>
            </a:r>
            <a:r>
              <a:rPr lang="en-US" dirty="0" err="1"/>
              <a:t>fuerza</a:t>
            </a:r>
            <a:r>
              <a:rPr lang="en-US" dirty="0"/>
              <a:t> </a:t>
            </a:r>
            <a:r>
              <a:rPr lang="en-US" dirty="0" err="1"/>
              <a:t>bruta</a:t>
            </a:r>
            <a:r>
              <a:rPr lang="en-US" dirty="0"/>
              <a:t> </a:t>
            </a:r>
            <a:r>
              <a:rPr lang="en-US" b="1" i="1" dirty="0"/>
              <a:t>no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pragmático</a:t>
            </a:r>
            <a:r>
              <a:rPr lang="en-US" dirty="0"/>
              <a:t>!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80" y="2892687"/>
            <a:ext cx="3714750" cy="2667000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5753025" y="5342258"/>
            <a:ext cx="58398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Cuántas</a:t>
            </a:r>
            <a:r>
              <a:rPr lang="en-US" i="1" dirty="0"/>
              <a:t> </a:t>
            </a:r>
            <a:r>
              <a:rPr lang="en-US" i="1" dirty="0" err="1"/>
              <a:t>posibles</a:t>
            </a:r>
            <a:r>
              <a:rPr lang="en-US" i="1" dirty="0"/>
              <a:t> </a:t>
            </a:r>
            <a:r>
              <a:rPr lang="en-US" i="1" dirty="0" err="1"/>
              <a:t>soluciones</a:t>
            </a:r>
            <a:r>
              <a:rPr lang="en-US" i="1" dirty="0"/>
              <a:t> a </a:t>
            </a:r>
            <a:r>
              <a:rPr lang="en-US" i="1" dirty="0" err="1"/>
              <a:t>evaluar</a:t>
            </a:r>
            <a:r>
              <a:rPr lang="en-US" i="1" dirty="0"/>
              <a:t> </a:t>
            </a:r>
            <a:r>
              <a:rPr lang="en-US" i="1" dirty="0" err="1"/>
              <a:t>tendremos</a:t>
            </a:r>
            <a:r>
              <a:rPr lang="en-US" i="1" dirty="0"/>
              <a:t> </a:t>
            </a:r>
            <a:r>
              <a:rPr lang="en-US" i="1" dirty="0" err="1"/>
              <a:t>si</a:t>
            </a:r>
            <a:r>
              <a:rPr lang="en-US" i="1" dirty="0"/>
              <a:t> </a:t>
            </a:r>
            <a:r>
              <a:rPr lang="en-US" i="1" dirty="0" err="1"/>
              <a:t>por</a:t>
            </a:r>
            <a:r>
              <a:rPr lang="en-US" i="1" dirty="0"/>
              <a:t> </a:t>
            </a:r>
            <a:r>
              <a:rPr lang="en-US" i="1" dirty="0" err="1"/>
              <a:t>ejemplo</a:t>
            </a:r>
            <a:r>
              <a:rPr lang="en-US" i="1" dirty="0"/>
              <a:t>, en </a:t>
            </a:r>
            <a:r>
              <a:rPr lang="en-US" i="1" dirty="0" err="1"/>
              <a:t>este</a:t>
            </a:r>
            <a:r>
              <a:rPr lang="en-US" i="1" dirty="0"/>
              <a:t> </a:t>
            </a:r>
            <a:r>
              <a:rPr lang="en-US" i="1" dirty="0" err="1"/>
              <a:t>problema</a:t>
            </a:r>
            <a:r>
              <a:rPr lang="en-US" i="1" dirty="0"/>
              <a:t> </a:t>
            </a:r>
            <a:r>
              <a:rPr lang="en-US" i="1" dirty="0" err="1"/>
              <a:t>tenemos</a:t>
            </a:r>
            <a:r>
              <a:rPr lang="en-US" i="1" dirty="0"/>
              <a:t> 20 </a:t>
            </a:r>
            <a:r>
              <a:rPr lang="en-US" i="1" dirty="0" err="1"/>
              <a:t>ciudades</a:t>
            </a:r>
            <a:r>
              <a:rPr lang="en-US" i="1" dirty="0"/>
              <a:t>?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1859780" y="6329279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14615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112013" y="3311529"/>
            <a:ext cx="4075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representar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rutas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ADN 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?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80" y="2892687"/>
            <a:ext cx="3714750" cy="2667000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663278" y="3957860"/>
            <a:ext cx="3296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FF0000"/>
                </a:solidFill>
              </a:rPr>
              <a:t>Una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lista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ordenada</a:t>
            </a:r>
            <a:r>
              <a:rPr lang="en-US" i="1" dirty="0">
                <a:solidFill>
                  <a:srgbClr val="FF0000"/>
                </a:solidFill>
              </a:rPr>
              <a:t> de </a:t>
            </a:r>
            <a:r>
              <a:rPr lang="en-US" i="1" dirty="0" err="1">
                <a:solidFill>
                  <a:srgbClr val="FF0000"/>
                </a:solidFill>
              </a:rPr>
              <a:t>ciudades</a:t>
            </a:r>
            <a:r>
              <a:rPr lang="en-US" i="1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112013" y="4645029"/>
            <a:ext cx="4075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convierte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ruta</a:t>
            </a:r>
            <a:r>
              <a:rPr lang="en-US" dirty="0"/>
              <a:t> dada (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 en un </a:t>
            </a:r>
            <a:r>
              <a:rPr lang="en-US" dirty="0" err="1"/>
              <a:t>momento</a:t>
            </a:r>
            <a:r>
              <a:rPr lang="en-US" dirty="0"/>
              <a:t> dado) en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buena</a:t>
            </a:r>
            <a:r>
              <a:rPr lang="en-US" dirty="0"/>
              <a:t> </a:t>
            </a:r>
            <a:r>
              <a:rPr lang="en-US" dirty="0" err="1"/>
              <a:t>ruta</a:t>
            </a:r>
            <a:r>
              <a:rPr lang="en-US" dirty="0"/>
              <a:t>?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663278" y="5568359"/>
            <a:ext cx="32964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La </a:t>
            </a:r>
            <a:r>
              <a:rPr lang="en-US" i="1" dirty="0" err="1">
                <a:solidFill>
                  <a:srgbClr val="FF0000"/>
                </a:solidFill>
              </a:rPr>
              <a:t>distancia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viajada</a:t>
            </a:r>
            <a:r>
              <a:rPr lang="en-US" i="1" dirty="0">
                <a:solidFill>
                  <a:srgbClr val="FF0000"/>
                </a:solidFill>
              </a:rPr>
              <a:t> total </a:t>
            </a:r>
            <a:r>
              <a:rPr lang="en-US" i="1" dirty="0" err="1">
                <a:solidFill>
                  <a:srgbClr val="FF0000"/>
                </a:solidFill>
              </a:rPr>
              <a:t>es</a:t>
            </a:r>
            <a:r>
              <a:rPr lang="en-US" i="1" dirty="0">
                <a:solidFill>
                  <a:srgbClr val="FF0000"/>
                </a:solidFill>
              </a:rPr>
              <a:t> la </a:t>
            </a:r>
            <a:r>
              <a:rPr lang="en-US" i="1" dirty="0" err="1">
                <a:solidFill>
                  <a:srgbClr val="FF0000"/>
                </a:solidFill>
              </a:rPr>
              <a:t>menor</a:t>
            </a:r>
            <a:r>
              <a:rPr lang="en-US" i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1859780" y="6329279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1495499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2695284"/>
            <a:ext cx="8555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Primer </a:t>
            </a:r>
            <a:r>
              <a:rPr lang="en-US" b="1" i="1" dirty="0" err="1"/>
              <a:t>paso</a:t>
            </a:r>
            <a:r>
              <a:rPr lang="en-US" b="1" i="1" dirty="0"/>
              <a:t>: </a:t>
            </a:r>
            <a:r>
              <a:rPr lang="en-US" dirty="0" err="1"/>
              <a:t>generar</a:t>
            </a:r>
            <a:r>
              <a:rPr lang="en-US" dirty="0"/>
              <a:t> de forma </a:t>
            </a:r>
            <a:r>
              <a:rPr lang="en-US" dirty="0" err="1"/>
              <a:t>aleatoria</a:t>
            </a:r>
            <a:r>
              <a:rPr lang="en-US" dirty="0"/>
              <a:t> el primer </a:t>
            </a:r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7383714" y="3785740"/>
            <a:ext cx="3296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b="1" i="1" dirty="0" err="1"/>
              <a:t>generación</a:t>
            </a:r>
            <a:endParaRPr lang="en-US" b="1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45" y="3449825"/>
            <a:ext cx="4995078" cy="2139725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7383714" y="4335021"/>
            <a:ext cx="3296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Individuos</a:t>
            </a:r>
            <a:r>
              <a:rPr lang="en-US" dirty="0"/>
              <a:t>, </a:t>
            </a:r>
            <a:r>
              <a:rPr lang="en-US" dirty="0" err="1"/>
              <a:t>criaturas</a:t>
            </a:r>
            <a:r>
              <a:rPr lang="en-US" dirty="0"/>
              <a:t> o </a:t>
            </a:r>
            <a:r>
              <a:rPr lang="en-US" dirty="0" err="1"/>
              <a:t>fenotipos</a:t>
            </a:r>
            <a:r>
              <a:rPr lang="en-US" dirty="0"/>
              <a:t>!</a:t>
            </a:r>
            <a:endParaRPr lang="en-US" b="1" i="1" dirty="0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7383714" y="4949239"/>
            <a:ext cx="3296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Genes</a:t>
            </a:r>
            <a:endParaRPr lang="en-US" b="1" i="1" dirty="0"/>
          </a:p>
        </p:txBody>
      </p:sp>
      <p:sp>
        <p:nvSpPr>
          <p:cNvPr id="14" name="Rectángulo 13"/>
          <p:cNvSpPr/>
          <p:nvPr/>
        </p:nvSpPr>
        <p:spPr>
          <a:xfrm>
            <a:off x="1859780" y="6329279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336853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2695284"/>
            <a:ext cx="8555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Segundo </a:t>
            </a:r>
            <a:r>
              <a:rPr lang="en-US" b="1" i="1" dirty="0" err="1"/>
              <a:t>paso</a:t>
            </a:r>
            <a:r>
              <a:rPr lang="en-US" b="1" i="1" dirty="0"/>
              <a:t>: </a:t>
            </a:r>
            <a:r>
              <a:rPr lang="en-US" dirty="0" err="1"/>
              <a:t>Calcular</a:t>
            </a:r>
            <a:r>
              <a:rPr lang="en-US" dirty="0"/>
              <a:t> 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aptitud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423132" y="2203509"/>
            <a:ext cx="4660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/>
              <a:t>Función</a:t>
            </a:r>
            <a:r>
              <a:rPr lang="en-US" b="1" i="1" dirty="0"/>
              <a:t> de </a:t>
            </a:r>
            <a:r>
              <a:rPr lang="en-US" b="1" i="1" dirty="0" err="1"/>
              <a:t>aptitud</a:t>
            </a:r>
            <a:r>
              <a:rPr lang="en-US" b="1" i="1" dirty="0"/>
              <a:t>=</a:t>
            </a:r>
            <a:r>
              <a:rPr lang="en-US" dirty="0"/>
              <a:t> 1/</a:t>
            </a:r>
            <a:r>
              <a:rPr lang="en-US" dirty="0" err="1"/>
              <a:t>distancia</a:t>
            </a:r>
            <a:r>
              <a:rPr lang="en-US" dirty="0"/>
              <a:t> total </a:t>
            </a:r>
            <a:r>
              <a:rPr lang="en-US" dirty="0" err="1"/>
              <a:t>recorrida</a:t>
            </a:r>
            <a:endParaRPr lang="en-US" b="1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45" y="3449825"/>
            <a:ext cx="4995078" cy="2139725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7217460" y="3563767"/>
            <a:ext cx="32964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 forma </a:t>
            </a:r>
            <a:r>
              <a:rPr lang="en-US" dirty="0" err="1"/>
              <a:t>aleatoria</a:t>
            </a:r>
            <a:r>
              <a:rPr lang="en-US" dirty="0"/>
              <a:t> </a:t>
            </a:r>
            <a:r>
              <a:rPr lang="en-US" dirty="0" err="1"/>
              <a:t>seleccionar</a:t>
            </a:r>
            <a:r>
              <a:rPr lang="en-US" dirty="0"/>
              <a:t> </a:t>
            </a:r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soluciones</a:t>
            </a:r>
            <a:r>
              <a:rPr lang="en-US" dirty="0"/>
              <a:t> para </a:t>
            </a:r>
            <a:r>
              <a:rPr lang="en-US" b="1" i="1" dirty="0" err="1"/>
              <a:t>reproduccirse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entre la </a:t>
            </a:r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 de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seleccionada</a:t>
            </a:r>
            <a:r>
              <a:rPr lang="en-US" dirty="0"/>
              <a:t>, </a:t>
            </a:r>
            <a:r>
              <a:rPr lang="en-US" dirty="0" err="1"/>
              <a:t>relacionada</a:t>
            </a:r>
            <a:r>
              <a:rPr lang="en-US" dirty="0"/>
              <a:t> con el valor de la </a:t>
            </a:r>
            <a:r>
              <a:rPr lang="en-US" dirty="0" err="1"/>
              <a:t>función</a:t>
            </a:r>
            <a:r>
              <a:rPr lang="en-US" dirty="0"/>
              <a:t> de aptitude para </a:t>
            </a:r>
            <a:r>
              <a:rPr lang="en-US" dirty="0" err="1"/>
              <a:t>ella</a:t>
            </a:r>
            <a:r>
              <a:rPr lang="en-US" dirty="0"/>
              <a:t>.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1859780" y="6329279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307586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2695284"/>
            <a:ext cx="8555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/>
              <a:t>Tercer</a:t>
            </a:r>
            <a:r>
              <a:rPr lang="en-US" b="1" i="1" dirty="0"/>
              <a:t> </a:t>
            </a:r>
            <a:r>
              <a:rPr lang="en-US" b="1" i="1" dirty="0" err="1"/>
              <a:t>paso</a:t>
            </a:r>
            <a:r>
              <a:rPr lang="en-US" b="1" i="1" dirty="0"/>
              <a:t>: </a:t>
            </a:r>
            <a:r>
              <a:rPr lang="en-US" dirty="0"/>
              <a:t>La </a:t>
            </a:r>
            <a:r>
              <a:rPr lang="en-US" dirty="0" err="1"/>
              <a:t>cruza</a:t>
            </a:r>
            <a:r>
              <a:rPr lang="en-US" dirty="0"/>
              <a:t> (crossover) – </a:t>
            </a:r>
            <a:r>
              <a:rPr lang="en-US" dirty="0" err="1"/>
              <a:t>reproducirse</a:t>
            </a:r>
            <a:r>
              <a:rPr lang="en-US" dirty="0"/>
              <a:t>!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90" y="3391347"/>
            <a:ext cx="4553993" cy="1717505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1776653" y="5324295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369" y="3225310"/>
            <a:ext cx="4145368" cy="17366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7034369" y="5108852"/>
            <a:ext cx="4580015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400" dirty="0"/>
              <a:t>https://towardsdatascience.com/introduction-to-genetic-algorithms-including-example-code-e396e98d8bf3</a:t>
            </a:r>
          </a:p>
        </p:txBody>
      </p:sp>
    </p:spTree>
    <p:extLst>
      <p:ext uri="{BB962C8B-B14F-4D97-AF65-F5344CB8AC3E}">
        <p14:creationId xmlns:p14="http://schemas.microsoft.com/office/powerpoint/2010/main" val="41699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7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2695284"/>
            <a:ext cx="85553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Cuarto </a:t>
            </a:r>
            <a:r>
              <a:rPr lang="en-US" b="1" i="1" dirty="0" err="1"/>
              <a:t>paso</a:t>
            </a:r>
            <a:r>
              <a:rPr lang="en-US" b="1" i="1" dirty="0"/>
              <a:t>: </a:t>
            </a:r>
            <a:r>
              <a:rPr lang="en-US" dirty="0" err="1"/>
              <a:t>Mutación</a:t>
            </a:r>
            <a:r>
              <a:rPr lang="en-US" dirty="0"/>
              <a:t> </a:t>
            </a:r>
            <a:r>
              <a:rPr lang="en-US" dirty="0" err="1"/>
              <a:t>aleatoria</a:t>
            </a:r>
            <a:r>
              <a:rPr lang="en-US" dirty="0"/>
              <a:t>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859780" y="6266404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81" y="3465505"/>
            <a:ext cx="4379640" cy="615440"/>
          </a:xfrm>
          <a:prstGeom prst="rect">
            <a:avLst/>
          </a:prstGeom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737168" y="2471537"/>
            <a:ext cx="4697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mutación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dada </a:t>
            </a:r>
            <a:r>
              <a:rPr lang="en-US" dirty="0" err="1"/>
              <a:t>por</a:t>
            </a:r>
            <a:r>
              <a:rPr lang="en-US" dirty="0"/>
              <a:t> la </a:t>
            </a:r>
            <a:r>
              <a:rPr lang="en-US" dirty="0" err="1"/>
              <a:t>probabilidad</a:t>
            </a:r>
            <a:r>
              <a:rPr lang="en-US" dirty="0"/>
              <a:t> </a:t>
            </a:r>
            <a:r>
              <a:rPr lang="en-US" dirty="0" err="1"/>
              <a:t>especifica</a:t>
            </a:r>
            <a:r>
              <a:rPr lang="en-US" dirty="0"/>
              <a:t> </a:t>
            </a:r>
            <a:r>
              <a:rPr lang="en-US" dirty="0" err="1"/>
              <a:t>apra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b="1" i="1" dirty="0"/>
              <a:t>gen</a:t>
            </a:r>
            <a:r>
              <a:rPr lang="en-US" dirty="0"/>
              <a:t>.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310" y="4705913"/>
            <a:ext cx="4386795" cy="622595"/>
          </a:xfrm>
          <a:prstGeom prst="rect">
            <a:avLst/>
          </a:prstGeom>
        </p:spPr>
      </p:pic>
      <p:sp>
        <p:nvSpPr>
          <p:cNvPr id="12" name="Flecha abajo 11"/>
          <p:cNvSpPr/>
          <p:nvPr/>
        </p:nvSpPr>
        <p:spPr>
          <a:xfrm>
            <a:off x="3975216" y="4230694"/>
            <a:ext cx="350981" cy="325470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4495068" y="4226727"/>
            <a:ext cx="7565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Este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mutación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determinada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el </a:t>
            </a:r>
            <a:r>
              <a:rPr lang="en-US" dirty="0" err="1"/>
              <a:t>problema</a:t>
            </a:r>
            <a:r>
              <a:rPr lang="en-US" dirty="0"/>
              <a:t> (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restricciones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6227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947" y="3565362"/>
            <a:ext cx="5045173" cy="1789068"/>
          </a:xfrm>
          <a:prstGeom prst="rect">
            <a:avLst/>
          </a:prstGeom>
        </p:spPr>
      </p:pic>
      <p:sp>
        <p:nvSpPr>
          <p:cNvPr id="5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802762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Ejemplo: El problema del </a:t>
            </a:r>
            <a:r>
              <a:rPr lang="es-ES" b="1" i="1" dirty="0"/>
              <a:t>vendedor ambulante</a:t>
            </a:r>
            <a:endParaRPr lang="es-CO" b="1" i="1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2695284"/>
            <a:ext cx="8555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/>
              <a:t>Quinto</a:t>
            </a:r>
            <a:r>
              <a:rPr lang="en-US" b="1" i="1" dirty="0"/>
              <a:t> </a:t>
            </a:r>
            <a:r>
              <a:rPr lang="en-US" b="1" i="1" dirty="0" err="1"/>
              <a:t>paso</a:t>
            </a:r>
            <a:r>
              <a:rPr lang="en-US" b="1" i="1" dirty="0"/>
              <a:t>: </a:t>
            </a:r>
            <a:r>
              <a:rPr lang="en-US" dirty="0" err="1"/>
              <a:t>Repetir</a:t>
            </a:r>
            <a:r>
              <a:rPr lang="en-US" dirty="0"/>
              <a:t> el </a:t>
            </a:r>
            <a:r>
              <a:rPr lang="en-US" dirty="0" err="1"/>
              <a:t>proceso</a:t>
            </a:r>
            <a:r>
              <a:rPr lang="en-US" dirty="0"/>
              <a:t> hasta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población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a la </a:t>
            </a:r>
            <a:r>
              <a:rPr lang="en-US" dirty="0" err="1"/>
              <a:t>inicial</a:t>
            </a:r>
            <a:r>
              <a:rPr lang="en-US" dirty="0"/>
              <a:t> en la </a:t>
            </a:r>
            <a:r>
              <a:rPr lang="en-US" dirty="0" err="1"/>
              <a:t>nueva</a:t>
            </a:r>
            <a:r>
              <a:rPr lang="en-US" dirty="0"/>
              <a:t> </a:t>
            </a:r>
            <a:r>
              <a:rPr lang="en-US" dirty="0" err="1"/>
              <a:t>generación</a:t>
            </a:r>
            <a:r>
              <a:rPr lang="en-US" dirty="0"/>
              <a:t>.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1475359" y="5578177"/>
            <a:ext cx="8555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iterativo</a:t>
            </a:r>
            <a:r>
              <a:rPr lang="en-US" dirty="0"/>
              <a:t> y lo </a:t>
            </a:r>
            <a:r>
              <a:rPr lang="en-US" dirty="0" err="1"/>
              <a:t>determina</a:t>
            </a:r>
            <a:r>
              <a:rPr lang="en-US" dirty="0"/>
              <a:t> la </a:t>
            </a:r>
            <a:r>
              <a:rPr lang="en-US" dirty="0" err="1"/>
              <a:t>condición</a:t>
            </a:r>
            <a:r>
              <a:rPr lang="en-US" dirty="0"/>
              <a:t> de </a:t>
            </a:r>
            <a:r>
              <a:rPr lang="en-US" dirty="0" err="1"/>
              <a:t>finalización</a:t>
            </a:r>
            <a:r>
              <a:rPr lang="en-US" dirty="0"/>
              <a:t> (</a:t>
            </a:r>
            <a:r>
              <a:rPr lang="en-US" dirty="0" err="1"/>
              <a:t>convergencia</a:t>
            </a:r>
            <a:r>
              <a:rPr lang="en-US" dirty="0"/>
              <a:t> o </a:t>
            </a:r>
            <a:r>
              <a:rPr lang="en-US" i="1" dirty="0"/>
              <a:t>#</a:t>
            </a:r>
            <a:r>
              <a:rPr lang="en-US" dirty="0"/>
              <a:t> de </a:t>
            </a:r>
            <a:r>
              <a:rPr lang="en-US" dirty="0" err="1"/>
              <a:t>iteraciones</a:t>
            </a:r>
            <a:r>
              <a:rPr lang="en-US" dirty="0"/>
              <a:t>).</a:t>
            </a:r>
          </a:p>
        </p:txBody>
      </p:sp>
      <p:sp>
        <p:nvSpPr>
          <p:cNvPr id="9" name="Rectángulo 8"/>
          <p:cNvSpPr/>
          <p:nvPr/>
        </p:nvSpPr>
        <p:spPr>
          <a:xfrm>
            <a:off x="1859780" y="6266404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379340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541388" y="1447571"/>
            <a:ext cx="43741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Estructura de un algoritmo genético</a:t>
            </a:r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-139347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El problema del óptimo local</a:t>
            </a:r>
            <a:endParaRPr lang="es-CO" b="1" i="1" dirty="0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7246D67-152E-4CC0-A7A9-5A3478CE115E}"/>
              </a:ext>
            </a:extLst>
          </p:cNvPr>
          <p:cNvSpPr/>
          <p:nvPr/>
        </p:nvSpPr>
        <p:spPr>
          <a:xfrm>
            <a:off x="6223572" y="3141721"/>
            <a:ext cx="39911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sopesar</a:t>
            </a:r>
            <a:r>
              <a:rPr lang="en-US" dirty="0"/>
              <a:t> la </a:t>
            </a:r>
            <a:r>
              <a:rPr lang="en-US" b="1" i="1" dirty="0" err="1"/>
              <a:t>explotación</a:t>
            </a:r>
            <a:r>
              <a:rPr lang="en-US" dirty="0"/>
              <a:t> con la </a:t>
            </a:r>
            <a:r>
              <a:rPr lang="en-US" b="1" i="1" dirty="0" err="1"/>
              <a:t>exploración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basado</a:t>
            </a:r>
            <a:r>
              <a:rPr lang="en-US" dirty="0"/>
              <a:t> en </a:t>
            </a:r>
            <a:r>
              <a:rPr lang="en-US" dirty="0" err="1"/>
              <a:t>heurística</a:t>
            </a:r>
            <a:r>
              <a:rPr lang="en-US" dirty="0"/>
              <a:t>… no </a:t>
            </a:r>
            <a:r>
              <a:rPr lang="en-US" dirty="0" err="1"/>
              <a:t>necesariamente</a:t>
            </a:r>
            <a:r>
              <a:rPr lang="en-US" dirty="0"/>
              <a:t> </a:t>
            </a:r>
            <a:r>
              <a:rPr lang="en-US" dirty="0" err="1"/>
              <a:t>encontraremos</a:t>
            </a:r>
            <a:r>
              <a:rPr lang="en-US" dirty="0"/>
              <a:t> la </a:t>
            </a:r>
            <a:r>
              <a:rPr lang="en-US" b="1" i="1" dirty="0" err="1"/>
              <a:t>mejor</a:t>
            </a:r>
            <a:r>
              <a:rPr lang="en-US" dirty="0"/>
              <a:t> </a:t>
            </a:r>
            <a:r>
              <a:rPr lang="en-US" dirty="0" err="1"/>
              <a:t>solución</a:t>
            </a:r>
            <a:r>
              <a:rPr lang="en-US" dirty="0"/>
              <a:t>… sin embargo, </a:t>
            </a:r>
            <a:r>
              <a:rPr lang="en-US" dirty="0" err="1"/>
              <a:t>podremos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i="1" dirty="0" err="1"/>
              <a:t>buena</a:t>
            </a:r>
            <a:r>
              <a:rPr lang="en-US" b="1" i="1" dirty="0"/>
              <a:t> </a:t>
            </a:r>
            <a:r>
              <a:rPr lang="en-US" b="1" i="1" dirty="0" err="1"/>
              <a:t>solución</a:t>
            </a:r>
            <a:r>
              <a:rPr lang="en-US" dirty="0"/>
              <a:t>, en un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b="1" i="1" dirty="0" err="1"/>
              <a:t>práctico</a:t>
            </a:r>
            <a:r>
              <a:rPr lang="en-US" dirty="0"/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395" y="2717991"/>
            <a:ext cx="4347406" cy="2435900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859780" y="6266404"/>
            <a:ext cx="3893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1400" dirty="0"/>
              <a:t>https://www.youtube.com/watch?v=XP8R0yzAbdo</a:t>
            </a:r>
          </a:p>
        </p:txBody>
      </p:sp>
    </p:spTree>
    <p:extLst>
      <p:ext uri="{BB962C8B-B14F-4D97-AF65-F5344CB8AC3E}">
        <p14:creationId xmlns:p14="http://schemas.microsoft.com/office/powerpoint/2010/main" val="203893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39039" y="1447571"/>
            <a:ext cx="52687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Ejemplos de implementación y aplicaciones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280" y="2695284"/>
            <a:ext cx="2979613" cy="2537224"/>
          </a:xfrm>
          <a:prstGeom prst="rect">
            <a:avLst/>
          </a:prstGeom>
        </p:spPr>
      </p:pic>
      <p:sp>
        <p:nvSpPr>
          <p:cNvPr id="10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-139347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El problema de la bolsa</a:t>
            </a:r>
            <a:endParaRPr lang="es-CO" b="1" i="1" dirty="0"/>
          </a:p>
        </p:txBody>
      </p:sp>
      <p:sp>
        <p:nvSpPr>
          <p:cNvPr id="11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5564107" y="2873441"/>
            <a:ext cx="52101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Se tiene un morral en el cual solo podemos cargar hasta un cierto peso </a:t>
            </a:r>
            <a:r>
              <a:rPr lang="es-ES" b="1" i="1" dirty="0"/>
              <a:t>k</a:t>
            </a:r>
            <a:r>
              <a:rPr lang="es-ES" dirty="0"/>
              <a:t>.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Podemos escoger entre distintos artículos para llevar.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Cada artículo tiene un peso </a:t>
            </a:r>
            <a:r>
              <a:rPr lang="es-ES" b="1" i="1" dirty="0"/>
              <a:t>w</a:t>
            </a:r>
            <a:r>
              <a:rPr lang="es-ES" dirty="0"/>
              <a:t> y un costo </a:t>
            </a:r>
            <a:r>
              <a:rPr lang="es-ES" b="1" i="1" dirty="0"/>
              <a:t>c</a:t>
            </a:r>
            <a:r>
              <a:rPr lang="es-ES" dirty="0"/>
              <a:t>.</a:t>
            </a:r>
          </a:p>
          <a:p>
            <a:pPr algn="ctr"/>
            <a:endParaRPr lang="es-ES" dirty="0"/>
          </a:p>
          <a:p>
            <a:pPr algn="ctr"/>
            <a:r>
              <a:rPr lang="es-ES" b="1" i="1" dirty="0">
                <a:solidFill>
                  <a:srgbClr val="FF0000"/>
                </a:solidFill>
              </a:rPr>
              <a:t>La idea es cargar todos los artículos que podamos sin pasarnos del peso k, pero obteniendo el más grande posible de los costos.</a:t>
            </a:r>
            <a:endParaRPr lang="es-CO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960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39039" y="1447571"/>
            <a:ext cx="52687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Ejemplos de implementación y aplicaciones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220871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El problema del vendedor ambulante</a:t>
            </a:r>
            <a:endParaRPr lang="es-CO" b="1" i="1" dirty="0"/>
          </a:p>
        </p:txBody>
      </p:sp>
      <p:sp>
        <p:nvSpPr>
          <p:cNvPr id="11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5907789" y="2848371"/>
            <a:ext cx="521011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El vendedor desea recorrer todas las ciudades una vez en la menor distancia posible.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La distancia entre puntos está determinada como la distancia en línea recta.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Cada ciudad (punto) tiene una coordenada (</a:t>
            </a:r>
            <a:r>
              <a:rPr lang="es-ES" dirty="0" err="1"/>
              <a:t>x,y</a:t>
            </a:r>
            <a:r>
              <a:rPr lang="es-ES" dirty="0"/>
              <a:t>) en una representación bidimensional.</a:t>
            </a:r>
          </a:p>
          <a:p>
            <a:pPr algn="ctr"/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26" y="2695284"/>
            <a:ext cx="4807375" cy="316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54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11">
            <a:extLst>
              <a:ext uri="{FF2B5EF4-FFF2-40B4-BE49-F238E27FC236}">
                <a16:creationId xmlns:a16="http://schemas.microsoft.com/office/drawing/2014/main" id="{32DEE136-2416-40AA-BE7B-D7F3F6E07149}"/>
              </a:ext>
            </a:extLst>
          </p:cNvPr>
          <p:cNvSpPr/>
          <p:nvPr/>
        </p:nvSpPr>
        <p:spPr>
          <a:xfrm>
            <a:off x="639039" y="1447571"/>
            <a:ext cx="526875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CO" sz="2200" b="1" dirty="0"/>
              <a:t>Ejemplos de implementación y aplicaciones</a:t>
            </a:r>
          </a:p>
        </p:txBody>
      </p:sp>
      <p:sp>
        <p:nvSpPr>
          <p:cNvPr id="10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0" y="2102205"/>
            <a:ext cx="5210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Minimizar una función real</a:t>
            </a:r>
            <a:endParaRPr lang="es-CO" b="1" i="1" dirty="0"/>
          </a:p>
        </p:txBody>
      </p:sp>
      <p:sp>
        <p:nvSpPr>
          <p:cNvPr id="11" name="Rectángulo 11">
            <a:extLst>
              <a:ext uri="{FF2B5EF4-FFF2-40B4-BE49-F238E27FC236}">
                <a16:creationId xmlns:a16="http://schemas.microsoft.com/office/drawing/2014/main" id="{28FD6305-8C39-4B9C-8834-26BB0C3CA139}"/>
              </a:ext>
            </a:extLst>
          </p:cNvPr>
          <p:cNvSpPr/>
          <p:nvPr/>
        </p:nvSpPr>
        <p:spPr>
          <a:xfrm>
            <a:off x="5760007" y="3716466"/>
            <a:ext cx="52101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Encontrar la posición (solución) en la cual la función (función de aptitud) arroja el valor mínimo en un rango dado.</a:t>
            </a:r>
          </a:p>
          <a:p>
            <a:pPr algn="ctr"/>
            <a:endParaRPr lang="es-ES" dirty="0"/>
          </a:p>
        </p:txBody>
      </p:sp>
      <p:pic>
        <p:nvPicPr>
          <p:cNvPr id="2050" name="Picture 2" descr="File:Rosenbrock's function in 3D.pd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35" y="2915755"/>
            <a:ext cx="1658335" cy="124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ile:Beale's function.pd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01" y="2972289"/>
            <a:ext cx="1507577" cy="113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le:Goldstein Price function.pd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534" y="4811819"/>
            <a:ext cx="1658335" cy="124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ile:Booth's function.pd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321" y="4811819"/>
            <a:ext cx="1658335" cy="124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8194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806</Words>
  <Application>Microsoft Office PowerPoint</Application>
  <PresentationFormat>Widescreen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Carlos Alejandro Trujillo Anaya</cp:lastModifiedBy>
  <cp:revision>252</cp:revision>
  <dcterms:created xsi:type="dcterms:W3CDTF">2017-07-31T19:21:32Z</dcterms:created>
  <dcterms:modified xsi:type="dcterms:W3CDTF">2020-07-28T14:30:12Z</dcterms:modified>
</cp:coreProperties>
</file>